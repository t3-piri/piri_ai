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7" r:id="rId4"/>
    <p:sldId id="270" r:id="rId5"/>
    <p:sldId id="271" r:id="rId6"/>
    <p:sldId id="276" r:id="rId7"/>
    <p:sldId id="279" r:id="rId8"/>
    <p:sldId id="275" r:id="rId9"/>
    <p:sldId id="274" r:id="rId10"/>
    <p:sldId id="272" r:id="rId11"/>
    <p:sldId id="273" r:id="rId12"/>
    <p:sldId id="278" r:id="rId13"/>
    <p:sldId id="266" r:id="rId14"/>
  </p:sldIdLst>
  <p:sldSz cx="18288000" cy="10287000"/>
  <p:notesSz cx="6858000" cy="9144000"/>
  <p:embeddedFontLst>
    <p:embeddedFont>
      <p:font typeface="Active Heart" panose="020B0604020202020204" charset="-128"/>
      <p:regular r:id="rId16"/>
    </p:embeddedFont>
    <p:embeddedFont>
      <p:font typeface="Aileron Bold" panose="020B0604020202020204" charset="-94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2615" autoAdjust="0"/>
  </p:normalViewPr>
  <p:slideViewPr>
    <p:cSldViewPr>
      <p:cViewPr varScale="1">
        <p:scale>
          <a:sx n="51" d="100"/>
          <a:sy n="51" d="100"/>
        </p:scale>
        <p:origin x="898" y="12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E6128-37C5-42FE-A631-B153DD33F120}" type="datetimeFigureOut">
              <a:rPr lang="tr-TR" smtClean="0"/>
              <a:t>6.06.2026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E5F3AE-2290-4045-9939-8168474D116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03384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5F3AE-2290-4045-9939-8168474D1162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24442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5F3AE-2290-4045-9939-8168474D1162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85259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5F3AE-2290-4045-9939-8168474D1162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093191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5F3AE-2290-4045-9939-8168474D1162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0441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5F3AE-2290-4045-9939-8168474D1162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70452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5F3AE-2290-4045-9939-8168474D1162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351802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5F3AE-2290-4045-9939-8168474D1162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65448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5F3AE-2290-4045-9939-8168474D1162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861316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5F3AE-2290-4045-9939-8168474D1162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2472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E5F3AE-2290-4045-9939-8168474D1162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988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337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999" b="-1599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484502" y="742023"/>
            <a:ext cx="16565170" cy="148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tr-TR" sz="6000" dirty="0">
                <a:solidFill>
                  <a:srgbClr val="FFFFFF"/>
                </a:solidFill>
                <a:latin typeface="Aileron Bold"/>
              </a:rPr>
              <a:t>ROBOTAKSİ YARIŞMASI</a:t>
            </a:r>
            <a:endParaRPr lang="en-US" sz="6000" dirty="0">
              <a:solidFill>
                <a:srgbClr val="FFFFFF"/>
              </a:solidFill>
              <a:latin typeface="Aileron Bold"/>
            </a:endParaRPr>
          </a:p>
          <a:p>
            <a:pPr algn="ctr">
              <a:lnSpc>
                <a:spcPts val="5759"/>
              </a:lnSpc>
            </a:pPr>
            <a:r>
              <a:rPr lang="en-US" sz="6000" dirty="0">
                <a:solidFill>
                  <a:srgbClr val="FFFFFF"/>
                </a:solidFill>
                <a:latin typeface="Aileron Bold"/>
              </a:rPr>
              <a:t>SUNUM TASLAĞI</a:t>
            </a:r>
          </a:p>
        </p:txBody>
      </p:sp>
      <p:sp>
        <p:nvSpPr>
          <p:cNvPr id="4" name="Freeform 4"/>
          <p:cNvSpPr/>
          <p:nvPr/>
        </p:nvSpPr>
        <p:spPr>
          <a:xfrm>
            <a:off x="11615131" y="1748495"/>
            <a:ext cx="397785" cy="423176"/>
          </a:xfrm>
          <a:custGeom>
            <a:avLst/>
            <a:gdLst/>
            <a:ahLst/>
            <a:cxnLst/>
            <a:rect l="l" t="t" r="r" b="b"/>
            <a:pathLst>
              <a:path w="397785" h="423176">
                <a:moveTo>
                  <a:pt x="0" y="0"/>
                </a:moveTo>
                <a:lnTo>
                  <a:pt x="397786" y="0"/>
                </a:lnTo>
                <a:lnTo>
                  <a:pt x="397786" y="423176"/>
                </a:lnTo>
                <a:lnTo>
                  <a:pt x="0" y="4231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-305705"/>
            <a:ext cx="2754412" cy="2754412"/>
          </a:xfrm>
          <a:custGeom>
            <a:avLst/>
            <a:gdLst/>
            <a:ahLst/>
            <a:cxnLst/>
            <a:rect l="l" t="t" r="r" b="b"/>
            <a:pathLst>
              <a:path w="2754412" h="2754412">
                <a:moveTo>
                  <a:pt x="0" y="0"/>
                </a:moveTo>
                <a:lnTo>
                  <a:pt x="2754412" y="0"/>
                </a:lnTo>
                <a:lnTo>
                  <a:pt x="2754412" y="2754412"/>
                </a:lnTo>
                <a:lnTo>
                  <a:pt x="0" y="27544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795650" y="9205245"/>
            <a:ext cx="2387840" cy="927278"/>
          </a:xfrm>
          <a:custGeom>
            <a:avLst/>
            <a:gdLst/>
            <a:ahLst/>
            <a:cxnLst/>
            <a:rect l="l" t="t" r="r" b="b"/>
            <a:pathLst>
              <a:path w="2387840" h="927278">
                <a:moveTo>
                  <a:pt x="0" y="0"/>
                </a:moveTo>
                <a:lnTo>
                  <a:pt x="2387840" y="0"/>
                </a:lnTo>
                <a:lnTo>
                  <a:pt x="2387840" y="927278"/>
                </a:lnTo>
                <a:lnTo>
                  <a:pt x="0" y="9272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2024721" y="2490345"/>
            <a:ext cx="14238557" cy="5411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endParaRPr lang="en-US" sz="3450" dirty="0">
              <a:solidFill>
                <a:srgbClr val="FFFFFF"/>
              </a:solidFill>
              <a:latin typeface="Aileron Bold"/>
            </a:endParaRPr>
          </a:p>
          <a:p>
            <a:pPr algn="l"/>
            <a:r>
              <a:rPr lang="en-US" sz="3450" dirty="0">
                <a:solidFill>
                  <a:srgbClr val="FFFFFF"/>
                </a:solidFill>
                <a:latin typeface="Aileron Bold"/>
              </a:rPr>
              <a:t>TAKIM EĞİTİM SEVIYES</a:t>
            </a:r>
            <a:r>
              <a:rPr lang="tr-TR" sz="3450" dirty="0">
                <a:solidFill>
                  <a:srgbClr val="FFFFFF"/>
                </a:solidFill>
                <a:latin typeface="Aileron Bold"/>
              </a:rPr>
              <a:t>İ</a:t>
            </a:r>
            <a:r>
              <a:rPr lang="en-US" sz="3450" dirty="0">
                <a:solidFill>
                  <a:srgbClr val="FFFFFF"/>
                </a:solidFill>
                <a:latin typeface="Aileron Bold"/>
              </a:rPr>
              <a:t>:</a:t>
            </a:r>
            <a:endParaRPr lang="tr-TR" sz="3450" dirty="0">
              <a:solidFill>
                <a:srgbClr val="FFFFFF"/>
              </a:solidFill>
              <a:latin typeface="Aileron Bold"/>
            </a:endParaRPr>
          </a:p>
          <a:p>
            <a:pPr>
              <a:spcAft>
                <a:spcPts val="800"/>
              </a:spcAft>
            </a:pPr>
            <a:endParaRPr lang="en-US" sz="3450" dirty="0">
              <a:solidFill>
                <a:srgbClr val="FFFFFF"/>
              </a:solidFill>
              <a:latin typeface="Aileron Bold"/>
            </a:endParaRPr>
          </a:p>
          <a:p>
            <a:pPr algn="l"/>
            <a:r>
              <a:rPr lang="en-US" sz="3450" dirty="0">
                <a:solidFill>
                  <a:srgbClr val="FFFFFF"/>
                </a:solidFill>
                <a:latin typeface="Aileron Bold"/>
              </a:rPr>
              <a:t>TAKIM ADI:</a:t>
            </a:r>
            <a:endParaRPr lang="tr-TR" sz="3450" dirty="0">
              <a:solidFill>
                <a:srgbClr val="FFFFFF"/>
              </a:solidFill>
              <a:latin typeface="Aileron Bold"/>
            </a:endParaRPr>
          </a:p>
          <a:p>
            <a:pPr algn="l"/>
            <a:endParaRPr lang="tr-TR" sz="3450" dirty="0">
              <a:solidFill>
                <a:srgbClr val="FFFFFF"/>
              </a:solidFill>
              <a:latin typeface="Aileron Bold"/>
            </a:endParaRPr>
          </a:p>
          <a:p>
            <a:pPr algn="l"/>
            <a:r>
              <a:rPr lang="tr-TR" sz="3450" dirty="0">
                <a:solidFill>
                  <a:srgbClr val="FFFFFF"/>
                </a:solidFill>
                <a:latin typeface="Aileron Bold"/>
              </a:rPr>
              <a:t>KATEGORİ :</a:t>
            </a:r>
            <a:endParaRPr lang="en-US" sz="3450" dirty="0">
              <a:solidFill>
                <a:srgbClr val="FFFFFF"/>
              </a:solidFill>
              <a:latin typeface="Aileron Bold"/>
            </a:endParaRPr>
          </a:p>
          <a:p>
            <a:pPr algn="l"/>
            <a:endParaRPr lang="en-US" sz="3450" dirty="0">
              <a:solidFill>
                <a:srgbClr val="FFFFFF"/>
              </a:solidFill>
              <a:latin typeface="Aileron Bold"/>
            </a:endParaRPr>
          </a:p>
          <a:p>
            <a:pPr algn="l"/>
            <a:r>
              <a:rPr lang="en-US" sz="3450" dirty="0">
                <a:solidFill>
                  <a:srgbClr val="FFFFFF"/>
                </a:solidFill>
                <a:latin typeface="Aileron Bold"/>
              </a:rPr>
              <a:t>TAKIM ID:</a:t>
            </a:r>
          </a:p>
          <a:p>
            <a:pPr algn="l"/>
            <a:endParaRPr lang="en-US" sz="3450" dirty="0">
              <a:solidFill>
                <a:srgbClr val="FFFFFF"/>
              </a:solidFill>
              <a:latin typeface="Aileron Bold"/>
            </a:endParaRPr>
          </a:p>
          <a:p>
            <a:pPr algn="l"/>
            <a:r>
              <a:rPr lang="en-US" sz="3450" dirty="0">
                <a:solidFill>
                  <a:srgbClr val="FFFFFF"/>
                </a:solidFill>
                <a:latin typeface="Aileron Bold"/>
              </a:rPr>
              <a:t>BAŞVURU ID: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4032" y="8847243"/>
            <a:ext cx="17006320" cy="293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rgbClr val="FFFFFF"/>
                </a:solidFill>
                <a:latin typeface="Aileron Bold"/>
              </a:rPr>
              <a:t>*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7943" y="8122028"/>
            <a:ext cx="7199257" cy="17749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BD4DA5D-D0F8-0F41-AB59-A80D7696A1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96800" y="8217136"/>
            <a:ext cx="1067703" cy="14680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19895" y="1348907"/>
            <a:ext cx="16980723" cy="0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6051" y="-185131"/>
            <a:ext cx="1745298" cy="1745298"/>
          </a:xfrm>
          <a:custGeom>
            <a:avLst/>
            <a:gdLst/>
            <a:ahLst/>
            <a:cxnLst/>
            <a:rect l="l" t="t" r="r" b="b"/>
            <a:pathLst>
              <a:path w="1745298" h="1745298">
                <a:moveTo>
                  <a:pt x="0" y="0"/>
                </a:moveTo>
                <a:lnTo>
                  <a:pt x="1745298" y="0"/>
                </a:lnTo>
                <a:lnTo>
                  <a:pt x="1745298" y="1745298"/>
                </a:lnTo>
                <a:lnTo>
                  <a:pt x="0" y="17452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>
            <a:spLocks noGrp="1" noRot="1" noMove="1" noResize="1" noEditPoints="1" noAdjustHandles="1" noChangeArrowheads="1" noChangeShapeType="1"/>
          </p:cNvSpPr>
          <p:nvPr/>
        </p:nvSpPr>
        <p:spPr>
          <a:xfrm rot="6000">
            <a:off x="15526871" y="9323138"/>
            <a:ext cx="2106908" cy="869935"/>
          </a:xfrm>
          <a:custGeom>
            <a:avLst/>
            <a:gdLst/>
            <a:ahLst/>
            <a:cxnLst/>
            <a:rect l="l" t="t" r="r" b="b"/>
            <a:pathLst>
              <a:path w="2106908" h="869935">
                <a:moveTo>
                  <a:pt x="0" y="3675"/>
                </a:moveTo>
                <a:lnTo>
                  <a:pt x="2105396" y="0"/>
                </a:lnTo>
                <a:lnTo>
                  <a:pt x="2106908" y="866261"/>
                </a:lnTo>
                <a:lnTo>
                  <a:pt x="1512" y="869935"/>
                </a:lnTo>
                <a:lnTo>
                  <a:pt x="0" y="3675"/>
                </a:lnTo>
                <a:close/>
              </a:path>
            </a:pathLst>
          </a:custGeom>
          <a:blipFill>
            <a:blip r:embed="rId3"/>
            <a:stretch>
              <a:fillRect l="-24072" t="-50652" r="-24923" b="-5238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424602" y="153804"/>
            <a:ext cx="1175797" cy="1067428"/>
          </a:xfrm>
          <a:custGeom>
            <a:avLst/>
            <a:gdLst/>
            <a:ahLst/>
            <a:cxnLst/>
            <a:rect l="l" t="t" r="r" b="b"/>
            <a:pathLst>
              <a:path w="1175797" h="1067428">
                <a:moveTo>
                  <a:pt x="0" y="0"/>
                </a:moveTo>
                <a:lnTo>
                  <a:pt x="1175797" y="0"/>
                </a:lnTo>
                <a:lnTo>
                  <a:pt x="1175797" y="1067428"/>
                </a:lnTo>
                <a:lnTo>
                  <a:pt x="0" y="10674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7358" t="-8167" r="-487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>
            <a:spLocks/>
          </p:cNvSpPr>
          <p:nvPr/>
        </p:nvSpPr>
        <p:spPr>
          <a:xfrm>
            <a:off x="1300117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>
            <a:spLocks/>
          </p:cNvSpPr>
          <p:nvPr/>
        </p:nvSpPr>
        <p:spPr>
          <a:xfrm>
            <a:off x="792284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10015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60949" y="9520632"/>
            <a:ext cx="107458" cy="227535"/>
          </a:xfrm>
          <a:custGeom>
            <a:avLst/>
            <a:gdLst/>
            <a:ahLst/>
            <a:cxnLst/>
            <a:rect l="l" t="t" r="r" b="b"/>
            <a:pathLst>
              <a:path w="107458" h="227535">
                <a:moveTo>
                  <a:pt x="0" y="0"/>
                </a:moveTo>
                <a:lnTo>
                  <a:pt x="107458" y="0"/>
                </a:lnTo>
                <a:lnTo>
                  <a:pt x="107458" y="227535"/>
                </a:lnTo>
                <a:lnTo>
                  <a:pt x="0" y="2275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5066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 flipV="1">
            <a:off x="11136600" y="9253436"/>
            <a:ext cx="0" cy="2067128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929895" y="357001"/>
            <a:ext cx="7407793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99"/>
              </a:lnSpc>
              <a:spcBef>
                <a:spcPct val="0"/>
              </a:spcBef>
            </a:pPr>
            <a:r>
              <a:rPr lang="tr-TR" sz="6399" dirty="0">
                <a:solidFill>
                  <a:srgbClr val="1A426A"/>
                </a:solidFill>
                <a:latin typeface="Active Heart"/>
              </a:rPr>
              <a:t>GİRİŞ</a:t>
            </a:r>
            <a:endParaRPr lang="en-US" sz="6399" dirty="0">
              <a:solidFill>
                <a:srgbClr val="1A426A"/>
              </a:solidFill>
              <a:latin typeface="Active Heart"/>
            </a:endParaRPr>
          </a:p>
        </p:txBody>
      </p:sp>
      <p:sp>
        <p:nvSpPr>
          <p:cNvPr id="13" name="TextBox 13"/>
          <p:cNvSpPr txBox="1">
            <a:spLocks/>
          </p:cNvSpPr>
          <p:nvPr/>
        </p:nvSpPr>
        <p:spPr>
          <a:xfrm>
            <a:off x="753578" y="9834486"/>
            <a:ext cx="2130891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2100" dirty="0">
                <a:solidFill>
                  <a:srgbClr val="1A426A"/>
                </a:solidFill>
                <a:latin typeface="Active Heart"/>
              </a:rPr>
              <a:t>www.teknofest.org</a:t>
            </a:r>
          </a:p>
        </p:txBody>
      </p:sp>
      <p:sp>
        <p:nvSpPr>
          <p:cNvPr id="102" name="AutoShape 10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01349" y="9223729"/>
            <a:ext cx="14752190" cy="33362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Box 11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141643" y="9572748"/>
            <a:ext cx="758063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  <a:spcBef>
                <a:spcPct val="0"/>
              </a:spcBef>
            </a:pPr>
            <a:r>
              <a:rPr lang="en-US" sz="2000" dirty="0">
                <a:solidFill>
                  <a:srgbClr val="1A426A"/>
                </a:solidFill>
                <a:latin typeface="Active Heart"/>
              </a:rPr>
              <a:t>20</a:t>
            </a:r>
            <a:r>
              <a:rPr lang="tr-TR" sz="2000" dirty="0">
                <a:solidFill>
                  <a:srgbClr val="1A426A"/>
                </a:solidFill>
                <a:latin typeface="Active Heart"/>
              </a:rPr>
              <a:t>26 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TEKNOFEST </a:t>
            </a:r>
            <a:r>
              <a:rPr lang="tr-TR" sz="2000" dirty="0">
                <a:solidFill>
                  <a:srgbClr val="1A426A"/>
                </a:solidFill>
                <a:latin typeface="Active Heart"/>
              </a:rPr>
              <a:t>ROBOTAKSİ 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YARIŞMASI PROJE SUNUMU</a:t>
            </a:r>
          </a:p>
        </p:txBody>
      </p:sp>
      <p:sp>
        <p:nvSpPr>
          <p:cNvPr id="23" name="Freeform 96">
            <a:extLst>
              <a:ext uri="{FF2B5EF4-FFF2-40B4-BE49-F238E27FC236}">
                <a16:creationId xmlns:a16="http://schemas.microsoft.com/office/drawing/2014/main" id="{F0808B16-411A-E28A-DA7D-E8A37389E6F9}"/>
              </a:ext>
            </a:extLst>
          </p:cNvPr>
          <p:cNvSpPr/>
          <p:nvPr/>
        </p:nvSpPr>
        <p:spPr>
          <a:xfrm>
            <a:off x="17138069" y="8640508"/>
            <a:ext cx="369651" cy="369651"/>
          </a:xfrm>
          <a:custGeom>
            <a:avLst/>
            <a:gdLst/>
            <a:ahLst/>
            <a:cxnLst/>
            <a:rect l="l" t="t" r="r" b="b"/>
            <a:pathLst>
              <a:path w="369651" h="369651">
                <a:moveTo>
                  <a:pt x="0" y="0"/>
                </a:moveTo>
                <a:lnTo>
                  <a:pt x="369651" y="0"/>
                </a:lnTo>
                <a:lnTo>
                  <a:pt x="369651" y="369651"/>
                </a:lnTo>
                <a:lnTo>
                  <a:pt x="0" y="3696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97">
            <a:extLst>
              <a:ext uri="{FF2B5EF4-FFF2-40B4-BE49-F238E27FC236}">
                <a16:creationId xmlns:a16="http://schemas.microsoft.com/office/drawing/2014/main" id="{97BF8E30-F8A3-5139-E2CC-24A3102ECD3B}"/>
              </a:ext>
            </a:extLst>
          </p:cNvPr>
          <p:cNvSpPr/>
          <p:nvPr/>
        </p:nvSpPr>
        <p:spPr>
          <a:xfrm>
            <a:off x="17533782" y="8641341"/>
            <a:ext cx="369651" cy="369651"/>
          </a:xfrm>
          <a:custGeom>
            <a:avLst/>
            <a:gdLst/>
            <a:ahLst/>
            <a:cxnLst/>
            <a:rect l="l" t="t" r="r" b="b"/>
            <a:pathLst>
              <a:path w="369651" h="369651">
                <a:moveTo>
                  <a:pt x="0" y="0"/>
                </a:moveTo>
                <a:lnTo>
                  <a:pt x="369651" y="0"/>
                </a:lnTo>
                <a:lnTo>
                  <a:pt x="369651" y="369651"/>
                </a:lnTo>
                <a:lnTo>
                  <a:pt x="0" y="3696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2" name="TextBox 113">
            <a:extLst>
              <a:ext uri="{FF2B5EF4-FFF2-40B4-BE49-F238E27FC236}">
                <a16:creationId xmlns:a16="http://schemas.microsoft.com/office/drawing/2014/main" id="{1EE6566A-AEFD-411C-AA2B-FFF271C9B37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393775" y="9361293"/>
            <a:ext cx="1340569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dirty="0">
                <a:solidFill>
                  <a:srgbClr val="1A426A"/>
                </a:solidFill>
                <a:latin typeface="Active Heart"/>
              </a:rPr>
              <a:t>TAKIM ADI:</a:t>
            </a:r>
          </a:p>
          <a:p>
            <a:pPr algn="l">
              <a:lnSpc>
                <a:spcPts val="2000"/>
              </a:lnSpc>
            </a:pPr>
            <a:r>
              <a:rPr lang="tr-TR" sz="2000" dirty="0">
                <a:solidFill>
                  <a:srgbClr val="1A426A"/>
                </a:solidFill>
                <a:latin typeface="Active Heart"/>
              </a:rPr>
              <a:t>KATEGORİ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:</a:t>
            </a:r>
          </a:p>
          <a:p>
            <a:pPr algn="l">
              <a:lnSpc>
                <a:spcPts val="2000"/>
              </a:lnSpc>
              <a:spcBef>
                <a:spcPct val="0"/>
              </a:spcBef>
            </a:pPr>
            <a:endParaRPr lang="en-US" sz="2000" dirty="0">
              <a:solidFill>
                <a:srgbClr val="1A426A"/>
              </a:solidFill>
              <a:latin typeface="Active Heart"/>
            </a:endParaRPr>
          </a:p>
        </p:txBody>
      </p:sp>
      <p:sp>
        <p:nvSpPr>
          <p:cNvPr id="53" name="TextBox 9">
            <a:extLst>
              <a:ext uri="{FF2B5EF4-FFF2-40B4-BE49-F238E27FC236}">
                <a16:creationId xmlns:a16="http://schemas.microsoft.com/office/drawing/2014/main" id="{2FA78320-95A8-4583-99E1-B71BEC7D1F34}"/>
              </a:ext>
            </a:extLst>
          </p:cNvPr>
          <p:cNvSpPr txBox="1"/>
          <p:nvPr/>
        </p:nvSpPr>
        <p:spPr>
          <a:xfrm>
            <a:off x="1418493" y="2127779"/>
            <a:ext cx="13990038" cy="2537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0" lvl="1" algn="l">
              <a:lnSpc>
                <a:spcPts val="2520"/>
              </a:lnSpc>
            </a:pPr>
            <a:r>
              <a:rPr lang="tr-TR" dirty="0">
                <a:solidFill>
                  <a:srgbClr val="DE2223"/>
                </a:solidFill>
                <a:latin typeface="Aileron Bold"/>
              </a:rPr>
              <a:t>BU SUNUM ŞABLONUNU VE BAŞLIKLARINI VE AÇIKLAMALARINI KULLANMAK</a:t>
            </a:r>
            <a:r>
              <a:rPr lang="tr-TR" u="sng" dirty="0">
                <a:solidFill>
                  <a:srgbClr val="DE2223"/>
                </a:solidFill>
                <a:latin typeface="Aileron Bold"/>
              </a:rPr>
              <a:t> ZORUNLU DEĞİLDİR .</a:t>
            </a:r>
            <a:r>
              <a:rPr lang="tr-TR" dirty="0">
                <a:solidFill>
                  <a:srgbClr val="DE2223"/>
                </a:solidFill>
                <a:latin typeface="Aileron Bold"/>
              </a:rPr>
              <a:t>BAŞLIKLAR DEĞİŞTİRİLEBİLİR. BU ŞABLONUN KULLANIMI ÖNERİLİR. BAŞKA BİR FORMATTA SUNUM HAZIRLANMASI DURUMUNDA,</a:t>
            </a:r>
          </a:p>
          <a:p>
            <a:pPr marL="480060" lvl="1" indent="-285750" algn="l">
              <a:lnSpc>
                <a:spcPts val="2520"/>
              </a:lnSpc>
              <a:buFont typeface="Arial" panose="020B0604020202020204" pitchFamily="34" charset="0"/>
              <a:buChar char="•"/>
            </a:pPr>
            <a:endParaRPr lang="tr-TR" dirty="0">
              <a:solidFill>
                <a:srgbClr val="DE2223"/>
              </a:solidFill>
              <a:latin typeface="Aileron Bold"/>
            </a:endParaRPr>
          </a:p>
          <a:p>
            <a:pPr marL="480060" lvl="1" indent="-285750" algn="l">
              <a:lnSpc>
                <a:spcPts val="2520"/>
              </a:lnSpc>
              <a:buFont typeface="Arial" panose="020B0604020202020204" pitchFamily="34" charset="0"/>
              <a:buChar char="•"/>
            </a:pPr>
            <a:r>
              <a:rPr lang="tr-TR" u="sng" dirty="0">
                <a:solidFill>
                  <a:srgbClr val="DE2223"/>
                </a:solidFill>
                <a:latin typeface="Aileron Bold"/>
              </a:rPr>
              <a:t>SUNUMUN İLK SAYFASINDA TAKIM EĞİTİM SEVIYESİ, TAKIM ADI, TAKIM ID, BAŞVURU ID VE KATEGORİYE YER VERİLMELİDİR. </a:t>
            </a:r>
          </a:p>
          <a:p>
            <a:pPr marL="480060" lvl="1" indent="-285750" algn="l">
              <a:lnSpc>
                <a:spcPts val="2520"/>
              </a:lnSpc>
              <a:buFont typeface="Arial" panose="020B0604020202020204" pitchFamily="34" charset="0"/>
              <a:buChar char="•"/>
            </a:pPr>
            <a:r>
              <a:rPr lang="tr-TR" u="sng" dirty="0">
                <a:solidFill>
                  <a:srgbClr val="DE2223"/>
                </a:solidFill>
                <a:latin typeface="Aileron Bold"/>
              </a:rPr>
              <a:t>SUNUMUN HER SAYFASINDA TAKIM ADI VE KATEGORİYE YER VERİLMELİDİR.</a:t>
            </a:r>
          </a:p>
          <a:p>
            <a:pPr marL="480060" lvl="1" indent="-285750">
              <a:lnSpc>
                <a:spcPts val="2520"/>
              </a:lnSpc>
              <a:buFont typeface="Arial" panose="020B0604020202020204" pitchFamily="34" charset="0"/>
              <a:buChar char="•"/>
            </a:pPr>
            <a:r>
              <a:rPr lang="tr-TR" u="sng" dirty="0">
                <a:solidFill>
                  <a:srgbClr val="DE2223"/>
                </a:solidFill>
                <a:latin typeface="Aileron Bold"/>
              </a:rPr>
              <a:t>SUNUMLAR KAPAK VE TEŞEKKÜR SAYFASI HARİÇ 20 SAYFAYI GEÇMEMELİDİR.</a:t>
            </a:r>
          </a:p>
          <a:p>
            <a:pPr marL="480060" lvl="1" indent="-285750">
              <a:lnSpc>
                <a:spcPts val="2520"/>
              </a:lnSpc>
              <a:buFont typeface="Arial" panose="020B0604020202020204" pitchFamily="34" charset="0"/>
              <a:buChar char="•"/>
            </a:pPr>
            <a:r>
              <a:rPr lang="tr-TR" u="sng">
                <a:solidFill>
                  <a:srgbClr val="DE2223"/>
                </a:solidFill>
                <a:latin typeface="Aileron Bold"/>
              </a:rPr>
              <a:t>SUNUM </a:t>
            </a:r>
            <a:r>
              <a:rPr lang="tr-TR" u="sng" dirty="0">
                <a:solidFill>
                  <a:srgbClr val="DE2223"/>
                </a:solidFill>
                <a:latin typeface="Aileron Bold"/>
              </a:rPr>
              <a:t>VİDEOLARI (İÇİNDEKİ VİDEOLAR DAHİL) 15 DAKİKAYI GEÇMEMELİDİR.</a:t>
            </a:r>
          </a:p>
          <a:p>
            <a:pPr marL="194310" lvl="1" algn="l">
              <a:lnSpc>
                <a:spcPts val="2520"/>
              </a:lnSpc>
            </a:pPr>
            <a:endParaRPr lang="tr-TR" sz="1800" dirty="0">
              <a:solidFill>
                <a:srgbClr val="DE2223"/>
              </a:solidFill>
              <a:highlight>
                <a:srgbClr val="FFFF00"/>
              </a:highlight>
              <a:latin typeface="Aileron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0114" y="1287907"/>
            <a:ext cx="16980285" cy="122000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28884" y="-176038"/>
            <a:ext cx="1745298" cy="1745298"/>
          </a:xfrm>
          <a:custGeom>
            <a:avLst/>
            <a:gdLst/>
            <a:ahLst/>
            <a:cxnLst/>
            <a:rect l="l" t="t" r="r" b="b"/>
            <a:pathLst>
              <a:path w="1745298" h="1745298">
                <a:moveTo>
                  <a:pt x="0" y="0"/>
                </a:moveTo>
                <a:lnTo>
                  <a:pt x="1745298" y="0"/>
                </a:lnTo>
                <a:lnTo>
                  <a:pt x="1745298" y="1745298"/>
                </a:lnTo>
                <a:lnTo>
                  <a:pt x="0" y="17452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>
            <a:spLocks noGrp="1" noRot="1" noMove="1" noResize="1" noEditPoints="1" noAdjustHandles="1" noChangeArrowheads="1" noChangeShapeType="1"/>
          </p:cNvSpPr>
          <p:nvPr/>
        </p:nvSpPr>
        <p:spPr>
          <a:xfrm rot="6000">
            <a:off x="15526871" y="9323138"/>
            <a:ext cx="2106908" cy="869935"/>
          </a:xfrm>
          <a:custGeom>
            <a:avLst/>
            <a:gdLst/>
            <a:ahLst/>
            <a:cxnLst/>
            <a:rect l="l" t="t" r="r" b="b"/>
            <a:pathLst>
              <a:path w="2106908" h="869935">
                <a:moveTo>
                  <a:pt x="0" y="3675"/>
                </a:moveTo>
                <a:lnTo>
                  <a:pt x="2105396" y="0"/>
                </a:lnTo>
                <a:lnTo>
                  <a:pt x="2106908" y="866261"/>
                </a:lnTo>
                <a:lnTo>
                  <a:pt x="1512" y="869935"/>
                </a:lnTo>
                <a:lnTo>
                  <a:pt x="0" y="3675"/>
                </a:lnTo>
                <a:close/>
              </a:path>
            </a:pathLst>
          </a:custGeom>
          <a:blipFill>
            <a:blip r:embed="rId4"/>
            <a:stretch>
              <a:fillRect l="-24072" t="-50652" r="-24923" b="-5238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424602" y="153804"/>
            <a:ext cx="1175797" cy="1067428"/>
          </a:xfrm>
          <a:custGeom>
            <a:avLst/>
            <a:gdLst/>
            <a:ahLst/>
            <a:cxnLst/>
            <a:rect l="l" t="t" r="r" b="b"/>
            <a:pathLst>
              <a:path w="1175797" h="1067428">
                <a:moveTo>
                  <a:pt x="0" y="0"/>
                </a:moveTo>
                <a:lnTo>
                  <a:pt x="1175797" y="0"/>
                </a:lnTo>
                <a:lnTo>
                  <a:pt x="1175797" y="1067428"/>
                </a:lnTo>
                <a:lnTo>
                  <a:pt x="0" y="10674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7358" t="-8167" r="-487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3578" y="9220201"/>
            <a:ext cx="16846820" cy="38099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V="1">
            <a:off x="11136600" y="9253436"/>
            <a:ext cx="0" cy="2067128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 9"/>
          <p:cNvSpPr txBox="1"/>
          <p:nvPr/>
        </p:nvSpPr>
        <p:spPr>
          <a:xfrm>
            <a:off x="1418493" y="2127779"/>
            <a:ext cx="13990038" cy="293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0" lvl="1" algn="l">
              <a:lnSpc>
                <a:spcPts val="2520"/>
              </a:lnSpc>
            </a:pPr>
            <a:r>
              <a:rPr lang="tr-TR" sz="1800" dirty="0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Aracın yazılımına dair tüm bilgilere burada yer verilebilir.</a:t>
            </a:r>
            <a:endParaRPr lang="en-US" sz="1800" dirty="0">
              <a:solidFill>
                <a:srgbClr val="DE2223"/>
              </a:solidFill>
              <a:highlight>
                <a:srgbClr val="FFFF00"/>
              </a:highlight>
              <a:latin typeface="Aileron Bol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D560C0-26FB-7458-D1D0-7DA84D220B61}"/>
              </a:ext>
            </a:extLst>
          </p:cNvPr>
          <p:cNvSpPr txBox="1"/>
          <p:nvPr/>
        </p:nvSpPr>
        <p:spPr>
          <a:xfrm>
            <a:off x="3657600" y="336024"/>
            <a:ext cx="10553881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99"/>
              </a:lnSpc>
              <a:spcBef>
                <a:spcPct val="0"/>
              </a:spcBef>
            </a:pPr>
            <a:r>
              <a:rPr lang="tr-TR" sz="6399" dirty="0">
                <a:solidFill>
                  <a:srgbClr val="1A426A"/>
                </a:solidFill>
                <a:latin typeface="Active Heart"/>
              </a:rPr>
              <a:t>YAZILIM MIMARISI</a:t>
            </a:r>
            <a:endParaRPr lang="en-US" sz="6399" dirty="0">
              <a:solidFill>
                <a:srgbClr val="1A426A"/>
              </a:solidFill>
              <a:latin typeface="Active Heart"/>
            </a:endParaRPr>
          </a:p>
        </p:txBody>
      </p:sp>
      <p:sp>
        <p:nvSpPr>
          <p:cNvPr id="41" name="AutoShape 7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1136600" y="9253436"/>
            <a:ext cx="0" cy="2067128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2" name="Freeform 6"/>
          <p:cNvSpPr>
            <a:spLocks/>
          </p:cNvSpPr>
          <p:nvPr/>
        </p:nvSpPr>
        <p:spPr>
          <a:xfrm>
            <a:off x="1300117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Freeform 7"/>
          <p:cNvSpPr>
            <a:spLocks/>
          </p:cNvSpPr>
          <p:nvPr/>
        </p:nvSpPr>
        <p:spPr>
          <a:xfrm>
            <a:off x="792284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Freeform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10015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Freeform 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60949" y="9520632"/>
            <a:ext cx="107458" cy="227535"/>
          </a:xfrm>
          <a:custGeom>
            <a:avLst/>
            <a:gdLst/>
            <a:ahLst/>
            <a:cxnLst/>
            <a:rect l="l" t="t" r="r" b="b"/>
            <a:pathLst>
              <a:path w="107458" h="227535">
                <a:moveTo>
                  <a:pt x="0" y="0"/>
                </a:moveTo>
                <a:lnTo>
                  <a:pt x="107458" y="0"/>
                </a:lnTo>
                <a:lnTo>
                  <a:pt x="107458" y="227535"/>
                </a:lnTo>
                <a:lnTo>
                  <a:pt x="0" y="2275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Freeform 1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5066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TextBox 13"/>
          <p:cNvSpPr txBox="1">
            <a:spLocks/>
          </p:cNvSpPr>
          <p:nvPr/>
        </p:nvSpPr>
        <p:spPr>
          <a:xfrm>
            <a:off x="753578" y="9834486"/>
            <a:ext cx="2130891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2100" dirty="0">
                <a:solidFill>
                  <a:srgbClr val="1A426A"/>
                </a:solidFill>
                <a:latin typeface="Active Heart"/>
              </a:rPr>
              <a:t>www.teknofest.org</a:t>
            </a:r>
          </a:p>
        </p:txBody>
      </p:sp>
      <p:sp>
        <p:nvSpPr>
          <p:cNvPr id="48" name="TextBox 11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393775" y="9361293"/>
            <a:ext cx="1340569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dirty="0">
                <a:solidFill>
                  <a:srgbClr val="1A426A"/>
                </a:solidFill>
                <a:latin typeface="Active Heart"/>
              </a:rPr>
              <a:t>TAKIM ADI:</a:t>
            </a:r>
          </a:p>
          <a:p>
            <a:pPr algn="l">
              <a:lnSpc>
                <a:spcPts val="2000"/>
              </a:lnSpc>
            </a:pPr>
            <a:r>
              <a:rPr lang="tr-TR" sz="2000" dirty="0">
                <a:solidFill>
                  <a:srgbClr val="1A426A"/>
                </a:solidFill>
                <a:latin typeface="Active Heart"/>
              </a:rPr>
              <a:t>KATEGORİ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:</a:t>
            </a:r>
          </a:p>
          <a:p>
            <a:pPr algn="l">
              <a:lnSpc>
                <a:spcPts val="2000"/>
              </a:lnSpc>
              <a:spcBef>
                <a:spcPct val="0"/>
              </a:spcBef>
            </a:pPr>
            <a:endParaRPr lang="en-US" sz="2000" dirty="0">
              <a:solidFill>
                <a:srgbClr val="1A426A"/>
              </a:solidFill>
              <a:latin typeface="Active Heart"/>
            </a:endParaRPr>
          </a:p>
        </p:txBody>
      </p:sp>
      <p:sp>
        <p:nvSpPr>
          <p:cNvPr id="9" name="TextBox 114">
            <a:extLst>
              <a:ext uri="{FF2B5EF4-FFF2-40B4-BE49-F238E27FC236}">
                <a16:creationId xmlns:a16="http://schemas.microsoft.com/office/drawing/2014/main" id="{F9A805E7-2F8E-2DBB-B62B-F785528C4531}"/>
              </a:ext>
            </a:extLst>
          </p:cNvPr>
          <p:cNvSpPr txBox="1"/>
          <p:nvPr/>
        </p:nvSpPr>
        <p:spPr>
          <a:xfrm>
            <a:off x="3141643" y="9572748"/>
            <a:ext cx="758063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  <a:spcBef>
                <a:spcPct val="0"/>
              </a:spcBef>
            </a:pPr>
            <a:r>
              <a:rPr lang="en-US" sz="2000" dirty="0">
                <a:solidFill>
                  <a:srgbClr val="1A426A"/>
                </a:solidFill>
                <a:latin typeface="Active Heart"/>
              </a:rPr>
              <a:t>20</a:t>
            </a:r>
            <a:r>
              <a:rPr lang="tr-TR" sz="2000" dirty="0">
                <a:solidFill>
                  <a:srgbClr val="1A426A"/>
                </a:solidFill>
                <a:latin typeface="Active Heart"/>
              </a:rPr>
              <a:t>26 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TEKNOFEST </a:t>
            </a:r>
            <a:r>
              <a:rPr lang="tr-TR" sz="2000" dirty="0">
                <a:solidFill>
                  <a:srgbClr val="1A426A"/>
                </a:solidFill>
                <a:latin typeface="Active Heart"/>
              </a:rPr>
              <a:t>ROBOTAKSİ 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YARIŞMASI PROJE SUNUMU</a:t>
            </a:r>
          </a:p>
        </p:txBody>
      </p:sp>
    </p:spTree>
    <p:extLst>
      <p:ext uri="{BB962C8B-B14F-4D97-AF65-F5344CB8AC3E}">
        <p14:creationId xmlns:p14="http://schemas.microsoft.com/office/powerpoint/2010/main" val="3070552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0114" y="1287907"/>
            <a:ext cx="16980285" cy="122000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28884" y="-176038"/>
            <a:ext cx="1745298" cy="1745298"/>
          </a:xfrm>
          <a:custGeom>
            <a:avLst/>
            <a:gdLst/>
            <a:ahLst/>
            <a:cxnLst/>
            <a:rect l="l" t="t" r="r" b="b"/>
            <a:pathLst>
              <a:path w="1745298" h="1745298">
                <a:moveTo>
                  <a:pt x="0" y="0"/>
                </a:moveTo>
                <a:lnTo>
                  <a:pt x="1745298" y="0"/>
                </a:lnTo>
                <a:lnTo>
                  <a:pt x="1745298" y="1745298"/>
                </a:lnTo>
                <a:lnTo>
                  <a:pt x="0" y="17452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>
            <a:spLocks noGrp="1" noRot="1" noMove="1" noResize="1" noEditPoints="1" noAdjustHandles="1" noChangeArrowheads="1" noChangeShapeType="1"/>
          </p:cNvSpPr>
          <p:nvPr/>
        </p:nvSpPr>
        <p:spPr>
          <a:xfrm rot="6000">
            <a:off x="15526871" y="9323138"/>
            <a:ext cx="2106908" cy="869935"/>
          </a:xfrm>
          <a:custGeom>
            <a:avLst/>
            <a:gdLst/>
            <a:ahLst/>
            <a:cxnLst/>
            <a:rect l="l" t="t" r="r" b="b"/>
            <a:pathLst>
              <a:path w="2106908" h="869935">
                <a:moveTo>
                  <a:pt x="0" y="3675"/>
                </a:moveTo>
                <a:lnTo>
                  <a:pt x="2105396" y="0"/>
                </a:lnTo>
                <a:lnTo>
                  <a:pt x="2106908" y="866261"/>
                </a:lnTo>
                <a:lnTo>
                  <a:pt x="1512" y="869935"/>
                </a:lnTo>
                <a:lnTo>
                  <a:pt x="0" y="3675"/>
                </a:lnTo>
                <a:close/>
              </a:path>
            </a:pathLst>
          </a:custGeom>
          <a:blipFill>
            <a:blip r:embed="rId4"/>
            <a:stretch>
              <a:fillRect l="-24072" t="-50652" r="-24923" b="-5238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424602" y="153804"/>
            <a:ext cx="1175797" cy="1067428"/>
          </a:xfrm>
          <a:custGeom>
            <a:avLst/>
            <a:gdLst/>
            <a:ahLst/>
            <a:cxnLst/>
            <a:rect l="l" t="t" r="r" b="b"/>
            <a:pathLst>
              <a:path w="1175797" h="1067428">
                <a:moveTo>
                  <a:pt x="0" y="0"/>
                </a:moveTo>
                <a:lnTo>
                  <a:pt x="1175797" y="0"/>
                </a:lnTo>
                <a:lnTo>
                  <a:pt x="1175797" y="1067428"/>
                </a:lnTo>
                <a:lnTo>
                  <a:pt x="0" y="10674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7358" t="-8167" r="-487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3578" y="9220201"/>
            <a:ext cx="16846820" cy="38099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V="1">
            <a:off x="11136600" y="9253436"/>
            <a:ext cx="0" cy="2067128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 9"/>
          <p:cNvSpPr txBox="1"/>
          <p:nvPr/>
        </p:nvSpPr>
        <p:spPr>
          <a:xfrm>
            <a:off x="1418493" y="2127779"/>
            <a:ext cx="13990038" cy="1575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0" lvl="1" algn="l">
              <a:lnSpc>
                <a:spcPts val="2520"/>
              </a:lnSpc>
            </a:pPr>
            <a:r>
              <a:rPr lang="tr-TR" sz="1800" dirty="0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Bu Sayfa Özgün Araç İçindir</a:t>
            </a:r>
          </a:p>
          <a:p>
            <a:pPr marL="194310" lvl="1" algn="l">
              <a:lnSpc>
                <a:spcPts val="2520"/>
              </a:lnSpc>
            </a:pPr>
            <a:endParaRPr lang="tr-TR" dirty="0">
              <a:solidFill>
                <a:srgbClr val="DE2223"/>
              </a:solidFill>
              <a:highlight>
                <a:srgbClr val="FFFF00"/>
              </a:highlight>
              <a:latin typeface="Aileron Bold"/>
            </a:endParaRPr>
          </a:p>
          <a:p>
            <a:pPr marL="194310" lvl="1" algn="l">
              <a:lnSpc>
                <a:spcPts val="2520"/>
              </a:lnSpc>
            </a:pPr>
            <a:r>
              <a:rPr lang="tr-TR" dirty="0" err="1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Steering</a:t>
            </a:r>
            <a:r>
              <a:rPr lang="tr-TR" dirty="0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, </a:t>
            </a:r>
            <a:r>
              <a:rPr lang="tr-TR" dirty="0" err="1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Throttle</a:t>
            </a:r>
            <a:r>
              <a:rPr lang="tr-TR" dirty="0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 ve </a:t>
            </a:r>
            <a:r>
              <a:rPr lang="tr-TR" dirty="0" err="1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Brake</a:t>
            </a:r>
            <a:r>
              <a:rPr lang="tr-TR" dirty="0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 sistemlerinin;</a:t>
            </a:r>
            <a:br>
              <a:rPr lang="tr-TR" dirty="0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</a:br>
            <a:r>
              <a:rPr lang="tr-TR" dirty="0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	Donanımları, </a:t>
            </a:r>
            <a:r>
              <a:rPr lang="tr-TR" dirty="0" err="1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Sensörleri</a:t>
            </a:r>
            <a:r>
              <a:rPr lang="tr-TR" dirty="0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, Geri Bildirimleri ve diğer gerekli gördüğünüz bilgiler</a:t>
            </a:r>
          </a:p>
          <a:p>
            <a:pPr marL="194310" lvl="1" algn="l">
              <a:lnSpc>
                <a:spcPts val="2520"/>
              </a:lnSpc>
            </a:pPr>
            <a:endParaRPr lang="en-US" sz="1800" dirty="0">
              <a:solidFill>
                <a:srgbClr val="DE2223"/>
              </a:solidFill>
              <a:highlight>
                <a:srgbClr val="FFFF00"/>
              </a:highlight>
              <a:latin typeface="Aileron Bol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D560C0-26FB-7458-D1D0-7DA84D220B61}"/>
              </a:ext>
            </a:extLst>
          </p:cNvPr>
          <p:cNvSpPr txBox="1"/>
          <p:nvPr/>
        </p:nvSpPr>
        <p:spPr>
          <a:xfrm>
            <a:off x="3657600" y="336024"/>
            <a:ext cx="10553881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99"/>
              </a:lnSpc>
              <a:spcBef>
                <a:spcPct val="0"/>
              </a:spcBef>
            </a:pPr>
            <a:r>
              <a:rPr lang="tr-TR" sz="6399" dirty="0">
                <a:solidFill>
                  <a:srgbClr val="1A426A"/>
                </a:solidFill>
                <a:latin typeface="Active Heart"/>
              </a:rPr>
              <a:t>DRIVE-BY-WIRE SİSTEMİ</a:t>
            </a:r>
            <a:endParaRPr lang="en-US" sz="6399" dirty="0">
              <a:solidFill>
                <a:srgbClr val="1A426A"/>
              </a:solidFill>
              <a:latin typeface="Active Heart"/>
            </a:endParaRPr>
          </a:p>
        </p:txBody>
      </p:sp>
      <p:sp>
        <p:nvSpPr>
          <p:cNvPr id="41" name="AutoShape 7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1136600" y="9253436"/>
            <a:ext cx="0" cy="2067128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2" name="Freeform 6"/>
          <p:cNvSpPr>
            <a:spLocks/>
          </p:cNvSpPr>
          <p:nvPr/>
        </p:nvSpPr>
        <p:spPr>
          <a:xfrm>
            <a:off x="1300117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Freeform 7"/>
          <p:cNvSpPr>
            <a:spLocks/>
          </p:cNvSpPr>
          <p:nvPr/>
        </p:nvSpPr>
        <p:spPr>
          <a:xfrm>
            <a:off x="792284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Freeform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10015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Freeform 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60949" y="9520632"/>
            <a:ext cx="107458" cy="227535"/>
          </a:xfrm>
          <a:custGeom>
            <a:avLst/>
            <a:gdLst/>
            <a:ahLst/>
            <a:cxnLst/>
            <a:rect l="l" t="t" r="r" b="b"/>
            <a:pathLst>
              <a:path w="107458" h="227535">
                <a:moveTo>
                  <a:pt x="0" y="0"/>
                </a:moveTo>
                <a:lnTo>
                  <a:pt x="107458" y="0"/>
                </a:lnTo>
                <a:lnTo>
                  <a:pt x="107458" y="227535"/>
                </a:lnTo>
                <a:lnTo>
                  <a:pt x="0" y="2275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Freeform 1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5066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TextBox 13"/>
          <p:cNvSpPr txBox="1">
            <a:spLocks/>
          </p:cNvSpPr>
          <p:nvPr/>
        </p:nvSpPr>
        <p:spPr>
          <a:xfrm>
            <a:off x="753578" y="9834486"/>
            <a:ext cx="2130891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2100" dirty="0">
                <a:solidFill>
                  <a:srgbClr val="1A426A"/>
                </a:solidFill>
                <a:latin typeface="Active Heart"/>
              </a:rPr>
              <a:t>www.teknofest.org</a:t>
            </a:r>
          </a:p>
        </p:txBody>
      </p:sp>
      <p:sp>
        <p:nvSpPr>
          <p:cNvPr id="48" name="TextBox 11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393775" y="9361293"/>
            <a:ext cx="1340569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dirty="0">
                <a:solidFill>
                  <a:srgbClr val="1A426A"/>
                </a:solidFill>
                <a:latin typeface="Active Heart"/>
              </a:rPr>
              <a:t>TAKIM ADI:</a:t>
            </a:r>
          </a:p>
          <a:p>
            <a:pPr algn="l">
              <a:lnSpc>
                <a:spcPts val="2000"/>
              </a:lnSpc>
            </a:pPr>
            <a:r>
              <a:rPr lang="tr-TR" sz="2000" dirty="0">
                <a:solidFill>
                  <a:srgbClr val="1A426A"/>
                </a:solidFill>
                <a:latin typeface="Active Heart"/>
              </a:rPr>
              <a:t>KATEGORİ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:</a:t>
            </a:r>
          </a:p>
          <a:p>
            <a:pPr algn="l">
              <a:lnSpc>
                <a:spcPts val="2000"/>
              </a:lnSpc>
              <a:spcBef>
                <a:spcPct val="0"/>
              </a:spcBef>
            </a:pPr>
            <a:endParaRPr lang="en-US" sz="2000" dirty="0">
              <a:solidFill>
                <a:srgbClr val="1A426A"/>
              </a:solidFill>
              <a:latin typeface="Active Heart"/>
            </a:endParaRPr>
          </a:p>
        </p:txBody>
      </p:sp>
      <p:sp>
        <p:nvSpPr>
          <p:cNvPr id="9" name="TextBox 114">
            <a:extLst>
              <a:ext uri="{FF2B5EF4-FFF2-40B4-BE49-F238E27FC236}">
                <a16:creationId xmlns:a16="http://schemas.microsoft.com/office/drawing/2014/main" id="{F3DCDC71-9681-2647-3CA5-B3E26BDBAF72}"/>
              </a:ext>
            </a:extLst>
          </p:cNvPr>
          <p:cNvSpPr txBox="1"/>
          <p:nvPr/>
        </p:nvSpPr>
        <p:spPr>
          <a:xfrm>
            <a:off x="3141643" y="9572748"/>
            <a:ext cx="758063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  <a:spcBef>
                <a:spcPct val="0"/>
              </a:spcBef>
            </a:pPr>
            <a:r>
              <a:rPr lang="en-US" sz="2000" dirty="0">
                <a:solidFill>
                  <a:srgbClr val="1A426A"/>
                </a:solidFill>
                <a:latin typeface="Active Heart"/>
              </a:rPr>
              <a:t>20</a:t>
            </a:r>
            <a:r>
              <a:rPr lang="tr-TR" sz="2000" dirty="0">
                <a:solidFill>
                  <a:srgbClr val="1A426A"/>
                </a:solidFill>
                <a:latin typeface="Active Heart"/>
              </a:rPr>
              <a:t>26 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TEKNOFEST </a:t>
            </a:r>
            <a:r>
              <a:rPr lang="tr-TR" sz="2000" dirty="0">
                <a:solidFill>
                  <a:srgbClr val="1A426A"/>
                </a:solidFill>
                <a:latin typeface="Active Heart"/>
              </a:rPr>
              <a:t>ROBOTAKSİ 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YARIŞMASI PROJE SUNUMU</a:t>
            </a:r>
          </a:p>
        </p:txBody>
      </p:sp>
    </p:spTree>
    <p:extLst>
      <p:ext uri="{BB962C8B-B14F-4D97-AF65-F5344CB8AC3E}">
        <p14:creationId xmlns:p14="http://schemas.microsoft.com/office/powerpoint/2010/main" val="1234130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0114" y="1287907"/>
            <a:ext cx="16980285" cy="122000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28884" y="-176038"/>
            <a:ext cx="1745298" cy="1745298"/>
          </a:xfrm>
          <a:custGeom>
            <a:avLst/>
            <a:gdLst/>
            <a:ahLst/>
            <a:cxnLst/>
            <a:rect l="l" t="t" r="r" b="b"/>
            <a:pathLst>
              <a:path w="1745298" h="1745298">
                <a:moveTo>
                  <a:pt x="0" y="0"/>
                </a:moveTo>
                <a:lnTo>
                  <a:pt x="1745298" y="0"/>
                </a:lnTo>
                <a:lnTo>
                  <a:pt x="1745298" y="1745298"/>
                </a:lnTo>
                <a:lnTo>
                  <a:pt x="0" y="17452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>
            <a:spLocks noGrp="1" noRot="1" noMove="1" noResize="1" noEditPoints="1" noAdjustHandles="1" noChangeArrowheads="1" noChangeShapeType="1"/>
          </p:cNvSpPr>
          <p:nvPr/>
        </p:nvSpPr>
        <p:spPr>
          <a:xfrm rot="6000">
            <a:off x="15526871" y="9323138"/>
            <a:ext cx="2106908" cy="869935"/>
          </a:xfrm>
          <a:custGeom>
            <a:avLst/>
            <a:gdLst/>
            <a:ahLst/>
            <a:cxnLst/>
            <a:rect l="l" t="t" r="r" b="b"/>
            <a:pathLst>
              <a:path w="2106908" h="869935">
                <a:moveTo>
                  <a:pt x="0" y="3675"/>
                </a:moveTo>
                <a:lnTo>
                  <a:pt x="2105396" y="0"/>
                </a:lnTo>
                <a:lnTo>
                  <a:pt x="2106908" y="866261"/>
                </a:lnTo>
                <a:lnTo>
                  <a:pt x="1512" y="869935"/>
                </a:lnTo>
                <a:lnTo>
                  <a:pt x="0" y="3675"/>
                </a:lnTo>
                <a:close/>
              </a:path>
            </a:pathLst>
          </a:custGeom>
          <a:blipFill>
            <a:blip r:embed="rId4"/>
            <a:stretch>
              <a:fillRect l="-24072" t="-50652" r="-24923" b="-5238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424602" y="153804"/>
            <a:ext cx="1175797" cy="1067428"/>
          </a:xfrm>
          <a:custGeom>
            <a:avLst/>
            <a:gdLst/>
            <a:ahLst/>
            <a:cxnLst/>
            <a:rect l="l" t="t" r="r" b="b"/>
            <a:pathLst>
              <a:path w="1175797" h="1067428">
                <a:moveTo>
                  <a:pt x="0" y="0"/>
                </a:moveTo>
                <a:lnTo>
                  <a:pt x="1175797" y="0"/>
                </a:lnTo>
                <a:lnTo>
                  <a:pt x="1175797" y="1067428"/>
                </a:lnTo>
                <a:lnTo>
                  <a:pt x="0" y="10674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7358" t="-8167" r="-487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3578" y="9220201"/>
            <a:ext cx="16846820" cy="38099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V="1">
            <a:off x="11136600" y="9253436"/>
            <a:ext cx="0" cy="2067128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911760" y="9607673"/>
            <a:ext cx="220742" cy="519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1A426A"/>
                </a:solidFill>
                <a:latin typeface="Active Heart"/>
              </a:rPr>
              <a:t>9</a:t>
            </a:r>
          </a:p>
        </p:txBody>
      </p:sp>
      <p:sp>
        <p:nvSpPr>
          <p:cNvPr id="52" name="TextBox 9"/>
          <p:cNvSpPr txBox="1"/>
          <p:nvPr/>
        </p:nvSpPr>
        <p:spPr>
          <a:xfrm>
            <a:off x="1418493" y="2127779"/>
            <a:ext cx="13990038" cy="1255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0" lvl="1" algn="l">
              <a:lnSpc>
                <a:spcPts val="2520"/>
              </a:lnSpc>
            </a:pPr>
            <a:r>
              <a:rPr lang="tr-TR" sz="1800" dirty="0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Bu Sayfa Özgün Araç İçindir</a:t>
            </a:r>
          </a:p>
          <a:p>
            <a:pPr marL="194310" lvl="1" algn="l">
              <a:lnSpc>
                <a:spcPts val="2520"/>
              </a:lnSpc>
            </a:pPr>
            <a:endParaRPr lang="tr-TR" dirty="0">
              <a:solidFill>
                <a:srgbClr val="DE2223"/>
              </a:solidFill>
              <a:highlight>
                <a:srgbClr val="FFFF00"/>
              </a:highlight>
              <a:latin typeface="Aileron Bold"/>
            </a:endParaRPr>
          </a:p>
          <a:p>
            <a:pPr marL="194310" lvl="1" algn="l">
              <a:lnSpc>
                <a:spcPts val="2520"/>
              </a:lnSpc>
            </a:pPr>
            <a:r>
              <a:rPr lang="tr-TR" dirty="0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Araç üzerinde kullanılan </a:t>
            </a:r>
            <a:r>
              <a:rPr lang="tr-TR" dirty="0" err="1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sensörlere</a:t>
            </a:r>
            <a:r>
              <a:rPr lang="tr-TR" dirty="0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 burada yer verilmelidir.</a:t>
            </a:r>
          </a:p>
          <a:p>
            <a:pPr marL="194310" lvl="1" algn="l">
              <a:lnSpc>
                <a:spcPts val="2520"/>
              </a:lnSpc>
            </a:pPr>
            <a:endParaRPr lang="en-US" sz="1800" dirty="0">
              <a:solidFill>
                <a:srgbClr val="DE2223"/>
              </a:solidFill>
              <a:highlight>
                <a:srgbClr val="FFFF00"/>
              </a:highlight>
              <a:latin typeface="Aileron Bol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D560C0-26FB-7458-D1D0-7DA84D220B61}"/>
              </a:ext>
            </a:extLst>
          </p:cNvPr>
          <p:cNvSpPr txBox="1"/>
          <p:nvPr/>
        </p:nvSpPr>
        <p:spPr>
          <a:xfrm>
            <a:off x="3657600" y="336024"/>
            <a:ext cx="10553881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99"/>
              </a:lnSpc>
              <a:spcBef>
                <a:spcPct val="0"/>
              </a:spcBef>
            </a:pPr>
            <a:r>
              <a:rPr lang="tr-TR" sz="6399" dirty="0">
                <a:solidFill>
                  <a:srgbClr val="1A426A"/>
                </a:solidFill>
                <a:latin typeface="Active Heart"/>
              </a:rPr>
              <a:t>SENSÖR SİSTEMİ</a:t>
            </a:r>
            <a:endParaRPr lang="en-US" sz="6399" dirty="0">
              <a:solidFill>
                <a:srgbClr val="1A426A"/>
              </a:solidFill>
              <a:latin typeface="Active Heart"/>
            </a:endParaRPr>
          </a:p>
        </p:txBody>
      </p:sp>
      <p:sp>
        <p:nvSpPr>
          <p:cNvPr id="41" name="AutoShape 7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1136600" y="9253436"/>
            <a:ext cx="0" cy="2067128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2" name="Freeform 6"/>
          <p:cNvSpPr>
            <a:spLocks/>
          </p:cNvSpPr>
          <p:nvPr/>
        </p:nvSpPr>
        <p:spPr>
          <a:xfrm>
            <a:off x="1300117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Freeform 7"/>
          <p:cNvSpPr>
            <a:spLocks/>
          </p:cNvSpPr>
          <p:nvPr/>
        </p:nvSpPr>
        <p:spPr>
          <a:xfrm>
            <a:off x="792284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Freeform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10015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Freeform 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60949" y="9520632"/>
            <a:ext cx="107458" cy="227535"/>
          </a:xfrm>
          <a:custGeom>
            <a:avLst/>
            <a:gdLst/>
            <a:ahLst/>
            <a:cxnLst/>
            <a:rect l="l" t="t" r="r" b="b"/>
            <a:pathLst>
              <a:path w="107458" h="227535">
                <a:moveTo>
                  <a:pt x="0" y="0"/>
                </a:moveTo>
                <a:lnTo>
                  <a:pt x="107458" y="0"/>
                </a:lnTo>
                <a:lnTo>
                  <a:pt x="107458" y="227535"/>
                </a:lnTo>
                <a:lnTo>
                  <a:pt x="0" y="2275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Freeform 1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5066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TextBox 13"/>
          <p:cNvSpPr txBox="1">
            <a:spLocks/>
          </p:cNvSpPr>
          <p:nvPr/>
        </p:nvSpPr>
        <p:spPr>
          <a:xfrm>
            <a:off x="753578" y="9834486"/>
            <a:ext cx="2130891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2100" dirty="0">
                <a:solidFill>
                  <a:srgbClr val="1A426A"/>
                </a:solidFill>
                <a:latin typeface="Active Heart"/>
              </a:rPr>
              <a:t>www.teknofest.org</a:t>
            </a:r>
          </a:p>
        </p:txBody>
      </p:sp>
      <p:sp>
        <p:nvSpPr>
          <p:cNvPr id="48" name="TextBox 11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393775" y="9361293"/>
            <a:ext cx="1340569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dirty="0">
                <a:solidFill>
                  <a:srgbClr val="1A426A"/>
                </a:solidFill>
                <a:latin typeface="Active Heart"/>
              </a:rPr>
              <a:t>TAKIM ADI:</a:t>
            </a:r>
          </a:p>
          <a:p>
            <a:pPr algn="l">
              <a:lnSpc>
                <a:spcPts val="2000"/>
              </a:lnSpc>
            </a:pPr>
            <a:r>
              <a:rPr lang="tr-TR" sz="2000" dirty="0">
                <a:solidFill>
                  <a:srgbClr val="1A426A"/>
                </a:solidFill>
                <a:latin typeface="Active Heart"/>
              </a:rPr>
              <a:t>KATEGORİ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:</a:t>
            </a:r>
          </a:p>
          <a:p>
            <a:pPr algn="l">
              <a:lnSpc>
                <a:spcPts val="2000"/>
              </a:lnSpc>
              <a:spcBef>
                <a:spcPct val="0"/>
              </a:spcBef>
            </a:pPr>
            <a:endParaRPr lang="en-US" sz="2000" dirty="0">
              <a:solidFill>
                <a:srgbClr val="1A426A"/>
              </a:solidFill>
              <a:latin typeface="Active Heart"/>
            </a:endParaRPr>
          </a:p>
        </p:txBody>
      </p:sp>
      <p:sp>
        <p:nvSpPr>
          <p:cNvPr id="9" name="TextBox 114">
            <a:extLst>
              <a:ext uri="{FF2B5EF4-FFF2-40B4-BE49-F238E27FC236}">
                <a16:creationId xmlns:a16="http://schemas.microsoft.com/office/drawing/2014/main" id="{8FD1DC4B-1CBE-4BD6-ADEC-CE7D7D1CC93A}"/>
              </a:ext>
            </a:extLst>
          </p:cNvPr>
          <p:cNvSpPr txBox="1"/>
          <p:nvPr/>
        </p:nvSpPr>
        <p:spPr>
          <a:xfrm>
            <a:off x="3141643" y="9572748"/>
            <a:ext cx="758063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  <a:spcBef>
                <a:spcPct val="0"/>
              </a:spcBef>
            </a:pPr>
            <a:r>
              <a:rPr lang="en-US" sz="2000" dirty="0">
                <a:solidFill>
                  <a:srgbClr val="1A426A"/>
                </a:solidFill>
                <a:latin typeface="Active Heart"/>
              </a:rPr>
              <a:t>20</a:t>
            </a:r>
            <a:r>
              <a:rPr lang="tr-TR" sz="2000" dirty="0">
                <a:solidFill>
                  <a:srgbClr val="1A426A"/>
                </a:solidFill>
                <a:latin typeface="Active Heart"/>
              </a:rPr>
              <a:t>26 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TEKNOFEST </a:t>
            </a:r>
            <a:r>
              <a:rPr lang="tr-TR" sz="2000" dirty="0">
                <a:solidFill>
                  <a:srgbClr val="1A426A"/>
                </a:solidFill>
                <a:latin typeface="Active Heart"/>
              </a:rPr>
              <a:t>ROBOTAKSİ 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YARIŞMASI PROJE SUNUMU</a:t>
            </a:r>
          </a:p>
        </p:txBody>
      </p:sp>
    </p:spTree>
    <p:extLst>
      <p:ext uri="{BB962C8B-B14F-4D97-AF65-F5344CB8AC3E}">
        <p14:creationId xmlns:p14="http://schemas.microsoft.com/office/powerpoint/2010/main" val="1794626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0114" y="1287907"/>
            <a:ext cx="16980285" cy="122000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28884" y="-176038"/>
            <a:ext cx="1745298" cy="1745298"/>
          </a:xfrm>
          <a:custGeom>
            <a:avLst/>
            <a:gdLst/>
            <a:ahLst/>
            <a:cxnLst/>
            <a:rect l="l" t="t" r="r" b="b"/>
            <a:pathLst>
              <a:path w="1745298" h="1745298">
                <a:moveTo>
                  <a:pt x="0" y="0"/>
                </a:moveTo>
                <a:lnTo>
                  <a:pt x="1745298" y="0"/>
                </a:lnTo>
                <a:lnTo>
                  <a:pt x="1745298" y="1745298"/>
                </a:lnTo>
                <a:lnTo>
                  <a:pt x="0" y="17452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>
            <a:spLocks noGrp="1" noRot="1" noMove="1" noResize="1" noEditPoints="1" noAdjustHandles="1" noChangeArrowheads="1" noChangeShapeType="1"/>
          </p:cNvSpPr>
          <p:nvPr/>
        </p:nvSpPr>
        <p:spPr>
          <a:xfrm rot="6000">
            <a:off x="15526871" y="9323138"/>
            <a:ext cx="2106908" cy="869935"/>
          </a:xfrm>
          <a:custGeom>
            <a:avLst/>
            <a:gdLst/>
            <a:ahLst/>
            <a:cxnLst/>
            <a:rect l="l" t="t" r="r" b="b"/>
            <a:pathLst>
              <a:path w="2106908" h="869935">
                <a:moveTo>
                  <a:pt x="0" y="3675"/>
                </a:moveTo>
                <a:lnTo>
                  <a:pt x="2105396" y="0"/>
                </a:lnTo>
                <a:lnTo>
                  <a:pt x="2106908" y="866261"/>
                </a:lnTo>
                <a:lnTo>
                  <a:pt x="1512" y="869935"/>
                </a:lnTo>
                <a:lnTo>
                  <a:pt x="0" y="3675"/>
                </a:lnTo>
                <a:close/>
              </a:path>
            </a:pathLst>
          </a:custGeom>
          <a:blipFill>
            <a:blip r:embed="rId4"/>
            <a:stretch>
              <a:fillRect l="-24072" t="-50652" r="-24923" b="-5238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424602" y="153804"/>
            <a:ext cx="1175797" cy="1067428"/>
          </a:xfrm>
          <a:custGeom>
            <a:avLst/>
            <a:gdLst/>
            <a:ahLst/>
            <a:cxnLst/>
            <a:rect l="l" t="t" r="r" b="b"/>
            <a:pathLst>
              <a:path w="1175797" h="1067428">
                <a:moveTo>
                  <a:pt x="0" y="0"/>
                </a:moveTo>
                <a:lnTo>
                  <a:pt x="1175797" y="0"/>
                </a:lnTo>
                <a:lnTo>
                  <a:pt x="1175797" y="1067428"/>
                </a:lnTo>
                <a:lnTo>
                  <a:pt x="0" y="10674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7358" t="-8167" r="-487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3578" y="9220201"/>
            <a:ext cx="16846820" cy="38099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V="1">
            <a:off x="11136600" y="9253436"/>
            <a:ext cx="0" cy="2067128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 9"/>
          <p:cNvSpPr txBox="1"/>
          <p:nvPr/>
        </p:nvSpPr>
        <p:spPr>
          <a:xfrm>
            <a:off x="1418493" y="2127779"/>
            <a:ext cx="13990038" cy="1255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0" lvl="1">
              <a:lnSpc>
                <a:spcPts val="2520"/>
              </a:lnSpc>
            </a:pPr>
            <a:r>
              <a:rPr lang="tr-TR" dirty="0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Bu Sayfa Özgün Araç İçindir</a:t>
            </a:r>
            <a:endParaRPr lang="tr-TR" sz="1800" dirty="0">
              <a:solidFill>
                <a:srgbClr val="DE2223"/>
              </a:solidFill>
              <a:highlight>
                <a:srgbClr val="FFFF00"/>
              </a:highlight>
              <a:latin typeface="Aileron Bold"/>
            </a:endParaRPr>
          </a:p>
          <a:p>
            <a:pPr marL="194310" lvl="1" algn="l">
              <a:lnSpc>
                <a:spcPts val="2520"/>
              </a:lnSpc>
            </a:pPr>
            <a:endParaRPr lang="tr-TR" sz="1800" dirty="0">
              <a:solidFill>
                <a:srgbClr val="DE2223"/>
              </a:solidFill>
              <a:highlight>
                <a:srgbClr val="FFFF00"/>
              </a:highlight>
              <a:latin typeface="Aileron Bold"/>
            </a:endParaRPr>
          </a:p>
          <a:p>
            <a:pPr marL="194310" lvl="1" algn="l">
              <a:lnSpc>
                <a:spcPts val="2520"/>
              </a:lnSpc>
            </a:pPr>
            <a:r>
              <a:rPr lang="tr-TR" sz="1800" dirty="0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Gerekli görülen diğer donanım bilgilerine yer verilmelidir.</a:t>
            </a:r>
            <a:endParaRPr lang="tr-TR" dirty="0">
              <a:solidFill>
                <a:srgbClr val="DE2223"/>
              </a:solidFill>
              <a:highlight>
                <a:srgbClr val="FFFF00"/>
              </a:highlight>
              <a:latin typeface="Aileron Bold"/>
            </a:endParaRPr>
          </a:p>
          <a:p>
            <a:pPr marL="194310" lvl="1" algn="l">
              <a:lnSpc>
                <a:spcPts val="2520"/>
              </a:lnSpc>
            </a:pPr>
            <a:endParaRPr lang="en-US" sz="1800" dirty="0">
              <a:solidFill>
                <a:srgbClr val="DE2223"/>
              </a:solidFill>
              <a:highlight>
                <a:srgbClr val="FFFF00"/>
              </a:highlight>
              <a:latin typeface="Aileron Bol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D560C0-26FB-7458-D1D0-7DA84D220B61}"/>
              </a:ext>
            </a:extLst>
          </p:cNvPr>
          <p:cNvSpPr txBox="1"/>
          <p:nvPr/>
        </p:nvSpPr>
        <p:spPr>
          <a:xfrm>
            <a:off x="3657600" y="336024"/>
            <a:ext cx="10553881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99"/>
              </a:lnSpc>
              <a:spcBef>
                <a:spcPct val="0"/>
              </a:spcBef>
            </a:pPr>
            <a:r>
              <a:rPr lang="tr-TR" sz="6399" dirty="0">
                <a:solidFill>
                  <a:srgbClr val="1A426A"/>
                </a:solidFill>
                <a:latin typeface="Active Heart"/>
              </a:rPr>
              <a:t>DONANIM MİMARİSİ</a:t>
            </a:r>
            <a:endParaRPr lang="en-US" sz="6399" dirty="0">
              <a:solidFill>
                <a:srgbClr val="1A426A"/>
              </a:solidFill>
              <a:latin typeface="Active Heart"/>
            </a:endParaRPr>
          </a:p>
        </p:txBody>
      </p:sp>
      <p:sp>
        <p:nvSpPr>
          <p:cNvPr id="41" name="AutoShape 7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1136600" y="9253436"/>
            <a:ext cx="0" cy="2067128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2" name="Freeform 6"/>
          <p:cNvSpPr>
            <a:spLocks/>
          </p:cNvSpPr>
          <p:nvPr/>
        </p:nvSpPr>
        <p:spPr>
          <a:xfrm>
            <a:off x="1300117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Freeform 7"/>
          <p:cNvSpPr>
            <a:spLocks/>
          </p:cNvSpPr>
          <p:nvPr/>
        </p:nvSpPr>
        <p:spPr>
          <a:xfrm>
            <a:off x="792284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Freeform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10015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Freeform 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60949" y="9520632"/>
            <a:ext cx="107458" cy="227535"/>
          </a:xfrm>
          <a:custGeom>
            <a:avLst/>
            <a:gdLst/>
            <a:ahLst/>
            <a:cxnLst/>
            <a:rect l="l" t="t" r="r" b="b"/>
            <a:pathLst>
              <a:path w="107458" h="227535">
                <a:moveTo>
                  <a:pt x="0" y="0"/>
                </a:moveTo>
                <a:lnTo>
                  <a:pt x="107458" y="0"/>
                </a:lnTo>
                <a:lnTo>
                  <a:pt x="107458" y="227535"/>
                </a:lnTo>
                <a:lnTo>
                  <a:pt x="0" y="2275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Freeform 1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5066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TextBox 13"/>
          <p:cNvSpPr txBox="1">
            <a:spLocks/>
          </p:cNvSpPr>
          <p:nvPr/>
        </p:nvSpPr>
        <p:spPr>
          <a:xfrm>
            <a:off x="753578" y="9834486"/>
            <a:ext cx="2130891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2100" dirty="0">
                <a:solidFill>
                  <a:srgbClr val="1A426A"/>
                </a:solidFill>
                <a:latin typeface="Active Heart"/>
              </a:rPr>
              <a:t>www.teknofest.org</a:t>
            </a:r>
          </a:p>
        </p:txBody>
      </p:sp>
      <p:sp>
        <p:nvSpPr>
          <p:cNvPr id="48" name="TextBox 11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393775" y="9361293"/>
            <a:ext cx="1340569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dirty="0">
                <a:solidFill>
                  <a:srgbClr val="1A426A"/>
                </a:solidFill>
                <a:latin typeface="Active Heart"/>
              </a:rPr>
              <a:t>TAKIM ADI:</a:t>
            </a:r>
          </a:p>
          <a:p>
            <a:pPr algn="l">
              <a:lnSpc>
                <a:spcPts val="2000"/>
              </a:lnSpc>
            </a:pPr>
            <a:r>
              <a:rPr lang="tr-TR" sz="2000" dirty="0">
                <a:solidFill>
                  <a:srgbClr val="1A426A"/>
                </a:solidFill>
                <a:latin typeface="Active Heart"/>
              </a:rPr>
              <a:t>KATEGORİ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:</a:t>
            </a:r>
          </a:p>
          <a:p>
            <a:pPr algn="l">
              <a:lnSpc>
                <a:spcPts val="2000"/>
              </a:lnSpc>
              <a:spcBef>
                <a:spcPct val="0"/>
              </a:spcBef>
            </a:pPr>
            <a:endParaRPr lang="en-US" sz="2000" dirty="0">
              <a:solidFill>
                <a:srgbClr val="1A426A"/>
              </a:solidFill>
              <a:latin typeface="Active Heart"/>
            </a:endParaRPr>
          </a:p>
        </p:txBody>
      </p:sp>
      <p:sp>
        <p:nvSpPr>
          <p:cNvPr id="9" name="TextBox 114">
            <a:extLst>
              <a:ext uri="{FF2B5EF4-FFF2-40B4-BE49-F238E27FC236}">
                <a16:creationId xmlns:a16="http://schemas.microsoft.com/office/drawing/2014/main" id="{5C81F5DB-B67E-455F-77C8-42DB39F9D2CD}"/>
              </a:ext>
            </a:extLst>
          </p:cNvPr>
          <p:cNvSpPr txBox="1"/>
          <p:nvPr/>
        </p:nvSpPr>
        <p:spPr>
          <a:xfrm>
            <a:off x="3141643" y="9572748"/>
            <a:ext cx="758063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  <a:spcBef>
                <a:spcPct val="0"/>
              </a:spcBef>
            </a:pPr>
            <a:r>
              <a:rPr lang="en-US" sz="2000" dirty="0">
                <a:solidFill>
                  <a:srgbClr val="1A426A"/>
                </a:solidFill>
                <a:latin typeface="Active Heart"/>
              </a:rPr>
              <a:t>20</a:t>
            </a:r>
            <a:r>
              <a:rPr lang="tr-TR" sz="2000" dirty="0">
                <a:solidFill>
                  <a:srgbClr val="1A426A"/>
                </a:solidFill>
                <a:latin typeface="Active Heart"/>
              </a:rPr>
              <a:t>26 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TEKNOFEST </a:t>
            </a:r>
            <a:r>
              <a:rPr lang="tr-TR" sz="2000" dirty="0">
                <a:solidFill>
                  <a:srgbClr val="1A426A"/>
                </a:solidFill>
                <a:latin typeface="Active Heart"/>
              </a:rPr>
              <a:t>ROBOTAKSİ 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YARIŞMASI PROJE SUNUMU</a:t>
            </a:r>
          </a:p>
        </p:txBody>
      </p:sp>
    </p:spTree>
    <p:extLst>
      <p:ext uri="{BB962C8B-B14F-4D97-AF65-F5344CB8AC3E}">
        <p14:creationId xmlns:p14="http://schemas.microsoft.com/office/powerpoint/2010/main" val="3258052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0114" y="1287907"/>
            <a:ext cx="16980285" cy="122000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28884" y="-176038"/>
            <a:ext cx="1745298" cy="1745298"/>
          </a:xfrm>
          <a:custGeom>
            <a:avLst/>
            <a:gdLst/>
            <a:ahLst/>
            <a:cxnLst/>
            <a:rect l="l" t="t" r="r" b="b"/>
            <a:pathLst>
              <a:path w="1745298" h="1745298">
                <a:moveTo>
                  <a:pt x="0" y="0"/>
                </a:moveTo>
                <a:lnTo>
                  <a:pt x="1745298" y="0"/>
                </a:lnTo>
                <a:lnTo>
                  <a:pt x="1745298" y="1745298"/>
                </a:lnTo>
                <a:lnTo>
                  <a:pt x="0" y="17452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>
            <a:spLocks noGrp="1" noRot="1" noMove="1" noResize="1" noEditPoints="1" noAdjustHandles="1" noChangeArrowheads="1" noChangeShapeType="1"/>
          </p:cNvSpPr>
          <p:nvPr/>
        </p:nvSpPr>
        <p:spPr>
          <a:xfrm rot="6000">
            <a:off x="15526871" y="9323138"/>
            <a:ext cx="2106908" cy="869935"/>
          </a:xfrm>
          <a:custGeom>
            <a:avLst/>
            <a:gdLst/>
            <a:ahLst/>
            <a:cxnLst/>
            <a:rect l="l" t="t" r="r" b="b"/>
            <a:pathLst>
              <a:path w="2106908" h="869935">
                <a:moveTo>
                  <a:pt x="0" y="3675"/>
                </a:moveTo>
                <a:lnTo>
                  <a:pt x="2105396" y="0"/>
                </a:lnTo>
                <a:lnTo>
                  <a:pt x="2106908" y="866261"/>
                </a:lnTo>
                <a:lnTo>
                  <a:pt x="1512" y="869935"/>
                </a:lnTo>
                <a:lnTo>
                  <a:pt x="0" y="3675"/>
                </a:lnTo>
                <a:close/>
              </a:path>
            </a:pathLst>
          </a:custGeom>
          <a:blipFill>
            <a:blip r:embed="rId4"/>
            <a:stretch>
              <a:fillRect l="-24072" t="-50652" r="-24923" b="-5238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424602" y="153804"/>
            <a:ext cx="1175797" cy="1067428"/>
          </a:xfrm>
          <a:custGeom>
            <a:avLst/>
            <a:gdLst/>
            <a:ahLst/>
            <a:cxnLst/>
            <a:rect l="l" t="t" r="r" b="b"/>
            <a:pathLst>
              <a:path w="1175797" h="1067428">
                <a:moveTo>
                  <a:pt x="0" y="0"/>
                </a:moveTo>
                <a:lnTo>
                  <a:pt x="1175797" y="0"/>
                </a:lnTo>
                <a:lnTo>
                  <a:pt x="1175797" y="1067428"/>
                </a:lnTo>
                <a:lnTo>
                  <a:pt x="0" y="10674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7358" t="-8167" r="-487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3578" y="9220201"/>
            <a:ext cx="16846820" cy="38099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V="1">
            <a:off x="11136600" y="9253436"/>
            <a:ext cx="0" cy="2067128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 9"/>
          <p:cNvSpPr txBox="1"/>
          <p:nvPr/>
        </p:nvSpPr>
        <p:spPr>
          <a:xfrm>
            <a:off x="1418493" y="2127779"/>
            <a:ext cx="13990038" cy="934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0" lvl="1" algn="l">
              <a:lnSpc>
                <a:spcPts val="2520"/>
              </a:lnSpc>
            </a:pPr>
            <a:r>
              <a:rPr lang="tr-TR" dirty="0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Yapılan Simülasyon çalışmalarına dair bilgilere burada </a:t>
            </a:r>
            <a:r>
              <a:rPr lang="tr-TR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yer verilmelidir.</a:t>
            </a:r>
            <a:endParaRPr lang="tr-TR" dirty="0">
              <a:solidFill>
                <a:srgbClr val="DE2223"/>
              </a:solidFill>
              <a:highlight>
                <a:srgbClr val="FFFF00"/>
              </a:highlight>
              <a:latin typeface="Aileron Bold"/>
            </a:endParaRPr>
          </a:p>
          <a:p>
            <a:pPr marL="194310" lvl="1" algn="l">
              <a:lnSpc>
                <a:spcPts val="2520"/>
              </a:lnSpc>
            </a:pPr>
            <a:endParaRPr lang="tr-TR" dirty="0">
              <a:solidFill>
                <a:srgbClr val="DE2223"/>
              </a:solidFill>
              <a:highlight>
                <a:srgbClr val="FFFF00"/>
              </a:highlight>
              <a:latin typeface="Aileron Bold"/>
            </a:endParaRPr>
          </a:p>
          <a:p>
            <a:pPr marL="194310" lvl="1" algn="l">
              <a:lnSpc>
                <a:spcPts val="2520"/>
              </a:lnSpc>
            </a:pPr>
            <a:endParaRPr lang="en-US" sz="1800" dirty="0">
              <a:solidFill>
                <a:srgbClr val="DE2223"/>
              </a:solidFill>
              <a:highlight>
                <a:srgbClr val="FFFF00"/>
              </a:highlight>
              <a:latin typeface="Aileron Bol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D560C0-26FB-7458-D1D0-7DA84D220B61}"/>
              </a:ext>
            </a:extLst>
          </p:cNvPr>
          <p:cNvSpPr txBox="1"/>
          <p:nvPr/>
        </p:nvSpPr>
        <p:spPr>
          <a:xfrm>
            <a:off x="3657600" y="336024"/>
            <a:ext cx="10553881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99"/>
              </a:lnSpc>
              <a:spcBef>
                <a:spcPct val="0"/>
              </a:spcBef>
            </a:pPr>
            <a:r>
              <a:rPr lang="tr-TR" sz="6399" dirty="0">
                <a:solidFill>
                  <a:srgbClr val="1A426A"/>
                </a:solidFill>
                <a:latin typeface="Active Heart"/>
              </a:rPr>
              <a:t>Simülasyon</a:t>
            </a:r>
            <a:endParaRPr lang="en-US" sz="6399" dirty="0">
              <a:solidFill>
                <a:srgbClr val="1A426A"/>
              </a:solidFill>
              <a:latin typeface="Active Heart"/>
            </a:endParaRPr>
          </a:p>
        </p:txBody>
      </p:sp>
      <p:sp>
        <p:nvSpPr>
          <p:cNvPr id="41" name="AutoShape 7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1136600" y="9253436"/>
            <a:ext cx="0" cy="2067128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2" name="Freeform 6"/>
          <p:cNvSpPr>
            <a:spLocks/>
          </p:cNvSpPr>
          <p:nvPr/>
        </p:nvSpPr>
        <p:spPr>
          <a:xfrm>
            <a:off x="1300117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Freeform 7"/>
          <p:cNvSpPr>
            <a:spLocks/>
          </p:cNvSpPr>
          <p:nvPr/>
        </p:nvSpPr>
        <p:spPr>
          <a:xfrm>
            <a:off x="792284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Freeform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10015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Freeform 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60949" y="9520632"/>
            <a:ext cx="107458" cy="227535"/>
          </a:xfrm>
          <a:custGeom>
            <a:avLst/>
            <a:gdLst/>
            <a:ahLst/>
            <a:cxnLst/>
            <a:rect l="l" t="t" r="r" b="b"/>
            <a:pathLst>
              <a:path w="107458" h="227535">
                <a:moveTo>
                  <a:pt x="0" y="0"/>
                </a:moveTo>
                <a:lnTo>
                  <a:pt x="107458" y="0"/>
                </a:lnTo>
                <a:lnTo>
                  <a:pt x="107458" y="227535"/>
                </a:lnTo>
                <a:lnTo>
                  <a:pt x="0" y="2275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Freeform 1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5066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TextBox 13"/>
          <p:cNvSpPr txBox="1">
            <a:spLocks/>
          </p:cNvSpPr>
          <p:nvPr/>
        </p:nvSpPr>
        <p:spPr>
          <a:xfrm>
            <a:off x="753578" y="9834486"/>
            <a:ext cx="2130891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2100" dirty="0">
                <a:solidFill>
                  <a:srgbClr val="1A426A"/>
                </a:solidFill>
                <a:latin typeface="Active Heart"/>
              </a:rPr>
              <a:t>www.teknofest.org</a:t>
            </a:r>
          </a:p>
        </p:txBody>
      </p:sp>
      <p:sp>
        <p:nvSpPr>
          <p:cNvPr id="48" name="TextBox 11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393775" y="9361293"/>
            <a:ext cx="1340569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dirty="0">
                <a:solidFill>
                  <a:srgbClr val="1A426A"/>
                </a:solidFill>
                <a:latin typeface="Active Heart"/>
              </a:rPr>
              <a:t>TAKIM ADI:</a:t>
            </a:r>
          </a:p>
          <a:p>
            <a:pPr algn="l">
              <a:lnSpc>
                <a:spcPts val="2000"/>
              </a:lnSpc>
            </a:pPr>
            <a:r>
              <a:rPr lang="tr-TR" sz="2000" dirty="0">
                <a:solidFill>
                  <a:srgbClr val="1A426A"/>
                </a:solidFill>
                <a:latin typeface="Active Heart"/>
              </a:rPr>
              <a:t>KATEGORİ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:</a:t>
            </a:r>
          </a:p>
          <a:p>
            <a:pPr algn="l">
              <a:lnSpc>
                <a:spcPts val="2000"/>
              </a:lnSpc>
              <a:spcBef>
                <a:spcPct val="0"/>
              </a:spcBef>
            </a:pPr>
            <a:endParaRPr lang="en-US" sz="2000" dirty="0">
              <a:solidFill>
                <a:srgbClr val="1A426A"/>
              </a:solidFill>
              <a:latin typeface="Active Heart"/>
            </a:endParaRPr>
          </a:p>
        </p:txBody>
      </p:sp>
      <p:sp>
        <p:nvSpPr>
          <p:cNvPr id="9" name="TextBox 114">
            <a:extLst>
              <a:ext uri="{FF2B5EF4-FFF2-40B4-BE49-F238E27FC236}">
                <a16:creationId xmlns:a16="http://schemas.microsoft.com/office/drawing/2014/main" id="{F66563E8-3914-CCA0-03CB-F108C162CBEC}"/>
              </a:ext>
            </a:extLst>
          </p:cNvPr>
          <p:cNvSpPr txBox="1"/>
          <p:nvPr/>
        </p:nvSpPr>
        <p:spPr>
          <a:xfrm>
            <a:off x="3141643" y="9572748"/>
            <a:ext cx="758063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  <a:spcBef>
                <a:spcPct val="0"/>
              </a:spcBef>
            </a:pPr>
            <a:r>
              <a:rPr lang="en-US" sz="2000" dirty="0">
                <a:solidFill>
                  <a:srgbClr val="1A426A"/>
                </a:solidFill>
                <a:latin typeface="Active Heart"/>
              </a:rPr>
              <a:t>20</a:t>
            </a:r>
            <a:r>
              <a:rPr lang="tr-TR" sz="2000" dirty="0">
                <a:solidFill>
                  <a:srgbClr val="1A426A"/>
                </a:solidFill>
                <a:latin typeface="Active Heart"/>
              </a:rPr>
              <a:t>26 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TEKNOFEST </a:t>
            </a:r>
            <a:r>
              <a:rPr lang="tr-TR" sz="2000" dirty="0">
                <a:solidFill>
                  <a:srgbClr val="1A426A"/>
                </a:solidFill>
                <a:latin typeface="Active Heart"/>
              </a:rPr>
              <a:t>ROBOTAKSİ 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YARIŞMASI PROJE SUNUMU</a:t>
            </a:r>
          </a:p>
        </p:txBody>
      </p:sp>
    </p:spTree>
    <p:extLst>
      <p:ext uri="{BB962C8B-B14F-4D97-AF65-F5344CB8AC3E}">
        <p14:creationId xmlns:p14="http://schemas.microsoft.com/office/powerpoint/2010/main" val="1434675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0114" y="1287907"/>
            <a:ext cx="16980285" cy="122000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28884" y="-176038"/>
            <a:ext cx="1745298" cy="1745298"/>
          </a:xfrm>
          <a:custGeom>
            <a:avLst/>
            <a:gdLst/>
            <a:ahLst/>
            <a:cxnLst/>
            <a:rect l="l" t="t" r="r" b="b"/>
            <a:pathLst>
              <a:path w="1745298" h="1745298">
                <a:moveTo>
                  <a:pt x="0" y="0"/>
                </a:moveTo>
                <a:lnTo>
                  <a:pt x="1745298" y="0"/>
                </a:lnTo>
                <a:lnTo>
                  <a:pt x="1745298" y="1745298"/>
                </a:lnTo>
                <a:lnTo>
                  <a:pt x="0" y="17452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>
            <a:spLocks noGrp="1" noRot="1" noMove="1" noResize="1" noEditPoints="1" noAdjustHandles="1" noChangeArrowheads="1" noChangeShapeType="1"/>
          </p:cNvSpPr>
          <p:nvPr/>
        </p:nvSpPr>
        <p:spPr>
          <a:xfrm rot="6000">
            <a:off x="15526871" y="9323138"/>
            <a:ext cx="2106908" cy="869935"/>
          </a:xfrm>
          <a:custGeom>
            <a:avLst/>
            <a:gdLst/>
            <a:ahLst/>
            <a:cxnLst/>
            <a:rect l="l" t="t" r="r" b="b"/>
            <a:pathLst>
              <a:path w="2106908" h="869935">
                <a:moveTo>
                  <a:pt x="0" y="3675"/>
                </a:moveTo>
                <a:lnTo>
                  <a:pt x="2105396" y="0"/>
                </a:lnTo>
                <a:lnTo>
                  <a:pt x="2106908" y="866261"/>
                </a:lnTo>
                <a:lnTo>
                  <a:pt x="1512" y="869935"/>
                </a:lnTo>
                <a:lnTo>
                  <a:pt x="0" y="3675"/>
                </a:lnTo>
                <a:close/>
              </a:path>
            </a:pathLst>
          </a:custGeom>
          <a:blipFill>
            <a:blip r:embed="rId4"/>
            <a:stretch>
              <a:fillRect l="-24072" t="-50652" r="-24923" b="-5238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424602" y="153804"/>
            <a:ext cx="1175797" cy="1067428"/>
          </a:xfrm>
          <a:custGeom>
            <a:avLst/>
            <a:gdLst/>
            <a:ahLst/>
            <a:cxnLst/>
            <a:rect l="l" t="t" r="r" b="b"/>
            <a:pathLst>
              <a:path w="1175797" h="1067428">
                <a:moveTo>
                  <a:pt x="0" y="0"/>
                </a:moveTo>
                <a:lnTo>
                  <a:pt x="1175797" y="0"/>
                </a:lnTo>
                <a:lnTo>
                  <a:pt x="1175797" y="1067428"/>
                </a:lnTo>
                <a:lnTo>
                  <a:pt x="0" y="10674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7358" t="-8167" r="-487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3578" y="9220201"/>
            <a:ext cx="16846820" cy="38099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V="1">
            <a:off x="11136600" y="9253436"/>
            <a:ext cx="0" cy="2067128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 9"/>
          <p:cNvSpPr txBox="1"/>
          <p:nvPr/>
        </p:nvSpPr>
        <p:spPr>
          <a:xfrm>
            <a:off x="1418493" y="2127779"/>
            <a:ext cx="13990038" cy="1255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0" lvl="1" algn="l">
              <a:lnSpc>
                <a:spcPts val="2520"/>
              </a:lnSpc>
            </a:pPr>
            <a:r>
              <a:rPr lang="tr-TR" dirty="0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Aracın kendini şeride, dünyaya veya belirli bir noktaya göre nasıl lokalize ettiğine dair stratejilere ve algoritmalara burada yer verilmelidir.</a:t>
            </a:r>
          </a:p>
          <a:p>
            <a:pPr marL="194310" lvl="1" algn="l">
              <a:lnSpc>
                <a:spcPts val="2520"/>
              </a:lnSpc>
            </a:pPr>
            <a:endParaRPr lang="tr-TR" dirty="0">
              <a:solidFill>
                <a:srgbClr val="DE2223"/>
              </a:solidFill>
              <a:highlight>
                <a:srgbClr val="FFFF00"/>
              </a:highlight>
              <a:latin typeface="Aileron Bold"/>
            </a:endParaRPr>
          </a:p>
          <a:p>
            <a:pPr marL="194310" lvl="1" algn="l">
              <a:lnSpc>
                <a:spcPts val="2520"/>
              </a:lnSpc>
            </a:pPr>
            <a:endParaRPr lang="en-US" sz="1800" dirty="0">
              <a:solidFill>
                <a:srgbClr val="DE2223"/>
              </a:solidFill>
              <a:highlight>
                <a:srgbClr val="FFFF00"/>
              </a:highlight>
              <a:latin typeface="Aileron Bol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D560C0-26FB-7458-D1D0-7DA84D220B61}"/>
              </a:ext>
            </a:extLst>
          </p:cNvPr>
          <p:cNvSpPr txBox="1"/>
          <p:nvPr/>
        </p:nvSpPr>
        <p:spPr>
          <a:xfrm>
            <a:off x="3657600" y="336024"/>
            <a:ext cx="10553881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99"/>
              </a:lnSpc>
              <a:spcBef>
                <a:spcPct val="0"/>
              </a:spcBef>
            </a:pPr>
            <a:r>
              <a:rPr lang="tr-TR" sz="6399" dirty="0">
                <a:solidFill>
                  <a:srgbClr val="1A426A"/>
                </a:solidFill>
                <a:latin typeface="Active Heart"/>
              </a:rPr>
              <a:t>LOKALİZASYON</a:t>
            </a:r>
            <a:endParaRPr lang="en-US" sz="6399" dirty="0">
              <a:solidFill>
                <a:srgbClr val="1A426A"/>
              </a:solidFill>
              <a:latin typeface="Active Heart"/>
            </a:endParaRPr>
          </a:p>
        </p:txBody>
      </p:sp>
      <p:sp>
        <p:nvSpPr>
          <p:cNvPr id="41" name="AutoShape 7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1136600" y="9253436"/>
            <a:ext cx="0" cy="2067128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2" name="Freeform 6"/>
          <p:cNvSpPr>
            <a:spLocks/>
          </p:cNvSpPr>
          <p:nvPr/>
        </p:nvSpPr>
        <p:spPr>
          <a:xfrm>
            <a:off x="1300117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Freeform 7"/>
          <p:cNvSpPr>
            <a:spLocks/>
          </p:cNvSpPr>
          <p:nvPr/>
        </p:nvSpPr>
        <p:spPr>
          <a:xfrm>
            <a:off x="792284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Freeform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10015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Freeform 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60949" y="9520632"/>
            <a:ext cx="107458" cy="227535"/>
          </a:xfrm>
          <a:custGeom>
            <a:avLst/>
            <a:gdLst/>
            <a:ahLst/>
            <a:cxnLst/>
            <a:rect l="l" t="t" r="r" b="b"/>
            <a:pathLst>
              <a:path w="107458" h="227535">
                <a:moveTo>
                  <a:pt x="0" y="0"/>
                </a:moveTo>
                <a:lnTo>
                  <a:pt x="107458" y="0"/>
                </a:lnTo>
                <a:lnTo>
                  <a:pt x="107458" y="227535"/>
                </a:lnTo>
                <a:lnTo>
                  <a:pt x="0" y="2275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Freeform 1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5066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TextBox 13"/>
          <p:cNvSpPr txBox="1">
            <a:spLocks/>
          </p:cNvSpPr>
          <p:nvPr/>
        </p:nvSpPr>
        <p:spPr>
          <a:xfrm>
            <a:off x="753578" y="9834486"/>
            <a:ext cx="2130891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2100" dirty="0">
                <a:solidFill>
                  <a:srgbClr val="1A426A"/>
                </a:solidFill>
                <a:latin typeface="Active Heart"/>
              </a:rPr>
              <a:t>www.teknofest.org</a:t>
            </a:r>
          </a:p>
        </p:txBody>
      </p:sp>
      <p:sp>
        <p:nvSpPr>
          <p:cNvPr id="48" name="TextBox 11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393775" y="9361293"/>
            <a:ext cx="1340569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dirty="0">
                <a:solidFill>
                  <a:srgbClr val="1A426A"/>
                </a:solidFill>
                <a:latin typeface="Active Heart"/>
              </a:rPr>
              <a:t>TAKIM ADI:</a:t>
            </a:r>
          </a:p>
          <a:p>
            <a:pPr algn="l">
              <a:lnSpc>
                <a:spcPts val="2000"/>
              </a:lnSpc>
            </a:pPr>
            <a:r>
              <a:rPr lang="tr-TR" sz="2000" dirty="0">
                <a:solidFill>
                  <a:srgbClr val="1A426A"/>
                </a:solidFill>
                <a:latin typeface="Active Heart"/>
              </a:rPr>
              <a:t>KATEGORİ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:</a:t>
            </a:r>
          </a:p>
          <a:p>
            <a:pPr algn="l">
              <a:lnSpc>
                <a:spcPts val="2000"/>
              </a:lnSpc>
              <a:spcBef>
                <a:spcPct val="0"/>
              </a:spcBef>
            </a:pPr>
            <a:endParaRPr lang="en-US" sz="2000" dirty="0">
              <a:solidFill>
                <a:srgbClr val="1A426A"/>
              </a:solidFill>
              <a:latin typeface="Active Heart"/>
            </a:endParaRPr>
          </a:p>
        </p:txBody>
      </p:sp>
      <p:sp>
        <p:nvSpPr>
          <p:cNvPr id="9" name="TextBox 114">
            <a:extLst>
              <a:ext uri="{FF2B5EF4-FFF2-40B4-BE49-F238E27FC236}">
                <a16:creationId xmlns:a16="http://schemas.microsoft.com/office/drawing/2014/main" id="{5011F1F4-31B1-006D-DC88-40FBE62F3C8E}"/>
              </a:ext>
            </a:extLst>
          </p:cNvPr>
          <p:cNvSpPr txBox="1"/>
          <p:nvPr/>
        </p:nvSpPr>
        <p:spPr>
          <a:xfrm>
            <a:off x="3141643" y="9572748"/>
            <a:ext cx="758063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  <a:spcBef>
                <a:spcPct val="0"/>
              </a:spcBef>
            </a:pPr>
            <a:r>
              <a:rPr lang="en-US" sz="2000" dirty="0">
                <a:solidFill>
                  <a:srgbClr val="1A426A"/>
                </a:solidFill>
                <a:latin typeface="Active Heart"/>
              </a:rPr>
              <a:t>20</a:t>
            </a:r>
            <a:r>
              <a:rPr lang="tr-TR" sz="2000" dirty="0">
                <a:solidFill>
                  <a:srgbClr val="1A426A"/>
                </a:solidFill>
                <a:latin typeface="Active Heart"/>
              </a:rPr>
              <a:t>26 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TEKNOFEST </a:t>
            </a:r>
            <a:r>
              <a:rPr lang="tr-TR" sz="2000" dirty="0">
                <a:solidFill>
                  <a:srgbClr val="1A426A"/>
                </a:solidFill>
                <a:latin typeface="Active Heart"/>
              </a:rPr>
              <a:t>ROBOTAKSİ 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YARIŞMASI PROJE SUNUMU</a:t>
            </a:r>
          </a:p>
        </p:txBody>
      </p:sp>
    </p:spTree>
    <p:extLst>
      <p:ext uri="{BB962C8B-B14F-4D97-AF65-F5344CB8AC3E}">
        <p14:creationId xmlns:p14="http://schemas.microsoft.com/office/powerpoint/2010/main" val="2835657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0114" y="1287907"/>
            <a:ext cx="16980285" cy="122000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28884" y="-176038"/>
            <a:ext cx="1745298" cy="1745298"/>
          </a:xfrm>
          <a:custGeom>
            <a:avLst/>
            <a:gdLst/>
            <a:ahLst/>
            <a:cxnLst/>
            <a:rect l="l" t="t" r="r" b="b"/>
            <a:pathLst>
              <a:path w="1745298" h="1745298">
                <a:moveTo>
                  <a:pt x="0" y="0"/>
                </a:moveTo>
                <a:lnTo>
                  <a:pt x="1745298" y="0"/>
                </a:lnTo>
                <a:lnTo>
                  <a:pt x="1745298" y="1745298"/>
                </a:lnTo>
                <a:lnTo>
                  <a:pt x="0" y="17452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>
            <a:spLocks noGrp="1" noRot="1" noMove="1" noResize="1" noEditPoints="1" noAdjustHandles="1" noChangeArrowheads="1" noChangeShapeType="1"/>
          </p:cNvSpPr>
          <p:nvPr/>
        </p:nvSpPr>
        <p:spPr>
          <a:xfrm rot="6000">
            <a:off x="15526871" y="9323138"/>
            <a:ext cx="2106908" cy="869935"/>
          </a:xfrm>
          <a:custGeom>
            <a:avLst/>
            <a:gdLst/>
            <a:ahLst/>
            <a:cxnLst/>
            <a:rect l="l" t="t" r="r" b="b"/>
            <a:pathLst>
              <a:path w="2106908" h="869935">
                <a:moveTo>
                  <a:pt x="0" y="3675"/>
                </a:moveTo>
                <a:lnTo>
                  <a:pt x="2105396" y="0"/>
                </a:lnTo>
                <a:lnTo>
                  <a:pt x="2106908" y="866261"/>
                </a:lnTo>
                <a:lnTo>
                  <a:pt x="1512" y="869935"/>
                </a:lnTo>
                <a:lnTo>
                  <a:pt x="0" y="3675"/>
                </a:lnTo>
                <a:close/>
              </a:path>
            </a:pathLst>
          </a:custGeom>
          <a:blipFill>
            <a:blip r:embed="rId4"/>
            <a:stretch>
              <a:fillRect l="-24072" t="-50652" r="-24923" b="-5238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424602" y="153804"/>
            <a:ext cx="1175797" cy="1067428"/>
          </a:xfrm>
          <a:custGeom>
            <a:avLst/>
            <a:gdLst/>
            <a:ahLst/>
            <a:cxnLst/>
            <a:rect l="l" t="t" r="r" b="b"/>
            <a:pathLst>
              <a:path w="1175797" h="1067428">
                <a:moveTo>
                  <a:pt x="0" y="0"/>
                </a:moveTo>
                <a:lnTo>
                  <a:pt x="1175797" y="0"/>
                </a:lnTo>
                <a:lnTo>
                  <a:pt x="1175797" y="1067428"/>
                </a:lnTo>
                <a:lnTo>
                  <a:pt x="0" y="10674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7358" t="-8167" r="-487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3578" y="9220201"/>
            <a:ext cx="16846820" cy="38099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V="1">
            <a:off x="11136600" y="9253436"/>
            <a:ext cx="0" cy="2067128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 9"/>
          <p:cNvSpPr txBox="1"/>
          <p:nvPr/>
        </p:nvSpPr>
        <p:spPr>
          <a:xfrm>
            <a:off x="1418493" y="2127779"/>
            <a:ext cx="13990038" cy="1255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0" lvl="1" algn="l">
              <a:lnSpc>
                <a:spcPts val="2520"/>
              </a:lnSpc>
            </a:pPr>
            <a:r>
              <a:rPr lang="tr-TR" dirty="0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Aracın çevresel farkındalığını nasıl sağlayacağına burada yer verilmelidir:</a:t>
            </a:r>
            <a:br>
              <a:rPr lang="tr-TR" dirty="0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</a:br>
            <a:r>
              <a:rPr lang="tr-TR" dirty="0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	Nesne tespit, ışık tespit, statik veya dinamik engel algılama şerit tespit ve diğer algı teknoloji ve algoritmalarına burada yer verilmelidir.</a:t>
            </a:r>
          </a:p>
          <a:p>
            <a:pPr marL="194310" lvl="1" algn="l">
              <a:lnSpc>
                <a:spcPts val="2520"/>
              </a:lnSpc>
            </a:pPr>
            <a:endParaRPr lang="en-US" sz="1800" dirty="0">
              <a:solidFill>
                <a:srgbClr val="DE2223"/>
              </a:solidFill>
              <a:highlight>
                <a:srgbClr val="FFFF00"/>
              </a:highlight>
              <a:latin typeface="Aileron Bol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D560C0-26FB-7458-D1D0-7DA84D220B61}"/>
              </a:ext>
            </a:extLst>
          </p:cNvPr>
          <p:cNvSpPr txBox="1"/>
          <p:nvPr/>
        </p:nvSpPr>
        <p:spPr>
          <a:xfrm>
            <a:off x="3657600" y="336024"/>
            <a:ext cx="10553881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99"/>
              </a:lnSpc>
              <a:spcBef>
                <a:spcPct val="0"/>
              </a:spcBef>
            </a:pPr>
            <a:r>
              <a:rPr lang="tr-TR" sz="6399" dirty="0">
                <a:solidFill>
                  <a:srgbClr val="1A426A"/>
                </a:solidFill>
                <a:latin typeface="Active Heart"/>
              </a:rPr>
              <a:t>ALGILAMA</a:t>
            </a:r>
            <a:endParaRPr lang="en-US" sz="6399" dirty="0">
              <a:solidFill>
                <a:srgbClr val="1A426A"/>
              </a:solidFill>
              <a:latin typeface="Active Heart"/>
            </a:endParaRPr>
          </a:p>
        </p:txBody>
      </p:sp>
      <p:sp>
        <p:nvSpPr>
          <p:cNvPr id="41" name="AutoShape 7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1136600" y="9253436"/>
            <a:ext cx="0" cy="2067128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2" name="Freeform 6"/>
          <p:cNvSpPr>
            <a:spLocks/>
          </p:cNvSpPr>
          <p:nvPr/>
        </p:nvSpPr>
        <p:spPr>
          <a:xfrm>
            <a:off x="1300117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Freeform 7"/>
          <p:cNvSpPr>
            <a:spLocks/>
          </p:cNvSpPr>
          <p:nvPr/>
        </p:nvSpPr>
        <p:spPr>
          <a:xfrm>
            <a:off x="792284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Freeform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10015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Freeform 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60949" y="9520632"/>
            <a:ext cx="107458" cy="227535"/>
          </a:xfrm>
          <a:custGeom>
            <a:avLst/>
            <a:gdLst/>
            <a:ahLst/>
            <a:cxnLst/>
            <a:rect l="l" t="t" r="r" b="b"/>
            <a:pathLst>
              <a:path w="107458" h="227535">
                <a:moveTo>
                  <a:pt x="0" y="0"/>
                </a:moveTo>
                <a:lnTo>
                  <a:pt x="107458" y="0"/>
                </a:lnTo>
                <a:lnTo>
                  <a:pt x="107458" y="227535"/>
                </a:lnTo>
                <a:lnTo>
                  <a:pt x="0" y="2275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Freeform 1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5066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TextBox 13"/>
          <p:cNvSpPr txBox="1">
            <a:spLocks/>
          </p:cNvSpPr>
          <p:nvPr/>
        </p:nvSpPr>
        <p:spPr>
          <a:xfrm>
            <a:off x="753578" y="9834486"/>
            <a:ext cx="2130891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2100" dirty="0">
                <a:solidFill>
                  <a:srgbClr val="1A426A"/>
                </a:solidFill>
                <a:latin typeface="Active Heart"/>
              </a:rPr>
              <a:t>www.teknofest.org</a:t>
            </a:r>
          </a:p>
        </p:txBody>
      </p:sp>
      <p:sp>
        <p:nvSpPr>
          <p:cNvPr id="48" name="TextBox 11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393775" y="9361293"/>
            <a:ext cx="1340569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dirty="0">
                <a:solidFill>
                  <a:srgbClr val="1A426A"/>
                </a:solidFill>
                <a:latin typeface="Active Heart"/>
              </a:rPr>
              <a:t>TAKIM ADI:</a:t>
            </a:r>
          </a:p>
          <a:p>
            <a:pPr algn="l">
              <a:lnSpc>
                <a:spcPts val="2000"/>
              </a:lnSpc>
            </a:pPr>
            <a:r>
              <a:rPr lang="tr-TR" sz="2000" dirty="0">
                <a:solidFill>
                  <a:srgbClr val="1A426A"/>
                </a:solidFill>
                <a:latin typeface="Active Heart"/>
              </a:rPr>
              <a:t>KATEGORİ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:</a:t>
            </a:r>
          </a:p>
          <a:p>
            <a:pPr algn="l">
              <a:lnSpc>
                <a:spcPts val="2000"/>
              </a:lnSpc>
              <a:spcBef>
                <a:spcPct val="0"/>
              </a:spcBef>
            </a:pPr>
            <a:endParaRPr lang="en-US" sz="2000" dirty="0">
              <a:solidFill>
                <a:srgbClr val="1A426A"/>
              </a:solidFill>
              <a:latin typeface="Active Heart"/>
            </a:endParaRPr>
          </a:p>
        </p:txBody>
      </p:sp>
      <p:sp>
        <p:nvSpPr>
          <p:cNvPr id="9" name="TextBox 114">
            <a:extLst>
              <a:ext uri="{FF2B5EF4-FFF2-40B4-BE49-F238E27FC236}">
                <a16:creationId xmlns:a16="http://schemas.microsoft.com/office/drawing/2014/main" id="{0644B501-E1A6-3B4B-905C-6B1D48CC1B4B}"/>
              </a:ext>
            </a:extLst>
          </p:cNvPr>
          <p:cNvSpPr txBox="1"/>
          <p:nvPr/>
        </p:nvSpPr>
        <p:spPr>
          <a:xfrm>
            <a:off x="3141643" y="9572748"/>
            <a:ext cx="758063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  <a:spcBef>
                <a:spcPct val="0"/>
              </a:spcBef>
            </a:pPr>
            <a:r>
              <a:rPr lang="en-US" sz="2000" dirty="0">
                <a:solidFill>
                  <a:srgbClr val="1A426A"/>
                </a:solidFill>
                <a:latin typeface="Active Heart"/>
              </a:rPr>
              <a:t>20</a:t>
            </a:r>
            <a:r>
              <a:rPr lang="tr-TR" sz="2000" dirty="0">
                <a:solidFill>
                  <a:srgbClr val="1A426A"/>
                </a:solidFill>
                <a:latin typeface="Active Heart"/>
              </a:rPr>
              <a:t>26 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TEKNOFEST </a:t>
            </a:r>
            <a:r>
              <a:rPr lang="tr-TR" sz="2000" dirty="0">
                <a:solidFill>
                  <a:srgbClr val="1A426A"/>
                </a:solidFill>
                <a:latin typeface="Active Heart"/>
              </a:rPr>
              <a:t>ROBOTAKSİ 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YARIŞMASI PROJE SUNUMU</a:t>
            </a:r>
          </a:p>
        </p:txBody>
      </p:sp>
    </p:spTree>
    <p:extLst>
      <p:ext uri="{BB962C8B-B14F-4D97-AF65-F5344CB8AC3E}">
        <p14:creationId xmlns:p14="http://schemas.microsoft.com/office/powerpoint/2010/main" val="370295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0114" y="1287907"/>
            <a:ext cx="16980285" cy="122000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28884" y="-176038"/>
            <a:ext cx="1745298" cy="1745298"/>
          </a:xfrm>
          <a:custGeom>
            <a:avLst/>
            <a:gdLst/>
            <a:ahLst/>
            <a:cxnLst/>
            <a:rect l="l" t="t" r="r" b="b"/>
            <a:pathLst>
              <a:path w="1745298" h="1745298">
                <a:moveTo>
                  <a:pt x="0" y="0"/>
                </a:moveTo>
                <a:lnTo>
                  <a:pt x="1745298" y="0"/>
                </a:lnTo>
                <a:lnTo>
                  <a:pt x="1745298" y="1745298"/>
                </a:lnTo>
                <a:lnTo>
                  <a:pt x="0" y="17452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>
            <a:spLocks noGrp="1" noRot="1" noMove="1" noResize="1" noEditPoints="1" noAdjustHandles="1" noChangeArrowheads="1" noChangeShapeType="1"/>
          </p:cNvSpPr>
          <p:nvPr/>
        </p:nvSpPr>
        <p:spPr>
          <a:xfrm rot="6000">
            <a:off x="15526871" y="9323138"/>
            <a:ext cx="2106908" cy="869935"/>
          </a:xfrm>
          <a:custGeom>
            <a:avLst/>
            <a:gdLst/>
            <a:ahLst/>
            <a:cxnLst/>
            <a:rect l="l" t="t" r="r" b="b"/>
            <a:pathLst>
              <a:path w="2106908" h="869935">
                <a:moveTo>
                  <a:pt x="0" y="3675"/>
                </a:moveTo>
                <a:lnTo>
                  <a:pt x="2105396" y="0"/>
                </a:lnTo>
                <a:lnTo>
                  <a:pt x="2106908" y="866261"/>
                </a:lnTo>
                <a:lnTo>
                  <a:pt x="1512" y="869935"/>
                </a:lnTo>
                <a:lnTo>
                  <a:pt x="0" y="3675"/>
                </a:lnTo>
                <a:close/>
              </a:path>
            </a:pathLst>
          </a:custGeom>
          <a:blipFill>
            <a:blip r:embed="rId4"/>
            <a:stretch>
              <a:fillRect l="-24072" t="-50652" r="-24923" b="-5238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424602" y="153804"/>
            <a:ext cx="1175797" cy="1067428"/>
          </a:xfrm>
          <a:custGeom>
            <a:avLst/>
            <a:gdLst/>
            <a:ahLst/>
            <a:cxnLst/>
            <a:rect l="l" t="t" r="r" b="b"/>
            <a:pathLst>
              <a:path w="1175797" h="1067428">
                <a:moveTo>
                  <a:pt x="0" y="0"/>
                </a:moveTo>
                <a:lnTo>
                  <a:pt x="1175797" y="0"/>
                </a:lnTo>
                <a:lnTo>
                  <a:pt x="1175797" y="1067428"/>
                </a:lnTo>
                <a:lnTo>
                  <a:pt x="0" y="10674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7358" t="-8167" r="-487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3578" y="9220201"/>
            <a:ext cx="16846820" cy="38099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V="1">
            <a:off x="11136600" y="9253436"/>
            <a:ext cx="0" cy="2067128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 9"/>
          <p:cNvSpPr txBox="1"/>
          <p:nvPr/>
        </p:nvSpPr>
        <p:spPr>
          <a:xfrm>
            <a:off x="1418493" y="2127779"/>
            <a:ext cx="13990038" cy="614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0" lvl="1" algn="l">
              <a:lnSpc>
                <a:spcPts val="2520"/>
              </a:lnSpc>
            </a:pPr>
            <a:r>
              <a:rPr lang="tr-TR" dirty="0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Rota, Hareket ve Davranış planlama strateji ve algoritmalarına burada yer verilmelidir</a:t>
            </a:r>
          </a:p>
          <a:p>
            <a:pPr marL="194310" lvl="1" algn="l">
              <a:lnSpc>
                <a:spcPts val="2520"/>
              </a:lnSpc>
            </a:pPr>
            <a:endParaRPr lang="en-US" sz="1800" dirty="0">
              <a:solidFill>
                <a:srgbClr val="DE2223"/>
              </a:solidFill>
              <a:highlight>
                <a:srgbClr val="FFFF00"/>
              </a:highlight>
              <a:latin typeface="Aileron Bol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D560C0-26FB-7458-D1D0-7DA84D220B61}"/>
              </a:ext>
            </a:extLst>
          </p:cNvPr>
          <p:cNvSpPr txBox="1"/>
          <p:nvPr/>
        </p:nvSpPr>
        <p:spPr>
          <a:xfrm>
            <a:off x="3657600" y="336024"/>
            <a:ext cx="10553881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99"/>
              </a:lnSpc>
              <a:spcBef>
                <a:spcPct val="0"/>
              </a:spcBef>
            </a:pPr>
            <a:r>
              <a:rPr lang="tr-TR" sz="6399" dirty="0">
                <a:solidFill>
                  <a:srgbClr val="1A426A"/>
                </a:solidFill>
                <a:latin typeface="Active Heart"/>
              </a:rPr>
              <a:t>PLANLAMA</a:t>
            </a:r>
            <a:endParaRPr lang="en-US" sz="6399" dirty="0">
              <a:solidFill>
                <a:srgbClr val="1A426A"/>
              </a:solidFill>
              <a:latin typeface="Active Heart"/>
            </a:endParaRPr>
          </a:p>
        </p:txBody>
      </p:sp>
      <p:sp>
        <p:nvSpPr>
          <p:cNvPr id="41" name="AutoShape 7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1136600" y="9253436"/>
            <a:ext cx="0" cy="2067128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2" name="Freeform 6"/>
          <p:cNvSpPr>
            <a:spLocks/>
          </p:cNvSpPr>
          <p:nvPr/>
        </p:nvSpPr>
        <p:spPr>
          <a:xfrm>
            <a:off x="1300117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Freeform 7"/>
          <p:cNvSpPr>
            <a:spLocks/>
          </p:cNvSpPr>
          <p:nvPr/>
        </p:nvSpPr>
        <p:spPr>
          <a:xfrm>
            <a:off x="792284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Freeform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10015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Freeform 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60949" y="9520632"/>
            <a:ext cx="107458" cy="227535"/>
          </a:xfrm>
          <a:custGeom>
            <a:avLst/>
            <a:gdLst/>
            <a:ahLst/>
            <a:cxnLst/>
            <a:rect l="l" t="t" r="r" b="b"/>
            <a:pathLst>
              <a:path w="107458" h="227535">
                <a:moveTo>
                  <a:pt x="0" y="0"/>
                </a:moveTo>
                <a:lnTo>
                  <a:pt x="107458" y="0"/>
                </a:lnTo>
                <a:lnTo>
                  <a:pt x="107458" y="227535"/>
                </a:lnTo>
                <a:lnTo>
                  <a:pt x="0" y="2275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Freeform 1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5066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TextBox 13"/>
          <p:cNvSpPr txBox="1">
            <a:spLocks/>
          </p:cNvSpPr>
          <p:nvPr/>
        </p:nvSpPr>
        <p:spPr>
          <a:xfrm>
            <a:off x="753578" y="9834486"/>
            <a:ext cx="2130891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2100" dirty="0">
                <a:solidFill>
                  <a:srgbClr val="1A426A"/>
                </a:solidFill>
                <a:latin typeface="Active Heart"/>
              </a:rPr>
              <a:t>www.teknofest.org</a:t>
            </a:r>
          </a:p>
        </p:txBody>
      </p:sp>
      <p:sp>
        <p:nvSpPr>
          <p:cNvPr id="48" name="TextBox 11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393775" y="9361293"/>
            <a:ext cx="1340569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dirty="0">
                <a:solidFill>
                  <a:srgbClr val="1A426A"/>
                </a:solidFill>
                <a:latin typeface="Active Heart"/>
              </a:rPr>
              <a:t>TAKIM ADI:</a:t>
            </a:r>
          </a:p>
          <a:p>
            <a:pPr algn="l">
              <a:lnSpc>
                <a:spcPts val="2000"/>
              </a:lnSpc>
            </a:pPr>
            <a:r>
              <a:rPr lang="tr-TR" sz="2000" dirty="0">
                <a:solidFill>
                  <a:srgbClr val="1A426A"/>
                </a:solidFill>
                <a:latin typeface="Active Heart"/>
              </a:rPr>
              <a:t>KATEGORİ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:</a:t>
            </a:r>
          </a:p>
          <a:p>
            <a:pPr algn="l">
              <a:lnSpc>
                <a:spcPts val="2000"/>
              </a:lnSpc>
              <a:spcBef>
                <a:spcPct val="0"/>
              </a:spcBef>
            </a:pPr>
            <a:endParaRPr lang="en-US" sz="2000" dirty="0">
              <a:solidFill>
                <a:srgbClr val="1A426A"/>
              </a:solidFill>
              <a:latin typeface="Active Heart"/>
            </a:endParaRPr>
          </a:p>
        </p:txBody>
      </p:sp>
      <p:sp>
        <p:nvSpPr>
          <p:cNvPr id="9" name="TextBox 114">
            <a:extLst>
              <a:ext uri="{FF2B5EF4-FFF2-40B4-BE49-F238E27FC236}">
                <a16:creationId xmlns:a16="http://schemas.microsoft.com/office/drawing/2014/main" id="{5632CD87-4945-3493-548A-A96DBC21C8D6}"/>
              </a:ext>
            </a:extLst>
          </p:cNvPr>
          <p:cNvSpPr txBox="1"/>
          <p:nvPr/>
        </p:nvSpPr>
        <p:spPr>
          <a:xfrm>
            <a:off x="3141643" y="9572748"/>
            <a:ext cx="758063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  <a:spcBef>
                <a:spcPct val="0"/>
              </a:spcBef>
            </a:pPr>
            <a:r>
              <a:rPr lang="en-US" sz="2000" dirty="0">
                <a:solidFill>
                  <a:srgbClr val="1A426A"/>
                </a:solidFill>
                <a:latin typeface="Active Heart"/>
              </a:rPr>
              <a:t>20</a:t>
            </a:r>
            <a:r>
              <a:rPr lang="tr-TR" sz="2000" dirty="0">
                <a:solidFill>
                  <a:srgbClr val="1A426A"/>
                </a:solidFill>
                <a:latin typeface="Active Heart"/>
              </a:rPr>
              <a:t>26 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TEKNOFEST </a:t>
            </a:r>
            <a:r>
              <a:rPr lang="tr-TR" sz="2000" dirty="0">
                <a:solidFill>
                  <a:srgbClr val="1A426A"/>
                </a:solidFill>
                <a:latin typeface="Active Heart"/>
              </a:rPr>
              <a:t>ROBOTAKSİ 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YARIŞMASI PROJE SUNUMU</a:t>
            </a:r>
          </a:p>
        </p:txBody>
      </p:sp>
    </p:spTree>
    <p:extLst>
      <p:ext uri="{BB962C8B-B14F-4D97-AF65-F5344CB8AC3E}">
        <p14:creationId xmlns:p14="http://schemas.microsoft.com/office/powerpoint/2010/main" val="3172593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0114" y="1287907"/>
            <a:ext cx="16980285" cy="122000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28884" y="-176038"/>
            <a:ext cx="1745298" cy="1745298"/>
          </a:xfrm>
          <a:custGeom>
            <a:avLst/>
            <a:gdLst/>
            <a:ahLst/>
            <a:cxnLst/>
            <a:rect l="l" t="t" r="r" b="b"/>
            <a:pathLst>
              <a:path w="1745298" h="1745298">
                <a:moveTo>
                  <a:pt x="0" y="0"/>
                </a:moveTo>
                <a:lnTo>
                  <a:pt x="1745298" y="0"/>
                </a:lnTo>
                <a:lnTo>
                  <a:pt x="1745298" y="1745298"/>
                </a:lnTo>
                <a:lnTo>
                  <a:pt x="0" y="17452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>
            <a:spLocks noGrp="1" noRot="1" noMove="1" noResize="1" noEditPoints="1" noAdjustHandles="1" noChangeArrowheads="1" noChangeShapeType="1"/>
          </p:cNvSpPr>
          <p:nvPr/>
        </p:nvSpPr>
        <p:spPr>
          <a:xfrm rot="6000">
            <a:off x="15526871" y="9323138"/>
            <a:ext cx="2106908" cy="869935"/>
          </a:xfrm>
          <a:custGeom>
            <a:avLst/>
            <a:gdLst/>
            <a:ahLst/>
            <a:cxnLst/>
            <a:rect l="l" t="t" r="r" b="b"/>
            <a:pathLst>
              <a:path w="2106908" h="869935">
                <a:moveTo>
                  <a:pt x="0" y="3675"/>
                </a:moveTo>
                <a:lnTo>
                  <a:pt x="2105396" y="0"/>
                </a:lnTo>
                <a:lnTo>
                  <a:pt x="2106908" y="866261"/>
                </a:lnTo>
                <a:lnTo>
                  <a:pt x="1512" y="869935"/>
                </a:lnTo>
                <a:lnTo>
                  <a:pt x="0" y="3675"/>
                </a:lnTo>
                <a:close/>
              </a:path>
            </a:pathLst>
          </a:custGeom>
          <a:blipFill>
            <a:blip r:embed="rId4"/>
            <a:stretch>
              <a:fillRect l="-24072" t="-50652" r="-24923" b="-5238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424602" y="153804"/>
            <a:ext cx="1175797" cy="1067428"/>
          </a:xfrm>
          <a:custGeom>
            <a:avLst/>
            <a:gdLst/>
            <a:ahLst/>
            <a:cxnLst/>
            <a:rect l="l" t="t" r="r" b="b"/>
            <a:pathLst>
              <a:path w="1175797" h="1067428">
                <a:moveTo>
                  <a:pt x="0" y="0"/>
                </a:moveTo>
                <a:lnTo>
                  <a:pt x="1175797" y="0"/>
                </a:lnTo>
                <a:lnTo>
                  <a:pt x="1175797" y="1067428"/>
                </a:lnTo>
                <a:lnTo>
                  <a:pt x="0" y="10674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7358" t="-8167" r="-487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3578" y="9220201"/>
            <a:ext cx="16846820" cy="38099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V="1">
            <a:off x="11136600" y="9253436"/>
            <a:ext cx="0" cy="2067128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 9"/>
          <p:cNvSpPr txBox="1"/>
          <p:nvPr/>
        </p:nvSpPr>
        <p:spPr>
          <a:xfrm>
            <a:off x="1418493" y="2127779"/>
            <a:ext cx="13990038" cy="934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0" lvl="1">
              <a:lnSpc>
                <a:spcPts val="2520"/>
              </a:lnSpc>
            </a:pPr>
            <a:r>
              <a:rPr lang="tr-TR" dirty="0" err="1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Steering</a:t>
            </a:r>
            <a:r>
              <a:rPr lang="tr-TR" dirty="0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, </a:t>
            </a:r>
            <a:r>
              <a:rPr lang="tr-TR" dirty="0" err="1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Brake</a:t>
            </a:r>
            <a:r>
              <a:rPr lang="tr-TR" dirty="0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 ve </a:t>
            </a:r>
            <a:r>
              <a:rPr lang="tr-TR" dirty="0" err="1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Throttle</a:t>
            </a:r>
            <a:r>
              <a:rPr lang="tr-TR" dirty="0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 için, rota takibi ve diğer tüm kontrol sistemleri için </a:t>
            </a:r>
            <a:r>
              <a:rPr lang="tr-TR" dirty="0" err="1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için</a:t>
            </a:r>
            <a:r>
              <a:rPr lang="tr-TR" dirty="0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 kullanılan kontrol strateji ve algoritmalarına burada yer verilmelidir.</a:t>
            </a:r>
          </a:p>
          <a:p>
            <a:pPr marL="194310" lvl="1" algn="l">
              <a:lnSpc>
                <a:spcPts val="2520"/>
              </a:lnSpc>
            </a:pPr>
            <a:endParaRPr lang="en-US" sz="1800" dirty="0">
              <a:solidFill>
                <a:srgbClr val="DE2223"/>
              </a:solidFill>
              <a:highlight>
                <a:srgbClr val="FFFF00"/>
              </a:highlight>
              <a:latin typeface="Aileron Bol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D560C0-26FB-7458-D1D0-7DA84D220B61}"/>
              </a:ext>
            </a:extLst>
          </p:cNvPr>
          <p:cNvSpPr txBox="1"/>
          <p:nvPr/>
        </p:nvSpPr>
        <p:spPr>
          <a:xfrm>
            <a:off x="3657600" y="336024"/>
            <a:ext cx="10553881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99"/>
              </a:lnSpc>
              <a:spcBef>
                <a:spcPct val="0"/>
              </a:spcBef>
            </a:pPr>
            <a:r>
              <a:rPr lang="tr-TR" sz="6399" dirty="0">
                <a:solidFill>
                  <a:srgbClr val="1A426A"/>
                </a:solidFill>
                <a:latin typeface="Active Heart"/>
              </a:rPr>
              <a:t>KONTROL</a:t>
            </a:r>
            <a:endParaRPr lang="en-US" sz="6399" dirty="0">
              <a:solidFill>
                <a:srgbClr val="1A426A"/>
              </a:solidFill>
              <a:latin typeface="Active Heart"/>
            </a:endParaRPr>
          </a:p>
        </p:txBody>
      </p:sp>
      <p:sp>
        <p:nvSpPr>
          <p:cNvPr id="41" name="AutoShape 7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1136600" y="9253436"/>
            <a:ext cx="0" cy="2067128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2" name="Freeform 6"/>
          <p:cNvSpPr>
            <a:spLocks/>
          </p:cNvSpPr>
          <p:nvPr/>
        </p:nvSpPr>
        <p:spPr>
          <a:xfrm>
            <a:off x="1300117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Freeform 7"/>
          <p:cNvSpPr>
            <a:spLocks/>
          </p:cNvSpPr>
          <p:nvPr/>
        </p:nvSpPr>
        <p:spPr>
          <a:xfrm>
            <a:off x="792284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Freeform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10015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Freeform 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60949" y="9520632"/>
            <a:ext cx="107458" cy="227535"/>
          </a:xfrm>
          <a:custGeom>
            <a:avLst/>
            <a:gdLst/>
            <a:ahLst/>
            <a:cxnLst/>
            <a:rect l="l" t="t" r="r" b="b"/>
            <a:pathLst>
              <a:path w="107458" h="227535">
                <a:moveTo>
                  <a:pt x="0" y="0"/>
                </a:moveTo>
                <a:lnTo>
                  <a:pt x="107458" y="0"/>
                </a:lnTo>
                <a:lnTo>
                  <a:pt x="107458" y="227535"/>
                </a:lnTo>
                <a:lnTo>
                  <a:pt x="0" y="2275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Freeform 1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5066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TextBox 13"/>
          <p:cNvSpPr txBox="1">
            <a:spLocks/>
          </p:cNvSpPr>
          <p:nvPr/>
        </p:nvSpPr>
        <p:spPr>
          <a:xfrm>
            <a:off x="753578" y="9834486"/>
            <a:ext cx="2130891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2100" dirty="0">
                <a:solidFill>
                  <a:srgbClr val="1A426A"/>
                </a:solidFill>
                <a:latin typeface="Active Heart"/>
              </a:rPr>
              <a:t>www.teknofest.org</a:t>
            </a:r>
          </a:p>
        </p:txBody>
      </p:sp>
      <p:sp>
        <p:nvSpPr>
          <p:cNvPr id="48" name="TextBox 11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393775" y="9361293"/>
            <a:ext cx="1340569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dirty="0">
                <a:solidFill>
                  <a:srgbClr val="1A426A"/>
                </a:solidFill>
                <a:latin typeface="Active Heart"/>
              </a:rPr>
              <a:t>TAKIM ADI:</a:t>
            </a:r>
          </a:p>
          <a:p>
            <a:pPr algn="l">
              <a:lnSpc>
                <a:spcPts val="2000"/>
              </a:lnSpc>
            </a:pPr>
            <a:r>
              <a:rPr lang="tr-TR" sz="2000" dirty="0">
                <a:solidFill>
                  <a:srgbClr val="1A426A"/>
                </a:solidFill>
                <a:latin typeface="Active Heart"/>
              </a:rPr>
              <a:t>KATEGORİ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:</a:t>
            </a:r>
          </a:p>
          <a:p>
            <a:pPr algn="l">
              <a:lnSpc>
                <a:spcPts val="2000"/>
              </a:lnSpc>
              <a:spcBef>
                <a:spcPct val="0"/>
              </a:spcBef>
            </a:pPr>
            <a:endParaRPr lang="en-US" sz="2000" dirty="0">
              <a:solidFill>
                <a:srgbClr val="1A426A"/>
              </a:solidFill>
              <a:latin typeface="Active Heart"/>
            </a:endParaRPr>
          </a:p>
        </p:txBody>
      </p:sp>
      <p:sp>
        <p:nvSpPr>
          <p:cNvPr id="9" name="TextBox 114">
            <a:extLst>
              <a:ext uri="{FF2B5EF4-FFF2-40B4-BE49-F238E27FC236}">
                <a16:creationId xmlns:a16="http://schemas.microsoft.com/office/drawing/2014/main" id="{88830518-35A0-F80E-8345-ABF7F4798E7B}"/>
              </a:ext>
            </a:extLst>
          </p:cNvPr>
          <p:cNvSpPr txBox="1"/>
          <p:nvPr/>
        </p:nvSpPr>
        <p:spPr>
          <a:xfrm>
            <a:off x="3141643" y="9572748"/>
            <a:ext cx="758063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  <a:spcBef>
                <a:spcPct val="0"/>
              </a:spcBef>
            </a:pPr>
            <a:r>
              <a:rPr lang="en-US" sz="2000" dirty="0">
                <a:solidFill>
                  <a:srgbClr val="1A426A"/>
                </a:solidFill>
                <a:latin typeface="Active Heart"/>
              </a:rPr>
              <a:t>20</a:t>
            </a:r>
            <a:r>
              <a:rPr lang="tr-TR" sz="2000" dirty="0">
                <a:solidFill>
                  <a:srgbClr val="1A426A"/>
                </a:solidFill>
                <a:latin typeface="Active Heart"/>
              </a:rPr>
              <a:t>26 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TEKNOFEST </a:t>
            </a:r>
            <a:r>
              <a:rPr lang="tr-TR" sz="2000" dirty="0">
                <a:solidFill>
                  <a:srgbClr val="1A426A"/>
                </a:solidFill>
                <a:latin typeface="Active Heart"/>
              </a:rPr>
              <a:t>ROBOTAKSİ 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YARIŞMASI PROJE SUNUMU</a:t>
            </a:r>
          </a:p>
        </p:txBody>
      </p:sp>
    </p:spTree>
    <p:extLst>
      <p:ext uri="{BB962C8B-B14F-4D97-AF65-F5344CB8AC3E}">
        <p14:creationId xmlns:p14="http://schemas.microsoft.com/office/powerpoint/2010/main" val="397236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0114" y="1287907"/>
            <a:ext cx="16980285" cy="122000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28884" y="-176038"/>
            <a:ext cx="1745298" cy="1745298"/>
          </a:xfrm>
          <a:custGeom>
            <a:avLst/>
            <a:gdLst/>
            <a:ahLst/>
            <a:cxnLst/>
            <a:rect l="l" t="t" r="r" b="b"/>
            <a:pathLst>
              <a:path w="1745298" h="1745298">
                <a:moveTo>
                  <a:pt x="0" y="0"/>
                </a:moveTo>
                <a:lnTo>
                  <a:pt x="1745298" y="0"/>
                </a:lnTo>
                <a:lnTo>
                  <a:pt x="1745298" y="1745298"/>
                </a:lnTo>
                <a:lnTo>
                  <a:pt x="0" y="17452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>
            <a:spLocks noGrp="1" noRot="1" noMove="1" noResize="1" noEditPoints="1" noAdjustHandles="1" noChangeArrowheads="1" noChangeShapeType="1"/>
          </p:cNvSpPr>
          <p:nvPr/>
        </p:nvSpPr>
        <p:spPr>
          <a:xfrm rot="6000">
            <a:off x="15526871" y="9323138"/>
            <a:ext cx="2106908" cy="869935"/>
          </a:xfrm>
          <a:custGeom>
            <a:avLst/>
            <a:gdLst/>
            <a:ahLst/>
            <a:cxnLst/>
            <a:rect l="l" t="t" r="r" b="b"/>
            <a:pathLst>
              <a:path w="2106908" h="869935">
                <a:moveTo>
                  <a:pt x="0" y="3675"/>
                </a:moveTo>
                <a:lnTo>
                  <a:pt x="2105396" y="0"/>
                </a:lnTo>
                <a:lnTo>
                  <a:pt x="2106908" y="866261"/>
                </a:lnTo>
                <a:lnTo>
                  <a:pt x="1512" y="869935"/>
                </a:lnTo>
                <a:lnTo>
                  <a:pt x="0" y="3675"/>
                </a:lnTo>
                <a:close/>
              </a:path>
            </a:pathLst>
          </a:custGeom>
          <a:blipFill>
            <a:blip r:embed="rId4"/>
            <a:stretch>
              <a:fillRect l="-24072" t="-50652" r="-24923" b="-5238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424602" y="153804"/>
            <a:ext cx="1175797" cy="1067428"/>
          </a:xfrm>
          <a:custGeom>
            <a:avLst/>
            <a:gdLst/>
            <a:ahLst/>
            <a:cxnLst/>
            <a:rect l="l" t="t" r="r" b="b"/>
            <a:pathLst>
              <a:path w="1175797" h="1067428">
                <a:moveTo>
                  <a:pt x="0" y="0"/>
                </a:moveTo>
                <a:lnTo>
                  <a:pt x="1175797" y="0"/>
                </a:lnTo>
                <a:lnTo>
                  <a:pt x="1175797" y="1067428"/>
                </a:lnTo>
                <a:lnTo>
                  <a:pt x="0" y="10674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7358" t="-8167" r="-487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3578" y="9220201"/>
            <a:ext cx="16846820" cy="38099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V="1">
            <a:off x="11136600" y="9253436"/>
            <a:ext cx="0" cy="2067128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 9"/>
          <p:cNvSpPr txBox="1"/>
          <p:nvPr/>
        </p:nvSpPr>
        <p:spPr>
          <a:xfrm>
            <a:off x="1418493" y="2127779"/>
            <a:ext cx="13990038" cy="614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0" lvl="1">
              <a:lnSpc>
                <a:spcPts val="2520"/>
              </a:lnSpc>
            </a:pPr>
            <a:r>
              <a:rPr lang="tr-TR" dirty="0">
                <a:solidFill>
                  <a:srgbClr val="DE2223"/>
                </a:solidFill>
                <a:highlight>
                  <a:srgbClr val="FFFF00"/>
                </a:highlight>
                <a:latin typeface="Aileron Bold"/>
              </a:rPr>
              <a:t>Karar verme stratejilerine burada yer verilebilir.</a:t>
            </a:r>
          </a:p>
          <a:p>
            <a:pPr marL="194310" lvl="1" algn="l">
              <a:lnSpc>
                <a:spcPts val="2520"/>
              </a:lnSpc>
            </a:pPr>
            <a:endParaRPr lang="en-US" sz="1800" dirty="0">
              <a:solidFill>
                <a:srgbClr val="DE2223"/>
              </a:solidFill>
              <a:highlight>
                <a:srgbClr val="FFFF00"/>
              </a:highlight>
              <a:latin typeface="Aileron Bol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D560C0-26FB-7458-D1D0-7DA84D220B61}"/>
              </a:ext>
            </a:extLst>
          </p:cNvPr>
          <p:cNvSpPr txBox="1"/>
          <p:nvPr/>
        </p:nvSpPr>
        <p:spPr>
          <a:xfrm>
            <a:off x="3657600" y="336024"/>
            <a:ext cx="10553881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99"/>
              </a:lnSpc>
              <a:spcBef>
                <a:spcPct val="0"/>
              </a:spcBef>
            </a:pPr>
            <a:r>
              <a:rPr lang="tr-TR" sz="6399" dirty="0">
                <a:solidFill>
                  <a:srgbClr val="1A426A"/>
                </a:solidFill>
                <a:latin typeface="Active Heart"/>
              </a:rPr>
              <a:t>KARAR VERME</a:t>
            </a:r>
            <a:endParaRPr lang="en-US" sz="6399" dirty="0">
              <a:solidFill>
                <a:srgbClr val="1A426A"/>
              </a:solidFill>
              <a:latin typeface="Active Heart"/>
            </a:endParaRPr>
          </a:p>
        </p:txBody>
      </p:sp>
      <p:sp>
        <p:nvSpPr>
          <p:cNvPr id="41" name="AutoShape 7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1136600" y="9253436"/>
            <a:ext cx="0" cy="2067128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2" name="Freeform 6"/>
          <p:cNvSpPr>
            <a:spLocks/>
          </p:cNvSpPr>
          <p:nvPr/>
        </p:nvSpPr>
        <p:spPr>
          <a:xfrm>
            <a:off x="1300117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Freeform 7"/>
          <p:cNvSpPr>
            <a:spLocks/>
          </p:cNvSpPr>
          <p:nvPr/>
        </p:nvSpPr>
        <p:spPr>
          <a:xfrm>
            <a:off x="792284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Freeform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10015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Freeform 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60949" y="9520632"/>
            <a:ext cx="107458" cy="227535"/>
          </a:xfrm>
          <a:custGeom>
            <a:avLst/>
            <a:gdLst/>
            <a:ahLst/>
            <a:cxnLst/>
            <a:rect l="l" t="t" r="r" b="b"/>
            <a:pathLst>
              <a:path w="107458" h="227535">
                <a:moveTo>
                  <a:pt x="0" y="0"/>
                </a:moveTo>
                <a:lnTo>
                  <a:pt x="107458" y="0"/>
                </a:lnTo>
                <a:lnTo>
                  <a:pt x="107458" y="227535"/>
                </a:lnTo>
                <a:lnTo>
                  <a:pt x="0" y="2275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Freeform 1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5066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TextBox 13"/>
          <p:cNvSpPr txBox="1">
            <a:spLocks/>
          </p:cNvSpPr>
          <p:nvPr/>
        </p:nvSpPr>
        <p:spPr>
          <a:xfrm>
            <a:off x="753578" y="9834486"/>
            <a:ext cx="2130891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2100" dirty="0">
                <a:solidFill>
                  <a:srgbClr val="1A426A"/>
                </a:solidFill>
                <a:latin typeface="Active Heart"/>
              </a:rPr>
              <a:t>www.teknofest.org</a:t>
            </a:r>
          </a:p>
        </p:txBody>
      </p:sp>
      <p:sp>
        <p:nvSpPr>
          <p:cNvPr id="48" name="TextBox 11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393775" y="9361293"/>
            <a:ext cx="1340569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dirty="0">
                <a:solidFill>
                  <a:srgbClr val="1A426A"/>
                </a:solidFill>
                <a:latin typeface="Active Heart"/>
              </a:rPr>
              <a:t>TAKIM ADI:</a:t>
            </a:r>
          </a:p>
          <a:p>
            <a:pPr algn="l">
              <a:lnSpc>
                <a:spcPts val="2000"/>
              </a:lnSpc>
            </a:pPr>
            <a:r>
              <a:rPr lang="tr-TR" sz="2000" dirty="0">
                <a:solidFill>
                  <a:srgbClr val="1A426A"/>
                </a:solidFill>
                <a:latin typeface="Active Heart"/>
              </a:rPr>
              <a:t>KATEGORİ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:</a:t>
            </a:r>
          </a:p>
          <a:p>
            <a:pPr algn="l">
              <a:lnSpc>
                <a:spcPts val="2000"/>
              </a:lnSpc>
              <a:spcBef>
                <a:spcPct val="0"/>
              </a:spcBef>
            </a:pPr>
            <a:endParaRPr lang="en-US" sz="2000" dirty="0">
              <a:solidFill>
                <a:srgbClr val="1A426A"/>
              </a:solidFill>
              <a:latin typeface="Active Heart"/>
            </a:endParaRPr>
          </a:p>
        </p:txBody>
      </p:sp>
      <p:sp>
        <p:nvSpPr>
          <p:cNvPr id="9" name="TextBox 114">
            <a:extLst>
              <a:ext uri="{FF2B5EF4-FFF2-40B4-BE49-F238E27FC236}">
                <a16:creationId xmlns:a16="http://schemas.microsoft.com/office/drawing/2014/main" id="{12B090ED-866F-154C-F7D1-DB8B9257EACD}"/>
              </a:ext>
            </a:extLst>
          </p:cNvPr>
          <p:cNvSpPr txBox="1"/>
          <p:nvPr/>
        </p:nvSpPr>
        <p:spPr>
          <a:xfrm>
            <a:off x="3141643" y="9572748"/>
            <a:ext cx="758063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  <a:spcBef>
                <a:spcPct val="0"/>
              </a:spcBef>
            </a:pPr>
            <a:r>
              <a:rPr lang="en-US" sz="2000" dirty="0">
                <a:solidFill>
                  <a:srgbClr val="1A426A"/>
                </a:solidFill>
                <a:latin typeface="Active Heart"/>
              </a:rPr>
              <a:t>20</a:t>
            </a:r>
            <a:r>
              <a:rPr lang="tr-TR" sz="2000" dirty="0">
                <a:solidFill>
                  <a:srgbClr val="1A426A"/>
                </a:solidFill>
                <a:latin typeface="Active Heart"/>
              </a:rPr>
              <a:t>26 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TEKNOFEST </a:t>
            </a:r>
            <a:r>
              <a:rPr lang="tr-TR" sz="2000" dirty="0">
                <a:solidFill>
                  <a:srgbClr val="1A426A"/>
                </a:solidFill>
                <a:latin typeface="Active Heart"/>
              </a:rPr>
              <a:t>ROBOTAKSİ 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YARIŞMASI PROJE SUNUMU</a:t>
            </a:r>
          </a:p>
        </p:txBody>
      </p:sp>
    </p:spTree>
    <p:extLst>
      <p:ext uri="{BB962C8B-B14F-4D97-AF65-F5344CB8AC3E}">
        <p14:creationId xmlns:p14="http://schemas.microsoft.com/office/powerpoint/2010/main" val="3883490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0114" y="1287907"/>
            <a:ext cx="16980285" cy="122000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28884" y="-176038"/>
            <a:ext cx="1745298" cy="1745298"/>
          </a:xfrm>
          <a:custGeom>
            <a:avLst/>
            <a:gdLst/>
            <a:ahLst/>
            <a:cxnLst/>
            <a:rect l="l" t="t" r="r" b="b"/>
            <a:pathLst>
              <a:path w="1745298" h="1745298">
                <a:moveTo>
                  <a:pt x="0" y="0"/>
                </a:moveTo>
                <a:lnTo>
                  <a:pt x="1745298" y="0"/>
                </a:lnTo>
                <a:lnTo>
                  <a:pt x="1745298" y="1745298"/>
                </a:lnTo>
                <a:lnTo>
                  <a:pt x="0" y="17452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>
            <a:spLocks noGrp="1" noRot="1" noMove="1" noResize="1" noEditPoints="1" noAdjustHandles="1" noChangeArrowheads="1" noChangeShapeType="1"/>
          </p:cNvSpPr>
          <p:nvPr/>
        </p:nvSpPr>
        <p:spPr>
          <a:xfrm rot="6000">
            <a:off x="15526871" y="9323138"/>
            <a:ext cx="2106908" cy="869935"/>
          </a:xfrm>
          <a:custGeom>
            <a:avLst/>
            <a:gdLst/>
            <a:ahLst/>
            <a:cxnLst/>
            <a:rect l="l" t="t" r="r" b="b"/>
            <a:pathLst>
              <a:path w="2106908" h="869935">
                <a:moveTo>
                  <a:pt x="0" y="3675"/>
                </a:moveTo>
                <a:lnTo>
                  <a:pt x="2105396" y="0"/>
                </a:lnTo>
                <a:lnTo>
                  <a:pt x="2106908" y="866261"/>
                </a:lnTo>
                <a:lnTo>
                  <a:pt x="1512" y="869935"/>
                </a:lnTo>
                <a:lnTo>
                  <a:pt x="0" y="3675"/>
                </a:lnTo>
                <a:close/>
              </a:path>
            </a:pathLst>
          </a:custGeom>
          <a:blipFill>
            <a:blip r:embed="rId3"/>
            <a:stretch>
              <a:fillRect l="-24072" t="-50652" r="-24923" b="-5238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424602" y="153804"/>
            <a:ext cx="1175797" cy="1067428"/>
          </a:xfrm>
          <a:custGeom>
            <a:avLst/>
            <a:gdLst/>
            <a:ahLst/>
            <a:cxnLst/>
            <a:rect l="l" t="t" r="r" b="b"/>
            <a:pathLst>
              <a:path w="1175797" h="1067428">
                <a:moveTo>
                  <a:pt x="0" y="0"/>
                </a:moveTo>
                <a:lnTo>
                  <a:pt x="1175797" y="0"/>
                </a:lnTo>
                <a:lnTo>
                  <a:pt x="1175797" y="1067428"/>
                </a:lnTo>
                <a:lnTo>
                  <a:pt x="0" y="10674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7358" t="-8167" r="-487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3578" y="9220201"/>
            <a:ext cx="16846820" cy="38099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814152" y="315724"/>
            <a:ext cx="10715094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99"/>
              </a:lnSpc>
              <a:spcBef>
                <a:spcPct val="0"/>
              </a:spcBef>
            </a:pPr>
            <a:r>
              <a:rPr lang="en-US" sz="6399" dirty="0">
                <a:solidFill>
                  <a:srgbClr val="1A426A"/>
                </a:solidFill>
                <a:latin typeface="Active Heart"/>
              </a:rPr>
              <a:t>TEŞEKKÜRLER</a:t>
            </a:r>
          </a:p>
        </p:txBody>
      </p:sp>
      <p:sp>
        <p:nvSpPr>
          <p:cNvPr id="22" name="AutoShape 7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1136600" y="9253436"/>
            <a:ext cx="0" cy="2067128"/>
          </a:xfrm>
          <a:prstGeom prst="line">
            <a:avLst/>
          </a:prstGeom>
          <a:ln w="38100" cap="flat">
            <a:solidFill>
              <a:srgbClr val="344C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" name="Freeform 6"/>
          <p:cNvSpPr>
            <a:spLocks/>
          </p:cNvSpPr>
          <p:nvPr/>
        </p:nvSpPr>
        <p:spPr>
          <a:xfrm>
            <a:off x="1300117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7"/>
          <p:cNvSpPr>
            <a:spLocks/>
          </p:cNvSpPr>
          <p:nvPr/>
        </p:nvSpPr>
        <p:spPr>
          <a:xfrm>
            <a:off x="792284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10015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60949" y="9520632"/>
            <a:ext cx="107458" cy="227535"/>
          </a:xfrm>
          <a:custGeom>
            <a:avLst/>
            <a:gdLst/>
            <a:ahLst/>
            <a:cxnLst/>
            <a:rect l="l" t="t" r="r" b="b"/>
            <a:pathLst>
              <a:path w="107458" h="227535">
                <a:moveTo>
                  <a:pt x="0" y="0"/>
                </a:moveTo>
                <a:lnTo>
                  <a:pt x="107458" y="0"/>
                </a:lnTo>
                <a:lnTo>
                  <a:pt x="107458" y="227535"/>
                </a:lnTo>
                <a:lnTo>
                  <a:pt x="0" y="2275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1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5066" y="9424787"/>
            <a:ext cx="419224" cy="419224"/>
          </a:xfrm>
          <a:custGeom>
            <a:avLst/>
            <a:gdLst/>
            <a:ahLst/>
            <a:cxnLst/>
            <a:rect l="l" t="t" r="r" b="b"/>
            <a:pathLst>
              <a:path w="419224" h="419224">
                <a:moveTo>
                  <a:pt x="0" y="0"/>
                </a:moveTo>
                <a:lnTo>
                  <a:pt x="419224" y="0"/>
                </a:lnTo>
                <a:lnTo>
                  <a:pt x="419224" y="419224"/>
                </a:lnTo>
                <a:lnTo>
                  <a:pt x="0" y="419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13"/>
          <p:cNvSpPr txBox="1">
            <a:spLocks/>
          </p:cNvSpPr>
          <p:nvPr/>
        </p:nvSpPr>
        <p:spPr>
          <a:xfrm>
            <a:off x="753578" y="9834486"/>
            <a:ext cx="2130891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2100" dirty="0">
                <a:solidFill>
                  <a:srgbClr val="1A426A"/>
                </a:solidFill>
                <a:latin typeface="Active Heart"/>
              </a:rPr>
              <a:t>www.teknofest.org</a:t>
            </a:r>
          </a:p>
        </p:txBody>
      </p:sp>
      <p:sp>
        <p:nvSpPr>
          <p:cNvPr id="30" name="TextBox 11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393775" y="9361293"/>
            <a:ext cx="1340569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2000" dirty="0">
                <a:solidFill>
                  <a:srgbClr val="1A426A"/>
                </a:solidFill>
                <a:latin typeface="Active Heart"/>
              </a:rPr>
              <a:t>TAKIM ADI:</a:t>
            </a:r>
          </a:p>
          <a:p>
            <a:pPr>
              <a:lnSpc>
                <a:spcPts val="2000"/>
              </a:lnSpc>
            </a:pPr>
            <a:r>
              <a:rPr lang="tr-TR" sz="2000" dirty="0">
                <a:solidFill>
                  <a:srgbClr val="1A426A"/>
                </a:solidFill>
                <a:latin typeface="Active Heart"/>
              </a:rPr>
              <a:t>KATEGORİ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:</a:t>
            </a:r>
          </a:p>
          <a:p>
            <a:pPr>
              <a:lnSpc>
                <a:spcPts val="2000"/>
              </a:lnSpc>
              <a:spcBef>
                <a:spcPct val="0"/>
              </a:spcBef>
            </a:pPr>
            <a:endParaRPr lang="en-US" sz="2000" dirty="0">
              <a:solidFill>
                <a:srgbClr val="1A426A"/>
              </a:solidFill>
              <a:latin typeface="Active Heart"/>
            </a:endParaRPr>
          </a:p>
        </p:txBody>
      </p:sp>
      <p:sp>
        <p:nvSpPr>
          <p:cNvPr id="9" name="TextBox 114">
            <a:extLst>
              <a:ext uri="{FF2B5EF4-FFF2-40B4-BE49-F238E27FC236}">
                <a16:creationId xmlns:a16="http://schemas.microsoft.com/office/drawing/2014/main" id="{24DF5822-76C4-3101-D808-9126BE91759C}"/>
              </a:ext>
            </a:extLst>
          </p:cNvPr>
          <p:cNvSpPr txBox="1"/>
          <p:nvPr/>
        </p:nvSpPr>
        <p:spPr>
          <a:xfrm>
            <a:off x="3141643" y="9572748"/>
            <a:ext cx="758063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  <a:spcBef>
                <a:spcPct val="0"/>
              </a:spcBef>
            </a:pPr>
            <a:r>
              <a:rPr lang="en-US" sz="2000" dirty="0">
                <a:solidFill>
                  <a:srgbClr val="1A426A"/>
                </a:solidFill>
                <a:latin typeface="Active Heart"/>
              </a:rPr>
              <a:t>20</a:t>
            </a:r>
            <a:r>
              <a:rPr lang="tr-TR" sz="2000" dirty="0">
                <a:solidFill>
                  <a:srgbClr val="1A426A"/>
                </a:solidFill>
                <a:latin typeface="Active Heart"/>
              </a:rPr>
              <a:t>26 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TEKNOFEST </a:t>
            </a:r>
            <a:r>
              <a:rPr lang="tr-TR" sz="2000" dirty="0">
                <a:solidFill>
                  <a:srgbClr val="1A426A"/>
                </a:solidFill>
                <a:latin typeface="Active Heart"/>
              </a:rPr>
              <a:t>ROBOTAKSİ </a:t>
            </a:r>
            <a:r>
              <a:rPr lang="en-US" sz="2000" dirty="0">
                <a:solidFill>
                  <a:srgbClr val="1A426A"/>
                </a:solidFill>
                <a:latin typeface="Active Heart"/>
              </a:rPr>
              <a:t>YARIŞMASI PROJE SUNUMU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498</Words>
  <Application>Microsoft Office PowerPoint</Application>
  <PresentationFormat>Özel</PresentationFormat>
  <Paragraphs>106</Paragraphs>
  <Slides>13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8" baseType="lpstr">
      <vt:lpstr>Arial</vt:lpstr>
      <vt:lpstr>Aileron Bold</vt:lpstr>
      <vt:lpstr>Active Heart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SUNUM ŞABLONU</dc:title>
  <dc:creator>TEKNOFEST</dc:creator>
  <cp:lastModifiedBy>T3VAKFI123</cp:lastModifiedBy>
  <cp:revision>37</cp:revision>
  <dcterms:created xsi:type="dcterms:W3CDTF">2006-08-16T00:00:00Z</dcterms:created>
  <dcterms:modified xsi:type="dcterms:W3CDTF">2026-06-06T12:25:30Z</dcterms:modified>
  <dc:identifier>DAGDnxWSptA</dc:identifier>
</cp:coreProperties>
</file>