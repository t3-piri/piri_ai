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70" r:id="rId2"/>
    <p:sldId id="273" r:id="rId3"/>
    <p:sldId id="274" r:id="rId4"/>
    <p:sldId id="275" r:id="rId5"/>
    <p:sldId id="276" r:id="rId6"/>
    <p:sldId id="277" r:id="rId7"/>
    <p:sldId id="278" r:id="rId8"/>
    <p:sldId id="279" r:id="rId9"/>
    <p:sldId id="280" r:id="rId10"/>
    <p:sldId id="281" r:id="rId11"/>
    <p:sldId id="282" r:id="rId12"/>
    <p:sldId id="283" r:id="rId13"/>
    <p:sldId id="266" r:id="rId14"/>
    <p:sldId id="267" r:id="rId15"/>
  </p:sldIdLst>
  <p:sldSz cx="18288000" cy="10287000"/>
  <p:notesSz cx="6858000" cy="9144000"/>
  <p:embeddedFontLst>
    <p:embeddedFont>
      <p:font typeface="Active Heart"/>
      <p:regular r:id="rId17"/>
    </p:embeddedFont>
    <p:embeddedFont>
      <p:font typeface="Aileron" pitchFamily="2" charset="0"/>
      <p:regular r:id="rId18"/>
    </p:embeddedFont>
    <p:embeddedFont>
      <p:font typeface="Aileron Bold"/>
      <p:regular r:id="rId19"/>
      <p:bold r:id="rId20"/>
    </p:embeddedFont>
    <p:embeddedFont>
      <p:font typeface="Aileron Bold Italics" pitchFamily="2" charset="0"/>
      <p:regular r:id="rId21"/>
      <p:bold r:id="rId22"/>
      <p:italic r:id="rId23"/>
      <p:boldItalic r:id="rId24"/>
    </p:embeddedFont>
    <p:embeddedFont>
      <p:font typeface="Aileron Ultra-Bold" pitchFamily="2" charset="0"/>
      <p:regular r:id="rId25"/>
      <p:bold r:id="rId26"/>
    </p:embeddedFont>
    <p:embeddedFont>
      <p:font typeface="Arial Black" panose="020B0604020202020204" pitchFamily="34" charset="0"/>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0495207-2648-AC9A-99DA-C80A0E75CDD1}" name="Elifnur ŞAHİN" initials="ENŞ" userId="Elifnur ŞAH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32" autoAdjust="0"/>
    <p:restoredTop sz="94603" autoAdjust="0"/>
  </p:normalViewPr>
  <p:slideViewPr>
    <p:cSldViewPr>
      <p:cViewPr varScale="1">
        <p:scale>
          <a:sx n="72" d="100"/>
          <a:sy n="72" d="100"/>
        </p:scale>
        <p:origin x="688" y="2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5E22E5-1583-4998-9D3E-1C704A07CEF8}" type="datetimeFigureOut">
              <a:rPr lang="tr-TR" smtClean="0"/>
              <a:t>21.05.2026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CC965D-C147-4619-915A-6E6CB58E6415}" type="slidenum">
              <a:rPr lang="tr-TR" smtClean="0"/>
              <a:t>‹#›</a:t>
            </a:fld>
            <a:endParaRPr lang="tr-TR"/>
          </a:p>
        </p:txBody>
      </p:sp>
    </p:spTree>
    <p:extLst>
      <p:ext uri="{BB962C8B-B14F-4D97-AF65-F5344CB8AC3E}">
        <p14:creationId xmlns:p14="http://schemas.microsoft.com/office/powerpoint/2010/main" val="1031666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99CC965D-C147-4619-915A-6E6CB58E6415}" type="slidenum">
              <a:rPr lang="tr-TR" smtClean="0"/>
              <a:t>14</a:t>
            </a:fld>
            <a:endParaRPr lang="tr-TR"/>
          </a:p>
        </p:txBody>
      </p:sp>
    </p:spTree>
    <p:extLst>
      <p:ext uri="{BB962C8B-B14F-4D97-AF65-F5344CB8AC3E}">
        <p14:creationId xmlns:p14="http://schemas.microsoft.com/office/powerpoint/2010/main" val="2204376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jpeg"/><Relationship Id="rId4" Type="http://schemas.openxmlformats.org/officeDocument/2006/relationships/image" Target="../media/image9.pn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3"/>
          <p:cNvSpPr txBox="1"/>
          <p:nvPr/>
        </p:nvSpPr>
        <p:spPr>
          <a:xfrm>
            <a:off x="3657600" y="495300"/>
            <a:ext cx="12061209" cy="1487587"/>
          </a:xfrm>
          <a:prstGeom prst="rect">
            <a:avLst/>
          </a:prstGeom>
        </p:spPr>
        <p:txBody>
          <a:bodyPr wrap="square" lIns="0" tIns="0" rIns="0" bIns="0" rtlCol="0" anchor="t">
            <a:spAutoFit/>
          </a:bodyPr>
          <a:lstStyle/>
          <a:p>
            <a:pPr marL="0" marR="0" lvl="0" indent="0" algn="ctr" defTabSz="914400" rtl="0" eaLnBrk="1" fontAlgn="auto" latinLnBrk="0" hangingPunct="1">
              <a:lnSpc>
                <a:spcPts val="5759"/>
              </a:lnSpc>
              <a:spcBef>
                <a:spcPts val="0"/>
              </a:spcBef>
              <a:spcAft>
                <a:spcPts val="0"/>
              </a:spcAft>
              <a:buClrTx/>
              <a:buSzTx/>
              <a:buFontTx/>
              <a:buNone/>
              <a:tabLst/>
              <a:defRPr/>
            </a:pPr>
            <a:r>
              <a:rPr lang="tr-TR" sz="4400" b="1" dirty="0">
                <a:ln>
                  <a:solidFill>
                    <a:prstClr val="white"/>
                  </a:solidFill>
                </a:ln>
                <a:solidFill>
                  <a:srgbClr val="002060"/>
                </a:solidFill>
                <a:latin typeface="Arial Black" panose="020B0A04020102020204" pitchFamily="34" charset="0"/>
              </a:rPr>
              <a:t>MADEN TEKNOLOJİLERİ YARIŞMASI</a:t>
            </a:r>
            <a:endParaRPr lang="en-US" sz="4400" b="1" dirty="0">
              <a:ln>
                <a:solidFill>
                  <a:prstClr val="white"/>
                </a:solidFill>
              </a:ln>
              <a:solidFill>
                <a:srgbClr val="002060"/>
              </a:solidFill>
              <a:latin typeface="Arial Black" panose="020B0A04020102020204" pitchFamily="34" charset="0"/>
            </a:endParaRPr>
          </a:p>
          <a:p>
            <a:pPr marL="0" marR="0" lvl="0" indent="0" algn="ctr" defTabSz="914400" rtl="0" eaLnBrk="1" fontAlgn="auto" latinLnBrk="0" hangingPunct="1">
              <a:lnSpc>
                <a:spcPts val="5759"/>
              </a:lnSpc>
              <a:spcBef>
                <a:spcPts val="0"/>
              </a:spcBef>
              <a:spcAft>
                <a:spcPts val="0"/>
              </a:spcAft>
              <a:buClrTx/>
              <a:buSzTx/>
              <a:buFontTx/>
              <a:buNone/>
              <a:tabLst/>
              <a:defRPr/>
            </a:pPr>
            <a:r>
              <a:rPr lang="en-US" sz="4400" b="1" dirty="0">
                <a:ln>
                  <a:solidFill>
                    <a:prstClr val="white"/>
                  </a:solidFill>
                </a:ln>
                <a:solidFill>
                  <a:srgbClr val="002060"/>
                </a:solidFill>
                <a:latin typeface="Arial Black" panose="020B0A04020102020204" pitchFamily="34" charset="0"/>
              </a:rPr>
              <a:t>PROJE SUNUMU</a:t>
            </a:r>
          </a:p>
        </p:txBody>
      </p:sp>
      <p:sp>
        <p:nvSpPr>
          <p:cNvPr id="4" name="Freeform 4"/>
          <p:cNvSpPr/>
          <p:nvPr/>
        </p:nvSpPr>
        <p:spPr>
          <a:xfrm>
            <a:off x="11615131" y="1748495"/>
            <a:ext cx="397785" cy="423176"/>
          </a:xfrm>
          <a:custGeom>
            <a:avLst/>
            <a:gdLst/>
            <a:ahLst/>
            <a:cxnLst/>
            <a:rect l="l" t="t" r="r" b="b"/>
            <a:pathLst>
              <a:path w="397785" h="423176">
                <a:moveTo>
                  <a:pt x="0" y="0"/>
                </a:moveTo>
                <a:lnTo>
                  <a:pt x="397786" y="0"/>
                </a:lnTo>
                <a:lnTo>
                  <a:pt x="397786" y="423176"/>
                </a:lnTo>
                <a:lnTo>
                  <a:pt x="0" y="42317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0" name="TextBox 10"/>
          <p:cNvSpPr txBox="1"/>
          <p:nvPr/>
        </p:nvSpPr>
        <p:spPr>
          <a:xfrm>
            <a:off x="1143000" y="2705100"/>
            <a:ext cx="14238557" cy="4534575"/>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PROJE ADI: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800"/>
              </a:spcAft>
              <a:buClrTx/>
              <a:buSzTx/>
              <a:buFontTx/>
              <a:buNone/>
              <a:tabLst/>
              <a:defRPr/>
            </a:pPr>
            <a: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KONU BAŞLIĞI:</a:t>
            </a:r>
            <a:br>
              <a:rPr kumimoji="0" lang="tr-TR"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b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ADI:</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TAKIM 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solidFill>
                    <a:prstClr val="white"/>
                  </a:solidFill>
                </a:ln>
                <a:solidFill>
                  <a:srgbClr val="002060"/>
                </a:solidFill>
                <a:effectLst/>
                <a:uLnTx/>
                <a:uFillTx/>
                <a:latin typeface="Arial Black" panose="020B0A04020102020204" pitchFamily="34" charset="0"/>
              </a:rPr>
              <a:t>BAŞVURU ID:</a:t>
            </a:r>
          </a:p>
        </p:txBody>
      </p:sp>
      <p:sp>
        <p:nvSpPr>
          <p:cNvPr id="11" name="TextBox 11"/>
          <p:cNvSpPr txBox="1"/>
          <p:nvPr/>
        </p:nvSpPr>
        <p:spPr>
          <a:xfrm>
            <a:off x="838200" y="9399270"/>
            <a:ext cx="17449800" cy="621030"/>
          </a:xfrm>
          <a:prstGeom prst="rect">
            <a:avLst/>
          </a:prstGeom>
        </p:spPr>
        <p:txBody>
          <a:bodyPr wrap="square" lIns="0" tIns="0" rIns="0" bIns="0" rtlCol="0" anchor="t">
            <a:spAutoFit/>
          </a:bodyPr>
          <a:lstStyle/>
          <a:p>
            <a:pPr marL="0" marR="0" lvl="0" indent="0" algn="l" defTabSz="914400" rtl="0" eaLnBrk="1" fontAlgn="auto" latinLnBrk="0" hangingPunct="1">
              <a:lnSpc>
                <a:spcPts val="2520"/>
              </a:lnSpc>
              <a:spcBef>
                <a:spcPts val="0"/>
              </a:spcBef>
              <a:spcAft>
                <a:spcPts val="0"/>
              </a:spcAft>
              <a:buClrTx/>
              <a:buSzTx/>
              <a:buFontTx/>
              <a:buNone/>
              <a:tabLst/>
              <a:defRPr/>
            </a:pP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*Bu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kapak</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sayfasıdır</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İstenilen</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bilgiler</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doğru</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şekilde</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girilmelidir</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Tüm</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sayfalarda</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olduğu</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gibi</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sayfa</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aynı</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şekilde</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kullanılmalı</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değişiklik</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yapılmamalıdır</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(Bu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açıklama</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 </a:t>
            </a:r>
            <a:r>
              <a:rPr kumimoji="0" lang="en-US" sz="2000" b="0" i="0" u="none" strike="noStrike" kern="1200" cap="none" spc="0" normalizeH="0" baseline="0" noProof="0" dirty="0" err="1">
                <a:ln>
                  <a:solidFill>
                    <a:prstClr val="white"/>
                  </a:solidFill>
                </a:ln>
                <a:solidFill>
                  <a:schemeClr val="bg1"/>
                </a:solidFill>
                <a:effectLst/>
                <a:highlight>
                  <a:srgbClr val="FF0000"/>
                </a:highlight>
                <a:uLnTx/>
                <a:uFillTx/>
                <a:latin typeface="Aileron Bold"/>
                <a:ea typeface="+mn-ea"/>
                <a:cs typeface="+mn-cs"/>
              </a:rPr>
              <a:t>silinmelidir</a:t>
            </a:r>
            <a:r>
              <a:rPr kumimoji="0" lang="en-US" sz="2000" b="0" i="0" u="none" strike="noStrike" kern="1200" cap="none" spc="0" normalizeH="0" baseline="0" noProof="0" dirty="0">
                <a:ln>
                  <a:solidFill>
                    <a:prstClr val="white"/>
                  </a:solidFill>
                </a:ln>
                <a:solidFill>
                  <a:schemeClr val="bg1"/>
                </a:solidFill>
                <a:effectLst/>
                <a:highlight>
                  <a:srgbClr val="FF0000"/>
                </a:highlight>
                <a:uLnTx/>
                <a:uFillTx/>
                <a:latin typeface="Aileron Bold"/>
                <a:ea typeface="+mn-ea"/>
                <a:cs typeface="+mn-cs"/>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14">
            <a:extLst>
              <a:ext uri="{FF2B5EF4-FFF2-40B4-BE49-F238E27FC236}">
                <a16:creationId xmlns:a16="http://schemas.microsoft.com/office/drawing/2014/main" id="{C9687BD4-F534-A533-D376-5CEC34E52FCF}"/>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
        <p:nvSpPr>
          <p:cNvPr id="3" name="TextBox 12">
            <a:extLst>
              <a:ext uri="{FF2B5EF4-FFF2-40B4-BE49-F238E27FC236}">
                <a16:creationId xmlns:a16="http://schemas.microsoft.com/office/drawing/2014/main" id="{C885BDA9-D3F1-E9F7-D921-F67D4C3F1226}"/>
              </a:ext>
            </a:extLst>
          </p:cNvPr>
          <p:cNvSpPr txBox="1">
            <a:spLocks/>
          </p:cNvSpPr>
          <p:nvPr/>
        </p:nvSpPr>
        <p:spPr>
          <a:xfrm>
            <a:off x="5440103" y="266700"/>
            <a:ext cx="7407793"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TAKIM TANITIMI</a:t>
            </a:r>
          </a:p>
        </p:txBody>
      </p:sp>
      <p:sp>
        <p:nvSpPr>
          <p:cNvPr id="4" name="AutoShape 19">
            <a:extLst>
              <a:ext uri="{FF2B5EF4-FFF2-40B4-BE49-F238E27FC236}">
                <a16:creationId xmlns:a16="http://schemas.microsoft.com/office/drawing/2014/main" id="{6BE76763-4346-472B-9519-AAC453B7399D}"/>
              </a:ext>
            </a:extLst>
          </p:cNvPr>
          <p:cNvSpPr/>
          <p:nvPr/>
        </p:nvSpPr>
        <p:spPr>
          <a:xfrm>
            <a:off x="11108086" y="5143500"/>
            <a:ext cx="3603191" cy="1216358"/>
          </a:xfrm>
          <a:prstGeom prst="rect">
            <a:avLst/>
          </a:prstGeom>
          <a:solidFill>
            <a:schemeClr val="accent1"/>
          </a:solidFill>
        </p:spPr>
        <p:txBody>
          <a:bodyPr/>
          <a:lstStyle/>
          <a:p>
            <a:endParaRPr lang="tr-TR"/>
          </a:p>
        </p:txBody>
      </p:sp>
      <p:sp>
        <p:nvSpPr>
          <p:cNvPr id="5" name="AutoShape 20">
            <a:extLst>
              <a:ext uri="{FF2B5EF4-FFF2-40B4-BE49-F238E27FC236}">
                <a16:creationId xmlns:a16="http://schemas.microsoft.com/office/drawing/2014/main" id="{6B5911A4-951C-4C3C-7BA4-9887A4D21F37}"/>
              </a:ext>
            </a:extLst>
          </p:cNvPr>
          <p:cNvSpPr/>
          <p:nvPr/>
        </p:nvSpPr>
        <p:spPr>
          <a:xfrm>
            <a:off x="6781800" y="5143500"/>
            <a:ext cx="3600486" cy="1216358"/>
          </a:xfrm>
          <a:prstGeom prst="rect">
            <a:avLst/>
          </a:prstGeom>
          <a:solidFill>
            <a:schemeClr val="tx2">
              <a:lumMod val="20000"/>
              <a:lumOff val="80000"/>
            </a:schemeClr>
          </a:solidFill>
        </p:spPr>
        <p:txBody>
          <a:bodyPr/>
          <a:lstStyle/>
          <a:p>
            <a:endParaRPr lang="tr-TR"/>
          </a:p>
        </p:txBody>
      </p:sp>
      <p:sp>
        <p:nvSpPr>
          <p:cNvPr id="6" name="AutoShape 21">
            <a:extLst>
              <a:ext uri="{FF2B5EF4-FFF2-40B4-BE49-F238E27FC236}">
                <a16:creationId xmlns:a16="http://schemas.microsoft.com/office/drawing/2014/main" id="{F6BCF050-3C25-51CB-7DEA-C903184924D1}"/>
              </a:ext>
            </a:extLst>
          </p:cNvPr>
          <p:cNvSpPr/>
          <p:nvPr/>
        </p:nvSpPr>
        <p:spPr>
          <a:xfrm>
            <a:off x="11108086" y="3809859"/>
            <a:ext cx="3603191" cy="1216358"/>
          </a:xfrm>
          <a:prstGeom prst="rect">
            <a:avLst/>
          </a:prstGeom>
          <a:solidFill>
            <a:schemeClr val="tx2">
              <a:lumMod val="60000"/>
              <a:lumOff val="40000"/>
              <a:alpha val="80000"/>
            </a:schemeClr>
          </a:solidFill>
        </p:spPr>
        <p:txBody>
          <a:bodyPr/>
          <a:lstStyle/>
          <a:p>
            <a:endParaRPr lang="tr-TR"/>
          </a:p>
        </p:txBody>
      </p:sp>
      <p:sp>
        <p:nvSpPr>
          <p:cNvPr id="7" name="AutoShape 22">
            <a:extLst>
              <a:ext uri="{FF2B5EF4-FFF2-40B4-BE49-F238E27FC236}">
                <a16:creationId xmlns:a16="http://schemas.microsoft.com/office/drawing/2014/main" id="{E769F747-9F1B-D8F8-53CB-4BB557F7CE74}"/>
              </a:ext>
            </a:extLst>
          </p:cNvPr>
          <p:cNvSpPr/>
          <p:nvPr/>
        </p:nvSpPr>
        <p:spPr>
          <a:xfrm>
            <a:off x="6781800" y="3809859"/>
            <a:ext cx="3600486" cy="1216358"/>
          </a:xfrm>
          <a:prstGeom prst="rect">
            <a:avLst/>
          </a:prstGeom>
          <a:solidFill>
            <a:schemeClr val="accent1">
              <a:lumMod val="40000"/>
              <a:lumOff val="60000"/>
              <a:alpha val="80000"/>
            </a:schemeClr>
          </a:solidFill>
          <a:ln cap="sq">
            <a:noFill/>
            <a:prstDash val="solid"/>
            <a:miter/>
          </a:ln>
        </p:spPr>
        <p:txBody>
          <a:bodyPr/>
          <a:lstStyle/>
          <a:p>
            <a:endParaRPr lang="tr-TR"/>
          </a:p>
        </p:txBody>
      </p:sp>
      <p:sp>
        <p:nvSpPr>
          <p:cNvPr id="8" name="AutoShape 32">
            <a:extLst>
              <a:ext uri="{FF2B5EF4-FFF2-40B4-BE49-F238E27FC236}">
                <a16:creationId xmlns:a16="http://schemas.microsoft.com/office/drawing/2014/main" id="{1D6C99A9-FD2B-BEBD-BDE0-68BB0F45FEDA}"/>
              </a:ext>
            </a:extLst>
          </p:cNvPr>
          <p:cNvSpPr/>
          <p:nvPr/>
        </p:nvSpPr>
        <p:spPr>
          <a:xfrm>
            <a:off x="6781800" y="6477141"/>
            <a:ext cx="3600486" cy="1216358"/>
          </a:xfrm>
          <a:prstGeom prst="rect">
            <a:avLst/>
          </a:prstGeom>
          <a:solidFill>
            <a:schemeClr val="accent1">
              <a:lumMod val="60000"/>
              <a:lumOff val="40000"/>
            </a:schemeClr>
          </a:solidFill>
        </p:spPr>
        <p:txBody>
          <a:bodyPr/>
          <a:lstStyle/>
          <a:p>
            <a:endParaRPr lang="tr-TR" dirty="0"/>
          </a:p>
        </p:txBody>
      </p:sp>
      <p:sp>
        <p:nvSpPr>
          <p:cNvPr id="9" name="Freeform 52">
            <a:extLst>
              <a:ext uri="{FF2B5EF4-FFF2-40B4-BE49-F238E27FC236}">
                <a16:creationId xmlns:a16="http://schemas.microsoft.com/office/drawing/2014/main" id="{B0388868-E5A2-B3A9-BA09-8C2E8967FAA2}"/>
              </a:ext>
            </a:extLst>
          </p:cNvPr>
          <p:cNvSpPr>
            <a:spLocks/>
          </p:cNvSpPr>
          <p:nvPr/>
        </p:nvSpPr>
        <p:spPr>
          <a:xfrm rot="10800000">
            <a:off x="4343681" y="5576265"/>
            <a:ext cx="173874" cy="150401"/>
          </a:xfrm>
          <a:custGeom>
            <a:avLst/>
            <a:gdLst/>
            <a:ahLst/>
            <a:cxnLst/>
            <a:rect l="l" t="t" r="r" b="b"/>
            <a:pathLst>
              <a:path w="173874" h="150401">
                <a:moveTo>
                  <a:pt x="0" y="0"/>
                </a:moveTo>
                <a:lnTo>
                  <a:pt x="173873" y="0"/>
                </a:lnTo>
                <a:lnTo>
                  <a:pt x="173873"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0" name="TextBox 62">
            <a:extLst>
              <a:ext uri="{FF2B5EF4-FFF2-40B4-BE49-F238E27FC236}">
                <a16:creationId xmlns:a16="http://schemas.microsoft.com/office/drawing/2014/main" id="{6FE21133-24BE-A939-EAB1-2AC75FA8AE25}"/>
              </a:ext>
            </a:extLst>
          </p:cNvPr>
          <p:cNvSpPr txBox="1"/>
          <p:nvPr/>
        </p:nvSpPr>
        <p:spPr>
          <a:xfrm>
            <a:off x="3047613" y="3311220"/>
            <a:ext cx="2745589" cy="410268"/>
          </a:xfrm>
          <a:prstGeom prst="rect">
            <a:avLst/>
          </a:prstGeom>
        </p:spPr>
        <p:txBody>
          <a:bodyPr lIns="0" tIns="0" rIns="0" bIns="0" rtlCol="0" anchor="t">
            <a:spAutoFit/>
          </a:bodyPr>
          <a:lstStyle/>
          <a:p>
            <a:pPr marL="0" lvl="0" indent="0" algn="ctr">
              <a:lnSpc>
                <a:spcPts val="3225"/>
              </a:lnSpc>
              <a:spcBef>
                <a:spcPct val="0"/>
              </a:spcBef>
            </a:pPr>
            <a:r>
              <a:rPr lang="en-US" sz="2462" spc="73">
                <a:solidFill>
                  <a:srgbClr val="1A426A"/>
                </a:solidFill>
                <a:latin typeface="Aileron Ultra-Bold"/>
              </a:rPr>
              <a:t>TAKIM YAPISI</a:t>
            </a:r>
          </a:p>
        </p:txBody>
      </p:sp>
      <p:sp>
        <p:nvSpPr>
          <p:cNvPr id="11" name="TextBox 63">
            <a:extLst>
              <a:ext uri="{FF2B5EF4-FFF2-40B4-BE49-F238E27FC236}">
                <a16:creationId xmlns:a16="http://schemas.microsoft.com/office/drawing/2014/main" id="{440163FB-5679-D126-1C1E-0BBB65F24ED3}"/>
              </a:ext>
            </a:extLst>
          </p:cNvPr>
          <p:cNvSpPr txBox="1"/>
          <p:nvPr/>
        </p:nvSpPr>
        <p:spPr>
          <a:xfrm>
            <a:off x="8204432" y="3946967"/>
            <a:ext cx="1732974" cy="784574"/>
          </a:xfrm>
          <a:prstGeom prst="rect">
            <a:avLst/>
          </a:prstGeom>
        </p:spPr>
        <p:txBody>
          <a:bodyPr lIns="0" tIns="0" rIns="0" bIns="0" rtlCol="0" anchor="t">
            <a:spAutoFit/>
          </a:bodyPr>
          <a:lstStyle/>
          <a:p>
            <a:pPr algn="ctr">
              <a:lnSpc>
                <a:spcPts val="2088"/>
              </a:lnSpc>
            </a:pPr>
            <a:r>
              <a:rPr lang="en-US" sz="1492" dirty="0">
                <a:latin typeface="Aileron"/>
              </a:rPr>
              <a:t>ÜYE 1         TAKIMDAKİ GÖREVİ EĞİTİM BİLGİSİ</a:t>
            </a:r>
          </a:p>
        </p:txBody>
      </p:sp>
      <p:sp>
        <p:nvSpPr>
          <p:cNvPr id="12" name="TextBox 64">
            <a:extLst>
              <a:ext uri="{FF2B5EF4-FFF2-40B4-BE49-F238E27FC236}">
                <a16:creationId xmlns:a16="http://schemas.microsoft.com/office/drawing/2014/main" id="{367DE498-C598-2B52-F787-E1F895823A1A}"/>
              </a:ext>
            </a:extLst>
          </p:cNvPr>
          <p:cNvSpPr txBox="1"/>
          <p:nvPr/>
        </p:nvSpPr>
        <p:spPr>
          <a:xfrm>
            <a:off x="3443710" y="5230770"/>
            <a:ext cx="1959088" cy="234744"/>
          </a:xfrm>
          <a:prstGeom prst="rect">
            <a:avLst/>
          </a:prstGeom>
        </p:spPr>
        <p:txBody>
          <a:bodyPr lIns="0" tIns="0" rIns="0" bIns="0" rtlCol="0" anchor="t">
            <a:spAutoFit/>
          </a:bodyPr>
          <a:lstStyle/>
          <a:p>
            <a:pPr algn="ctr">
              <a:lnSpc>
                <a:spcPts val="2010"/>
              </a:lnSpc>
            </a:pPr>
            <a:r>
              <a:rPr lang="tr-TR" sz="1436" dirty="0">
                <a:solidFill>
                  <a:srgbClr val="191919"/>
                </a:solidFill>
                <a:latin typeface="Aileron Bold"/>
              </a:rPr>
              <a:t>TAKIM DANIŞMANI</a:t>
            </a:r>
            <a:endParaRPr lang="en-US" sz="1436" dirty="0">
              <a:solidFill>
                <a:srgbClr val="191919"/>
              </a:solidFill>
              <a:latin typeface="Aileron Bold"/>
            </a:endParaRPr>
          </a:p>
        </p:txBody>
      </p:sp>
      <p:sp>
        <p:nvSpPr>
          <p:cNvPr id="13" name="TextBox 65">
            <a:extLst>
              <a:ext uri="{FF2B5EF4-FFF2-40B4-BE49-F238E27FC236}">
                <a16:creationId xmlns:a16="http://schemas.microsoft.com/office/drawing/2014/main" id="{8001C445-617E-9BE4-497A-385960D92AA8}"/>
              </a:ext>
            </a:extLst>
          </p:cNvPr>
          <p:cNvSpPr txBox="1">
            <a:spLocks/>
          </p:cNvSpPr>
          <p:nvPr/>
        </p:nvSpPr>
        <p:spPr>
          <a:xfrm>
            <a:off x="3458597" y="7164886"/>
            <a:ext cx="1959088" cy="234744"/>
          </a:xfrm>
          <a:prstGeom prst="rect">
            <a:avLst/>
          </a:prstGeom>
        </p:spPr>
        <p:txBody>
          <a:bodyPr lIns="0" tIns="0" rIns="0" bIns="0" rtlCol="0" anchor="t">
            <a:spAutoFit/>
          </a:bodyPr>
          <a:lstStyle/>
          <a:p>
            <a:pPr algn="ctr">
              <a:lnSpc>
                <a:spcPts val="2010"/>
              </a:lnSpc>
            </a:pPr>
            <a:r>
              <a:rPr lang="tr-TR" sz="1436" dirty="0">
                <a:solidFill>
                  <a:srgbClr val="191919"/>
                </a:solidFill>
                <a:latin typeface="Aileron Bold"/>
              </a:rPr>
              <a:t>TAKIM KAPTANI</a:t>
            </a:r>
            <a:endParaRPr lang="en-US" sz="1436" dirty="0">
              <a:solidFill>
                <a:srgbClr val="191919"/>
              </a:solidFill>
              <a:latin typeface="Aileron Bold"/>
            </a:endParaRPr>
          </a:p>
        </p:txBody>
      </p:sp>
      <p:sp>
        <p:nvSpPr>
          <p:cNvPr id="14" name="TextBox 66">
            <a:extLst>
              <a:ext uri="{FF2B5EF4-FFF2-40B4-BE49-F238E27FC236}">
                <a16:creationId xmlns:a16="http://schemas.microsoft.com/office/drawing/2014/main" id="{9621E432-0ECB-2C74-4254-740DFA4EBDF4}"/>
              </a:ext>
            </a:extLst>
          </p:cNvPr>
          <p:cNvSpPr txBox="1"/>
          <p:nvPr/>
        </p:nvSpPr>
        <p:spPr>
          <a:xfrm>
            <a:off x="8204432" y="5218796"/>
            <a:ext cx="1732974" cy="784574"/>
          </a:xfrm>
          <a:prstGeom prst="rect">
            <a:avLst/>
          </a:prstGeom>
        </p:spPr>
        <p:txBody>
          <a:bodyPr lIns="0" tIns="0" rIns="0" bIns="0" rtlCol="0" anchor="t">
            <a:spAutoFit/>
          </a:bodyPr>
          <a:lstStyle/>
          <a:p>
            <a:pPr algn="ctr">
              <a:lnSpc>
                <a:spcPts val="2088"/>
              </a:lnSpc>
            </a:pPr>
            <a:r>
              <a:rPr lang="en-US" sz="1492" dirty="0">
                <a:latin typeface="Aileron"/>
              </a:rPr>
              <a:t>ÜYE 2         TAKIMDAKİ GÖREVİ EĞİTİM BİLGİSİ</a:t>
            </a:r>
          </a:p>
        </p:txBody>
      </p:sp>
      <p:sp>
        <p:nvSpPr>
          <p:cNvPr id="15" name="TextBox 67">
            <a:extLst>
              <a:ext uri="{FF2B5EF4-FFF2-40B4-BE49-F238E27FC236}">
                <a16:creationId xmlns:a16="http://schemas.microsoft.com/office/drawing/2014/main" id="{5C033F00-0ECE-1730-C1CD-BE7CD517172B}"/>
              </a:ext>
            </a:extLst>
          </p:cNvPr>
          <p:cNvSpPr txBox="1"/>
          <p:nvPr/>
        </p:nvSpPr>
        <p:spPr>
          <a:xfrm>
            <a:off x="8204432" y="6612068"/>
            <a:ext cx="1732974" cy="784574"/>
          </a:xfrm>
          <a:prstGeom prst="rect">
            <a:avLst/>
          </a:prstGeom>
        </p:spPr>
        <p:txBody>
          <a:bodyPr lIns="0" tIns="0" rIns="0" bIns="0" rtlCol="0" anchor="t">
            <a:spAutoFit/>
          </a:bodyPr>
          <a:lstStyle/>
          <a:p>
            <a:pPr algn="ctr">
              <a:lnSpc>
                <a:spcPts val="2088"/>
              </a:lnSpc>
            </a:pPr>
            <a:r>
              <a:rPr lang="en-US" sz="1492" dirty="0">
                <a:latin typeface="Aileron"/>
              </a:rPr>
              <a:t>ÜYE 3        TAKIMDAKİ GÖREVİ EĞİTİM BİLGİSİ</a:t>
            </a:r>
          </a:p>
        </p:txBody>
      </p:sp>
      <p:sp>
        <p:nvSpPr>
          <p:cNvPr id="16" name="TextBox 70">
            <a:extLst>
              <a:ext uri="{FF2B5EF4-FFF2-40B4-BE49-F238E27FC236}">
                <a16:creationId xmlns:a16="http://schemas.microsoft.com/office/drawing/2014/main" id="{DAF1818A-BDA4-F4A9-88B1-3FDDB7AC77B8}"/>
              </a:ext>
            </a:extLst>
          </p:cNvPr>
          <p:cNvSpPr txBox="1"/>
          <p:nvPr/>
        </p:nvSpPr>
        <p:spPr>
          <a:xfrm>
            <a:off x="12716523" y="3929936"/>
            <a:ext cx="1757927" cy="784574"/>
          </a:xfrm>
          <a:prstGeom prst="rect">
            <a:avLst/>
          </a:prstGeom>
        </p:spPr>
        <p:txBody>
          <a:bodyPr lIns="0" tIns="0" rIns="0" bIns="0" rtlCol="0" anchor="t">
            <a:spAutoFit/>
          </a:bodyPr>
          <a:lstStyle/>
          <a:p>
            <a:pPr algn="ctr">
              <a:lnSpc>
                <a:spcPts val="2088"/>
              </a:lnSpc>
            </a:pPr>
            <a:r>
              <a:rPr lang="en-US" sz="1492" dirty="0">
                <a:latin typeface="Aileron"/>
              </a:rPr>
              <a:t>ÜYE </a:t>
            </a:r>
            <a:r>
              <a:rPr lang="tr-TR" sz="1492" dirty="0">
                <a:latin typeface="Aileron"/>
              </a:rPr>
              <a:t>4</a:t>
            </a:r>
            <a:r>
              <a:rPr lang="en-US" sz="1492" dirty="0">
                <a:latin typeface="Aileron"/>
              </a:rPr>
              <a:t>        TAKIMDAKİ GÖREVİ EĞİTİM BİLGİSİ</a:t>
            </a:r>
          </a:p>
        </p:txBody>
      </p:sp>
      <p:sp>
        <p:nvSpPr>
          <p:cNvPr id="17" name="TextBox 71">
            <a:extLst>
              <a:ext uri="{FF2B5EF4-FFF2-40B4-BE49-F238E27FC236}">
                <a16:creationId xmlns:a16="http://schemas.microsoft.com/office/drawing/2014/main" id="{C50416AA-CEC5-8483-3A87-06467BFB27C9}"/>
              </a:ext>
            </a:extLst>
          </p:cNvPr>
          <p:cNvSpPr txBox="1"/>
          <p:nvPr/>
        </p:nvSpPr>
        <p:spPr>
          <a:xfrm>
            <a:off x="12706297" y="5283085"/>
            <a:ext cx="1732974" cy="784574"/>
          </a:xfrm>
          <a:prstGeom prst="rect">
            <a:avLst/>
          </a:prstGeom>
        </p:spPr>
        <p:txBody>
          <a:bodyPr lIns="0" tIns="0" rIns="0" bIns="0" rtlCol="0" anchor="t">
            <a:spAutoFit/>
          </a:bodyPr>
          <a:lstStyle/>
          <a:p>
            <a:pPr algn="ctr">
              <a:lnSpc>
                <a:spcPts val="2088"/>
              </a:lnSpc>
            </a:pPr>
            <a:r>
              <a:rPr lang="en-US" sz="1492" dirty="0">
                <a:latin typeface="Aileron"/>
              </a:rPr>
              <a:t>ÜYE </a:t>
            </a:r>
            <a:r>
              <a:rPr lang="tr-TR" sz="1492" dirty="0">
                <a:latin typeface="Aileron"/>
              </a:rPr>
              <a:t>5</a:t>
            </a:r>
            <a:r>
              <a:rPr lang="en-US" sz="1492" dirty="0">
                <a:latin typeface="Aileron"/>
              </a:rPr>
              <a:t>         TAKIMDAKİ GÖREVİ EĞİTİM BİLGİSİ</a:t>
            </a:r>
          </a:p>
        </p:txBody>
      </p:sp>
      <p:sp>
        <p:nvSpPr>
          <p:cNvPr id="18" name="Dikdörtgen 17">
            <a:extLst>
              <a:ext uri="{FF2B5EF4-FFF2-40B4-BE49-F238E27FC236}">
                <a16:creationId xmlns:a16="http://schemas.microsoft.com/office/drawing/2014/main" id="{6713DEF8-9B38-E8D7-55C6-DE980C93B676}"/>
              </a:ext>
            </a:extLst>
          </p:cNvPr>
          <p:cNvSpPr/>
          <p:nvPr/>
        </p:nvSpPr>
        <p:spPr>
          <a:xfrm>
            <a:off x="3776064" y="3859143"/>
            <a:ext cx="1302593" cy="1192708"/>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Dikdörtgen 18">
            <a:extLst>
              <a:ext uri="{FF2B5EF4-FFF2-40B4-BE49-F238E27FC236}">
                <a16:creationId xmlns:a16="http://schemas.microsoft.com/office/drawing/2014/main" id="{77E9721D-AE36-8FE0-C022-49CF017B4D65}"/>
              </a:ext>
            </a:extLst>
          </p:cNvPr>
          <p:cNvSpPr/>
          <p:nvPr/>
        </p:nvSpPr>
        <p:spPr>
          <a:xfrm>
            <a:off x="3780420" y="5825732"/>
            <a:ext cx="1302593" cy="1192708"/>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0" name="Dikdörtgen 19">
            <a:extLst>
              <a:ext uri="{FF2B5EF4-FFF2-40B4-BE49-F238E27FC236}">
                <a16:creationId xmlns:a16="http://schemas.microsoft.com/office/drawing/2014/main" id="{F4BF7395-4F88-C2E9-5354-DB923021ECDD}"/>
              </a:ext>
            </a:extLst>
          </p:cNvPr>
          <p:cNvSpPr/>
          <p:nvPr/>
        </p:nvSpPr>
        <p:spPr>
          <a:xfrm>
            <a:off x="6989495" y="3906720"/>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Dikdörtgen 20">
            <a:extLst>
              <a:ext uri="{FF2B5EF4-FFF2-40B4-BE49-F238E27FC236}">
                <a16:creationId xmlns:a16="http://schemas.microsoft.com/office/drawing/2014/main" id="{6A45AEB0-E740-307E-ACD2-241906846C8F}"/>
              </a:ext>
            </a:extLst>
          </p:cNvPr>
          <p:cNvSpPr/>
          <p:nvPr/>
        </p:nvSpPr>
        <p:spPr>
          <a:xfrm>
            <a:off x="6989495" y="5259806"/>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a:extLst>
              <a:ext uri="{FF2B5EF4-FFF2-40B4-BE49-F238E27FC236}">
                <a16:creationId xmlns:a16="http://schemas.microsoft.com/office/drawing/2014/main" id="{63AF7BE5-D2CF-1F78-5581-6E0F6F986067}"/>
              </a:ext>
            </a:extLst>
          </p:cNvPr>
          <p:cNvSpPr/>
          <p:nvPr/>
        </p:nvSpPr>
        <p:spPr>
          <a:xfrm>
            <a:off x="6989495" y="6613843"/>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23" name="Dikdörtgen 22">
            <a:extLst>
              <a:ext uri="{FF2B5EF4-FFF2-40B4-BE49-F238E27FC236}">
                <a16:creationId xmlns:a16="http://schemas.microsoft.com/office/drawing/2014/main" id="{6CA74B1F-E831-394E-8B83-76BA8BD84693}"/>
              </a:ext>
            </a:extLst>
          </p:cNvPr>
          <p:cNvSpPr/>
          <p:nvPr/>
        </p:nvSpPr>
        <p:spPr>
          <a:xfrm>
            <a:off x="11379170" y="3907647"/>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4" name="Dikdörtgen 23">
            <a:extLst>
              <a:ext uri="{FF2B5EF4-FFF2-40B4-BE49-F238E27FC236}">
                <a16:creationId xmlns:a16="http://schemas.microsoft.com/office/drawing/2014/main" id="{7EC51EA9-1A04-6B87-112B-0912F026CEFB}"/>
              </a:ext>
            </a:extLst>
          </p:cNvPr>
          <p:cNvSpPr/>
          <p:nvPr/>
        </p:nvSpPr>
        <p:spPr>
          <a:xfrm>
            <a:off x="11374971" y="5232449"/>
            <a:ext cx="1106832" cy="1013895"/>
          </a:xfrm>
          <a:prstGeom prst="rect">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Freeform 40">
            <a:extLst>
              <a:ext uri="{FF2B5EF4-FFF2-40B4-BE49-F238E27FC236}">
                <a16:creationId xmlns:a16="http://schemas.microsoft.com/office/drawing/2014/main" id="{066042E5-DCE8-D147-3A4B-3045CD8A4C4D}"/>
              </a:ext>
            </a:extLst>
          </p:cNvPr>
          <p:cNvSpPr/>
          <p:nvPr/>
        </p:nvSpPr>
        <p:spPr>
          <a:xfrm rot="5400000">
            <a:off x="6045503" y="694324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6" name="Freeform 41">
            <a:extLst>
              <a:ext uri="{FF2B5EF4-FFF2-40B4-BE49-F238E27FC236}">
                <a16:creationId xmlns:a16="http://schemas.microsoft.com/office/drawing/2014/main" id="{4F47E7D2-347A-56FC-80DC-8469162B2E92}"/>
              </a:ext>
            </a:extLst>
          </p:cNvPr>
          <p:cNvSpPr/>
          <p:nvPr/>
        </p:nvSpPr>
        <p:spPr>
          <a:xfrm rot="5400000">
            <a:off x="6070675" y="5535883"/>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7" name="Freeform 42">
            <a:extLst>
              <a:ext uri="{FF2B5EF4-FFF2-40B4-BE49-F238E27FC236}">
                <a16:creationId xmlns:a16="http://schemas.microsoft.com/office/drawing/2014/main" id="{87146A75-F0E8-F8CD-BFF5-B560EBC0D4CE}"/>
              </a:ext>
            </a:extLst>
          </p:cNvPr>
          <p:cNvSpPr/>
          <p:nvPr/>
        </p:nvSpPr>
        <p:spPr>
          <a:xfrm rot="5400000">
            <a:off x="6070675" y="429336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cxnSp>
        <p:nvCxnSpPr>
          <p:cNvPr id="28" name="Düz Bağlayıcı 27">
            <a:extLst>
              <a:ext uri="{FF2B5EF4-FFF2-40B4-BE49-F238E27FC236}">
                <a16:creationId xmlns:a16="http://schemas.microsoft.com/office/drawing/2014/main" id="{27E97130-116D-3706-E636-C41E06D294C7}"/>
              </a:ext>
            </a:extLst>
          </p:cNvPr>
          <p:cNvCxnSpPr/>
          <p:nvPr/>
        </p:nvCxnSpPr>
        <p:spPr>
          <a:xfrm flipH="1">
            <a:off x="5976027" y="4154562"/>
            <a:ext cx="27083" cy="426551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Düz Bağlayıcı 28">
            <a:extLst>
              <a:ext uri="{FF2B5EF4-FFF2-40B4-BE49-F238E27FC236}">
                <a16:creationId xmlns:a16="http://schemas.microsoft.com/office/drawing/2014/main" id="{9265401A-8E1D-0D9E-3D4D-902583AD64F2}"/>
              </a:ext>
            </a:extLst>
          </p:cNvPr>
          <p:cNvCxnSpPr/>
          <p:nvPr/>
        </p:nvCxnSpPr>
        <p:spPr>
          <a:xfrm flipH="1">
            <a:off x="4343680" y="8455151"/>
            <a:ext cx="1632347" cy="6497"/>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Düz Bağlayıcı 29">
            <a:extLst>
              <a:ext uri="{FF2B5EF4-FFF2-40B4-BE49-F238E27FC236}">
                <a16:creationId xmlns:a16="http://schemas.microsoft.com/office/drawing/2014/main" id="{BDEED0F9-FCF9-722C-E531-A635FED134D8}"/>
              </a:ext>
            </a:extLst>
          </p:cNvPr>
          <p:cNvCxnSpPr/>
          <p:nvPr/>
        </p:nvCxnSpPr>
        <p:spPr>
          <a:xfrm flipV="1">
            <a:off x="4343680" y="7614215"/>
            <a:ext cx="0" cy="854709"/>
          </a:xfrm>
          <a:prstGeom prst="line">
            <a:avLst/>
          </a:prstGeom>
        </p:spPr>
        <p:style>
          <a:lnRef idx="2">
            <a:schemeClr val="accent1"/>
          </a:lnRef>
          <a:fillRef idx="0">
            <a:schemeClr val="accent1"/>
          </a:fillRef>
          <a:effectRef idx="1">
            <a:schemeClr val="accent1"/>
          </a:effectRef>
          <a:fontRef idx="minor">
            <a:schemeClr val="tx1"/>
          </a:fontRef>
        </p:style>
      </p:cxnSp>
      <p:sp>
        <p:nvSpPr>
          <p:cNvPr id="31" name="Akış Çizelgesi: Bağlayıcı 88">
            <a:extLst>
              <a:ext uri="{FF2B5EF4-FFF2-40B4-BE49-F238E27FC236}">
                <a16:creationId xmlns:a16="http://schemas.microsoft.com/office/drawing/2014/main" id="{B2691AAA-33BB-D4DF-FEF2-8686D3BE271F}"/>
              </a:ext>
            </a:extLst>
          </p:cNvPr>
          <p:cNvSpPr/>
          <p:nvPr/>
        </p:nvSpPr>
        <p:spPr>
          <a:xfrm>
            <a:off x="4235580" y="7506200"/>
            <a:ext cx="184827" cy="200549"/>
          </a:xfrm>
          <a:prstGeom prst="flowChartConnector">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32" name="Akış Çizelgesi: Bağlayıcı 89">
            <a:extLst>
              <a:ext uri="{FF2B5EF4-FFF2-40B4-BE49-F238E27FC236}">
                <a16:creationId xmlns:a16="http://schemas.microsoft.com/office/drawing/2014/main" id="{462AEE6B-BBD4-02E6-B2A8-D3ECA1E86593}"/>
              </a:ext>
            </a:extLst>
          </p:cNvPr>
          <p:cNvSpPr/>
          <p:nvPr/>
        </p:nvSpPr>
        <p:spPr>
          <a:xfrm>
            <a:off x="5877778" y="3986866"/>
            <a:ext cx="184827" cy="200549"/>
          </a:xfrm>
          <a:prstGeom prst="flowChartConnector">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tr-TR"/>
          </a:p>
        </p:txBody>
      </p:sp>
      <p:sp>
        <p:nvSpPr>
          <p:cNvPr id="33" name="Freeform 42">
            <a:extLst>
              <a:ext uri="{FF2B5EF4-FFF2-40B4-BE49-F238E27FC236}">
                <a16:creationId xmlns:a16="http://schemas.microsoft.com/office/drawing/2014/main" id="{928CF4E1-459F-5AF6-6B68-116DEB153F2E}"/>
              </a:ext>
            </a:extLst>
          </p:cNvPr>
          <p:cNvSpPr/>
          <p:nvPr/>
        </p:nvSpPr>
        <p:spPr>
          <a:xfrm rot="5400000">
            <a:off x="10632969" y="4350323"/>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4" name="Freeform 42">
            <a:extLst>
              <a:ext uri="{FF2B5EF4-FFF2-40B4-BE49-F238E27FC236}">
                <a16:creationId xmlns:a16="http://schemas.microsoft.com/office/drawing/2014/main" id="{654CEF67-2A6B-5797-0E34-14D67F389488}"/>
              </a:ext>
            </a:extLst>
          </p:cNvPr>
          <p:cNvSpPr/>
          <p:nvPr/>
        </p:nvSpPr>
        <p:spPr>
          <a:xfrm rot="5400000">
            <a:off x="10617725" y="5622820"/>
            <a:ext cx="173874" cy="150401"/>
          </a:xfrm>
          <a:custGeom>
            <a:avLst/>
            <a:gdLst/>
            <a:ahLst/>
            <a:cxnLst/>
            <a:rect l="l" t="t" r="r" b="b"/>
            <a:pathLst>
              <a:path w="173874" h="150401">
                <a:moveTo>
                  <a:pt x="0" y="0"/>
                </a:moveTo>
                <a:lnTo>
                  <a:pt x="173874" y="0"/>
                </a:lnTo>
                <a:lnTo>
                  <a:pt x="173874" y="150401"/>
                </a:lnTo>
                <a:lnTo>
                  <a:pt x="0" y="15040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35" name="TextBox 115">
            <a:extLst>
              <a:ext uri="{FF2B5EF4-FFF2-40B4-BE49-F238E27FC236}">
                <a16:creationId xmlns:a16="http://schemas.microsoft.com/office/drawing/2014/main" id="{95034A9B-F924-6417-6B95-2E51C8582238}"/>
              </a:ext>
            </a:extLst>
          </p:cNvPr>
          <p:cNvSpPr txBox="1"/>
          <p:nvPr/>
        </p:nvSpPr>
        <p:spPr>
          <a:xfrm>
            <a:off x="7042" y="1735521"/>
            <a:ext cx="18127754" cy="934743"/>
          </a:xfrm>
          <a:prstGeom prst="rect">
            <a:avLst/>
          </a:prstGeom>
        </p:spPr>
        <p:txBody>
          <a:bodyPr lIns="0" tIns="0" rIns="0" bIns="0" rtlCol="0" anchor="t">
            <a:spAutoFit/>
          </a:bodyPr>
          <a:lstStyle/>
          <a:p>
            <a:pPr algn="ctr">
              <a:lnSpc>
                <a:spcPts val="2520"/>
              </a:lnSpc>
            </a:pP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şablonundaki</a:t>
            </a:r>
            <a:r>
              <a:rPr lang="en-US" sz="1800" dirty="0">
                <a:solidFill>
                  <a:srgbClr val="FF0000"/>
                </a:solidFill>
                <a:latin typeface="Aileron Bold"/>
              </a:rPr>
              <a:t> kutu </a:t>
            </a:r>
            <a:r>
              <a:rPr lang="en-US" sz="1800" dirty="0" err="1">
                <a:solidFill>
                  <a:srgbClr val="FF0000"/>
                </a:solidFill>
                <a:latin typeface="Aileron Bold"/>
              </a:rPr>
              <a:t>sayısı</a:t>
            </a:r>
            <a:r>
              <a:rPr lang="en-US" sz="1800" dirty="0">
                <a:solidFill>
                  <a:srgbClr val="FF0000"/>
                </a:solidFill>
                <a:latin typeface="Aileron Bold"/>
              </a:rPr>
              <a:t> </a:t>
            </a: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üye</a:t>
            </a:r>
            <a:r>
              <a:rPr lang="en-US" sz="1800" dirty="0">
                <a:solidFill>
                  <a:srgbClr val="FF0000"/>
                </a:solidFill>
                <a:latin typeface="Aileron Bold"/>
              </a:rPr>
              <a:t> </a:t>
            </a:r>
            <a:r>
              <a:rPr lang="en-US" sz="1800" dirty="0" err="1">
                <a:solidFill>
                  <a:srgbClr val="FF0000"/>
                </a:solidFill>
                <a:latin typeface="Aileron Bold"/>
              </a:rPr>
              <a:t>sayısına</a:t>
            </a:r>
            <a:r>
              <a:rPr lang="en-US" sz="1800" dirty="0">
                <a:solidFill>
                  <a:srgbClr val="FF0000"/>
                </a:solidFill>
                <a:latin typeface="Aileron Bold"/>
              </a:rPr>
              <a:t> </a:t>
            </a:r>
            <a:r>
              <a:rPr lang="en-US" sz="1800" dirty="0" err="1">
                <a:solidFill>
                  <a:srgbClr val="FF0000"/>
                </a:solidFill>
                <a:latin typeface="Aileron Bold"/>
              </a:rPr>
              <a:t>göre</a:t>
            </a:r>
            <a:r>
              <a:rPr lang="en-US" sz="1800" dirty="0">
                <a:solidFill>
                  <a:srgbClr val="FF0000"/>
                </a:solidFill>
                <a:latin typeface="Aileron Bold"/>
              </a:rPr>
              <a:t> </a:t>
            </a:r>
            <a:r>
              <a:rPr lang="en-US" sz="1800" dirty="0" err="1">
                <a:solidFill>
                  <a:srgbClr val="FF0000"/>
                </a:solidFill>
                <a:latin typeface="Aileron Bold"/>
              </a:rPr>
              <a:t>güncellenmelidir</a:t>
            </a:r>
            <a:r>
              <a:rPr lang="en-US" sz="1800" dirty="0">
                <a:solidFill>
                  <a:srgbClr val="FF0000"/>
                </a:solidFill>
                <a:latin typeface="Aileron Bold"/>
              </a:rPr>
              <a:t>. </a:t>
            </a:r>
            <a:r>
              <a:rPr lang="en-US" sz="1800" dirty="0" err="1">
                <a:solidFill>
                  <a:srgbClr val="FF0000"/>
                </a:solidFill>
                <a:latin typeface="Aileron Bold"/>
              </a:rPr>
              <a:t>Şablondaki</a:t>
            </a:r>
            <a:r>
              <a:rPr lang="en-US" sz="1800" dirty="0">
                <a:solidFill>
                  <a:srgbClr val="FF0000"/>
                </a:solidFill>
                <a:latin typeface="Aileron Bold"/>
              </a:rPr>
              <a:t> </a:t>
            </a:r>
            <a:r>
              <a:rPr lang="en-US" sz="1800" dirty="0" err="1">
                <a:solidFill>
                  <a:srgbClr val="FF0000"/>
                </a:solidFill>
                <a:latin typeface="Aileron Bold"/>
              </a:rPr>
              <a:t>istenilen</a:t>
            </a:r>
            <a:r>
              <a:rPr lang="en-US" sz="1800" dirty="0">
                <a:solidFill>
                  <a:srgbClr val="FF0000"/>
                </a:solidFill>
                <a:latin typeface="Aileron Bold"/>
              </a:rPr>
              <a:t> </a:t>
            </a:r>
            <a:r>
              <a:rPr lang="en-US" sz="1800" dirty="0" err="1">
                <a:solidFill>
                  <a:srgbClr val="FF0000"/>
                </a:solidFill>
                <a:latin typeface="Aileron Bold"/>
              </a:rPr>
              <a:t>bilgiler</a:t>
            </a:r>
            <a:r>
              <a:rPr lang="en-US" sz="1800" dirty="0">
                <a:solidFill>
                  <a:srgbClr val="FF0000"/>
                </a:solidFill>
                <a:latin typeface="Aileron Bold"/>
              </a:rPr>
              <a:t> </a:t>
            </a:r>
            <a:r>
              <a:rPr lang="en-US" sz="1800" dirty="0" err="1">
                <a:solidFill>
                  <a:srgbClr val="FF0000"/>
                </a:solidFill>
                <a:latin typeface="Aileron Bold"/>
              </a:rPr>
              <a:t>doldurulmalıdır</a:t>
            </a:r>
            <a:r>
              <a:rPr lang="en-US" sz="1800" dirty="0">
                <a:solidFill>
                  <a:srgbClr val="FF0000"/>
                </a:solidFill>
                <a:latin typeface="Aileron Bold"/>
              </a:rPr>
              <a:t>.</a:t>
            </a:r>
          </a:p>
          <a:p>
            <a:pPr algn="ctr">
              <a:lnSpc>
                <a:spcPts val="2520"/>
              </a:lnSpc>
            </a:pPr>
            <a:r>
              <a:rPr lang="en-US" sz="1800" dirty="0" err="1">
                <a:solidFill>
                  <a:srgbClr val="FF0000"/>
                </a:solidFill>
                <a:latin typeface="Aileron Bold"/>
              </a:rPr>
              <a:t>Takım</a:t>
            </a:r>
            <a:r>
              <a:rPr lang="en-US" sz="1800" dirty="0">
                <a:solidFill>
                  <a:srgbClr val="FF0000"/>
                </a:solidFill>
                <a:latin typeface="Aileron Bold"/>
              </a:rPr>
              <a:t> </a:t>
            </a:r>
            <a:r>
              <a:rPr lang="en-US" sz="1800" dirty="0" err="1">
                <a:solidFill>
                  <a:srgbClr val="FF0000"/>
                </a:solidFill>
                <a:latin typeface="Aileron Bold"/>
              </a:rPr>
              <a:t>tanıtımı</a:t>
            </a:r>
            <a:r>
              <a:rPr lang="en-US" sz="1800" dirty="0">
                <a:solidFill>
                  <a:srgbClr val="FF0000"/>
                </a:solidFill>
                <a:latin typeface="Aileron Bold"/>
              </a:rPr>
              <a:t> </a:t>
            </a:r>
            <a:r>
              <a:rPr lang="en-US" sz="1800" u="sng" dirty="0" err="1">
                <a:solidFill>
                  <a:srgbClr val="FF0000"/>
                </a:solidFill>
                <a:latin typeface="Aileron Bold Italics"/>
              </a:rPr>
              <a:t>en</a:t>
            </a:r>
            <a:r>
              <a:rPr lang="en-US" sz="1800" u="sng" dirty="0">
                <a:solidFill>
                  <a:srgbClr val="FF0000"/>
                </a:solidFill>
                <a:latin typeface="Aileron Bold Italics"/>
              </a:rPr>
              <a:t> </a:t>
            </a:r>
            <a:r>
              <a:rPr lang="en-US" sz="1800" u="sng" dirty="0" err="1">
                <a:solidFill>
                  <a:srgbClr val="FF0000"/>
                </a:solidFill>
                <a:latin typeface="Aileron Bold Italics"/>
              </a:rPr>
              <a:t>fazla</a:t>
            </a:r>
            <a:r>
              <a:rPr lang="en-US" sz="1800" dirty="0">
                <a:solidFill>
                  <a:srgbClr val="FF0000"/>
                </a:solidFill>
                <a:latin typeface="Aileron Bold"/>
              </a:rPr>
              <a:t> </a:t>
            </a:r>
            <a:r>
              <a:rPr lang="en-US" sz="1800" dirty="0" err="1">
                <a:solidFill>
                  <a:srgbClr val="FF0000"/>
                </a:solidFill>
                <a:latin typeface="Aileron Bold"/>
              </a:rPr>
              <a:t>bir</a:t>
            </a:r>
            <a:r>
              <a:rPr lang="en-US" sz="1800" dirty="0">
                <a:solidFill>
                  <a:srgbClr val="FF0000"/>
                </a:solidFill>
                <a:latin typeface="Aileron Bold"/>
              </a:rPr>
              <a:t>(1) </a:t>
            </a:r>
            <a:r>
              <a:rPr lang="en-US" sz="1800" dirty="0" err="1">
                <a:solidFill>
                  <a:srgbClr val="FF0000"/>
                </a:solidFill>
                <a:latin typeface="Aileron Bold"/>
              </a:rPr>
              <a:t>sayfadır</a:t>
            </a:r>
            <a:r>
              <a:rPr lang="en-US" sz="1800" dirty="0">
                <a:solidFill>
                  <a:srgbClr val="FF0000"/>
                </a:solidFill>
                <a:latin typeface="Aileron Bold"/>
              </a:rPr>
              <a:t>. </a:t>
            </a:r>
            <a:r>
              <a:rPr lang="en-US" sz="1800" dirty="0" err="1">
                <a:solidFill>
                  <a:srgbClr val="FF0000"/>
                </a:solidFill>
                <a:latin typeface="Aileron Bold"/>
              </a:rPr>
              <a:t>Sayfa</a:t>
            </a:r>
            <a:r>
              <a:rPr lang="en-US" sz="1800" dirty="0">
                <a:solidFill>
                  <a:srgbClr val="FF0000"/>
                </a:solidFill>
                <a:latin typeface="Aileron Bold"/>
              </a:rPr>
              <a:t> </a:t>
            </a:r>
            <a:r>
              <a:rPr lang="en-US" sz="1800" dirty="0" err="1">
                <a:solidFill>
                  <a:srgbClr val="FF0000"/>
                </a:solidFill>
                <a:latin typeface="Aileron Bold"/>
              </a:rPr>
              <a:t>sınırı</a:t>
            </a:r>
            <a:r>
              <a:rPr lang="en-US" sz="1800" dirty="0">
                <a:solidFill>
                  <a:srgbClr val="FF0000"/>
                </a:solidFill>
                <a:latin typeface="Aileron Bold"/>
              </a:rPr>
              <a:t> </a:t>
            </a:r>
            <a:r>
              <a:rPr lang="en-US" sz="1800" dirty="0" err="1">
                <a:solidFill>
                  <a:srgbClr val="FF0000"/>
                </a:solidFill>
                <a:latin typeface="Aileron Bold"/>
              </a:rPr>
              <a:t>aşılmamalıdır</a:t>
            </a:r>
            <a:r>
              <a:rPr lang="en-US" sz="1800" dirty="0">
                <a:solidFill>
                  <a:srgbClr val="FF0000"/>
                </a:solidFill>
                <a:latin typeface="Aileron Bold"/>
              </a:rPr>
              <a:t>. </a:t>
            </a:r>
            <a:r>
              <a:rPr lang="tr-TR" sz="1800" dirty="0">
                <a:solidFill>
                  <a:srgbClr val="FF0000"/>
                </a:solidFill>
                <a:latin typeface="Aileron Bold"/>
              </a:rPr>
              <a:t> </a:t>
            </a:r>
          </a:p>
          <a:p>
            <a:pPr algn="ctr">
              <a:lnSpc>
                <a:spcPts val="2520"/>
              </a:lnSpc>
            </a:pPr>
            <a:r>
              <a:rPr lang="tr-TR" sz="1800" dirty="0">
                <a:solidFill>
                  <a:srgbClr val="FF0000"/>
                </a:solidFill>
                <a:latin typeface="Aileron Bold"/>
              </a:rPr>
              <a:t>Takım kaptanı bilgilerini ilgili alanda verip, tekrar üye olarak yer verm</a:t>
            </a:r>
            <a:r>
              <a:rPr lang="tr-TR" dirty="0">
                <a:solidFill>
                  <a:srgbClr val="FF0000"/>
                </a:solidFill>
                <a:latin typeface="Aileron Bold"/>
              </a:rPr>
              <a:t>emelisiniz. </a:t>
            </a:r>
            <a:endParaRPr lang="en-US" sz="1800" dirty="0">
              <a:solidFill>
                <a:srgbClr val="FF0000"/>
              </a:solidFill>
              <a:latin typeface="Aileron Bold"/>
            </a:endParaRPr>
          </a:p>
        </p:txBody>
      </p:sp>
    </p:spTree>
    <p:extLst>
      <p:ext uri="{BB962C8B-B14F-4D97-AF65-F5344CB8AC3E}">
        <p14:creationId xmlns:p14="http://schemas.microsoft.com/office/powerpoint/2010/main" val="690603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094B88A-7D9F-ED15-98BC-289CEA057ED5}"/>
            </a:ext>
          </a:extLst>
        </p:cNvPr>
        <p:cNvGrpSpPr/>
        <p:nvPr/>
      </p:nvGrpSpPr>
      <p:grpSpPr>
        <a:xfrm>
          <a:off x="0" y="0"/>
          <a:ext cx="0" cy="0"/>
          <a:chOff x="0" y="0"/>
          <a:chExt cx="0" cy="0"/>
        </a:xfrm>
      </p:grpSpPr>
      <p:sp>
        <p:nvSpPr>
          <p:cNvPr id="2" name="TextBox 114">
            <a:extLst>
              <a:ext uri="{FF2B5EF4-FFF2-40B4-BE49-F238E27FC236}">
                <a16:creationId xmlns:a16="http://schemas.microsoft.com/office/drawing/2014/main" id="{D0E24251-B9DF-FD6C-128C-73C55E22A007}"/>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
        <p:nvSpPr>
          <p:cNvPr id="3" name="TextBox 12">
            <a:extLst>
              <a:ext uri="{FF2B5EF4-FFF2-40B4-BE49-F238E27FC236}">
                <a16:creationId xmlns:a16="http://schemas.microsoft.com/office/drawing/2014/main" id="{AE9670AD-2CC3-B59F-63D9-1226121E6922}"/>
              </a:ext>
            </a:extLst>
          </p:cNvPr>
          <p:cNvSpPr txBox="1">
            <a:spLocks/>
          </p:cNvSpPr>
          <p:nvPr/>
        </p:nvSpPr>
        <p:spPr>
          <a:xfrm>
            <a:off x="4437994" y="266700"/>
            <a:ext cx="9412011"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PROJE ÖZETİ VE KAPSAMI</a:t>
            </a:r>
          </a:p>
        </p:txBody>
      </p:sp>
      <p:sp>
        <p:nvSpPr>
          <p:cNvPr id="36" name="TextBox 50">
            <a:extLst>
              <a:ext uri="{FF2B5EF4-FFF2-40B4-BE49-F238E27FC236}">
                <a16:creationId xmlns:a16="http://schemas.microsoft.com/office/drawing/2014/main" id="{CE64B99E-9FC1-B196-EDCB-F2131773754F}"/>
              </a:ext>
            </a:extLst>
          </p:cNvPr>
          <p:cNvSpPr txBox="1"/>
          <p:nvPr/>
        </p:nvSpPr>
        <p:spPr>
          <a:xfrm>
            <a:off x="1219200" y="2014635"/>
            <a:ext cx="12841011" cy="3526606"/>
          </a:xfrm>
          <a:prstGeom prst="rect">
            <a:avLst/>
          </a:prstGeom>
        </p:spPr>
        <p:txBody>
          <a:bodyPr lIns="0" tIns="0" rIns="0" bIns="0" rtlCol="0" anchor="t">
            <a:spAutoFit/>
          </a:bodyPr>
          <a:lstStyle/>
          <a:p>
            <a:pPr marL="388622" lvl="1" indent="-194311" algn="l">
              <a:lnSpc>
                <a:spcPts val="2520"/>
              </a:lnSpc>
              <a:buFont typeface="Arial"/>
              <a:buChar char="•"/>
            </a:pPr>
            <a:r>
              <a:rPr lang="en-US" sz="1800" dirty="0" err="1">
                <a:solidFill>
                  <a:srgbClr val="FF0000"/>
                </a:solidFill>
                <a:latin typeface="Aileron Bold"/>
              </a:rPr>
              <a:t>Proje</a:t>
            </a:r>
            <a:r>
              <a:rPr lang="en-US" sz="1800" dirty="0">
                <a:solidFill>
                  <a:srgbClr val="FF0000"/>
                </a:solidFill>
                <a:latin typeface="Aileron Bold"/>
              </a:rPr>
              <a:t>/</a:t>
            </a:r>
            <a:r>
              <a:rPr lang="en-US" sz="1800" dirty="0" err="1">
                <a:solidFill>
                  <a:srgbClr val="FF0000"/>
                </a:solidFill>
                <a:latin typeface="Aileron Bold"/>
              </a:rPr>
              <a:t>fikir</a:t>
            </a:r>
            <a:r>
              <a:rPr lang="en-US" sz="1800" dirty="0">
                <a:solidFill>
                  <a:srgbClr val="FF0000"/>
                </a:solidFill>
                <a:latin typeface="Aileron Bold"/>
              </a:rPr>
              <a:t> </a:t>
            </a:r>
            <a:r>
              <a:rPr lang="en-US" sz="1800" dirty="0" err="1">
                <a:solidFill>
                  <a:srgbClr val="FF0000"/>
                </a:solidFill>
                <a:latin typeface="Aileron Bold"/>
              </a:rPr>
              <a:t>özet</a:t>
            </a:r>
            <a:r>
              <a:rPr lang="en-US" sz="1800" dirty="0">
                <a:solidFill>
                  <a:srgbClr val="FF0000"/>
                </a:solidFill>
                <a:latin typeface="Aileron Bold"/>
              </a:rPr>
              <a:t> </a:t>
            </a:r>
            <a:r>
              <a:rPr lang="en-US" sz="1800" dirty="0" err="1">
                <a:solidFill>
                  <a:srgbClr val="FF0000"/>
                </a:solidFill>
                <a:latin typeface="Aileron Bold"/>
              </a:rPr>
              <a:t>sayfasıdır</a:t>
            </a:r>
            <a:r>
              <a:rPr lang="en-US" sz="1800" dirty="0">
                <a:solidFill>
                  <a:srgbClr val="FF0000"/>
                </a:solidFill>
                <a:latin typeface="Aileron Bold"/>
              </a:rPr>
              <a:t>. </a:t>
            </a:r>
          </a:p>
          <a:p>
            <a:pPr marL="388622" lvl="1" indent="-194311" algn="l">
              <a:lnSpc>
                <a:spcPts val="2520"/>
              </a:lnSpc>
              <a:buFont typeface="Arial"/>
              <a:buChar char="•"/>
            </a:pPr>
            <a:r>
              <a:rPr lang="tr-TR" dirty="0">
                <a:solidFill>
                  <a:srgbClr val="FF0000"/>
                </a:solidFill>
                <a:latin typeface="Aileron Bold"/>
              </a:rPr>
              <a:t>Ö</a:t>
            </a:r>
            <a:r>
              <a:rPr lang="en-US" sz="1800" dirty="0" err="1">
                <a:solidFill>
                  <a:srgbClr val="FF0000"/>
                </a:solidFill>
                <a:latin typeface="Aileron Bold"/>
              </a:rPr>
              <a:t>zet</a:t>
            </a:r>
            <a:r>
              <a:rPr lang="tr-TR" sz="1800" dirty="0">
                <a:solidFill>
                  <a:srgbClr val="FF0000"/>
                </a:solidFill>
                <a:latin typeface="Aileron Bold"/>
              </a:rPr>
              <a:t> sayfası </a:t>
            </a:r>
            <a:r>
              <a:rPr lang="en-US" sz="1800" u="sng" dirty="0" err="1">
                <a:solidFill>
                  <a:srgbClr val="FF0000"/>
                </a:solidFill>
                <a:latin typeface="Aileron Bold Italics"/>
              </a:rPr>
              <a:t>en</a:t>
            </a:r>
            <a:r>
              <a:rPr lang="en-US" sz="1800" u="sng" dirty="0">
                <a:solidFill>
                  <a:srgbClr val="FF0000"/>
                </a:solidFill>
                <a:latin typeface="Aileron Bold Italics"/>
              </a:rPr>
              <a:t> </a:t>
            </a:r>
            <a:r>
              <a:rPr lang="en-US" sz="1800" u="sng" dirty="0" err="1">
                <a:solidFill>
                  <a:srgbClr val="FF0000"/>
                </a:solidFill>
                <a:latin typeface="Aileron Bold Italics"/>
              </a:rPr>
              <a:t>fazla</a:t>
            </a:r>
            <a:r>
              <a:rPr lang="en-US" sz="1800" u="sng" dirty="0">
                <a:solidFill>
                  <a:srgbClr val="FF0000"/>
                </a:solidFill>
                <a:latin typeface="Aileron Bold Italics"/>
              </a:rPr>
              <a:t> </a:t>
            </a:r>
            <a:r>
              <a:rPr lang="en-US" sz="1800" dirty="0" err="1">
                <a:solidFill>
                  <a:srgbClr val="FF0000"/>
                </a:solidFill>
                <a:latin typeface="Aileron Bold"/>
              </a:rPr>
              <a:t>bir</a:t>
            </a:r>
            <a:r>
              <a:rPr lang="en-US" sz="1800" dirty="0">
                <a:solidFill>
                  <a:srgbClr val="FF0000"/>
                </a:solidFill>
                <a:latin typeface="Aileron Bold"/>
              </a:rPr>
              <a:t>(1) </a:t>
            </a:r>
            <a:r>
              <a:rPr lang="en-US" sz="1800" dirty="0" err="1">
                <a:solidFill>
                  <a:srgbClr val="FF0000"/>
                </a:solidFill>
                <a:latin typeface="Aileron Bold"/>
              </a:rPr>
              <a:t>sayfad</a:t>
            </a:r>
            <a:r>
              <a:rPr lang="tr-TR" sz="1800" dirty="0">
                <a:solidFill>
                  <a:srgbClr val="FF0000"/>
                </a:solidFill>
                <a:latin typeface="Aileron Bold"/>
              </a:rPr>
              <a:t>a açıklanmalıdır</a:t>
            </a:r>
            <a:r>
              <a:rPr lang="en-US" sz="1800" dirty="0">
                <a:solidFill>
                  <a:srgbClr val="FF0000"/>
                </a:solidFill>
                <a:latin typeface="Aileron Bold"/>
              </a:rPr>
              <a:t>. </a:t>
            </a:r>
            <a:r>
              <a:rPr lang="en-US" sz="1800" u="sng" dirty="0" err="1">
                <a:solidFill>
                  <a:srgbClr val="FF0000"/>
                </a:solidFill>
                <a:latin typeface="Aileron Bold"/>
              </a:rPr>
              <a:t>Sayfa</a:t>
            </a:r>
            <a:r>
              <a:rPr lang="en-US" sz="1800" u="sng" dirty="0">
                <a:solidFill>
                  <a:srgbClr val="FF0000"/>
                </a:solidFill>
                <a:latin typeface="Aileron Bold"/>
              </a:rPr>
              <a:t> </a:t>
            </a:r>
            <a:r>
              <a:rPr lang="en-US" sz="1800" u="sng" dirty="0" err="1">
                <a:solidFill>
                  <a:srgbClr val="FF0000"/>
                </a:solidFill>
                <a:latin typeface="Aileron Bold"/>
              </a:rPr>
              <a:t>sınırı</a:t>
            </a:r>
            <a:r>
              <a:rPr lang="en-US" sz="1800" u="sng" dirty="0">
                <a:solidFill>
                  <a:srgbClr val="FF0000"/>
                </a:solidFill>
                <a:latin typeface="Aileron Bold"/>
              </a:rPr>
              <a:t> </a:t>
            </a:r>
            <a:r>
              <a:rPr lang="en-US" sz="1800" dirty="0" err="1">
                <a:solidFill>
                  <a:srgbClr val="FF0000"/>
                </a:solidFill>
                <a:latin typeface="Aileron Bold"/>
              </a:rPr>
              <a:t>aşılmamalıdır</a:t>
            </a:r>
            <a:r>
              <a:rPr lang="en-US" sz="1800" dirty="0">
                <a:solidFill>
                  <a:srgbClr val="FF0000"/>
                </a:solidFill>
                <a:latin typeface="Aileron Bold"/>
              </a:rPr>
              <a:t>. </a:t>
            </a:r>
            <a:endParaRPr lang="tr-TR" sz="1800" dirty="0">
              <a:solidFill>
                <a:srgbClr val="FF0000"/>
              </a:solidFill>
              <a:latin typeface="Aileron Bold"/>
            </a:endParaRPr>
          </a:p>
          <a:p>
            <a:pPr marL="388622" lvl="1" indent="-194311" algn="l">
              <a:lnSpc>
                <a:spcPts val="2520"/>
              </a:lnSpc>
              <a:buFont typeface="Arial"/>
              <a:buChar char="•"/>
            </a:pPr>
            <a:r>
              <a:rPr lang="en-US" sz="1800" dirty="0" err="1">
                <a:solidFill>
                  <a:srgbClr val="FF0000"/>
                </a:solidFill>
                <a:latin typeface="Aileron Bold"/>
              </a:rPr>
              <a:t>Proje</a:t>
            </a:r>
            <a:r>
              <a:rPr lang="en-US" sz="1800" dirty="0">
                <a:solidFill>
                  <a:srgbClr val="FF0000"/>
                </a:solidFill>
                <a:latin typeface="Aileron Bold"/>
              </a:rPr>
              <a:t> </a:t>
            </a:r>
            <a:r>
              <a:rPr lang="en-US" sz="1800" dirty="0" err="1">
                <a:solidFill>
                  <a:srgbClr val="FF0000"/>
                </a:solidFill>
                <a:latin typeface="Aileron Bold"/>
              </a:rPr>
              <a:t>özeti</a:t>
            </a:r>
            <a:r>
              <a:rPr lang="en-US" sz="1800" dirty="0">
                <a:solidFill>
                  <a:srgbClr val="FF0000"/>
                </a:solidFill>
                <a:latin typeface="Aileron Bold"/>
              </a:rPr>
              <a:t> </a:t>
            </a:r>
            <a:r>
              <a:rPr lang="en-US" sz="1800" dirty="0" err="1">
                <a:solidFill>
                  <a:srgbClr val="FF0000"/>
                </a:solidFill>
                <a:latin typeface="Aileron Bold"/>
              </a:rPr>
              <a:t>başlığı</a:t>
            </a:r>
            <a:r>
              <a:rPr lang="en-US" sz="1800" dirty="0">
                <a:solidFill>
                  <a:srgbClr val="FF0000"/>
                </a:solidFill>
                <a:latin typeface="Aileron Bold"/>
              </a:rPr>
              <a:t> </a:t>
            </a:r>
            <a:r>
              <a:rPr lang="en-US" sz="1800" dirty="0" err="1">
                <a:solidFill>
                  <a:srgbClr val="FF0000"/>
                </a:solidFill>
                <a:latin typeface="Aileron Bold"/>
              </a:rPr>
              <a:t>kapsamında</a:t>
            </a:r>
            <a:r>
              <a:rPr lang="en-US" sz="1800" dirty="0">
                <a:solidFill>
                  <a:srgbClr val="FF0000"/>
                </a:solidFill>
                <a:latin typeface="Aileron Bold"/>
              </a:rPr>
              <a:t> </a:t>
            </a:r>
            <a:r>
              <a:rPr lang="en-US" sz="1800" dirty="0" err="1">
                <a:solidFill>
                  <a:srgbClr val="FF0000"/>
                </a:solidFill>
                <a:latin typeface="Aileron Bold"/>
              </a:rPr>
              <a:t>kısa</a:t>
            </a:r>
            <a:r>
              <a:rPr lang="en-US" sz="1800" dirty="0">
                <a:solidFill>
                  <a:srgbClr val="FF0000"/>
                </a:solidFill>
                <a:latin typeface="Aileron Bold"/>
              </a:rPr>
              <a:t> net </a:t>
            </a:r>
            <a:r>
              <a:rPr lang="en-US" sz="1800" dirty="0" err="1">
                <a:solidFill>
                  <a:srgbClr val="FF0000"/>
                </a:solidFill>
                <a:latin typeface="Aileron Bold"/>
              </a:rPr>
              <a:t>bir</a:t>
            </a:r>
            <a:r>
              <a:rPr lang="en-US" sz="1800" dirty="0">
                <a:solidFill>
                  <a:srgbClr val="FF0000"/>
                </a:solidFill>
                <a:latin typeface="Aileron Bold"/>
              </a:rPr>
              <a:t> </a:t>
            </a:r>
            <a:r>
              <a:rPr lang="en-US" sz="1800" dirty="0" err="1">
                <a:solidFill>
                  <a:srgbClr val="FF0000"/>
                </a:solidFill>
                <a:latin typeface="Aileron Bold"/>
              </a:rPr>
              <a:t>şekilde</a:t>
            </a:r>
            <a:r>
              <a:rPr lang="en-US" sz="1800" dirty="0">
                <a:solidFill>
                  <a:srgbClr val="FF0000"/>
                </a:solidFill>
                <a:latin typeface="Aileron Bold"/>
              </a:rPr>
              <a:t> </a:t>
            </a:r>
            <a:r>
              <a:rPr lang="en-US" sz="1800" dirty="0" err="1">
                <a:solidFill>
                  <a:srgbClr val="FF0000"/>
                </a:solidFill>
                <a:latin typeface="Aileron Bold"/>
              </a:rPr>
              <a:t>proje</a:t>
            </a:r>
            <a:r>
              <a:rPr lang="en-US" sz="1800" dirty="0">
                <a:solidFill>
                  <a:srgbClr val="FF0000"/>
                </a:solidFill>
                <a:latin typeface="Aileron Bold"/>
              </a:rPr>
              <a:t> </a:t>
            </a:r>
            <a:r>
              <a:rPr lang="en-US" sz="1800" dirty="0" err="1">
                <a:solidFill>
                  <a:srgbClr val="FF0000"/>
                </a:solidFill>
                <a:latin typeface="Aileron Bold"/>
              </a:rPr>
              <a:t>fikri</a:t>
            </a:r>
            <a:r>
              <a:rPr lang="en-US" sz="1800" dirty="0">
                <a:solidFill>
                  <a:srgbClr val="FF0000"/>
                </a:solidFill>
                <a:latin typeface="Aileron Bold"/>
              </a:rPr>
              <a:t> </a:t>
            </a:r>
            <a:r>
              <a:rPr lang="en-US" sz="1800" dirty="0" err="1">
                <a:solidFill>
                  <a:srgbClr val="FF0000"/>
                </a:solidFill>
                <a:latin typeface="Aileron Bold"/>
              </a:rPr>
              <a:t>özetlenmeli</a:t>
            </a:r>
            <a:r>
              <a:rPr lang="en-US" sz="1800" dirty="0">
                <a:solidFill>
                  <a:srgbClr val="FF0000"/>
                </a:solidFill>
                <a:latin typeface="Aileron Bold"/>
              </a:rPr>
              <a:t>, </a:t>
            </a:r>
            <a:r>
              <a:rPr lang="en-US" sz="1800" dirty="0" err="1">
                <a:solidFill>
                  <a:srgbClr val="FF0000"/>
                </a:solidFill>
                <a:latin typeface="Aileron Bold"/>
              </a:rPr>
              <a:t>çalışma</a:t>
            </a:r>
            <a:r>
              <a:rPr lang="en-US" sz="1800" dirty="0">
                <a:solidFill>
                  <a:srgbClr val="FF0000"/>
                </a:solidFill>
                <a:latin typeface="Aileron Bold"/>
              </a:rPr>
              <a:t> </a:t>
            </a:r>
            <a:r>
              <a:rPr lang="en-US" sz="1800" dirty="0" err="1">
                <a:solidFill>
                  <a:srgbClr val="FF0000"/>
                </a:solidFill>
                <a:latin typeface="Aileron Bold"/>
              </a:rPr>
              <a:t>kısaca</a:t>
            </a:r>
            <a:r>
              <a:rPr lang="en-US" sz="1800" dirty="0">
                <a:solidFill>
                  <a:srgbClr val="FF0000"/>
                </a:solidFill>
                <a:latin typeface="Aileron Bold"/>
              </a:rPr>
              <a:t> </a:t>
            </a:r>
            <a:r>
              <a:rPr lang="en-US" sz="1800" dirty="0" err="1">
                <a:solidFill>
                  <a:srgbClr val="FF0000"/>
                </a:solidFill>
                <a:latin typeface="Aileron Bold"/>
              </a:rPr>
              <a:t>açıklanmalıdır</a:t>
            </a:r>
            <a:r>
              <a:rPr lang="en-US" sz="1800" dirty="0">
                <a:solidFill>
                  <a:srgbClr val="FF0000"/>
                </a:solidFill>
                <a:latin typeface="Aileron Bold"/>
              </a:rPr>
              <a:t>. </a:t>
            </a:r>
          </a:p>
          <a:p>
            <a:pPr marL="388622" lvl="1" indent="-194311" algn="l">
              <a:lnSpc>
                <a:spcPts val="2520"/>
              </a:lnSpc>
              <a:buFont typeface="Arial"/>
              <a:buChar char="•"/>
            </a:pPr>
            <a:r>
              <a:rPr lang="en-US" sz="1800" dirty="0" err="1">
                <a:solidFill>
                  <a:srgbClr val="FF0000"/>
                </a:solidFill>
                <a:latin typeface="Aileron Bold"/>
              </a:rPr>
              <a:t>Proje</a:t>
            </a:r>
            <a:r>
              <a:rPr lang="en-US" sz="1800" dirty="0">
                <a:solidFill>
                  <a:srgbClr val="FF0000"/>
                </a:solidFill>
                <a:latin typeface="Aileron Bold"/>
              </a:rPr>
              <a:t> </a:t>
            </a:r>
            <a:r>
              <a:rPr lang="en-US" sz="1800" dirty="0" err="1">
                <a:solidFill>
                  <a:srgbClr val="FF0000"/>
                </a:solidFill>
                <a:latin typeface="Aileron Bold"/>
              </a:rPr>
              <a:t>konusu</a:t>
            </a:r>
            <a:r>
              <a:rPr lang="en-US" sz="1800" dirty="0">
                <a:solidFill>
                  <a:srgbClr val="FF0000"/>
                </a:solidFill>
                <a:latin typeface="Aileron Bold"/>
              </a:rPr>
              <a:t>, </a:t>
            </a:r>
            <a:r>
              <a:rPr lang="en-US" sz="1800" dirty="0" err="1">
                <a:solidFill>
                  <a:srgbClr val="FF0000"/>
                </a:solidFill>
                <a:latin typeface="Aileron Bold"/>
              </a:rPr>
              <a:t>neden</a:t>
            </a:r>
            <a:r>
              <a:rPr lang="en-US" sz="1800" dirty="0">
                <a:solidFill>
                  <a:srgbClr val="FF0000"/>
                </a:solidFill>
                <a:latin typeface="Aileron Bold"/>
              </a:rPr>
              <a:t> </a:t>
            </a:r>
            <a:r>
              <a:rPr lang="en-US" sz="1800" dirty="0" err="1">
                <a:solidFill>
                  <a:srgbClr val="FF0000"/>
                </a:solidFill>
                <a:latin typeface="Aileron Bold"/>
              </a:rPr>
              <a:t>bu</a:t>
            </a:r>
            <a:r>
              <a:rPr lang="en-US" sz="1800" dirty="0">
                <a:solidFill>
                  <a:srgbClr val="FF0000"/>
                </a:solidFill>
                <a:latin typeface="Aileron Bold"/>
              </a:rPr>
              <a:t> </a:t>
            </a:r>
            <a:r>
              <a:rPr lang="en-US" sz="1800" dirty="0" err="1">
                <a:solidFill>
                  <a:srgbClr val="FF0000"/>
                </a:solidFill>
                <a:latin typeface="Aileron Bold"/>
              </a:rPr>
              <a:t>projenin</a:t>
            </a:r>
            <a:r>
              <a:rPr lang="en-US" sz="1800" dirty="0">
                <a:solidFill>
                  <a:srgbClr val="FF0000"/>
                </a:solidFill>
                <a:latin typeface="Aileron Bold"/>
              </a:rPr>
              <a:t> </a:t>
            </a:r>
            <a:r>
              <a:rPr lang="en-US" sz="1800" dirty="0" err="1">
                <a:solidFill>
                  <a:srgbClr val="FF0000"/>
                </a:solidFill>
                <a:latin typeface="Aileron Bold"/>
              </a:rPr>
              <a:t>seçildiği</a:t>
            </a:r>
            <a:r>
              <a:rPr lang="en-US" sz="1800" dirty="0">
                <a:solidFill>
                  <a:srgbClr val="FF0000"/>
                </a:solidFill>
                <a:latin typeface="Aileron Bold"/>
              </a:rPr>
              <a:t>, </a:t>
            </a:r>
            <a:r>
              <a:rPr lang="tr-TR" sz="1800" dirty="0">
                <a:solidFill>
                  <a:srgbClr val="FF0000"/>
                </a:solidFill>
                <a:latin typeface="Aileron Bold"/>
              </a:rPr>
              <a:t>özet olarak </a:t>
            </a:r>
            <a:r>
              <a:rPr lang="en-US" sz="1800" dirty="0" err="1">
                <a:solidFill>
                  <a:srgbClr val="FF0000"/>
                </a:solidFill>
                <a:latin typeface="Aileron Bold"/>
              </a:rPr>
              <a:t>proje</a:t>
            </a:r>
            <a:r>
              <a:rPr lang="en-US" sz="1800" dirty="0">
                <a:solidFill>
                  <a:srgbClr val="FF0000"/>
                </a:solidFill>
                <a:latin typeface="Aileron Bold"/>
              </a:rPr>
              <a:t> </a:t>
            </a:r>
            <a:r>
              <a:rPr lang="en-US" sz="1800" dirty="0" err="1">
                <a:solidFill>
                  <a:srgbClr val="FF0000"/>
                </a:solidFill>
                <a:latin typeface="Aileron Bold"/>
              </a:rPr>
              <a:t>amacı</a:t>
            </a:r>
            <a:r>
              <a:rPr lang="en-US" sz="1800" dirty="0">
                <a:solidFill>
                  <a:srgbClr val="FF0000"/>
                </a:solidFill>
                <a:latin typeface="Aileron Bold"/>
              </a:rPr>
              <a:t> </a:t>
            </a:r>
            <a:r>
              <a:rPr lang="en-US" sz="1800" dirty="0" err="1">
                <a:solidFill>
                  <a:srgbClr val="FF0000"/>
                </a:solidFill>
                <a:latin typeface="Aileron Bold"/>
              </a:rPr>
              <a:t>ve</a:t>
            </a:r>
            <a:r>
              <a:rPr lang="en-US" sz="1800" dirty="0">
                <a:solidFill>
                  <a:srgbClr val="FF0000"/>
                </a:solidFill>
                <a:latin typeface="Aileron Bold"/>
              </a:rPr>
              <a:t> </a:t>
            </a:r>
            <a:r>
              <a:rPr lang="en-US" sz="1800" dirty="0" err="1">
                <a:solidFill>
                  <a:srgbClr val="FF0000"/>
                </a:solidFill>
                <a:latin typeface="Aileron Bold"/>
              </a:rPr>
              <a:t>kullanılan</a:t>
            </a:r>
            <a:r>
              <a:rPr lang="en-US" sz="1800" dirty="0">
                <a:solidFill>
                  <a:srgbClr val="FF0000"/>
                </a:solidFill>
                <a:latin typeface="Aileron Bold"/>
              </a:rPr>
              <a:t> </a:t>
            </a:r>
            <a:r>
              <a:rPr lang="en-US" sz="1800" dirty="0" err="1">
                <a:solidFill>
                  <a:srgbClr val="FF0000"/>
                </a:solidFill>
                <a:latin typeface="Aileron Bold"/>
              </a:rPr>
              <a:t>yöntemden</a:t>
            </a:r>
            <a:r>
              <a:rPr lang="en-US" sz="1800" dirty="0">
                <a:solidFill>
                  <a:srgbClr val="FF0000"/>
                </a:solidFill>
                <a:latin typeface="Aileron Bold"/>
              </a:rPr>
              <a:t> </a:t>
            </a:r>
            <a:r>
              <a:rPr lang="en-US" sz="1800" dirty="0" err="1">
                <a:solidFill>
                  <a:srgbClr val="FF0000"/>
                </a:solidFill>
                <a:latin typeface="Aileron Bold"/>
              </a:rPr>
              <a:t>kısaca</a:t>
            </a:r>
            <a:r>
              <a:rPr lang="en-US" sz="1800" dirty="0">
                <a:solidFill>
                  <a:srgbClr val="FF0000"/>
                </a:solidFill>
                <a:latin typeface="Aileron Bold"/>
              </a:rPr>
              <a:t> </a:t>
            </a:r>
            <a:r>
              <a:rPr lang="en-US" sz="1800" dirty="0" err="1">
                <a:solidFill>
                  <a:srgbClr val="FF0000"/>
                </a:solidFill>
                <a:latin typeface="Aileron Bold"/>
              </a:rPr>
              <a:t>bahsedilmelidir</a:t>
            </a:r>
            <a:r>
              <a:rPr lang="en-US" sz="1800" dirty="0">
                <a:solidFill>
                  <a:srgbClr val="FF0000"/>
                </a:solidFill>
                <a:latin typeface="Aileron Bold"/>
              </a:rPr>
              <a:t>. </a:t>
            </a:r>
          </a:p>
          <a:p>
            <a:pPr marL="388622" lvl="1" indent="-194311">
              <a:lnSpc>
                <a:spcPts val="2520"/>
              </a:lnSpc>
              <a:buFont typeface="Arial"/>
              <a:buChar char="•"/>
            </a:pPr>
            <a:r>
              <a:rPr lang="en-US" sz="1800" dirty="0" err="1">
                <a:solidFill>
                  <a:srgbClr val="FF0000"/>
                </a:solidFill>
                <a:latin typeface="Aileron Bold"/>
              </a:rPr>
              <a:t>Projenizin</a:t>
            </a:r>
            <a:r>
              <a:rPr lang="en-US" sz="1800" dirty="0">
                <a:solidFill>
                  <a:srgbClr val="FF0000"/>
                </a:solidFill>
                <a:latin typeface="Aileron Bold"/>
              </a:rPr>
              <a:t>; </a:t>
            </a:r>
            <a:r>
              <a:rPr lang="tr-TR" dirty="0">
                <a:solidFill>
                  <a:srgbClr val="FF0000"/>
                </a:solidFill>
                <a:latin typeface="Aileron Bold"/>
              </a:rPr>
              <a:t>madencilikteki hangi alanın </a:t>
            </a:r>
            <a:r>
              <a:rPr lang="en-US" sz="1800" dirty="0" err="1">
                <a:solidFill>
                  <a:srgbClr val="FF0000"/>
                </a:solidFill>
                <a:latin typeface="Aileron Bold"/>
              </a:rPr>
              <a:t>kapsamına</a:t>
            </a:r>
            <a:r>
              <a:rPr lang="en-US" sz="1800" dirty="0">
                <a:solidFill>
                  <a:srgbClr val="FF0000"/>
                </a:solidFill>
                <a:latin typeface="Aileron Bold"/>
              </a:rPr>
              <a:t> </a:t>
            </a:r>
            <a:r>
              <a:rPr lang="en-US" sz="1800" dirty="0" err="1">
                <a:solidFill>
                  <a:srgbClr val="FF0000"/>
                </a:solidFill>
                <a:latin typeface="Aileron Bold"/>
              </a:rPr>
              <a:t>uygun</a:t>
            </a:r>
            <a:r>
              <a:rPr lang="tr-TR" sz="1800" dirty="0">
                <a:solidFill>
                  <a:srgbClr val="FF0000"/>
                </a:solidFill>
                <a:latin typeface="Aileron Bold"/>
              </a:rPr>
              <a:t> olduğunu ve hangi süreçlere fayda sağlayacağını</a:t>
            </a:r>
            <a:r>
              <a:rPr lang="en-US" sz="1800" dirty="0">
                <a:solidFill>
                  <a:srgbClr val="FF0000"/>
                </a:solidFill>
                <a:latin typeface="Aileron Bold"/>
              </a:rPr>
              <a:t> </a:t>
            </a:r>
            <a:r>
              <a:rPr lang="en-US" sz="1800" dirty="0" err="1">
                <a:solidFill>
                  <a:srgbClr val="FF0000"/>
                </a:solidFill>
                <a:latin typeface="Aileron Bold"/>
              </a:rPr>
              <a:t>belirtmeniz</a:t>
            </a:r>
            <a:r>
              <a:rPr lang="en-US" sz="1800" dirty="0">
                <a:solidFill>
                  <a:srgbClr val="FF0000"/>
                </a:solidFill>
                <a:latin typeface="Aileron Bold"/>
              </a:rPr>
              <a:t> </a:t>
            </a:r>
            <a:r>
              <a:rPr lang="en-US" sz="1800" dirty="0" err="1">
                <a:solidFill>
                  <a:srgbClr val="FF0000"/>
                </a:solidFill>
                <a:latin typeface="Aileron Bold"/>
              </a:rPr>
              <a:t>gerekmektedir</a:t>
            </a:r>
            <a:r>
              <a:rPr lang="en-US" sz="1800" dirty="0">
                <a:solidFill>
                  <a:srgbClr val="FF0000"/>
                </a:solidFill>
                <a:latin typeface="Aileron Bold"/>
              </a:rPr>
              <a:t>.</a:t>
            </a:r>
            <a:endParaRPr lang="tr-TR" sz="1800" dirty="0">
              <a:solidFill>
                <a:srgbClr val="FF0000"/>
              </a:solidFill>
              <a:latin typeface="Aileron Bold"/>
            </a:endParaRPr>
          </a:p>
          <a:p>
            <a:pPr marL="194311" lvl="1" algn="l">
              <a:lnSpc>
                <a:spcPts val="2520"/>
              </a:lnSpc>
            </a:pPr>
            <a:endParaRPr lang="tr-TR" sz="1800" dirty="0">
              <a:solidFill>
                <a:srgbClr val="FF0000"/>
              </a:solidFill>
              <a:latin typeface="Aileron Bold"/>
            </a:endParaRPr>
          </a:p>
          <a:p>
            <a:pPr marL="388622" lvl="1" indent="-194311" algn="l">
              <a:lnSpc>
                <a:spcPts val="2520"/>
              </a:lnSpc>
              <a:buFont typeface="Arial"/>
              <a:buChar char="•"/>
            </a:pPr>
            <a:endParaRPr lang="tr-TR" dirty="0">
              <a:solidFill>
                <a:srgbClr val="FF0000"/>
              </a:solidFill>
              <a:latin typeface="Aileron Bold"/>
            </a:endParaRPr>
          </a:p>
          <a:p>
            <a:pPr marL="194311" lvl="1">
              <a:lnSpc>
                <a:spcPts val="2520"/>
              </a:lnSpc>
            </a:pPr>
            <a:r>
              <a:rPr lang="tr-TR" dirty="0">
                <a:solidFill>
                  <a:srgbClr val="FF0000"/>
                </a:solidFill>
                <a:latin typeface="Aileron Bold"/>
              </a:rPr>
              <a:t>Sayfada görsellerden (tablolar, akış diyagramı , infografik vb.) yararlanabilirsiniz.</a:t>
            </a:r>
            <a:endParaRPr lang="en-US" sz="1800" dirty="0">
              <a:solidFill>
                <a:srgbClr val="FF0000"/>
              </a:solidFill>
              <a:latin typeface="Aileron Bold"/>
            </a:endParaRPr>
          </a:p>
          <a:p>
            <a:pPr marL="194311" lvl="1" algn="l">
              <a:lnSpc>
                <a:spcPts val="2520"/>
              </a:lnSpc>
            </a:pPr>
            <a:endParaRPr lang="en-US" sz="1800" dirty="0">
              <a:solidFill>
                <a:srgbClr val="DE2223"/>
              </a:solidFill>
              <a:latin typeface="Aileron Bold"/>
            </a:endParaRPr>
          </a:p>
          <a:p>
            <a:pPr algn="l">
              <a:lnSpc>
                <a:spcPts val="2520"/>
              </a:lnSpc>
            </a:pPr>
            <a:endParaRPr lang="en-US" sz="1800" dirty="0">
              <a:solidFill>
                <a:srgbClr val="DE2223"/>
              </a:solidFill>
              <a:latin typeface="Aileron Bold"/>
            </a:endParaRPr>
          </a:p>
        </p:txBody>
      </p:sp>
      <p:sp>
        <p:nvSpPr>
          <p:cNvPr id="79" name="AutoShape 20">
            <a:extLst>
              <a:ext uri="{FF2B5EF4-FFF2-40B4-BE49-F238E27FC236}">
                <a16:creationId xmlns:a16="http://schemas.microsoft.com/office/drawing/2014/main" id="{EFB1D752-8840-46E1-EC3C-DF53C2CCF0D6}"/>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80" name="TextBox 34">
            <a:extLst>
              <a:ext uri="{FF2B5EF4-FFF2-40B4-BE49-F238E27FC236}">
                <a16:creationId xmlns:a16="http://schemas.microsoft.com/office/drawing/2014/main" id="{74B0D44D-6FB6-35E2-8BD2-1FB3DC88FC31}"/>
              </a:ext>
            </a:extLst>
          </p:cNvPr>
          <p:cNvSpPr txBox="1"/>
          <p:nvPr/>
        </p:nvSpPr>
        <p:spPr>
          <a:xfrm>
            <a:off x="15217854" y="4610100"/>
            <a:ext cx="223703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81" name="TextBox 35">
            <a:extLst>
              <a:ext uri="{FF2B5EF4-FFF2-40B4-BE49-F238E27FC236}">
                <a16:creationId xmlns:a16="http://schemas.microsoft.com/office/drawing/2014/main" id="{60E83FEE-7DC4-61D0-F93A-55667754135E}"/>
              </a:ext>
            </a:extLst>
          </p:cNvPr>
          <p:cNvSpPr txBox="1"/>
          <p:nvPr/>
        </p:nvSpPr>
        <p:spPr>
          <a:xfrm>
            <a:off x="15762030" y="3405481"/>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82" name="TextBox 38">
            <a:extLst>
              <a:ext uri="{FF2B5EF4-FFF2-40B4-BE49-F238E27FC236}">
                <a16:creationId xmlns:a16="http://schemas.microsoft.com/office/drawing/2014/main" id="{57081EBE-F485-F03C-E331-08025BC79427}"/>
              </a:ext>
            </a:extLst>
          </p:cNvPr>
          <p:cNvSpPr txBox="1"/>
          <p:nvPr/>
        </p:nvSpPr>
        <p:spPr>
          <a:xfrm>
            <a:off x="15986302" y="7353300"/>
            <a:ext cx="1436949"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83" name="TextBox 39">
            <a:extLst>
              <a:ext uri="{FF2B5EF4-FFF2-40B4-BE49-F238E27FC236}">
                <a16:creationId xmlns:a16="http://schemas.microsoft.com/office/drawing/2014/main" id="{0C4328BF-49F3-12B0-0A52-929930EDEA2A}"/>
              </a:ext>
            </a:extLst>
          </p:cNvPr>
          <p:cNvSpPr txBox="1"/>
          <p:nvPr/>
        </p:nvSpPr>
        <p:spPr>
          <a:xfrm>
            <a:off x="15217854" y="5372100"/>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84" name="TextBox 38">
            <a:extLst>
              <a:ext uri="{FF2B5EF4-FFF2-40B4-BE49-F238E27FC236}">
                <a16:creationId xmlns:a16="http://schemas.microsoft.com/office/drawing/2014/main" id="{0A0B64F3-9044-E5C4-7496-ADFEAC957659}"/>
              </a:ext>
            </a:extLst>
          </p:cNvPr>
          <p:cNvSpPr txBox="1"/>
          <p:nvPr/>
        </p:nvSpPr>
        <p:spPr>
          <a:xfrm>
            <a:off x="15745664" y="6896100"/>
            <a:ext cx="1693723"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HEDEF ALAN</a:t>
            </a:r>
            <a:endParaRPr lang="en-US" sz="1550" dirty="0">
              <a:solidFill>
                <a:srgbClr val="1C4C61"/>
              </a:solidFill>
              <a:latin typeface="Aileron Bold"/>
            </a:endParaRPr>
          </a:p>
        </p:txBody>
      </p:sp>
      <p:sp>
        <p:nvSpPr>
          <p:cNvPr id="85" name="TextBox 39">
            <a:extLst>
              <a:ext uri="{FF2B5EF4-FFF2-40B4-BE49-F238E27FC236}">
                <a16:creationId xmlns:a16="http://schemas.microsoft.com/office/drawing/2014/main" id="{9E0E646F-EB8D-BBF8-390C-74308AFC015F}"/>
              </a:ext>
            </a:extLst>
          </p:cNvPr>
          <p:cNvSpPr txBox="1"/>
          <p:nvPr/>
        </p:nvSpPr>
        <p:spPr>
          <a:xfrm>
            <a:off x="15668804" y="6134100"/>
            <a:ext cx="172418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87" name="Freeform 21">
            <a:extLst>
              <a:ext uri="{FF2B5EF4-FFF2-40B4-BE49-F238E27FC236}">
                <a16:creationId xmlns:a16="http://schemas.microsoft.com/office/drawing/2014/main" id="{5FF9F2FE-B8CB-AD15-C3BE-8E7A23FE1011}"/>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88" name="Freeform 21">
            <a:extLst>
              <a:ext uri="{FF2B5EF4-FFF2-40B4-BE49-F238E27FC236}">
                <a16:creationId xmlns:a16="http://schemas.microsoft.com/office/drawing/2014/main" id="{9332499B-55CB-5E0A-A3F2-EFBDD7897CE6}"/>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89" name="Freeform 21">
            <a:extLst>
              <a:ext uri="{FF2B5EF4-FFF2-40B4-BE49-F238E27FC236}">
                <a16:creationId xmlns:a16="http://schemas.microsoft.com/office/drawing/2014/main" id="{D771D0F5-741E-9D13-A6AF-F8B09390C1B3}"/>
              </a:ext>
            </a:extLst>
          </p:cNvPr>
          <p:cNvSpPr/>
          <p:nvPr/>
        </p:nvSpPr>
        <p:spPr>
          <a:xfrm>
            <a:off x="17528868" y="4000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0" name="Freeform 21">
            <a:extLst>
              <a:ext uri="{FF2B5EF4-FFF2-40B4-BE49-F238E27FC236}">
                <a16:creationId xmlns:a16="http://schemas.microsoft.com/office/drawing/2014/main" id="{D0599535-A48E-3E99-A497-116C6E1C11E2}"/>
              </a:ext>
            </a:extLst>
          </p:cNvPr>
          <p:cNvSpPr/>
          <p:nvPr/>
        </p:nvSpPr>
        <p:spPr>
          <a:xfrm>
            <a:off x="17537349" y="4686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1" name="Freeform 21">
            <a:extLst>
              <a:ext uri="{FF2B5EF4-FFF2-40B4-BE49-F238E27FC236}">
                <a16:creationId xmlns:a16="http://schemas.microsoft.com/office/drawing/2014/main" id="{7EE6F8A4-FE52-BADD-B25D-1B82B0E663D9}"/>
              </a:ext>
            </a:extLst>
          </p:cNvPr>
          <p:cNvSpPr/>
          <p:nvPr/>
        </p:nvSpPr>
        <p:spPr>
          <a:xfrm>
            <a:off x="17531608" y="5448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2" name="Freeform 21">
            <a:extLst>
              <a:ext uri="{FF2B5EF4-FFF2-40B4-BE49-F238E27FC236}">
                <a16:creationId xmlns:a16="http://schemas.microsoft.com/office/drawing/2014/main" id="{DBAE3693-F2CF-3FCA-5AE4-07F614744E72}"/>
              </a:ext>
            </a:extLst>
          </p:cNvPr>
          <p:cNvSpPr/>
          <p:nvPr/>
        </p:nvSpPr>
        <p:spPr>
          <a:xfrm>
            <a:off x="17516246" y="6210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3" name="Freeform 21">
            <a:extLst>
              <a:ext uri="{FF2B5EF4-FFF2-40B4-BE49-F238E27FC236}">
                <a16:creationId xmlns:a16="http://schemas.microsoft.com/office/drawing/2014/main" id="{EEF90553-1C0D-A73F-E2F4-CFC67AA9F448}"/>
              </a:ext>
            </a:extLst>
          </p:cNvPr>
          <p:cNvSpPr/>
          <p:nvPr/>
        </p:nvSpPr>
        <p:spPr>
          <a:xfrm>
            <a:off x="17516247" y="68199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4" name="Freeform 21">
            <a:extLst>
              <a:ext uri="{FF2B5EF4-FFF2-40B4-BE49-F238E27FC236}">
                <a16:creationId xmlns:a16="http://schemas.microsoft.com/office/drawing/2014/main" id="{01132C54-AE9A-CEC6-9499-F639F4D5E01C}"/>
              </a:ext>
            </a:extLst>
          </p:cNvPr>
          <p:cNvSpPr/>
          <p:nvPr/>
        </p:nvSpPr>
        <p:spPr>
          <a:xfrm>
            <a:off x="17530931" y="7429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5" name="TextBox 34">
            <a:extLst>
              <a:ext uri="{FF2B5EF4-FFF2-40B4-BE49-F238E27FC236}">
                <a16:creationId xmlns:a16="http://schemas.microsoft.com/office/drawing/2014/main" id="{93DC0CE7-2FE3-202F-613F-0D200B3AD616}"/>
              </a:ext>
            </a:extLst>
          </p:cNvPr>
          <p:cNvSpPr txBox="1"/>
          <p:nvPr/>
        </p:nvSpPr>
        <p:spPr>
          <a:xfrm>
            <a:off x="15521473" y="2673548"/>
            <a:ext cx="1928327"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PROBLEMİN TANIMI </a:t>
            </a:r>
            <a:endParaRPr lang="en-US" sz="1550" dirty="0">
              <a:solidFill>
                <a:srgbClr val="1C4C61"/>
              </a:solidFill>
              <a:latin typeface="Aileron Bold"/>
            </a:endParaRPr>
          </a:p>
        </p:txBody>
      </p:sp>
      <p:sp>
        <p:nvSpPr>
          <p:cNvPr id="96" name="Freeform 97">
            <a:extLst>
              <a:ext uri="{FF2B5EF4-FFF2-40B4-BE49-F238E27FC236}">
                <a16:creationId xmlns:a16="http://schemas.microsoft.com/office/drawing/2014/main" id="{130E0FE9-0275-A1F7-301D-A82EFA6EBA6C}"/>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7" name="Freeform 21">
            <a:extLst>
              <a:ext uri="{FF2B5EF4-FFF2-40B4-BE49-F238E27FC236}">
                <a16:creationId xmlns:a16="http://schemas.microsoft.com/office/drawing/2014/main" id="{C935C230-5E60-2549-8669-61D6E9B4B0A3}"/>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98" name="TextBox 40">
            <a:extLst>
              <a:ext uri="{FF2B5EF4-FFF2-40B4-BE49-F238E27FC236}">
                <a16:creationId xmlns:a16="http://schemas.microsoft.com/office/drawing/2014/main" id="{5BE54CE3-8C8C-1C03-CB83-7748B4C165CB}"/>
              </a:ext>
            </a:extLst>
          </p:cNvPr>
          <p:cNvSpPr txBox="1"/>
          <p:nvPr/>
        </p:nvSpPr>
        <p:spPr>
          <a:xfrm>
            <a:off x="15752068" y="1860857"/>
            <a:ext cx="1697732" cy="539443"/>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99" name="Freeform 97">
            <a:extLst>
              <a:ext uri="{FF2B5EF4-FFF2-40B4-BE49-F238E27FC236}">
                <a16:creationId xmlns:a16="http://schemas.microsoft.com/office/drawing/2014/main" id="{E491C213-7B6D-D415-046F-7C7DD2CF5FA5}"/>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100" name="TextBox 35">
            <a:extLst>
              <a:ext uri="{FF2B5EF4-FFF2-40B4-BE49-F238E27FC236}">
                <a16:creationId xmlns:a16="http://schemas.microsoft.com/office/drawing/2014/main" id="{A88259FC-6DAF-1D71-9A77-08246CDCF554}"/>
              </a:ext>
            </a:extLst>
          </p:cNvPr>
          <p:cNvSpPr txBox="1"/>
          <p:nvPr/>
        </p:nvSpPr>
        <p:spPr>
          <a:xfrm>
            <a:off x="15788811" y="4076700"/>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101" name="Freeform 21">
            <a:extLst>
              <a:ext uri="{FF2B5EF4-FFF2-40B4-BE49-F238E27FC236}">
                <a16:creationId xmlns:a16="http://schemas.microsoft.com/office/drawing/2014/main" id="{3F2B6E17-384B-9D81-2C00-8A2C080A457D}"/>
              </a:ext>
            </a:extLst>
          </p:cNvPr>
          <p:cNvSpPr/>
          <p:nvPr/>
        </p:nvSpPr>
        <p:spPr>
          <a:xfrm>
            <a:off x="17544109" y="810983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02" name="TextBox 38">
            <a:extLst>
              <a:ext uri="{FF2B5EF4-FFF2-40B4-BE49-F238E27FC236}">
                <a16:creationId xmlns:a16="http://schemas.microsoft.com/office/drawing/2014/main" id="{CE77CCFF-44EE-B8D0-841D-94D25449E106}"/>
              </a:ext>
            </a:extLst>
          </p:cNvPr>
          <p:cNvSpPr txBox="1"/>
          <p:nvPr/>
        </p:nvSpPr>
        <p:spPr>
          <a:xfrm>
            <a:off x="16004968" y="8161599"/>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Tree>
    <p:extLst>
      <p:ext uri="{BB962C8B-B14F-4D97-AF65-F5344CB8AC3E}">
        <p14:creationId xmlns:p14="http://schemas.microsoft.com/office/powerpoint/2010/main" val="732744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81B2F09-561F-89B8-2ACF-1837262E8FB9}"/>
            </a:ext>
          </a:extLst>
        </p:cNvPr>
        <p:cNvGrpSpPr/>
        <p:nvPr/>
      </p:nvGrpSpPr>
      <p:grpSpPr>
        <a:xfrm>
          <a:off x="0" y="0"/>
          <a:ext cx="0" cy="0"/>
          <a:chOff x="0" y="0"/>
          <a:chExt cx="0" cy="0"/>
        </a:xfrm>
      </p:grpSpPr>
      <p:sp>
        <p:nvSpPr>
          <p:cNvPr id="2" name="TextBox 114">
            <a:extLst>
              <a:ext uri="{FF2B5EF4-FFF2-40B4-BE49-F238E27FC236}">
                <a16:creationId xmlns:a16="http://schemas.microsoft.com/office/drawing/2014/main" id="{32DB922F-BA10-C8B4-7509-827761E5EF8A}"/>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
        <p:nvSpPr>
          <p:cNvPr id="3" name="TextBox 12">
            <a:extLst>
              <a:ext uri="{FF2B5EF4-FFF2-40B4-BE49-F238E27FC236}">
                <a16:creationId xmlns:a16="http://schemas.microsoft.com/office/drawing/2014/main" id="{7BA056D2-62E9-4BDA-62CF-6D7A662A8139}"/>
              </a:ext>
            </a:extLst>
          </p:cNvPr>
          <p:cNvSpPr txBox="1">
            <a:spLocks/>
          </p:cNvSpPr>
          <p:nvPr/>
        </p:nvSpPr>
        <p:spPr>
          <a:xfrm>
            <a:off x="4437994" y="266700"/>
            <a:ext cx="9412011"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PROBLEMİN TANIMI</a:t>
            </a:r>
          </a:p>
        </p:txBody>
      </p:sp>
      <p:sp>
        <p:nvSpPr>
          <p:cNvPr id="36" name="TextBox 50">
            <a:extLst>
              <a:ext uri="{FF2B5EF4-FFF2-40B4-BE49-F238E27FC236}">
                <a16:creationId xmlns:a16="http://schemas.microsoft.com/office/drawing/2014/main" id="{55538C35-E5DC-9DE3-76F1-3A84DA2F1AFF}"/>
              </a:ext>
            </a:extLst>
          </p:cNvPr>
          <p:cNvSpPr txBox="1"/>
          <p:nvPr/>
        </p:nvSpPr>
        <p:spPr>
          <a:xfrm>
            <a:off x="1219200" y="1657100"/>
            <a:ext cx="12841011" cy="5448799"/>
          </a:xfrm>
          <a:prstGeom prst="rect">
            <a:avLst/>
          </a:prstGeom>
        </p:spPr>
        <p:txBody>
          <a:bodyPr lIns="0" tIns="0" rIns="0" bIns="0" rtlCol="0" anchor="t">
            <a:spAutoFit/>
          </a:bodyPr>
          <a:lstStyle/>
          <a:p>
            <a:pPr>
              <a:lnSpc>
                <a:spcPts val="2880"/>
              </a:lnSpc>
            </a:pPr>
            <a:endParaRPr lang="tr-TR" dirty="0"/>
          </a:p>
          <a:p>
            <a:pPr marL="388620" lvl="1" indent="-194310">
              <a:lnSpc>
                <a:spcPts val="2880"/>
              </a:lnSpc>
              <a:buFont typeface="Arial"/>
              <a:buChar char="•"/>
            </a:pPr>
            <a:r>
              <a:rPr lang="tr-TR" dirty="0">
                <a:solidFill>
                  <a:srgbClr val="FF0000"/>
                </a:solidFill>
                <a:latin typeface="Aileron Bold"/>
              </a:rPr>
              <a:t>Problemin ele alındığı sayfadır.</a:t>
            </a:r>
          </a:p>
          <a:p>
            <a:pPr marL="388620" lvl="1" indent="-194310">
              <a:lnSpc>
                <a:spcPts val="2880"/>
              </a:lnSpc>
              <a:buFont typeface="Arial"/>
              <a:buChar char="•"/>
            </a:pPr>
            <a:r>
              <a:rPr lang="tr-TR" dirty="0">
                <a:solidFill>
                  <a:srgbClr val="FF0000"/>
                </a:solidFill>
                <a:latin typeface="Aileron Bold"/>
              </a:rPr>
              <a:t>Problemin tanımı </a:t>
            </a:r>
            <a:r>
              <a:rPr lang="tr-TR" u="sng" dirty="0">
                <a:solidFill>
                  <a:srgbClr val="FF0000"/>
                </a:solidFill>
                <a:latin typeface="Aileron Bold Italics"/>
              </a:rPr>
              <a:t>en  fazla iki </a:t>
            </a:r>
            <a:r>
              <a:rPr lang="tr-TR" dirty="0">
                <a:solidFill>
                  <a:srgbClr val="FF0000"/>
                </a:solidFill>
                <a:latin typeface="Aileron Bold"/>
              </a:rPr>
              <a:t>(2) sayfada açıklanmalıdır. </a:t>
            </a:r>
            <a:r>
              <a:rPr lang="tr-TR" u="sng" dirty="0">
                <a:solidFill>
                  <a:srgbClr val="FF0000"/>
                </a:solidFill>
                <a:latin typeface="Aileron Bold"/>
              </a:rPr>
              <a:t>Sayfa sınırı </a:t>
            </a:r>
            <a:r>
              <a:rPr lang="tr-TR" dirty="0">
                <a:solidFill>
                  <a:srgbClr val="FF0000"/>
                </a:solidFill>
                <a:latin typeface="Aileron Bold"/>
              </a:rPr>
              <a:t>aşılmamalıdır. İsteyen takımlar bir (1) sayfada anlatabilir.</a:t>
            </a:r>
          </a:p>
          <a:p>
            <a:pPr marL="388620" lvl="1" indent="-194310">
              <a:lnSpc>
                <a:spcPts val="2880"/>
              </a:lnSpc>
              <a:buFont typeface="Arial"/>
              <a:buChar char="•"/>
            </a:pPr>
            <a:r>
              <a:rPr lang="tr-TR" dirty="0">
                <a:solidFill>
                  <a:srgbClr val="FF0000"/>
                </a:solidFill>
                <a:latin typeface="Aileron Bold"/>
              </a:rPr>
              <a:t>Literatür taraması yapılmalıdır.</a:t>
            </a:r>
          </a:p>
          <a:p>
            <a:pPr marL="388620" lvl="1" indent="-194310">
              <a:lnSpc>
                <a:spcPts val="2880"/>
              </a:lnSpc>
              <a:buFont typeface="Arial"/>
              <a:buChar char="•"/>
            </a:pPr>
            <a:r>
              <a:rPr lang="tr-TR" dirty="0">
                <a:solidFill>
                  <a:srgbClr val="FF0000"/>
                </a:solidFill>
                <a:latin typeface="Aileron Bold"/>
              </a:rPr>
              <a:t>Mevcut durum nedir ve bu durumda karşılaşılan problemler nelerdir. Probleme dair literatür araştırması/taraması ile desteklenerek açıklanmalıdır. Problem tanımı; süreci aksatan, yavaşlatan veya zorlaştıran bir uygulama hakkında olabileceği gibi halihazırda düzgün işleyen bir uygulamanın geliştirilmesine yönelik de olabilir.</a:t>
            </a:r>
          </a:p>
          <a:p>
            <a:pPr marL="394056" lvl="1" indent="-197028">
              <a:lnSpc>
                <a:spcPts val="2555"/>
              </a:lnSpc>
              <a:buFont typeface="Arial"/>
              <a:buChar char="•"/>
            </a:pPr>
            <a:r>
              <a:rPr lang="tr-TR" dirty="0">
                <a:solidFill>
                  <a:srgbClr val="FF0000"/>
                </a:solidFill>
                <a:latin typeface="Aileron Bold"/>
              </a:rPr>
              <a:t>Literatür taraması sonucu ilgili proje konusunda daha önce yapılmış olan çalışmalardan bahsedilmelidir.</a:t>
            </a:r>
          </a:p>
          <a:p>
            <a:pPr marL="388620" lvl="1" indent="-194310">
              <a:lnSpc>
                <a:spcPts val="2880"/>
              </a:lnSpc>
              <a:buFont typeface="Arial"/>
              <a:buChar char="•"/>
            </a:pPr>
            <a:endParaRPr lang="tr-TR" dirty="0">
              <a:solidFill>
                <a:srgbClr val="FF0000"/>
              </a:solidFill>
              <a:latin typeface="Aileron Bold"/>
            </a:endParaRPr>
          </a:p>
          <a:p>
            <a:pPr marL="388620" lvl="1" indent="-194310">
              <a:lnSpc>
                <a:spcPts val="2880"/>
              </a:lnSpc>
              <a:buFont typeface="Arial"/>
              <a:buChar char="•"/>
            </a:pPr>
            <a:endParaRPr lang="tr-TR" dirty="0">
              <a:solidFill>
                <a:srgbClr val="FF0000"/>
              </a:solidFill>
              <a:latin typeface="Aileron Bold"/>
            </a:endParaRPr>
          </a:p>
          <a:p>
            <a:pPr marL="194311" lvl="1">
              <a:lnSpc>
                <a:spcPts val="2520"/>
              </a:lnSpc>
            </a:pPr>
            <a:r>
              <a:rPr lang="tr-TR" dirty="0">
                <a:solidFill>
                  <a:srgbClr val="FF0000"/>
                </a:solidFill>
                <a:latin typeface="Aileron Bold"/>
              </a:rPr>
              <a:t>Sayfalarda görsellerden (tablolar, akış diyagramı , infografik vb.) yararlanabilirsiniz.</a:t>
            </a:r>
          </a:p>
          <a:p>
            <a:pPr marL="194310" lvl="1">
              <a:lnSpc>
                <a:spcPts val="2880"/>
              </a:lnSpc>
            </a:pPr>
            <a:endParaRPr lang="tr-TR" dirty="0">
              <a:solidFill>
                <a:srgbClr val="DE2223"/>
              </a:solidFill>
              <a:latin typeface="Aileron Bold"/>
            </a:endParaRPr>
          </a:p>
          <a:p>
            <a:pPr>
              <a:lnSpc>
                <a:spcPts val="2880"/>
              </a:lnSpc>
            </a:pPr>
            <a:endParaRPr lang="tr-TR" dirty="0">
              <a:solidFill>
                <a:srgbClr val="DE2223"/>
              </a:solidFill>
              <a:latin typeface="Aileron Bold"/>
            </a:endParaRPr>
          </a:p>
          <a:p>
            <a:pPr>
              <a:lnSpc>
                <a:spcPts val="2880"/>
              </a:lnSpc>
            </a:pPr>
            <a:endParaRPr lang="tr-TR" dirty="0">
              <a:solidFill>
                <a:srgbClr val="DE2223"/>
              </a:solidFill>
              <a:latin typeface="Aileron Bold"/>
            </a:endParaRPr>
          </a:p>
        </p:txBody>
      </p:sp>
      <p:sp>
        <p:nvSpPr>
          <p:cNvPr id="4" name="AutoShape 20">
            <a:extLst>
              <a:ext uri="{FF2B5EF4-FFF2-40B4-BE49-F238E27FC236}">
                <a16:creationId xmlns:a16="http://schemas.microsoft.com/office/drawing/2014/main" id="{D5D6634B-DEEF-B2CF-25D5-0413EA5324FE}"/>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5A7872DA-E001-06E4-E0FE-599EC809E512}"/>
              </a:ext>
            </a:extLst>
          </p:cNvPr>
          <p:cNvSpPr txBox="1"/>
          <p:nvPr/>
        </p:nvSpPr>
        <p:spPr>
          <a:xfrm>
            <a:off x="15217854" y="4610100"/>
            <a:ext cx="223703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C2824E38-2056-7BF3-5237-C562DF472054}"/>
              </a:ext>
            </a:extLst>
          </p:cNvPr>
          <p:cNvSpPr txBox="1"/>
          <p:nvPr/>
        </p:nvSpPr>
        <p:spPr>
          <a:xfrm>
            <a:off x="15762030" y="3405481"/>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B4349927-11C2-7394-16DF-5600EA935125}"/>
              </a:ext>
            </a:extLst>
          </p:cNvPr>
          <p:cNvSpPr txBox="1"/>
          <p:nvPr/>
        </p:nvSpPr>
        <p:spPr>
          <a:xfrm>
            <a:off x="15986302" y="7353300"/>
            <a:ext cx="1436949"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C9CEDD0D-97AE-DAE6-D759-D59FEE98650D}"/>
              </a:ext>
            </a:extLst>
          </p:cNvPr>
          <p:cNvSpPr txBox="1"/>
          <p:nvPr/>
        </p:nvSpPr>
        <p:spPr>
          <a:xfrm>
            <a:off x="15217854" y="5372100"/>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9" name="TextBox 38">
            <a:extLst>
              <a:ext uri="{FF2B5EF4-FFF2-40B4-BE49-F238E27FC236}">
                <a16:creationId xmlns:a16="http://schemas.microsoft.com/office/drawing/2014/main" id="{85EDBDE3-B929-84E7-3717-D42062111788}"/>
              </a:ext>
            </a:extLst>
          </p:cNvPr>
          <p:cNvSpPr txBox="1"/>
          <p:nvPr/>
        </p:nvSpPr>
        <p:spPr>
          <a:xfrm>
            <a:off x="15745664" y="6896100"/>
            <a:ext cx="1693723"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HEDEF ALAN</a:t>
            </a:r>
            <a:endParaRPr lang="en-US" sz="1550" dirty="0">
              <a:solidFill>
                <a:srgbClr val="1C4C61"/>
              </a:solidFill>
              <a:latin typeface="Aileron Bold"/>
            </a:endParaRPr>
          </a:p>
        </p:txBody>
      </p:sp>
      <p:sp>
        <p:nvSpPr>
          <p:cNvPr id="10" name="TextBox 39">
            <a:extLst>
              <a:ext uri="{FF2B5EF4-FFF2-40B4-BE49-F238E27FC236}">
                <a16:creationId xmlns:a16="http://schemas.microsoft.com/office/drawing/2014/main" id="{D82D2259-7685-A34C-E7C4-326C370F8590}"/>
              </a:ext>
            </a:extLst>
          </p:cNvPr>
          <p:cNvSpPr txBox="1"/>
          <p:nvPr/>
        </p:nvSpPr>
        <p:spPr>
          <a:xfrm>
            <a:off x="15668804" y="6134100"/>
            <a:ext cx="172418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11" name="Freeform 21">
            <a:extLst>
              <a:ext uri="{FF2B5EF4-FFF2-40B4-BE49-F238E27FC236}">
                <a16:creationId xmlns:a16="http://schemas.microsoft.com/office/drawing/2014/main" id="{F8C61A5F-A16B-91BE-42CB-0B5D906953CB}"/>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Freeform 21">
            <a:extLst>
              <a:ext uri="{FF2B5EF4-FFF2-40B4-BE49-F238E27FC236}">
                <a16:creationId xmlns:a16="http://schemas.microsoft.com/office/drawing/2014/main" id="{68EF32D2-E15C-BFC8-603F-16BF8A3A6BC0}"/>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0A435940-537E-2BBD-5677-93BBD605CF5C}"/>
              </a:ext>
            </a:extLst>
          </p:cNvPr>
          <p:cNvSpPr/>
          <p:nvPr/>
        </p:nvSpPr>
        <p:spPr>
          <a:xfrm>
            <a:off x="17528868" y="4000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F6CC76F2-B07F-5A3A-9DF2-207E71A6C58B}"/>
              </a:ext>
            </a:extLst>
          </p:cNvPr>
          <p:cNvSpPr/>
          <p:nvPr/>
        </p:nvSpPr>
        <p:spPr>
          <a:xfrm>
            <a:off x="17537349" y="4686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33534DEC-F0D0-2002-64A1-E4A300075A81}"/>
              </a:ext>
            </a:extLst>
          </p:cNvPr>
          <p:cNvSpPr/>
          <p:nvPr/>
        </p:nvSpPr>
        <p:spPr>
          <a:xfrm>
            <a:off x="17531608" y="5448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8D64830C-AF00-1CF7-9BD7-AE2C102489D7}"/>
              </a:ext>
            </a:extLst>
          </p:cNvPr>
          <p:cNvSpPr/>
          <p:nvPr/>
        </p:nvSpPr>
        <p:spPr>
          <a:xfrm>
            <a:off x="17516246" y="6210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AD5D7B48-FDD9-B2F9-AF8A-D3C8AE10805A}"/>
              </a:ext>
            </a:extLst>
          </p:cNvPr>
          <p:cNvSpPr/>
          <p:nvPr/>
        </p:nvSpPr>
        <p:spPr>
          <a:xfrm>
            <a:off x="17516247" y="68199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9FCA6E24-6717-B3B4-85D0-EAAF9DAA5ED3}"/>
              </a:ext>
            </a:extLst>
          </p:cNvPr>
          <p:cNvSpPr/>
          <p:nvPr/>
        </p:nvSpPr>
        <p:spPr>
          <a:xfrm>
            <a:off x="17530931" y="7429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00BB4594-2CFB-FCAF-FD08-2CF0DFAB71EA}"/>
              </a:ext>
            </a:extLst>
          </p:cNvPr>
          <p:cNvSpPr txBox="1"/>
          <p:nvPr/>
        </p:nvSpPr>
        <p:spPr>
          <a:xfrm>
            <a:off x="15521473" y="2673548"/>
            <a:ext cx="1928327" cy="257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PROBLEMİN TANIMI </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FF1F72B4-93A4-A894-57D5-2C176FFF3581}"/>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232EF4B3-EE05-9E3C-980E-8757FD39D612}"/>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03818495-314E-FFB7-C61F-61D3A9DB4BFC}"/>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96DAAE38-C1D0-AE17-3EB3-CE693234B607}"/>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4" name="TextBox 35">
            <a:extLst>
              <a:ext uri="{FF2B5EF4-FFF2-40B4-BE49-F238E27FC236}">
                <a16:creationId xmlns:a16="http://schemas.microsoft.com/office/drawing/2014/main" id="{F88B0393-0DB4-9811-314A-1F776591AD22}"/>
              </a:ext>
            </a:extLst>
          </p:cNvPr>
          <p:cNvSpPr txBox="1"/>
          <p:nvPr/>
        </p:nvSpPr>
        <p:spPr>
          <a:xfrm>
            <a:off x="15788811" y="4076700"/>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5" name="Freeform 21">
            <a:extLst>
              <a:ext uri="{FF2B5EF4-FFF2-40B4-BE49-F238E27FC236}">
                <a16:creationId xmlns:a16="http://schemas.microsoft.com/office/drawing/2014/main" id="{E1FAC9FF-99F2-D3AF-3757-23F6FE50BE7B}"/>
              </a:ext>
            </a:extLst>
          </p:cNvPr>
          <p:cNvSpPr/>
          <p:nvPr/>
        </p:nvSpPr>
        <p:spPr>
          <a:xfrm>
            <a:off x="17544109" y="810983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6" name="TextBox 38">
            <a:extLst>
              <a:ext uri="{FF2B5EF4-FFF2-40B4-BE49-F238E27FC236}">
                <a16:creationId xmlns:a16="http://schemas.microsoft.com/office/drawing/2014/main" id="{F8901DBD-83B9-122A-5847-8DAFB3C554C5}"/>
              </a:ext>
            </a:extLst>
          </p:cNvPr>
          <p:cNvSpPr txBox="1"/>
          <p:nvPr/>
        </p:nvSpPr>
        <p:spPr>
          <a:xfrm>
            <a:off x="16004968" y="8161599"/>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Tree>
    <p:extLst>
      <p:ext uri="{BB962C8B-B14F-4D97-AF65-F5344CB8AC3E}">
        <p14:creationId xmlns:p14="http://schemas.microsoft.com/office/powerpoint/2010/main" val="1956731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EC4226C-1973-65DF-C39B-7CBEE94CE7E2}"/>
            </a:ext>
          </a:extLst>
        </p:cNvPr>
        <p:cNvGrpSpPr/>
        <p:nvPr/>
      </p:nvGrpSpPr>
      <p:grpSpPr>
        <a:xfrm>
          <a:off x="0" y="0"/>
          <a:ext cx="0" cy="0"/>
          <a:chOff x="0" y="0"/>
          <a:chExt cx="0" cy="0"/>
        </a:xfrm>
      </p:grpSpPr>
      <p:sp>
        <p:nvSpPr>
          <p:cNvPr id="2" name="TextBox 114">
            <a:extLst>
              <a:ext uri="{FF2B5EF4-FFF2-40B4-BE49-F238E27FC236}">
                <a16:creationId xmlns:a16="http://schemas.microsoft.com/office/drawing/2014/main" id="{661408CF-F7DF-9716-DD67-908121BEFF87}"/>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
        <p:nvSpPr>
          <p:cNvPr id="3" name="TextBox 12">
            <a:extLst>
              <a:ext uri="{FF2B5EF4-FFF2-40B4-BE49-F238E27FC236}">
                <a16:creationId xmlns:a16="http://schemas.microsoft.com/office/drawing/2014/main" id="{F6DABE6D-AA24-428D-2051-23FB170BDD32}"/>
              </a:ext>
            </a:extLst>
          </p:cNvPr>
          <p:cNvSpPr txBox="1">
            <a:spLocks/>
          </p:cNvSpPr>
          <p:nvPr/>
        </p:nvSpPr>
        <p:spPr>
          <a:xfrm>
            <a:off x="4437994" y="266700"/>
            <a:ext cx="9412011"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ÇÖZÜM ÖNERİSİ</a:t>
            </a:r>
          </a:p>
        </p:txBody>
      </p:sp>
      <p:sp>
        <p:nvSpPr>
          <p:cNvPr id="36" name="TextBox 50">
            <a:extLst>
              <a:ext uri="{FF2B5EF4-FFF2-40B4-BE49-F238E27FC236}">
                <a16:creationId xmlns:a16="http://schemas.microsoft.com/office/drawing/2014/main" id="{61C0EA9F-DF07-FEED-B4A8-69144438498D}"/>
              </a:ext>
            </a:extLst>
          </p:cNvPr>
          <p:cNvSpPr txBox="1"/>
          <p:nvPr/>
        </p:nvSpPr>
        <p:spPr>
          <a:xfrm>
            <a:off x="1219200" y="1896329"/>
            <a:ext cx="12841011" cy="4371581"/>
          </a:xfrm>
          <a:prstGeom prst="rect">
            <a:avLst/>
          </a:prstGeom>
        </p:spPr>
        <p:txBody>
          <a:bodyPr lIns="0" tIns="0" rIns="0" bIns="0" rtlCol="0" anchor="t">
            <a:spAutoFit/>
          </a:bodyPr>
          <a:lstStyle/>
          <a:p>
            <a:pPr marL="388620" lvl="1" indent="-194310">
              <a:lnSpc>
                <a:spcPts val="2880"/>
              </a:lnSpc>
              <a:buFont typeface="Arial"/>
              <a:buChar char="•"/>
            </a:pPr>
            <a:r>
              <a:rPr lang="en-US" dirty="0" err="1">
                <a:solidFill>
                  <a:srgbClr val="FF0000"/>
                </a:solidFill>
                <a:latin typeface="Aileron Bold"/>
              </a:rPr>
              <a:t>Proje</a:t>
            </a:r>
            <a:r>
              <a:rPr lang="en-US" dirty="0">
                <a:solidFill>
                  <a:srgbClr val="FF0000"/>
                </a:solidFill>
                <a:latin typeface="Aileron Bold"/>
              </a:rPr>
              <a:t>/ </a:t>
            </a:r>
            <a:r>
              <a:rPr lang="en-US" dirty="0" err="1">
                <a:solidFill>
                  <a:srgbClr val="FF0000"/>
                </a:solidFill>
                <a:latin typeface="Aileron Bold"/>
              </a:rPr>
              <a:t>fikre</a:t>
            </a:r>
            <a:r>
              <a:rPr lang="en-US" dirty="0">
                <a:solidFill>
                  <a:srgbClr val="FF0000"/>
                </a:solidFill>
                <a:latin typeface="Aileron Bold"/>
              </a:rPr>
              <a:t> </a:t>
            </a:r>
            <a:r>
              <a:rPr lang="en-US" dirty="0" err="1">
                <a:solidFill>
                  <a:srgbClr val="FF0000"/>
                </a:solidFill>
                <a:latin typeface="Aileron Bold"/>
              </a:rPr>
              <a:t>ait</a:t>
            </a:r>
            <a:r>
              <a:rPr lang="en-US" dirty="0">
                <a:solidFill>
                  <a:srgbClr val="FF0000"/>
                </a:solidFill>
                <a:latin typeface="Aileron Bold"/>
              </a:rPr>
              <a:t> </a:t>
            </a:r>
            <a:r>
              <a:rPr lang="en-US" dirty="0" err="1">
                <a:solidFill>
                  <a:srgbClr val="FF0000"/>
                </a:solidFill>
                <a:latin typeface="Aileron Bold"/>
              </a:rPr>
              <a:t>çözümün</a:t>
            </a:r>
            <a:r>
              <a:rPr lang="en-US" dirty="0">
                <a:solidFill>
                  <a:srgbClr val="FF0000"/>
                </a:solidFill>
                <a:latin typeface="Aileron Bold"/>
              </a:rPr>
              <a:t> </a:t>
            </a:r>
            <a:r>
              <a:rPr lang="en-US" dirty="0" err="1">
                <a:solidFill>
                  <a:srgbClr val="FF0000"/>
                </a:solidFill>
                <a:latin typeface="Aileron Bold"/>
              </a:rPr>
              <a:t>anlatıldığı</a:t>
            </a:r>
            <a:r>
              <a:rPr lang="en-US" dirty="0">
                <a:solidFill>
                  <a:srgbClr val="FF0000"/>
                </a:solidFill>
                <a:latin typeface="Aileron Bold"/>
              </a:rPr>
              <a:t> </a:t>
            </a:r>
            <a:r>
              <a:rPr lang="en-US" dirty="0" err="1">
                <a:solidFill>
                  <a:srgbClr val="FF0000"/>
                </a:solidFill>
                <a:latin typeface="Aileron Bold"/>
              </a:rPr>
              <a:t>sayfadır</a:t>
            </a:r>
            <a:r>
              <a:rPr lang="en-US" dirty="0">
                <a:solidFill>
                  <a:srgbClr val="FF0000"/>
                </a:solidFill>
                <a:latin typeface="Aileron Bold"/>
              </a:rPr>
              <a:t>.</a:t>
            </a:r>
          </a:p>
          <a:p>
            <a:pPr marL="388620" lvl="1" indent="-194310">
              <a:lnSpc>
                <a:spcPts val="2880"/>
              </a:lnSpc>
              <a:buFont typeface="Arial"/>
              <a:buChar char="•"/>
            </a:pPr>
            <a:r>
              <a:rPr lang="en-US" dirty="0" err="1">
                <a:solidFill>
                  <a:srgbClr val="FF0000"/>
                </a:solidFill>
                <a:latin typeface="Aileron Bold"/>
              </a:rPr>
              <a:t>Çözüm</a:t>
            </a:r>
            <a:r>
              <a:rPr lang="en-US" dirty="0">
                <a:solidFill>
                  <a:srgbClr val="FF0000"/>
                </a:solidFill>
                <a:latin typeface="Aileron Bold"/>
              </a:rPr>
              <a:t> </a:t>
            </a:r>
            <a:r>
              <a:rPr lang="en-US" u="sng" dirty="0" err="1">
                <a:solidFill>
                  <a:srgbClr val="FF0000"/>
                </a:solidFill>
                <a:latin typeface="Aileron Bold Italics"/>
              </a:rPr>
              <a:t>en</a:t>
            </a:r>
            <a:r>
              <a:rPr lang="en-US" u="sng" dirty="0">
                <a:solidFill>
                  <a:srgbClr val="FF0000"/>
                </a:solidFill>
                <a:latin typeface="Aileron Bold Italics"/>
              </a:rPr>
              <a:t> </a:t>
            </a:r>
            <a:r>
              <a:rPr lang="en-US" u="sng" dirty="0" err="1">
                <a:solidFill>
                  <a:srgbClr val="FF0000"/>
                </a:solidFill>
                <a:latin typeface="Aileron Bold Italics"/>
              </a:rPr>
              <a:t>fazla</a:t>
            </a:r>
            <a:r>
              <a:rPr lang="tr-TR" u="sng" dirty="0">
                <a:solidFill>
                  <a:srgbClr val="FF0000"/>
                </a:solidFill>
                <a:latin typeface="Aileron Bold Italics"/>
              </a:rPr>
              <a:t> </a:t>
            </a:r>
            <a:r>
              <a:rPr lang="en-US" dirty="0">
                <a:solidFill>
                  <a:srgbClr val="FF0000"/>
                </a:solidFill>
                <a:latin typeface="Aileron Bold"/>
              </a:rPr>
              <a:t>(</a:t>
            </a:r>
            <a:r>
              <a:rPr lang="tr-TR" dirty="0">
                <a:solidFill>
                  <a:srgbClr val="FF0000"/>
                </a:solidFill>
                <a:latin typeface="Aileron Bold"/>
              </a:rPr>
              <a:t>3</a:t>
            </a:r>
            <a:r>
              <a:rPr lang="en-US" dirty="0">
                <a:solidFill>
                  <a:srgbClr val="FF0000"/>
                </a:solidFill>
                <a:latin typeface="Aileron Bold"/>
              </a:rPr>
              <a:t>) </a:t>
            </a:r>
            <a:r>
              <a:rPr lang="en-US" dirty="0" err="1">
                <a:solidFill>
                  <a:srgbClr val="FF0000"/>
                </a:solidFill>
                <a:latin typeface="Aileron Bold"/>
              </a:rPr>
              <a:t>sayfad</a:t>
            </a:r>
            <a:r>
              <a:rPr lang="tr-TR" dirty="0">
                <a:solidFill>
                  <a:srgbClr val="FF0000"/>
                </a:solidFill>
                <a:latin typeface="Aileron Bold"/>
              </a:rPr>
              <a:t>a açıklanmalıdır</a:t>
            </a:r>
            <a:r>
              <a:rPr lang="en-US" dirty="0">
                <a:solidFill>
                  <a:srgbClr val="FF0000"/>
                </a:solidFill>
                <a:latin typeface="Aileron Bold"/>
              </a:rPr>
              <a:t>. </a:t>
            </a:r>
            <a:r>
              <a:rPr lang="en-US" dirty="0" err="1">
                <a:solidFill>
                  <a:srgbClr val="FF0000"/>
                </a:solidFill>
                <a:latin typeface="Aileron Bold"/>
              </a:rPr>
              <a:t>Sayfa</a:t>
            </a:r>
            <a:r>
              <a:rPr lang="en-US" dirty="0">
                <a:solidFill>
                  <a:srgbClr val="FF0000"/>
                </a:solidFill>
                <a:latin typeface="Aileron Bold"/>
              </a:rPr>
              <a:t> </a:t>
            </a:r>
            <a:r>
              <a:rPr lang="en-US" dirty="0" err="1">
                <a:solidFill>
                  <a:srgbClr val="FF0000"/>
                </a:solidFill>
                <a:latin typeface="Aileron Bold"/>
              </a:rPr>
              <a:t>sınırı</a:t>
            </a:r>
            <a:r>
              <a:rPr lang="en-US"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a:t>
            </a:r>
            <a:r>
              <a:rPr lang="en-US" dirty="0" err="1">
                <a:solidFill>
                  <a:srgbClr val="FF0000"/>
                </a:solidFill>
                <a:latin typeface="Aileron Bold"/>
              </a:rPr>
              <a:t>bir</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iki</a:t>
            </a:r>
            <a:r>
              <a:rPr lang="en-US" dirty="0">
                <a:solidFill>
                  <a:srgbClr val="FF0000"/>
                </a:solidFill>
                <a:latin typeface="Aileron Bold"/>
              </a:rPr>
              <a:t> (1</a:t>
            </a:r>
            <a:r>
              <a:rPr lang="tr-TR" dirty="0">
                <a:solidFill>
                  <a:srgbClr val="FF0000"/>
                </a:solidFill>
                <a:latin typeface="Aileron Bold"/>
              </a:rPr>
              <a:t> veya 2</a:t>
            </a:r>
            <a:r>
              <a:rPr lang="en-US" dirty="0">
                <a:solidFill>
                  <a:srgbClr val="FF0000"/>
                </a:solidFill>
                <a:latin typeface="Aileron Bold"/>
              </a:rPr>
              <a:t>)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en-US" dirty="0">
                <a:solidFill>
                  <a:srgbClr val="FF0000"/>
                </a:solidFill>
                <a:latin typeface="Aileron Bold"/>
              </a:rPr>
              <a:t>.</a:t>
            </a:r>
          </a:p>
          <a:p>
            <a:pPr marL="388620" lvl="1" indent="-194310">
              <a:lnSpc>
                <a:spcPts val="2880"/>
              </a:lnSpc>
              <a:buFont typeface="Arial"/>
              <a:buChar char="•"/>
            </a:pPr>
            <a:r>
              <a:rPr lang="en-US" dirty="0" err="1">
                <a:solidFill>
                  <a:srgbClr val="FF0000"/>
                </a:solidFill>
                <a:latin typeface="Aileron Bold"/>
              </a:rPr>
              <a:t>Çözüm</a:t>
            </a:r>
            <a:r>
              <a:rPr lang="en-US" dirty="0">
                <a:solidFill>
                  <a:srgbClr val="FF0000"/>
                </a:solidFill>
                <a:latin typeface="Aileron Bold"/>
              </a:rPr>
              <a:t> </a:t>
            </a:r>
            <a:r>
              <a:rPr lang="en-US" dirty="0" err="1">
                <a:solidFill>
                  <a:srgbClr val="FF0000"/>
                </a:solidFill>
                <a:latin typeface="Aileron Bold"/>
              </a:rPr>
              <a:t>fikri</a:t>
            </a:r>
            <a:r>
              <a:rPr lang="en-US" dirty="0">
                <a:solidFill>
                  <a:srgbClr val="FF0000"/>
                </a:solidFill>
                <a:latin typeface="Aileron Bold"/>
              </a:rPr>
              <a:t>, problem </a:t>
            </a:r>
            <a:r>
              <a:rPr lang="en-US" dirty="0" err="1">
                <a:solidFill>
                  <a:srgbClr val="FF0000"/>
                </a:solidFill>
                <a:latin typeface="Aileron Bold"/>
              </a:rPr>
              <a:t>ile</a:t>
            </a:r>
            <a:r>
              <a:rPr lang="en-US" dirty="0">
                <a:solidFill>
                  <a:srgbClr val="FF0000"/>
                </a:solidFill>
                <a:latin typeface="Aileron Bold"/>
              </a:rPr>
              <a:t> </a:t>
            </a:r>
            <a:r>
              <a:rPr lang="en-US" dirty="0" err="1">
                <a:solidFill>
                  <a:srgbClr val="FF0000"/>
                </a:solidFill>
                <a:latin typeface="Aileron Bold"/>
              </a:rPr>
              <a:t>uyumlu</a:t>
            </a:r>
            <a:r>
              <a:rPr lang="en-US" dirty="0">
                <a:solidFill>
                  <a:srgbClr val="FF0000"/>
                </a:solidFill>
                <a:latin typeface="Aileron Bold"/>
              </a:rPr>
              <a:t> </a:t>
            </a:r>
            <a:r>
              <a:rPr lang="en-US" dirty="0" err="1">
                <a:solidFill>
                  <a:srgbClr val="FF0000"/>
                </a:solidFill>
                <a:latin typeface="Aileron Bold"/>
              </a:rPr>
              <a:t>olarak</a:t>
            </a:r>
            <a:r>
              <a:rPr lang="en-US" dirty="0">
                <a:solidFill>
                  <a:srgbClr val="FF0000"/>
                </a:solidFill>
                <a:latin typeface="Aileron Bold"/>
              </a:rPr>
              <a:t> </a:t>
            </a:r>
            <a:r>
              <a:rPr lang="en-US" dirty="0" err="1">
                <a:solidFill>
                  <a:srgbClr val="FF0000"/>
                </a:solidFill>
                <a:latin typeface="Aileron Bold"/>
              </a:rPr>
              <a:t>kapsamlı</a:t>
            </a:r>
            <a:r>
              <a:rPr lang="en-US" dirty="0">
                <a:solidFill>
                  <a:srgbClr val="FF0000"/>
                </a:solidFill>
                <a:latin typeface="Aileron Bold"/>
              </a:rPr>
              <a:t>, </a:t>
            </a:r>
            <a:r>
              <a:rPr lang="en-US" dirty="0" err="1">
                <a:solidFill>
                  <a:srgbClr val="FF0000"/>
                </a:solidFill>
                <a:latin typeface="Aileron Bold"/>
              </a:rPr>
              <a:t>yenilikçi</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etkili</a:t>
            </a:r>
            <a:r>
              <a:rPr lang="en-US" dirty="0">
                <a:solidFill>
                  <a:srgbClr val="FF0000"/>
                </a:solidFill>
                <a:latin typeface="Aileron Bold"/>
              </a:rPr>
              <a:t> </a:t>
            </a:r>
            <a:r>
              <a:rPr lang="en-US" dirty="0" err="1">
                <a:solidFill>
                  <a:srgbClr val="FF0000"/>
                </a:solidFill>
                <a:latin typeface="Aileron Bold"/>
              </a:rPr>
              <a:t>şekilde</a:t>
            </a:r>
            <a:r>
              <a:rPr lang="en-US" dirty="0">
                <a:solidFill>
                  <a:srgbClr val="FF0000"/>
                </a:solidFill>
                <a:latin typeface="Aileron Bold"/>
              </a:rPr>
              <a:t> </a:t>
            </a:r>
            <a:r>
              <a:rPr lang="en-US" dirty="0" err="1">
                <a:solidFill>
                  <a:srgbClr val="FF0000"/>
                </a:solidFill>
                <a:latin typeface="Aileron Bold"/>
              </a:rPr>
              <a:t>açıklanmalıdır</a:t>
            </a:r>
            <a:r>
              <a:rPr lang="en-US" dirty="0">
                <a:solidFill>
                  <a:srgbClr val="FF0000"/>
                </a:solidFill>
                <a:latin typeface="Aileron Bold"/>
              </a:rPr>
              <a:t>.</a:t>
            </a:r>
            <a:endParaRPr lang="tr-TR" dirty="0">
              <a:solidFill>
                <a:srgbClr val="FF0000"/>
              </a:solidFill>
              <a:latin typeface="Aileron Bold"/>
            </a:endParaRPr>
          </a:p>
          <a:p>
            <a:pPr marL="388620" lvl="1" indent="-194310">
              <a:lnSpc>
                <a:spcPts val="2880"/>
              </a:lnSpc>
              <a:buFont typeface="Arial"/>
              <a:buChar char="•"/>
            </a:pPr>
            <a:r>
              <a:rPr lang="tr-TR" dirty="0">
                <a:solidFill>
                  <a:srgbClr val="FF0000"/>
                </a:solidFill>
                <a:latin typeface="Aileron Bold"/>
              </a:rPr>
              <a:t>Problem ile alakalı daha önce sunulan ya da üretilen çözüm önerilerinden bahsedilebilir.</a:t>
            </a:r>
          </a:p>
          <a:p>
            <a:pPr marL="388620" lvl="1" indent="-194310">
              <a:lnSpc>
                <a:spcPts val="2880"/>
              </a:lnSpc>
              <a:buFont typeface="Arial"/>
              <a:buChar char="•"/>
            </a:pPr>
            <a:r>
              <a:rPr lang="en-US" dirty="0" err="1">
                <a:solidFill>
                  <a:srgbClr val="FF0000"/>
                </a:solidFill>
                <a:latin typeface="Aileron Bold"/>
              </a:rPr>
              <a:t>Literatürdeki</a:t>
            </a:r>
            <a:r>
              <a:rPr lang="en-US" dirty="0">
                <a:solidFill>
                  <a:srgbClr val="FF0000"/>
                </a:solidFill>
                <a:latin typeface="Aileron Bold"/>
              </a:rPr>
              <a:t> </a:t>
            </a:r>
            <a:r>
              <a:rPr lang="en-US" dirty="0" err="1">
                <a:solidFill>
                  <a:srgbClr val="FF0000"/>
                </a:solidFill>
                <a:latin typeface="Aileron Bold"/>
              </a:rPr>
              <a:t>çözümlerle</a:t>
            </a:r>
            <a:r>
              <a:rPr lang="en-US" dirty="0">
                <a:solidFill>
                  <a:srgbClr val="FF0000"/>
                </a:solidFill>
                <a:latin typeface="Aileron Bold"/>
              </a:rPr>
              <a:t> </a:t>
            </a:r>
            <a:r>
              <a:rPr lang="en-US" dirty="0" err="1">
                <a:solidFill>
                  <a:srgbClr val="FF0000"/>
                </a:solidFill>
                <a:latin typeface="Aileron Bold"/>
              </a:rPr>
              <a:t>desteklenmeli</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literatürdeki</a:t>
            </a:r>
            <a:r>
              <a:rPr lang="en-US" dirty="0">
                <a:solidFill>
                  <a:srgbClr val="FF0000"/>
                </a:solidFill>
                <a:latin typeface="Aileron Bold"/>
              </a:rPr>
              <a:t> </a:t>
            </a:r>
            <a:r>
              <a:rPr lang="en-US" dirty="0" err="1">
                <a:solidFill>
                  <a:srgbClr val="FF0000"/>
                </a:solidFill>
                <a:latin typeface="Aileron Bold"/>
              </a:rPr>
              <a:t>çözümlerden</a:t>
            </a:r>
            <a:r>
              <a:rPr lang="en-US" dirty="0">
                <a:solidFill>
                  <a:srgbClr val="FF0000"/>
                </a:solidFill>
                <a:latin typeface="Aileron Bold"/>
              </a:rPr>
              <a:t> </a:t>
            </a:r>
            <a:r>
              <a:rPr lang="en-US" dirty="0" err="1">
                <a:solidFill>
                  <a:srgbClr val="FF0000"/>
                </a:solidFill>
                <a:latin typeface="Aileron Bold"/>
              </a:rPr>
              <a:t>farkı</a:t>
            </a:r>
            <a:r>
              <a:rPr lang="en-US" dirty="0">
                <a:solidFill>
                  <a:srgbClr val="FF0000"/>
                </a:solidFill>
                <a:latin typeface="Aileron Bold"/>
              </a:rPr>
              <a:t> </a:t>
            </a:r>
            <a:r>
              <a:rPr lang="en-US" dirty="0" err="1">
                <a:solidFill>
                  <a:srgbClr val="FF0000"/>
                </a:solidFill>
                <a:latin typeface="Aileron Bold"/>
              </a:rPr>
              <a:t>ifade</a:t>
            </a:r>
            <a:r>
              <a:rPr lang="en-US" dirty="0">
                <a:solidFill>
                  <a:srgbClr val="FF0000"/>
                </a:solidFill>
                <a:latin typeface="Aileron Bold"/>
              </a:rPr>
              <a:t> </a:t>
            </a:r>
            <a:r>
              <a:rPr lang="en-US" dirty="0" err="1">
                <a:solidFill>
                  <a:srgbClr val="FF0000"/>
                </a:solidFill>
                <a:latin typeface="Aileron Bold"/>
              </a:rPr>
              <a:t>edilmelidir</a:t>
            </a:r>
            <a:r>
              <a:rPr lang="en-US" dirty="0">
                <a:solidFill>
                  <a:srgbClr val="FF0000"/>
                </a:solidFill>
                <a:latin typeface="Aileron Bold"/>
              </a:rPr>
              <a:t>.</a:t>
            </a:r>
            <a:endParaRPr lang="tr-TR" dirty="0">
              <a:solidFill>
                <a:srgbClr val="FF0000"/>
              </a:solidFill>
              <a:latin typeface="Aileron Bold"/>
            </a:endParaRPr>
          </a:p>
          <a:p>
            <a:pPr marL="388620" lvl="1" indent="-194310">
              <a:lnSpc>
                <a:spcPts val="2880"/>
              </a:lnSpc>
              <a:buFont typeface="Arial"/>
              <a:buChar char="•"/>
            </a:pPr>
            <a:r>
              <a:rPr lang="en-US" dirty="0" err="1">
                <a:solidFill>
                  <a:srgbClr val="FF0000"/>
                </a:solidFill>
                <a:latin typeface="Aileron Bold"/>
              </a:rPr>
              <a:t>Proje</a:t>
            </a:r>
            <a:r>
              <a:rPr lang="en-US" dirty="0">
                <a:solidFill>
                  <a:srgbClr val="FF0000"/>
                </a:solidFill>
                <a:latin typeface="Aileron Bold"/>
              </a:rPr>
              <a:t> </a:t>
            </a:r>
            <a:r>
              <a:rPr lang="en-US" dirty="0" err="1">
                <a:solidFill>
                  <a:srgbClr val="FF0000"/>
                </a:solidFill>
                <a:latin typeface="Aileron Bold"/>
              </a:rPr>
              <a:t>fikrinin</a:t>
            </a:r>
            <a:r>
              <a:rPr lang="en-US" dirty="0">
                <a:solidFill>
                  <a:srgbClr val="FF0000"/>
                </a:solidFill>
                <a:latin typeface="Aileron Bold"/>
              </a:rPr>
              <a:t> </a:t>
            </a:r>
            <a:r>
              <a:rPr lang="en-US" dirty="0" err="1">
                <a:solidFill>
                  <a:srgbClr val="FF0000"/>
                </a:solidFill>
                <a:latin typeface="Aileron Bold"/>
              </a:rPr>
              <a:t>açıklanan</a:t>
            </a:r>
            <a:r>
              <a:rPr lang="en-US" dirty="0">
                <a:solidFill>
                  <a:srgbClr val="FF0000"/>
                </a:solidFill>
                <a:latin typeface="Aileron Bold"/>
              </a:rPr>
              <a:t> problem </a:t>
            </a:r>
            <a:r>
              <a:rPr lang="en-US" dirty="0" err="1">
                <a:solidFill>
                  <a:srgbClr val="FF0000"/>
                </a:solidFill>
                <a:latin typeface="Aileron Bold"/>
              </a:rPr>
              <a:t>ile</a:t>
            </a:r>
            <a:r>
              <a:rPr lang="en-US" dirty="0">
                <a:solidFill>
                  <a:srgbClr val="FF0000"/>
                </a:solidFill>
                <a:latin typeface="Aileron Bold"/>
              </a:rPr>
              <a:t> </a:t>
            </a:r>
            <a:r>
              <a:rPr lang="en-US" dirty="0" err="1">
                <a:solidFill>
                  <a:srgbClr val="FF0000"/>
                </a:solidFill>
                <a:latin typeface="Aileron Bold"/>
              </a:rPr>
              <a:t>ilişkisi</a:t>
            </a:r>
            <a:r>
              <a:rPr lang="en-US" dirty="0">
                <a:solidFill>
                  <a:srgbClr val="FF0000"/>
                </a:solidFill>
                <a:latin typeface="Aileron Bold"/>
              </a:rPr>
              <a:t> </a:t>
            </a:r>
            <a:r>
              <a:rPr lang="en-US" dirty="0" err="1">
                <a:solidFill>
                  <a:srgbClr val="FF0000"/>
                </a:solidFill>
                <a:latin typeface="Aileron Bold"/>
              </a:rPr>
              <a:t>kurularak</a:t>
            </a:r>
            <a:r>
              <a:rPr lang="tr-TR" dirty="0">
                <a:solidFill>
                  <a:srgbClr val="FF0000"/>
                </a:solidFill>
                <a:latin typeface="Aileron Bold"/>
              </a:rPr>
              <a:t> madencilik sektörüne</a:t>
            </a:r>
            <a:r>
              <a:rPr lang="en-US" dirty="0">
                <a:solidFill>
                  <a:srgbClr val="FF0000"/>
                </a:solidFill>
                <a:latin typeface="Aileron Bold"/>
              </a:rPr>
              <a:t> </a:t>
            </a:r>
            <a:r>
              <a:rPr lang="tr-TR" dirty="0">
                <a:solidFill>
                  <a:srgbClr val="FF0000"/>
                </a:solidFill>
                <a:latin typeface="Aileron Bold"/>
              </a:rPr>
              <a:t>potansiyel </a:t>
            </a:r>
            <a:r>
              <a:rPr lang="en-US" dirty="0" err="1">
                <a:solidFill>
                  <a:srgbClr val="FF0000"/>
                </a:solidFill>
                <a:latin typeface="Aileron Bold"/>
              </a:rPr>
              <a:t>fayda</a:t>
            </a:r>
            <a:r>
              <a:rPr lang="tr-TR" dirty="0" err="1">
                <a:solidFill>
                  <a:srgbClr val="FF0000"/>
                </a:solidFill>
                <a:latin typeface="Aileron Bold"/>
              </a:rPr>
              <a:t>ları</a:t>
            </a:r>
            <a:r>
              <a:rPr lang="tr-TR" dirty="0">
                <a:solidFill>
                  <a:srgbClr val="FF0000"/>
                </a:solidFill>
                <a:latin typeface="Aileron Bold"/>
              </a:rPr>
              <a:t> bu bölümde</a:t>
            </a:r>
            <a:r>
              <a:rPr lang="en-US" dirty="0">
                <a:solidFill>
                  <a:srgbClr val="FF0000"/>
                </a:solidFill>
                <a:latin typeface="Aileron Bold"/>
              </a:rPr>
              <a:t> </a:t>
            </a:r>
            <a:r>
              <a:rPr lang="en-US" dirty="0" err="1">
                <a:solidFill>
                  <a:srgbClr val="FF0000"/>
                </a:solidFill>
                <a:latin typeface="Aileron Bold"/>
              </a:rPr>
              <a:t>açıklan</a:t>
            </a:r>
            <a:r>
              <a:rPr lang="tr-TR" dirty="0">
                <a:solidFill>
                  <a:srgbClr val="FF0000"/>
                </a:solidFill>
                <a:latin typeface="Aileron Bold"/>
              </a:rPr>
              <a:t>malıdır.</a:t>
            </a:r>
          </a:p>
          <a:p>
            <a:pPr marL="388620" lvl="1" indent="-194310">
              <a:lnSpc>
                <a:spcPts val="2880"/>
              </a:lnSpc>
              <a:buFont typeface="Arial"/>
              <a:buChar char="•"/>
            </a:pPr>
            <a:endParaRPr lang="tr-TR" dirty="0">
              <a:solidFill>
                <a:srgbClr val="FF0000"/>
              </a:solidFill>
              <a:latin typeface="Aileron Bold"/>
            </a:endParaRPr>
          </a:p>
          <a:p>
            <a:pPr marL="194311"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a:p>
            <a:pPr marL="194310" lvl="1">
              <a:lnSpc>
                <a:spcPts val="2880"/>
              </a:lnSpc>
            </a:pPr>
            <a:endParaRPr lang="en-US" dirty="0">
              <a:solidFill>
                <a:srgbClr val="DE2223"/>
              </a:solidFill>
              <a:latin typeface="Aileron Bold"/>
            </a:endParaRPr>
          </a:p>
          <a:p>
            <a:pPr>
              <a:lnSpc>
                <a:spcPts val="2880"/>
              </a:lnSpc>
            </a:pPr>
            <a:endParaRPr lang="en-US" dirty="0">
              <a:solidFill>
                <a:srgbClr val="DE2223"/>
              </a:solidFill>
              <a:latin typeface="Aileron Bold"/>
            </a:endParaRPr>
          </a:p>
        </p:txBody>
      </p:sp>
      <p:sp>
        <p:nvSpPr>
          <p:cNvPr id="4" name="AutoShape 20">
            <a:extLst>
              <a:ext uri="{FF2B5EF4-FFF2-40B4-BE49-F238E27FC236}">
                <a16:creationId xmlns:a16="http://schemas.microsoft.com/office/drawing/2014/main" id="{A95C393E-AE2F-A04F-EA39-39341BBCC72E}"/>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C3513E10-045D-E15E-DC39-BACCFF2A377A}"/>
              </a:ext>
            </a:extLst>
          </p:cNvPr>
          <p:cNvSpPr txBox="1"/>
          <p:nvPr/>
        </p:nvSpPr>
        <p:spPr>
          <a:xfrm>
            <a:off x="15217854" y="4610100"/>
            <a:ext cx="223703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90C4B474-9C86-4C19-81CA-C02CB36DFD86}"/>
              </a:ext>
            </a:extLst>
          </p:cNvPr>
          <p:cNvSpPr txBox="1"/>
          <p:nvPr/>
        </p:nvSpPr>
        <p:spPr>
          <a:xfrm>
            <a:off x="15762030" y="3405481"/>
            <a:ext cx="1660989" cy="257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4EA03DEB-8A44-B097-C750-B8D3FF3B7E7B}"/>
              </a:ext>
            </a:extLst>
          </p:cNvPr>
          <p:cNvSpPr txBox="1"/>
          <p:nvPr/>
        </p:nvSpPr>
        <p:spPr>
          <a:xfrm>
            <a:off x="15986302" y="7353300"/>
            <a:ext cx="1436949"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EF256D2E-E96B-EA30-9FC0-167B27D81E78}"/>
              </a:ext>
            </a:extLst>
          </p:cNvPr>
          <p:cNvSpPr txBox="1"/>
          <p:nvPr/>
        </p:nvSpPr>
        <p:spPr>
          <a:xfrm>
            <a:off x="15217854" y="5372100"/>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9" name="TextBox 38">
            <a:extLst>
              <a:ext uri="{FF2B5EF4-FFF2-40B4-BE49-F238E27FC236}">
                <a16:creationId xmlns:a16="http://schemas.microsoft.com/office/drawing/2014/main" id="{F59726A4-FE2D-79B5-71D4-55A2A535AFF7}"/>
              </a:ext>
            </a:extLst>
          </p:cNvPr>
          <p:cNvSpPr txBox="1"/>
          <p:nvPr/>
        </p:nvSpPr>
        <p:spPr>
          <a:xfrm>
            <a:off x="15745664" y="6896100"/>
            <a:ext cx="1693723"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HEDEF ALAN</a:t>
            </a:r>
            <a:endParaRPr lang="en-US" sz="1550" dirty="0">
              <a:solidFill>
                <a:srgbClr val="1C4C61"/>
              </a:solidFill>
              <a:latin typeface="Aileron Bold"/>
            </a:endParaRPr>
          </a:p>
        </p:txBody>
      </p:sp>
      <p:sp>
        <p:nvSpPr>
          <p:cNvPr id="10" name="TextBox 39">
            <a:extLst>
              <a:ext uri="{FF2B5EF4-FFF2-40B4-BE49-F238E27FC236}">
                <a16:creationId xmlns:a16="http://schemas.microsoft.com/office/drawing/2014/main" id="{2438428E-21B1-8C71-75A2-AF809C5DDCE8}"/>
              </a:ext>
            </a:extLst>
          </p:cNvPr>
          <p:cNvSpPr txBox="1"/>
          <p:nvPr/>
        </p:nvSpPr>
        <p:spPr>
          <a:xfrm>
            <a:off x="15668804" y="6134100"/>
            <a:ext cx="172418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11" name="Freeform 21">
            <a:extLst>
              <a:ext uri="{FF2B5EF4-FFF2-40B4-BE49-F238E27FC236}">
                <a16:creationId xmlns:a16="http://schemas.microsoft.com/office/drawing/2014/main" id="{3F482F00-4337-4970-D407-79FD0619A75F}"/>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Freeform 21">
            <a:extLst>
              <a:ext uri="{FF2B5EF4-FFF2-40B4-BE49-F238E27FC236}">
                <a16:creationId xmlns:a16="http://schemas.microsoft.com/office/drawing/2014/main" id="{655978C2-BAAF-990B-E42E-E732CBF3BCC9}"/>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01C396A3-EE5E-5AC0-BE93-D8ACC90B88ED}"/>
              </a:ext>
            </a:extLst>
          </p:cNvPr>
          <p:cNvSpPr/>
          <p:nvPr/>
        </p:nvSpPr>
        <p:spPr>
          <a:xfrm>
            <a:off x="17528868" y="4000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5C32BA86-8835-04A7-581C-A427EE316088}"/>
              </a:ext>
            </a:extLst>
          </p:cNvPr>
          <p:cNvSpPr/>
          <p:nvPr/>
        </p:nvSpPr>
        <p:spPr>
          <a:xfrm>
            <a:off x="17537349" y="4686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A084F9BC-B546-E717-8A60-A421EE667EC7}"/>
              </a:ext>
            </a:extLst>
          </p:cNvPr>
          <p:cNvSpPr/>
          <p:nvPr/>
        </p:nvSpPr>
        <p:spPr>
          <a:xfrm>
            <a:off x="17531608" y="5448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75D98B10-2A27-C8AF-B2E9-78B22D6D6B15}"/>
              </a:ext>
            </a:extLst>
          </p:cNvPr>
          <p:cNvSpPr/>
          <p:nvPr/>
        </p:nvSpPr>
        <p:spPr>
          <a:xfrm>
            <a:off x="17516246" y="6210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CA89ED82-F4A5-BD0C-07AD-5F0B28185C97}"/>
              </a:ext>
            </a:extLst>
          </p:cNvPr>
          <p:cNvSpPr/>
          <p:nvPr/>
        </p:nvSpPr>
        <p:spPr>
          <a:xfrm>
            <a:off x="17516247" y="68199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0E0CA4DE-EC05-8825-EEAB-317EAA88B6DB}"/>
              </a:ext>
            </a:extLst>
          </p:cNvPr>
          <p:cNvSpPr/>
          <p:nvPr/>
        </p:nvSpPr>
        <p:spPr>
          <a:xfrm>
            <a:off x="17530931" y="7429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FD30AD91-A8BD-1A50-A65E-5C064652CB3F}"/>
              </a:ext>
            </a:extLst>
          </p:cNvPr>
          <p:cNvSpPr txBox="1"/>
          <p:nvPr/>
        </p:nvSpPr>
        <p:spPr>
          <a:xfrm>
            <a:off x="15521473" y="2673548"/>
            <a:ext cx="1928327"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PROBLEMİN TANIMI </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4E5AC9CE-B14C-6407-8D75-C05FC425201C}"/>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9F17B8FB-2DA5-3DE0-5F4B-9A8D488FEFCF}"/>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9D14A4AB-4831-C506-16C0-ED4D39DC7B31}"/>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E72A3C27-EE3E-EF39-B314-1AA2C14302AE}"/>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4" name="TextBox 35">
            <a:extLst>
              <a:ext uri="{FF2B5EF4-FFF2-40B4-BE49-F238E27FC236}">
                <a16:creationId xmlns:a16="http://schemas.microsoft.com/office/drawing/2014/main" id="{8404C39D-CE9D-9090-598E-9C8C0777ED3C}"/>
              </a:ext>
            </a:extLst>
          </p:cNvPr>
          <p:cNvSpPr txBox="1"/>
          <p:nvPr/>
        </p:nvSpPr>
        <p:spPr>
          <a:xfrm>
            <a:off x="15788811" y="4076700"/>
            <a:ext cx="166098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5" name="Freeform 21">
            <a:extLst>
              <a:ext uri="{FF2B5EF4-FFF2-40B4-BE49-F238E27FC236}">
                <a16:creationId xmlns:a16="http://schemas.microsoft.com/office/drawing/2014/main" id="{C64985B8-FA7E-DB9C-EA24-27214021C4E4}"/>
              </a:ext>
            </a:extLst>
          </p:cNvPr>
          <p:cNvSpPr/>
          <p:nvPr/>
        </p:nvSpPr>
        <p:spPr>
          <a:xfrm>
            <a:off x="17544109" y="810983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6" name="TextBox 38">
            <a:extLst>
              <a:ext uri="{FF2B5EF4-FFF2-40B4-BE49-F238E27FC236}">
                <a16:creationId xmlns:a16="http://schemas.microsoft.com/office/drawing/2014/main" id="{75DE5339-1F2B-D9E4-0BB6-59D2537CC621}"/>
              </a:ext>
            </a:extLst>
          </p:cNvPr>
          <p:cNvSpPr txBox="1"/>
          <p:nvPr/>
        </p:nvSpPr>
        <p:spPr>
          <a:xfrm>
            <a:off x="16004968" y="8161599"/>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Tree>
    <p:extLst>
      <p:ext uri="{BB962C8B-B14F-4D97-AF65-F5344CB8AC3E}">
        <p14:creationId xmlns:p14="http://schemas.microsoft.com/office/powerpoint/2010/main" val="3379247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DAC2FD7-8FA8-21AB-2B5C-79B4C458505E}"/>
            </a:ext>
          </a:extLst>
        </p:cNvPr>
        <p:cNvGrpSpPr/>
        <p:nvPr/>
      </p:nvGrpSpPr>
      <p:grpSpPr>
        <a:xfrm>
          <a:off x="0" y="0"/>
          <a:ext cx="0" cy="0"/>
          <a:chOff x="0" y="0"/>
          <a:chExt cx="0" cy="0"/>
        </a:xfrm>
      </p:grpSpPr>
      <p:sp>
        <p:nvSpPr>
          <p:cNvPr id="2" name="TextBox 114">
            <a:extLst>
              <a:ext uri="{FF2B5EF4-FFF2-40B4-BE49-F238E27FC236}">
                <a16:creationId xmlns:a16="http://schemas.microsoft.com/office/drawing/2014/main" id="{6149DA46-BAF3-5410-2761-B58CF4091AE0}"/>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
        <p:nvSpPr>
          <p:cNvPr id="3" name="TextBox 12">
            <a:extLst>
              <a:ext uri="{FF2B5EF4-FFF2-40B4-BE49-F238E27FC236}">
                <a16:creationId xmlns:a16="http://schemas.microsoft.com/office/drawing/2014/main" id="{27D4EC20-A784-F21A-6AF5-BE94F9BAD650}"/>
              </a:ext>
            </a:extLst>
          </p:cNvPr>
          <p:cNvSpPr txBox="1">
            <a:spLocks/>
          </p:cNvSpPr>
          <p:nvPr/>
        </p:nvSpPr>
        <p:spPr>
          <a:xfrm>
            <a:off x="4437994" y="266700"/>
            <a:ext cx="9412011" cy="820738"/>
          </a:xfrm>
          <a:prstGeom prst="rect">
            <a:avLst/>
          </a:prstGeom>
        </p:spPr>
        <p:txBody>
          <a:bodyPr wrap="square" lIns="0" tIns="0" rIns="0" bIns="0" rtlCol="0" anchor="t">
            <a:spAutoFit/>
          </a:bodyPr>
          <a:lstStyle/>
          <a:p>
            <a:pPr algn="ctr">
              <a:lnSpc>
                <a:spcPts val="6399"/>
              </a:lnSpc>
              <a:spcBef>
                <a:spcPct val="0"/>
              </a:spcBef>
            </a:pPr>
            <a:r>
              <a:rPr lang="en-US" sz="6399" dirty="0">
                <a:solidFill>
                  <a:srgbClr val="1A426A"/>
                </a:solidFill>
                <a:latin typeface="Active Heart"/>
              </a:rPr>
              <a:t>YÖNTEM</a:t>
            </a:r>
          </a:p>
        </p:txBody>
      </p:sp>
      <p:sp>
        <p:nvSpPr>
          <p:cNvPr id="36" name="TextBox 50">
            <a:extLst>
              <a:ext uri="{FF2B5EF4-FFF2-40B4-BE49-F238E27FC236}">
                <a16:creationId xmlns:a16="http://schemas.microsoft.com/office/drawing/2014/main" id="{E6CFD521-8DED-483A-A3E2-08C272B061C9}"/>
              </a:ext>
            </a:extLst>
          </p:cNvPr>
          <p:cNvSpPr txBox="1"/>
          <p:nvPr/>
        </p:nvSpPr>
        <p:spPr>
          <a:xfrm>
            <a:off x="1219200" y="2073322"/>
            <a:ext cx="12841011" cy="3178947"/>
          </a:xfrm>
          <a:prstGeom prst="rect">
            <a:avLst/>
          </a:prstGeom>
        </p:spPr>
        <p:txBody>
          <a:bodyPr lIns="0" tIns="0" rIns="0" bIns="0" rtlCol="0" anchor="t">
            <a:spAutoFit/>
          </a:bodyPr>
          <a:lstStyle/>
          <a:p>
            <a:pPr marL="388620" lvl="1" indent="-194310">
              <a:lnSpc>
                <a:spcPts val="2520"/>
              </a:lnSpc>
              <a:buFont typeface="Arial"/>
              <a:buChar char="•"/>
            </a:pPr>
            <a:r>
              <a:rPr lang="en-US" dirty="0" err="1">
                <a:solidFill>
                  <a:srgbClr val="FF0000"/>
                </a:solidFill>
                <a:latin typeface="Aileron Bold"/>
              </a:rPr>
              <a:t>Proje</a:t>
            </a:r>
            <a:r>
              <a:rPr lang="tr-TR" dirty="0">
                <a:solidFill>
                  <a:srgbClr val="FF0000"/>
                </a:solidFill>
                <a:latin typeface="Aileron Bold"/>
              </a:rPr>
              <a:t>deki verilen fikrin gerçekleştirilmesi için kullanılacak yöntemlerin</a:t>
            </a:r>
            <a:r>
              <a:rPr lang="en-US" dirty="0">
                <a:solidFill>
                  <a:srgbClr val="FF0000"/>
                </a:solidFill>
                <a:latin typeface="Aileron Bold"/>
              </a:rPr>
              <a:t>, </a:t>
            </a:r>
            <a:r>
              <a:rPr lang="en-US" dirty="0" err="1">
                <a:solidFill>
                  <a:srgbClr val="FF0000"/>
                </a:solidFill>
                <a:latin typeface="Aileron Bold"/>
              </a:rPr>
              <a:t>ortaya</a:t>
            </a:r>
            <a:r>
              <a:rPr lang="en-US" dirty="0">
                <a:solidFill>
                  <a:srgbClr val="FF0000"/>
                </a:solidFill>
                <a:latin typeface="Aileron Bold"/>
              </a:rPr>
              <a:t> </a:t>
            </a:r>
            <a:r>
              <a:rPr lang="en-US" dirty="0" err="1">
                <a:solidFill>
                  <a:srgbClr val="FF0000"/>
                </a:solidFill>
                <a:latin typeface="Aileron Bold"/>
              </a:rPr>
              <a:t>çıkan</a:t>
            </a:r>
            <a:r>
              <a:rPr lang="en-US" dirty="0">
                <a:solidFill>
                  <a:srgbClr val="FF0000"/>
                </a:solidFill>
                <a:latin typeface="Aileron Bold"/>
              </a:rPr>
              <a:t> </a:t>
            </a:r>
            <a:r>
              <a:rPr lang="en-US" dirty="0" err="1">
                <a:solidFill>
                  <a:srgbClr val="FF0000"/>
                </a:solidFill>
                <a:latin typeface="Aileron Bold"/>
              </a:rPr>
              <a:t>ürün</a:t>
            </a:r>
            <a:r>
              <a:rPr lang="en-US" dirty="0">
                <a:solidFill>
                  <a:srgbClr val="FF0000"/>
                </a:solidFill>
                <a:latin typeface="Aileron Bold"/>
              </a:rPr>
              <a:t>/</a:t>
            </a:r>
            <a:r>
              <a:rPr lang="en-US" dirty="0" err="1">
                <a:solidFill>
                  <a:srgbClr val="FF0000"/>
                </a:solidFill>
                <a:latin typeface="Aileron Bold"/>
              </a:rPr>
              <a:t>projenin</a:t>
            </a:r>
            <a:r>
              <a:rPr lang="en-US" dirty="0">
                <a:solidFill>
                  <a:srgbClr val="FF0000"/>
                </a:solidFill>
                <a:latin typeface="Aileron Bold"/>
              </a:rPr>
              <a:t> </a:t>
            </a:r>
            <a:r>
              <a:rPr lang="en-US" dirty="0" err="1">
                <a:solidFill>
                  <a:srgbClr val="FF0000"/>
                </a:solidFill>
                <a:latin typeface="Aileron Bold"/>
              </a:rPr>
              <a:t>anlatıldığı</a:t>
            </a:r>
            <a:r>
              <a:rPr lang="en-US" dirty="0">
                <a:solidFill>
                  <a:srgbClr val="FF0000"/>
                </a:solidFill>
                <a:latin typeface="Aileron Bold"/>
              </a:rPr>
              <a:t> </a:t>
            </a:r>
            <a:r>
              <a:rPr lang="en-US" dirty="0" err="1">
                <a:solidFill>
                  <a:srgbClr val="FF0000"/>
                </a:solidFill>
                <a:latin typeface="Aileron Bold"/>
              </a:rPr>
              <a:t>sayfadır</a:t>
            </a:r>
            <a:r>
              <a:rPr lang="en-US" dirty="0">
                <a:solidFill>
                  <a:srgbClr val="FF0000"/>
                </a:solidFill>
                <a:latin typeface="Aileron Bold"/>
              </a:rPr>
              <a:t>.</a:t>
            </a:r>
          </a:p>
          <a:p>
            <a:pPr marL="388620" lvl="1" indent="-194310">
              <a:lnSpc>
                <a:spcPts val="2520"/>
              </a:lnSpc>
              <a:buFont typeface="Arial"/>
              <a:buChar char="•"/>
            </a:pPr>
            <a:r>
              <a:rPr lang="en-US" dirty="0" err="1">
                <a:solidFill>
                  <a:srgbClr val="FF0000"/>
                </a:solidFill>
                <a:latin typeface="Aileron Bold"/>
              </a:rPr>
              <a:t>Yöntem</a:t>
            </a:r>
            <a:r>
              <a:rPr lang="en-US" dirty="0">
                <a:solidFill>
                  <a:srgbClr val="FF0000"/>
                </a:solidFill>
                <a:latin typeface="Aileron Bold"/>
              </a:rPr>
              <a:t> </a:t>
            </a:r>
            <a:r>
              <a:rPr lang="en-US" u="sng" dirty="0" err="1">
                <a:solidFill>
                  <a:srgbClr val="FF0000"/>
                </a:solidFill>
                <a:latin typeface="Aileron Bold Italics"/>
              </a:rPr>
              <a:t>en</a:t>
            </a:r>
            <a:r>
              <a:rPr lang="en-US" u="sng" dirty="0">
                <a:solidFill>
                  <a:srgbClr val="FF0000"/>
                </a:solidFill>
                <a:latin typeface="Aileron Bold Italics"/>
              </a:rPr>
              <a:t> </a:t>
            </a:r>
            <a:r>
              <a:rPr lang="en-US" u="sng" dirty="0" err="1">
                <a:solidFill>
                  <a:srgbClr val="FF0000"/>
                </a:solidFill>
                <a:latin typeface="Aileron Bold Italics"/>
              </a:rPr>
              <a:t>fazla</a:t>
            </a:r>
            <a:r>
              <a:rPr lang="tr-TR" u="sng" dirty="0">
                <a:solidFill>
                  <a:srgbClr val="FF0000"/>
                </a:solidFill>
                <a:latin typeface="Aileron Bold Italics"/>
              </a:rPr>
              <a:t> </a:t>
            </a:r>
            <a:r>
              <a:rPr lang="en-US" dirty="0">
                <a:solidFill>
                  <a:srgbClr val="FF0000"/>
                </a:solidFill>
                <a:latin typeface="Aileron Bold"/>
              </a:rPr>
              <a:t>(2) </a:t>
            </a:r>
            <a:r>
              <a:rPr lang="en-US" dirty="0" err="1">
                <a:solidFill>
                  <a:srgbClr val="FF0000"/>
                </a:solidFill>
                <a:latin typeface="Aileron Bold"/>
              </a:rPr>
              <a:t>sayfad</a:t>
            </a:r>
            <a:r>
              <a:rPr lang="tr-TR" dirty="0">
                <a:solidFill>
                  <a:srgbClr val="FF0000"/>
                </a:solidFill>
                <a:latin typeface="Aileron Bold"/>
              </a:rPr>
              <a:t>a 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a:t>
            </a:r>
            <a:r>
              <a:rPr lang="en-US" dirty="0" err="1">
                <a:solidFill>
                  <a:srgbClr val="FF0000"/>
                </a:solidFill>
                <a:latin typeface="Aileron Bold"/>
              </a:rPr>
              <a:t>bir</a:t>
            </a:r>
            <a:r>
              <a:rPr lang="en-US" dirty="0">
                <a:solidFill>
                  <a:srgbClr val="FF0000"/>
                </a:solidFill>
                <a:latin typeface="Aileron Bold"/>
              </a:rPr>
              <a:t> (1)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en-US" dirty="0">
                <a:solidFill>
                  <a:srgbClr val="FF0000"/>
                </a:solidFill>
                <a:latin typeface="Aileron Bold"/>
              </a:rPr>
              <a:t>.</a:t>
            </a:r>
          </a:p>
          <a:p>
            <a:pPr marL="388620" lvl="1" indent="-194310">
              <a:lnSpc>
                <a:spcPts val="2520"/>
              </a:lnSpc>
              <a:buFont typeface="Arial"/>
              <a:buChar char="•"/>
            </a:pPr>
            <a:r>
              <a:rPr lang="tr-TR" dirty="0">
                <a:solidFill>
                  <a:srgbClr val="FF0000"/>
                </a:solidFill>
                <a:latin typeface="Aileron Bold"/>
              </a:rPr>
              <a:t>Problem çözümü için seçilen yöntem, izlenecek metot/deney, kullanılacak teknolojiler, analizler ve kullanılacak malzemelerle desteklenerek açıklanmalıdır.</a:t>
            </a:r>
          </a:p>
          <a:p>
            <a:pPr marL="388620" lvl="1" indent="-194310">
              <a:lnSpc>
                <a:spcPts val="2520"/>
              </a:lnSpc>
              <a:buFont typeface="Arial"/>
              <a:buChar char="•"/>
            </a:pPr>
            <a:r>
              <a:rPr lang="tr-TR" dirty="0">
                <a:solidFill>
                  <a:srgbClr val="FF0000"/>
                </a:solidFill>
                <a:latin typeface="Aileron Bold"/>
              </a:rPr>
              <a:t>Literatürdeki teknik bilgilerden, formüllerden, kodlardan, vb. faydalanılarak ortaya konan fikrin probleme çözüm olabileceği somutlaştırılmalıdır.</a:t>
            </a:r>
          </a:p>
          <a:p>
            <a:pPr marL="388620" lvl="1" indent="-194310">
              <a:lnSpc>
                <a:spcPts val="2520"/>
              </a:lnSpc>
              <a:buFont typeface="Arial"/>
              <a:buChar char="•"/>
            </a:pPr>
            <a:endParaRPr lang="tr-TR" dirty="0">
              <a:solidFill>
                <a:srgbClr val="FF0000"/>
              </a:solidFill>
              <a:latin typeface="Aileron Bold"/>
            </a:endParaRPr>
          </a:p>
          <a:p>
            <a:pPr>
              <a:lnSpc>
                <a:spcPts val="2520"/>
              </a:lnSpc>
            </a:pPr>
            <a:endParaRPr lang="tr-TR" dirty="0">
              <a:solidFill>
                <a:srgbClr val="FF0000"/>
              </a:solidFill>
              <a:latin typeface="Aileron Bold"/>
            </a:endParaRPr>
          </a:p>
          <a:p>
            <a:pPr marL="194311" lvl="1">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p:txBody>
      </p:sp>
      <p:sp>
        <p:nvSpPr>
          <p:cNvPr id="4" name="AutoShape 20">
            <a:extLst>
              <a:ext uri="{FF2B5EF4-FFF2-40B4-BE49-F238E27FC236}">
                <a16:creationId xmlns:a16="http://schemas.microsoft.com/office/drawing/2014/main" id="{FA202EC7-AF77-0148-4ACA-F76202ADF40A}"/>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4A88744A-AC23-94F3-7051-62072ED2B873}"/>
              </a:ext>
            </a:extLst>
          </p:cNvPr>
          <p:cNvSpPr txBox="1"/>
          <p:nvPr/>
        </p:nvSpPr>
        <p:spPr>
          <a:xfrm>
            <a:off x="15217854" y="4610100"/>
            <a:ext cx="2237037"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89EB59CD-393C-AB81-58B9-49D55427559E}"/>
              </a:ext>
            </a:extLst>
          </p:cNvPr>
          <p:cNvSpPr txBox="1"/>
          <p:nvPr/>
        </p:nvSpPr>
        <p:spPr>
          <a:xfrm>
            <a:off x="15762030" y="3405481"/>
            <a:ext cx="1660989"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38D25EEB-44B2-C7F9-0C42-2084965FF48D}"/>
              </a:ext>
            </a:extLst>
          </p:cNvPr>
          <p:cNvSpPr txBox="1"/>
          <p:nvPr/>
        </p:nvSpPr>
        <p:spPr>
          <a:xfrm>
            <a:off x="15986302" y="7353300"/>
            <a:ext cx="1436949"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519978E3-5D05-76FA-C0C5-A73087E9E894}"/>
              </a:ext>
            </a:extLst>
          </p:cNvPr>
          <p:cNvSpPr txBox="1"/>
          <p:nvPr/>
        </p:nvSpPr>
        <p:spPr>
          <a:xfrm>
            <a:off x="15217854" y="5372100"/>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9" name="TextBox 38">
            <a:extLst>
              <a:ext uri="{FF2B5EF4-FFF2-40B4-BE49-F238E27FC236}">
                <a16:creationId xmlns:a16="http://schemas.microsoft.com/office/drawing/2014/main" id="{A09C7C53-5848-912B-EB36-855D6B4325F9}"/>
              </a:ext>
            </a:extLst>
          </p:cNvPr>
          <p:cNvSpPr txBox="1"/>
          <p:nvPr/>
        </p:nvSpPr>
        <p:spPr>
          <a:xfrm>
            <a:off x="15745664" y="6896100"/>
            <a:ext cx="1693723"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HEDEF ALAN</a:t>
            </a:r>
            <a:endParaRPr lang="en-US" sz="1550" dirty="0">
              <a:solidFill>
                <a:srgbClr val="1C4C61"/>
              </a:solidFill>
              <a:latin typeface="Aileron Bold"/>
            </a:endParaRPr>
          </a:p>
        </p:txBody>
      </p:sp>
      <p:sp>
        <p:nvSpPr>
          <p:cNvPr id="10" name="TextBox 39">
            <a:extLst>
              <a:ext uri="{FF2B5EF4-FFF2-40B4-BE49-F238E27FC236}">
                <a16:creationId xmlns:a16="http://schemas.microsoft.com/office/drawing/2014/main" id="{BE5ECAD0-322D-7401-6E54-5DF7D0BCC205}"/>
              </a:ext>
            </a:extLst>
          </p:cNvPr>
          <p:cNvSpPr txBox="1"/>
          <p:nvPr/>
        </p:nvSpPr>
        <p:spPr>
          <a:xfrm>
            <a:off x="15668804" y="6134100"/>
            <a:ext cx="172418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11" name="Freeform 21">
            <a:extLst>
              <a:ext uri="{FF2B5EF4-FFF2-40B4-BE49-F238E27FC236}">
                <a16:creationId xmlns:a16="http://schemas.microsoft.com/office/drawing/2014/main" id="{4C8FCA1A-2F27-2AC6-F3D8-240E4FA32F2F}"/>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Freeform 21">
            <a:extLst>
              <a:ext uri="{FF2B5EF4-FFF2-40B4-BE49-F238E27FC236}">
                <a16:creationId xmlns:a16="http://schemas.microsoft.com/office/drawing/2014/main" id="{9E6DC214-EE90-8E92-6434-E018BF2A6F90}"/>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E3EBC02F-D429-3099-C79C-9F5CFF5B0485}"/>
              </a:ext>
            </a:extLst>
          </p:cNvPr>
          <p:cNvSpPr/>
          <p:nvPr/>
        </p:nvSpPr>
        <p:spPr>
          <a:xfrm>
            <a:off x="17528868" y="4000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2DDFF1A1-0135-EC95-5989-414A897FBCA1}"/>
              </a:ext>
            </a:extLst>
          </p:cNvPr>
          <p:cNvSpPr/>
          <p:nvPr/>
        </p:nvSpPr>
        <p:spPr>
          <a:xfrm>
            <a:off x="17537349" y="4686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D8CF4730-FF87-ED97-7858-15DAE971D9EE}"/>
              </a:ext>
            </a:extLst>
          </p:cNvPr>
          <p:cNvSpPr/>
          <p:nvPr/>
        </p:nvSpPr>
        <p:spPr>
          <a:xfrm>
            <a:off x="17531608" y="5448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ED61BCAE-5873-E6DA-245C-384473845DDF}"/>
              </a:ext>
            </a:extLst>
          </p:cNvPr>
          <p:cNvSpPr/>
          <p:nvPr/>
        </p:nvSpPr>
        <p:spPr>
          <a:xfrm>
            <a:off x="17516246" y="6210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016599D9-EC19-2314-BCE5-3E81DB455A2B}"/>
              </a:ext>
            </a:extLst>
          </p:cNvPr>
          <p:cNvSpPr/>
          <p:nvPr/>
        </p:nvSpPr>
        <p:spPr>
          <a:xfrm>
            <a:off x="17516247" y="68199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8A607AD0-D464-B9CB-4006-2E045F9B6477}"/>
              </a:ext>
            </a:extLst>
          </p:cNvPr>
          <p:cNvSpPr/>
          <p:nvPr/>
        </p:nvSpPr>
        <p:spPr>
          <a:xfrm>
            <a:off x="17530931" y="7429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575ED210-2CFE-3DA6-334E-8901518C04E9}"/>
              </a:ext>
            </a:extLst>
          </p:cNvPr>
          <p:cNvSpPr txBox="1"/>
          <p:nvPr/>
        </p:nvSpPr>
        <p:spPr>
          <a:xfrm>
            <a:off x="15521473" y="2673548"/>
            <a:ext cx="1928327"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PROBLEMİN TANIMI </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B82C2A34-A2BD-C1CB-6044-9C02CCDA96A5}"/>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A072BF36-ADFE-7CED-442C-1F401FC18DC8}"/>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39C6B20F-08D0-6439-528F-A5A768AB4F95}"/>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891202C7-BC13-444E-AA12-F076F3BA1AA1}"/>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4" name="TextBox 35">
            <a:extLst>
              <a:ext uri="{FF2B5EF4-FFF2-40B4-BE49-F238E27FC236}">
                <a16:creationId xmlns:a16="http://schemas.microsoft.com/office/drawing/2014/main" id="{1627AF20-EB33-E725-90C1-3045F4CAF237}"/>
              </a:ext>
            </a:extLst>
          </p:cNvPr>
          <p:cNvSpPr txBox="1"/>
          <p:nvPr/>
        </p:nvSpPr>
        <p:spPr>
          <a:xfrm>
            <a:off x="16383000" y="4076700"/>
            <a:ext cx="1066800" cy="257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5" name="Freeform 21">
            <a:extLst>
              <a:ext uri="{FF2B5EF4-FFF2-40B4-BE49-F238E27FC236}">
                <a16:creationId xmlns:a16="http://schemas.microsoft.com/office/drawing/2014/main" id="{E1F8A047-6CAF-E22B-C1E0-512A73BD12E3}"/>
              </a:ext>
            </a:extLst>
          </p:cNvPr>
          <p:cNvSpPr/>
          <p:nvPr/>
        </p:nvSpPr>
        <p:spPr>
          <a:xfrm>
            <a:off x="17544109" y="810983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6" name="TextBox 38">
            <a:extLst>
              <a:ext uri="{FF2B5EF4-FFF2-40B4-BE49-F238E27FC236}">
                <a16:creationId xmlns:a16="http://schemas.microsoft.com/office/drawing/2014/main" id="{732D1D94-D6E0-E52D-E8E5-BD25BE2E7F33}"/>
              </a:ext>
            </a:extLst>
          </p:cNvPr>
          <p:cNvSpPr txBox="1"/>
          <p:nvPr/>
        </p:nvSpPr>
        <p:spPr>
          <a:xfrm>
            <a:off x="16004968" y="8161599"/>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Tree>
    <p:extLst>
      <p:ext uri="{BB962C8B-B14F-4D97-AF65-F5344CB8AC3E}">
        <p14:creationId xmlns:p14="http://schemas.microsoft.com/office/powerpoint/2010/main" val="119322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A6F3C20-4C0B-DEE5-6075-9C6D1EFCA836}"/>
            </a:ext>
          </a:extLst>
        </p:cNvPr>
        <p:cNvGrpSpPr/>
        <p:nvPr/>
      </p:nvGrpSpPr>
      <p:grpSpPr>
        <a:xfrm>
          <a:off x="0" y="0"/>
          <a:ext cx="0" cy="0"/>
          <a:chOff x="0" y="0"/>
          <a:chExt cx="0" cy="0"/>
        </a:xfrm>
      </p:grpSpPr>
      <p:sp>
        <p:nvSpPr>
          <p:cNvPr id="2" name="TextBox 114">
            <a:extLst>
              <a:ext uri="{FF2B5EF4-FFF2-40B4-BE49-F238E27FC236}">
                <a16:creationId xmlns:a16="http://schemas.microsoft.com/office/drawing/2014/main" id="{C4D35369-CF85-AD91-CE7E-213943417471}"/>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
        <p:nvSpPr>
          <p:cNvPr id="3" name="TextBox 12">
            <a:extLst>
              <a:ext uri="{FF2B5EF4-FFF2-40B4-BE49-F238E27FC236}">
                <a16:creationId xmlns:a16="http://schemas.microsoft.com/office/drawing/2014/main" id="{B6C00E96-5316-33D4-8C95-87ED1DCE31BA}"/>
              </a:ext>
            </a:extLst>
          </p:cNvPr>
          <p:cNvSpPr txBox="1">
            <a:spLocks/>
          </p:cNvSpPr>
          <p:nvPr/>
        </p:nvSpPr>
        <p:spPr>
          <a:xfrm>
            <a:off x="1654254" y="266700"/>
            <a:ext cx="14656674" cy="820738"/>
          </a:xfrm>
          <a:prstGeom prst="rect">
            <a:avLst/>
          </a:prstGeom>
        </p:spPr>
        <p:txBody>
          <a:bodyPr wrap="square" lIns="0" tIns="0" rIns="0" bIns="0" rtlCol="0" anchor="t">
            <a:spAutoFit/>
          </a:bodyPr>
          <a:lstStyle/>
          <a:p>
            <a:pPr algn="ctr">
              <a:lnSpc>
                <a:spcPts val="6399"/>
              </a:lnSpc>
              <a:spcBef>
                <a:spcPct val="0"/>
              </a:spcBef>
            </a:pPr>
            <a:r>
              <a:rPr lang="tr-TR" sz="5700" dirty="0">
                <a:solidFill>
                  <a:srgbClr val="1A426A"/>
                </a:solidFill>
                <a:latin typeface="Active Heart"/>
              </a:rPr>
              <a:t>PROTOTİP/ UYGULAMA GELİŞTİRME DURUMU</a:t>
            </a:r>
            <a:r>
              <a:rPr lang="en-US" sz="5700" dirty="0">
                <a:solidFill>
                  <a:srgbClr val="1A426A"/>
                </a:solidFill>
                <a:latin typeface="Active Heart"/>
              </a:rPr>
              <a:t> </a:t>
            </a:r>
          </a:p>
        </p:txBody>
      </p:sp>
      <p:sp>
        <p:nvSpPr>
          <p:cNvPr id="36" name="TextBox 50">
            <a:extLst>
              <a:ext uri="{FF2B5EF4-FFF2-40B4-BE49-F238E27FC236}">
                <a16:creationId xmlns:a16="http://schemas.microsoft.com/office/drawing/2014/main" id="{C5F3CD83-C2A0-9A2F-4BEB-D14507101EFC}"/>
              </a:ext>
            </a:extLst>
          </p:cNvPr>
          <p:cNvSpPr txBox="1"/>
          <p:nvPr/>
        </p:nvSpPr>
        <p:spPr>
          <a:xfrm>
            <a:off x="1219200" y="2073322"/>
            <a:ext cx="13106400" cy="4461350"/>
          </a:xfrm>
          <a:prstGeom prst="rect">
            <a:avLst/>
          </a:prstGeom>
        </p:spPr>
        <p:txBody>
          <a:bodyPr wrap="square" lIns="0" tIns="0" rIns="0" bIns="0" rtlCol="0" anchor="t">
            <a:spAutoFit/>
          </a:bodyPr>
          <a:lstStyle/>
          <a:p>
            <a:pPr marL="388620" lvl="1" indent="-194310" algn="just">
              <a:lnSpc>
                <a:spcPts val="2520"/>
              </a:lnSpc>
              <a:buFont typeface="Arial"/>
              <a:buChar char="•"/>
            </a:pPr>
            <a:r>
              <a:rPr lang="tr-TR" dirty="0">
                <a:solidFill>
                  <a:srgbClr val="FF0000"/>
                </a:solidFill>
                <a:latin typeface="Aileron Bold"/>
              </a:rPr>
              <a:t>Bu bölümde, proje fikrinizin somut bir ürüne dönüşme süreci detaylı bir şekilde açıklanmalıdır. Proje kapsamında prototip geliştirilip geliştirilmediği belirtilmeli; varsa prototipe ait görseller, prototip yoksa tasarımsal çalışmanızın görselleri ya da demo görselleri sunuma eklenmelidir.</a:t>
            </a:r>
          </a:p>
          <a:p>
            <a:pPr marL="388620" lvl="1" indent="-194310" algn="just">
              <a:lnSpc>
                <a:spcPts val="2520"/>
              </a:lnSpc>
              <a:buFont typeface="Arial"/>
              <a:buChar char="•"/>
            </a:pPr>
            <a:r>
              <a:rPr lang="tr-TR" dirty="0">
                <a:solidFill>
                  <a:srgbClr val="FF0000"/>
                </a:solidFill>
                <a:latin typeface="Aileron Bold"/>
              </a:rPr>
              <a:t>Geliştirilen prototipin ne tür bir sistem ya da ürün olduğu açıklanmalı; çözüm önerinizin donanım temelli mi, yazılım temelli mi yoksa her ikisini içeren hibrit bir yapı mı olduğu açıkça belirtilmelidir. Prototipin oluşturulmasında kullanılan malzeme, araç, yazılım, sensör, sistem bileşenleri gibi teknik detaylar maddeler halinde listelenmelidir.</a:t>
            </a:r>
          </a:p>
          <a:p>
            <a:pPr marL="388620" lvl="1" indent="-194310" algn="just">
              <a:lnSpc>
                <a:spcPts val="2520"/>
              </a:lnSpc>
              <a:buFont typeface="Arial"/>
              <a:buChar char="•"/>
            </a:pPr>
            <a:r>
              <a:rPr lang="tr-TR" dirty="0">
                <a:solidFill>
                  <a:srgbClr val="FF0000"/>
                </a:solidFill>
                <a:latin typeface="Aileron Bold"/>
              </a:rPr>
              <a:t> Prototipin geliştirme süreci; tasarım, üretim, kodlama ve test aşamaları şeklinde açıklanmalı, bu aşamalardan hangilerinin tamamlandığı belirtilmelidir. Henüz tamamlanmamış olan kısımlar varsa, üzerinde çalışılan alanlar açıklanmalıdır.</a:t>
            </a:r>
          </a:p>
          <a:p>
            <a:pPr marL="388620" lvl="1" indent="-194310" algn="just">
              <a:lnSpc>
                <a:spcPts val="2520"/>
              </a:lnSpc>
              <a:buFont typeface="Arial"/>
              <a:buChar char="•"/>
            </a:pPr>
            <a:r>
              <a:rPr lang="tr-TR" dirty="0">
                <a:solidFill>
                  <a:srgbClr val="FF0000"/>
                </a:solidFill>
                <a:latin typeface="Aileron Bold"/>
              </a:rPr>
              <a:t>Prototipleşemeyen projelerin neden prototipleşemedikleri detaylı ve mantıklı bir şekilde açıklanmalıdır. Prototipleşemeyen projeler için modelleme, simülasyon, tasarım, vb. yollar tercih edilmelidir.</a:t>
            </a:r>
          </a:p>
          <a:p>
            <a:pPr marL="388620" lvl="1" indent="-194310" algn="just">
              <a:lnSpc>
                <a:spcPts val="2520"/>
              </a:lnSpc>
              <a:buFont typeface="Arial"/>
              <a:buChar char="•"/>
            </a:pPr>
            <a:endParaRPr lang="tr-TR" dirty="0">
              <a:solidFill>
                <a:srgbClr val="FF0000"/>
              </a:solidFill>
              <a:latin typeface="Aileron Bold"/>
            </a:endParaRPr>
          </a:p>
          <a:p>
            <a:pPr marL="388620" lvl="1" indent="-194310" algn="just">
              <a:lnSpc>
                <a:spcPts val="2520"/>
              </a:lnSpc>
              <a:buFont typeface="Arial"/>
              <a:buChar char="•"/>
            </a:pPr>
            <a:r>
              <a:rPr lang="tr-TR" dirty="0">
                <a:solidFill>
                  <a:srgbClr val="FF0000"/>
                </a:solidFill>
                <a:latin typeface="Aileron Bold Italics"/>
              </a:rPr>
              <a:t>Prototip/ Uygulama Geliştirme Durumu </a:t>
            </a:r>
            <a:r>
              <a:rPr lang="tr-TR" u="sng" dirty="0">
                <a:solidFill>
                  <a:srgbClr val="FF0000"/>
                </a:solidFill>
                <a:latin typeface="Aileron Bold Italics"/>
              </a:rPr>
              <a:t>e</a:t>
            </a:r>
            <a:r>
              <a:rPr lang="en-US" u="sng" dirty="0">
                <a:solidFill>
                  <a:srgbClr val="FF0000"/>
                </a:solidFill>
                <a:latin typeface="Aileron Bold Italics"/>
              </a:rPr>
              <a:t>n </a:t>
            </a:r>
            <a:r>
              <a:rPr lang="en-US" u="sng" dirty="0" err="1">
                <a:solidFill>
                  <a:srgbClr val="FF0000"/>
                </a:solidFill>
                <a:latin typeface="Aileron Bold Italics"/>
              </a:rPr>
              <a:t>fazla</a:t>
            </a:r>
            <a:r>
              <a:rPr lang="tr-TR" u="sng" dirty="0">
                <a:solidFill>
                  <a:srgbClr val="FF0000"/>
                </a:solidFill>
                <a:latin typeface="Aileron Bold Italics"/>
              </a:rPr>
              <a:t> </a:t>
            </a:r>
            <a:r>
              <a:rPr lang="en-US" dirty="0">
                <a:solidFill>
                  <a:srgbClr val="FF0000"/>
                </a:solidFill>
                <a:latin typeface="Aileron Bold"/>
              </a:rPr>
              <a:t>(</a:t>
            </a:r>
            <a:r>
              <a:rPr lang="tr-TR" dirty="0">
                <a:solidFill>
                  <a:srgbClr val="FF0000"/>
                </a:solidFill>
                <a:latin typeface="Aileron Bold"/>
              </a:rPr>
              <a:t>1</a:t>
            </a:r>
            <a:r>
              <a:rPr lang="en-US" dirty="0">
                <a:solidFill>
                  <a:srgbClr val="FF0000"/>
                </a:solidFill>
                <a:latin typeface="Aileron Bold"/>
              </a:rPr>
              <a:t>) </a:t>
            </a:r>
            <a:r>
              <a:rPr lang="en-US" dirty="0" err="1">
                <a:solidFill>
                  <a:srgbClr val="FF0000"/>
                </a:solidFill>
                <a:latin typeface="Aileron Bold"/>
              </a:rPr>
              <a:t>sayfad</a:t>
            </a:r>
            <a:r>
              <a:rPr lang="tr-TR" dirty="0">
                <a:solidFill>
                  <a:srgbClr val="FF0000"/>
                </a:solidFill>
                <a:latin typeface="Aileron Bold"/>
              </a:rPr>
              <a:t>a açıklanmalıdır.</a:t>
            </a:r>
          </a:p>
          <a:p>
            <a:pPr marL="194310" lvl="1" algn="just">
              <a:lnSpc>
                <a:spcPts val="2520"/>
              </a:lnSpc>
            </a:pPr>
            <a:endParaRPr lang="en-US" dirty="0">
              <a:solidFill>
                <a:srgbClr val="DE2223"/>
              </a:solidFill>
              <a:latin typeface="Aileron Bold"/>
            </a:endParaRPr>
          </a:p>
        </p:txBody>
      </p:sp>
      <p:sp>
        <p:nvSpPr>
          <p:cNvPr id="4" name="AutoShape 20">
            <a:extLst>
              <a:ext uri="{FF2B5EF4-FFF2-40B4-BE49-F238E27FC236}">
                <a16:creationId xmlns:a16="http://schemas.microsoft.com/office/drawing/2014/main" id="{8FD82A3A-EA35-175E-DD96-8EEC3B44CDA6}"/>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136F7EA8-FD04-48BE-A86A-258C4267A30C}"/>
              </a:ext>
            </a:extLst>
          </p:cNvPr>
          <p:cNvSpPr txBox="1"/>
          <p:nvPr/>
        </p:nvSpPr>
        <p:spPr>
          <a:xfrm>
            <a:off x="15123636" y="4610100"/>
            <a:ext cx="2331255"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43B86D31-E5B9-D7CE-2088-596A52C52D26}"/>
              </a:ext>
            </a:extLst>
          </p:cNvPr>
          <p:cNvSpPr txBox="1"/>
          <p:nvPr/>
        </p:nvSpPr>
        <p:spPr>
          <a:xfrm>
            <a:off x="15762030" y="3405481"/>
            <a:ext cx="1660989"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A60528A9-2EA3-D932-0E51-987EDA1481CC}"/>
              </a:ext>
            </a:extLst>
          </p:cNvPr>
          <p:cNvSpPr txBox="1"/>
          <p:nvPr/>
        </p:nvSpPr>
        <p:spPr>
          <a:xfrm>
            <a:off x="15986302" y="7353300"/>
            <a:ext cx="1436949"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DBA5107C-5BD6-CB99-D73F-6C457B8F13AD}"/>
              </a:ext>
            </a:extLst>
          </p:cNvPr>
          <p:cNvSpPr txBox="1"/>
          <p:nvPr/>
        </p:nvSpPr>
        <p:spPr>
          <a:xfrm>
            <a:off x="15217854" y="5372100"/>
            <a:ext cx="2198106"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9" name="TextBox 38">
            <a:extLst>
              <a:ext uri="{FF2B5EF4-FFF2-40B4-BE49-F238E27FC236}">
                <a16:creationId xmlns:a16="http://schemas.microsoft.com/office/drawing/2014/main" id="{9657C31C-7217-3A12-94E0-B92EE3586CAD}"/>
              </a:ext>
            </a:extLst>
          </p:cNvPr>
          <p:cNvSpPr txBox="1"/>
          <p:nvPr/>
        </p:nvSpPr>
        <p:spPr>
          <a:xfrm>
            <a:off x="15745664" y="6896100"/>
            <a:ext cx="1693723"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HEDEF ALAN</a:t>
            </a:r>
            <a:endParaRPr lang="en-US" sz="1550" dirty="0">
              <a:solidFill>
                <a:srgbClr val="1C4C61"/>
              </a:solidFill>
              <a:latin typeface="Aileron Bold"/>
            </a:endParaRPr>
          </a:p>
        </p:txBody>
      </p:sp>
      <p:sp>
        <p:nvSpPr>
          <p:cNvPr id="10" name="TextBox 39">
            <a:extLst>
              <a:ext uri="{FF2B5EF4-FFF2-40B4-BE49-F238E27FC236}">
                <a16:creationId xmlns:a16="http://schemas.microsoft.com/office/drawing/2014/main" id="{3AEE4A61-E2EA-0662-7CD8-1BB69B7C98D0}"/>
              </a:ext>
            </a:extLst>
          </p:cNvPr>
          <p:cNvSpPr txBox="1"/>
          <p:nvPr/>
        </p:nvSpPr>
        <p:spPr>
          <a:xfrm>
            <a:off x="15668804" y="6134100"/>
            <a:ext cx="172418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11" name="Freeform 21">
            <a:extLst>
              <a:ext uri="{FF2B5EF4-FFF2-40B4-BE49-F238E27FC236}">
                <a16:creationId xmlns:a16="http://schemas.microsoft.com/office/drawing/2014/main" id="{2317E2B2-6C48-D6A1-B4BE-7FAAC88E7E78}"/>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Freeform 21">
            <a:extLst>
              <a:ext uri="{FF2B5EF4-FFF2-40B4-BE49-F238E27FC236}">
                <a16:creationId xmlns:a16="http://schemas.microsoft.com/office/drawing/2014/main" id="{39E0CF5C-4EAE-05F8-47F3-45E838914517}"/>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DF523EE7-D229-D5AA-E86B-07B6004C5FA8}"/>
              </a:ext>
            </a:extLst>
          </p:cNvPr>
          <p:cNvSpPr/>
          <p:nvPr/>
        </p:nvSpPr>
        <p:spPr>
          <a:xfrm>
            <a:off x="17528868" y="4000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3E997A24-8A8C-5A72-EDEB-B6D29759A3F6}"/>
              </a:ext>
            </a:extLst>
          </p:cNvPr>
          <p:cNvSpPr/>
          <p:nvPr/>
        </p:nvSpPr>
        <p:spPr>
          <a:xfrm>
            <a:off x="17537349" y="4686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96D7D2D4-3785-1201-6340-8CCAAAD65D65}"/>
              </a:ext>
            </a:extLst>
          </p:cNvPr>
          <p:cNvSpPr/>
          <p:nvPr/>
        </p:nvSpPr>
        <p:spPr>
          <a:xfrm>
            <a:off x="17531608" y="5448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10DCEB6D-574E-84AF-FEB6-AEF91D4A49E5}"/>
              </a:ext>
            </a:extLst>
          </p:cNvPr>
          <p:cNvSpPr/>
          <p:nvPr/>
        </p:nvSpPr>
        <p:spPr>
          <a:xfrm>
            <a:off x="17516246" y="6210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1504B0B2-3A5A-15C4-5344-21A9476BACA8}"/>
              </a:ext>
            </a:extLst>
          </p:cNvPr>
          <p:cNvSpPr/>
          <p:nvPr/>
        </p:nvSpPr>
        <p:spPr>
          <a:xfrm>
            <a:off x="17516247" y="68199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350815DF-E6B0-0128-86ED-584E256D9D2A}"/>
              </a:ext>
            </a:extLst>
          </p:cNvPr>
          <p:cNvSpPr/>
          <p:nvPr/>
        </p:nvSpPr>
        <p:spPr>
          <a:xfrm>
            <a:off x="17530931" y="7429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FDC79B99-41DF-6D7E-27B7-AB92EFD4D878}"/>
              </a:ext>
            </a:extLst>
          </p:cNvPr>
          <p:cNvSpPr txBox="1"/>
          <p:nvPr/>
        </p:nvSpPr>
        <p:spPr>
          <a:xfrm>
            <a:off x="15521473" y="2673548"/>
            <a:ext cx="1928327"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PROBLEMİN TANIMI </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EACC77D1-7646-BDA7-7B37-6B1E9E25E176}"/>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AD8CA575-66E7-C8C1-7DCC-3F0A8B6BC0D3}"/>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6F37E845-1576-3426-BFD2-EF1B706DD74F}"/>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B8A366E1-B281-ED64-39F7-05D57690C310}"/>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4" name="TextBox 35">
            <a:extLst>
              <a:ext uri="{FF2B5EF4-FFF2-40B4-BE49-F238E27FC236}">
                <a16:creationId xmlns:a16="http://schemas.microsoft.com/office/drawing/2014/main" id="{3EEFDE8E-EB04-640C-359C-ED909C21EA71}"/>
              </a:ext>
            </a:extLst>
          </p:cNvPr>
          <p:cNvSpPr txBox="1"/>
          <p:nvPr/>
        </p:nvSpPr>
        <p:spPr>
          <a:xfrm>
            <a:off x="16004968" y="4076700"/>
            <a:ext cx="1444832"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5" name="Freeform 21">
            <a:extLst>
              <a:ext uri="{FF2B5EF4-FFF2-40B4-BE49-F238E27FC236}">
                <a16:creationId xmlns:a16="http://schemas.microsoft.com/office/drawing/2014/main" id="{0FF2F376-D325-610C-9ACA-E2C74BFE2587}"/>
              </a:ext>
            </a:extLst>
          </p:cNvPr>
          <p:cNvSpPr/>
          <p:nvPr/>
        </p:nvSpPr>
        <p:spPr>
          <a:xfrm>
            <a:off x="17544109" y="810983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6" name="TextBox 38">
            <a:extLst>
              <a:ext uri="{FF2B5EF4-FFF2-40B4-BE49-F238E27FC236}">
                <a16:creationId xmlns:a16="http://schemas.microsoft.com/office/drawing/2014/main" id="{A4192269-BE2E-65D7-C5BF-58F38B3FDADE}"/>
              </a:ext>
            </a:extLst>
          </p:cNvPr>
          <p:cNvSpPr txBox="1"/>
          <p:nvPr/>
        </p:nvSpPr>
        <p:spPr>
          <a:xfrm>
            <a:off x="16004968" y="8161599"/>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Tree>
    <p:extLst>
      <p:ext uri="{BB962C8B-B14F-4D97-AF65-F5344CB8AC3E}">
        <p14:creationId xmlns:p14="http://schemas.microsoft.com/office/powerpoint/2010/main" val="498540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0B33F94-6440-3D4D-6FD9-64D2A7A1E284}"/>
            </a:ext>
          </a:extLst>
        </p:cNvPr>
        <p:cNvGrpSpPr/>
        <p:nvPr/>
      </p:nvGrpSpPr>
      <p:grpSpPr>
        <a:xfrm>
          <a:off x="0" y="0"/>
          <a:ext cx="0" cy="0"/>
          <a:chOff x="0" y="0"/>
          <a:chExt cx="0" cy="0"/>
        </a:xfrm>
      </p:grpSpPr>
      <p:sp>
        <p:nvSpPr>
          <p:cNvPr id="2" name="TextBox 114">
            <a:extLst>
              <a:ext uri="{FF2B5EF4-FFF2-40B4-BE49-F238E27FC236}">
                <a16:creationId xmlns:a16="http://schemas.microsoft.com/office/drawing/2014/main" id="{746926EF-BF97-6D96-CD8E-AAF4DBEF6C67}"/>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
        <p:nvSpPr>
          <p:cNvPr id="3" name="TextBox 12">
            <a:extLst>
              <a:ext uri="{FF2B5EF4-FFF2-40B4-BE49-F238E27FC236}">
                <a16:creationId xmlns:a16="http://schemas.microsoft.com/office/drawing/2014/main" id="{C9355989-71F9-5FAC-A335-43EBDFB0195D}"/>
              </a:ext>
            </a:extLst>
          </p:cNvPr>
          <p:cNvSpPr txBox="1">
            <a:spLocks/>
          </p:cNvSpPr>
          <p:nvPr/>
        </p:nvSpPr>
        <p:spPr>
          <a:xfrm>
            <a:off x="1654254" y="266700"/>
            <a:ext cx="14656674" cy="820738"/>
          </a:xfrm>
          <a:prstGeom prst="rect">
            <a:avLst/>
          </a:prstGeom>
        </p:spPr>
        <p:txBody>
          <a:bodyPr wrap="square" lIns="0" tIns="0" rIns="0" bIns="0" rtlCol="0" anchor="t">
            <a:spAutoFit/>
          </a:bodyPr>
          <a:lstStyle/>
          <a:p>
            <a:pPr algn="ctr">
              <a:lnSpc>
                <a:spcPts val="6399"/>
              </a:lnSpc>
              <a:spcBef>
                <a:spcPct val="0"/>
              </a:spcBef>
            </a:pPr>
            <a:r>
              <a:rPr lang="tr-TR" sz="6000" dirty="0">
                <a:solidFill>
                  <a:srgbClr val="1A426A"/>
                </a:solidFill>
                <a:latin typeface="Active Heart"/>
              </a:rPr>
              <a:t>UYGULANABİLİRLİK VE SÜRDÜRÜLEBİLİRİLİK</a:t>
            </a:r>
            <a:endParaRPr lang="en-US" sz="6000" dirty="0">
              <a:solidFill>
                <a:srgbClr val="1A426A"/>
              </a:solidFill>
              <a:latin typeface="Active Heart"/>
            </a:endParaRPr>
          </a:p>
        </p:txBody>
      </p:sp>
      <p:sp>
        <p:nvSpPr>
          <p:cNvPr id="36" name="TextBox 50">
            <a:extLst>
              <a:ext uri="{FF2B5EF4-FFF2-40B4-BE49-F238E27FC236}">
                <a16:creationId xmlns:a16="http://schemas.microsoft.com/office/drawing/2014/main" id="{CB4BE063-8D3D-51D6-5C10-46BA839B82AB}"/>
              </a:ext>
            </a:extLst>
          </p:cNvPr>
          <p:cNvSpPr txBox="1"/>
          <p:nvPr/>
        </p:nvSpPr>
        <p:spPr>
          <a:xfrm>
            <a:off x="1219200" y="2121381"/>
            <a:ext cx="13106400" cy="4781950"/>
          </a:xfrm>
          <a:prstGeom prst="rect">
            <a:avLst/>
          </a:prstGeom>
        </p:spPr>
        <p:txBody>
          <a:bodyPr wrap="square" lIns="0" tIns="0" rIns="0" bIns="0" rtlCol="0" anchor="t">
            <a:spAutoFit/>
          </a:bodyPr>
          <a:lstStyle/>
          <a:p>
            <a:pPr marL="388620" lvl="1" indent="-194310" algn="just">
              <a:lnSpc>
                <a:spcPts val="2520"/>
              </a:lnSpc>
              <a:buFont typeface="Arial"/>
              <a:buChar char="•"/>
            </a:pPr>
            <a:r>
              <a:rPr lang="tr-TR" dirty="0">
                <a:solidFill>
                  <a:srgbClr val="FF0000"/>
                </a:solidFill>
                <a:latin typeface="Aileron Bold"/>
              </a:rPr>
              <a:t>Uygulanabilirlik ve Sürdürülebilirlik </a:t>
            </a:r>
            <a:r>
              <a:rPr lang="en-US" u="sng" dirty="0" err="1">
                <a:solidFill>
                  <a:srgbClr val="FF0000"/>
                </a:solidFill>
                <a:latin typeface="Aileron Bold Italics"/>
              </a:rPr>
              <a:t>en</a:t>
            </a:r>
            <a:r>
              <a:rPr lang="en-US" u="sng" dirty="0">
                <a:solidFill>
                  <a:srgbClr val="FF0000"/>
                </a:solidFill>
                <a:latin typeface="Aileron Bold Italics"/>
              </a:rPr>
              <a:t> </a:t>
            </a:r>
            <a:r>
              <a:rPr lang="en-US" u="sng" dirty="0" err="1">
                <a:solidFill>
                  <a:srgbClr val="FF0000"/>
                </a:solidFill>
                <a:latin typeface="Aileron Bold Italics"/>
              </a:rPr>
              <a:t>fazla</a:t>
            </a:r>
            <a:r>
              <a:rPr lang="en-US" u="sng" dirty="0">
                <a:solidFill>
                  <a:srgbClr val="FF0000"/>
                </a:solidFill>
                <a:latin typeface="Aileron Bold Italics"/>
              </a:rPr>
              <a:t> </a:t>
            </a:r>
            <a:r>
              <a:rPr lang="tr-TR" dirty="0">
                <a:solidFill>
                  <a:srgbClr val="FF0000"/>
                </a:solidFill>
                <a:latin typeface="Aileron Bold"/>
              </a:rPr>
              <a:t>iki </a:t>
            </a:r>
            <a:r>
              <a:rPr lang="en-US" dirty="0">
                <a:solidFill>
                  <a:srgbClr val="FF0000"/>
                </a:solidFill>
                <a:latin typeface="Aileron Bold"/>
              </a:rPr>
              <a:t>(</a:t>
            </a:r>
            <a:r>
              <a:rPr lang="tr-TR" dirty="0">
                <a:solidFill>
                  <a:srgbClr val="FF0000"/>
                </a:solidFill>
                <a:latin typeface="Aileron Bold"/>
              </a:rPr>
              <a:t>2</a:t>
            </a:r>
            <a:r>
              <a:rPr lang="en-US" dirty="0">
                <a:solidFill>
                  <a:srgbClr val="FF0000"/>
                </a:solidFill>
                <a:latin typeface="Aileron Bold"/>
              </a:rPr>
              <a:t>) </a:t>
            </a:r>
            <a:r>
              <a:rPr lang="en-US" dirty="0" err="1">
                <a:solidFill>
                  <a:srgbClr val="FF0000"/>
                </a:solidFill>
                <a:latin typeface="Aileron Bold"/>
              </a:rPr>
              <a:t>sayfad</a:t>
            </a:r>
            <a:r>
              <a:rPr lang="tr-TR" dirty="0">
                <a:solidFill>
                  <a:srgbClr val="FF0000"/>
                </a:solidFill>
                <a:latin typeface="Aileron Bold"/>
              </a:rPr>
              <a:t>a 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a:t>
            </a:r>
            <a:r>
              <a:rPr lang="en-US" dirty="0" err="1">
                <a:solidFill>
                  <a:srgbClr val="FF0000"/>
                </a:solidFill>
                <a:latin typeface="Aileron Bold"/>
              </a:rPr>
              <a:t>bir</a:t>
            </a:r>
            <a:r>
              <a:rPr lang="en-US" dirty="0">
                <a:solidFill>
                  <a:srgbClr val="FF0000"/>
                </a:solidFill>
                <a:latin typeface="Aileron Bold"/>
              </a:rPr>
              <a:t> (1)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tr-TR" dirty="0">
                <a:solidFill>
                  <a:srgbClr val="FF0000"/>
                </a:solidFill>
                <a:latin typeface="Aileron Bold"/>
              </a:rPr>
              <a:t>.</a:t>
            </a:r>
            <a:endParaRPr lang="en-US" dirty="0">
              <a:solidFill>
                <a:srgbClr val="FF0000"/>
              </a:solidFill>
              <a:latin typeface="Aileron Bold"/>
            </a:endParaRPr>
          </a:p>
          <a:p>
            <a:pPr marL="388620" lvl="1" indent="-194310" algn="just">
              <a:lnSpc>
                <a:spcPts val="2520"/>
              </a:lnSpc>
              <a:buFont typeface="Arial"/>
              <a:buChar char="•"/>
            </a:pPr>
            <a:r>
              <a:rPr lang="en-US" dirty="0" err="1">
                <a:solidFill>
                  <a:srgbClr val="FF0000"/>
                </a:solidFill>
                <a:latin typeface="Aileron Bold"/>
              </a:rPr>
              <a:t>Ürün</a:t>
            </a:r>
            <a:r>
              <a:rPr lang="en-US" dirty="0">
                <a:solidFill>
                  <a:srgbClr val="FF0000"/>
                </a:solidFill>
                <a:latin typeface="Aileron Bold"/>
              </a:rPr>
              <a:t>/</a:t>
            </a:r>
            <a:r>
              <a:rPr lang="en-US" dirty="0" err="1">
                <a:solidFill>
                  <a:srgbClr val="FF0000"/>
                </a:solidFill>
                <a:latin typeface="Aileron Bold"/>
              </a:rPr>
              <a:t>proje</a:t>
            </a:r>
            <a:r>
              <a:rPr lang="en-US" dirty="0">
                <a:solidFill>
                  <a:srgbClr val="FF0000"/>
                </a:solidFill>
                <a:latin typeface="Aileron Bold"/>
              </a:rPr>
              <a:t> </a:t>
            </a:r>
            <a:r>
              <a:rPr lang="en-US" dirty="0" err="1">
                <a:solidFill>
                  <a:srgbClr val="FF0000"/>
                </a:solidFill>
                <a:latin typeface="Aileron Bold"/>
              </a:rPr>
              <a:t>hakkında</a:t>
            </a:r>
            <a:r>
              <a:rPr lang="en-US" dirty="0">
                <a:solidFill>
                  <a:srgbClr val="FF0000"/>
                </a:solidFill>
                <a:latin typeface="Aileron Bold"/>
              </a:rPr>
              <a:t> </a:t>
            </a:r>
            <a:r>
              <a:rPr lang="en-US" dirty="0" err="1">
                <a:solidFill>
                  <a:srgbClr val="FF0000"/>
                </a:solidFill>
                <a:latin typeface="Aileron Bold"/>
              </a:rPr>
              <a:t>detaylı</a:t>
            </a:r>
            <a:r>
              <a:rPr lang="en-US" dirty="0">
                <a:solidFill>
                  <a:srgbClr val="FF0000"/>
                </a:solidFill>
                <a:latin typeface="Aileron Bold"/>
              </a:rPr>
              <a:t> </a:t>
            </a:r>
            <a:r>
              <a:rPr lang="en-US" dirty="0" err="1">
                <a:solidFill>
                  <a:srgbClr val="FF0000"/>
                </a:solidFill>
                <a:latin typeface="Aileron Bold"/>
              </a:rPr>
              <a:t>bilgi</a:t>
            </a:r>
            <a:r>
              <a:rPr lang="en-US" dirty="0">
                <a:solidFill>
                  <a:srgbClr val="FF0000"/>
                </a:solidFill>
                <a:latin typeface="Aileron Bold"/>
              </a:rPr>
              <a:t> </a:t>
            </a:r>
            <a:r>
              <a:rPr lang="en-US" dirty="0" err="1">
                <a:solidFill>
                  <a:srgbClr val="FF0000"/>
                </a:solidFill>
                <a:latin typeface="Aileron Bold"/>
              </a:rPr>
              <a:t>içermelidir</a:t>
            </a:r>
            <a:r>
              <a:rPr lang="en-US" dirty="0">
                <a:solidFill>
                  <a:srgbClr val="FF0000"/>
                </a:solidFill>
                <a:latin typeface="Aileron Bold"/>
              </a:rPr>
              <a:t>.</a:t>
            </a:r>
            <a:endParaRPr lang="tr-TR" dirty="0">
              <a:solidFill>
                <a:srgbClr val="FF0000"/>
              </a:solidFill>
              <a:latin typeface="Aileron Bold"/>
            </a:endParaRPr>
          </a:p>
          <a:p>
            <a:pPr marL="388620" lvl="1" indent="-194310" algn="just">
              <a:lnSpc>
                <a:spcPts val="2520"/>
              </a:lnSpc>
              <a:buFont typeface="Arial"/>
              <a:buChar char="•"/>
            </a:pPr>
            <a:r>
              <a:rPr lang="en-US" dirty="0" err="1">
                <a:solidFill>
                  <a:srgbClr val="FF0000"/>
                </a:solidFill>
                <a:latin typeface="Aileron Bold"/>
              </a:rPr>
              <a:t>Ürün</a:t>
            </a:r>
            <a:r>
              <a:rPr lang="en-US" dirty="0">
                <a:solidFill>
                  <a:srgbClr val="FF0000"/>
                </a:solidFill>
                <a:latin typeface="Aileron Bold"/>
              </a:rPr>
              <a:t> </a:t>
            </a:r>
            <a:r>
              <a:rPr lang="en-US" dirty="0" err="1">
                <a:solidFill>
                  <a:srgbClr val="FF0000"/>
                </a:solidFill>
                <a:latin typeface="Aileron Bold"/>
              </a:rPr>
              <a:t>ticarileşme</a:t>
            </a:r>
            <a:r>
              <a:rPr lang="en-US" dirty="0">
                <a:solidFill>
                  <a:srgbClr val="FF0000"/>
                </a:solidFill>
                <a:latin typeface="Aileron Bold"/>
              </a:rPr>
              <a:t> </a:t>
            </a:r>
            <a:r>
              <a:rPr lang="en-US" dirty="0" err="1">
                <a:solidFill>
                  <a:srgbClr val="FF0000"/>
                </a:solidFill>
                <a:latin typeface="Aileron Bold"/>
              </a:rPr>
              <a:t>potansiyeline</a:t>
            </a:r>
            <a:r>
              <a:rPr lang="en-US" dirty="0">
                <a:solidFill>
                  <a:srgbClr val="FF0000"/>
                </a:solidFill>
                <a:latin typeface="Aileron Bold"/>
              </a:rPr>
              <a:t>, </a:t>
            </a:r>
            <a:r>
              <a:rPr lang="en-US" dirty="0" err="1">
                <a:solidFill>
                  <a:srgbClr val="FF0000"/>
                </a:solidFill>
                <a:latin typeface="Aileron Bold"/>
              </a:rPr>
              <a:t>ileri</a:t>
            </a:r>
            <a:r>
              <a:rPr lang="en-US" dirty="0">
                <a:solidFill>
                  <a:srgbClr val="FF0000"/>
                </a:solidFill>
                <a:latin typeface="Aileron Bold"/>
              </a:rPr>
              <a:t> </a:t>
            </a:r>
            <a:r>
              <a:rPr lang="en-US" dirty="0" err="1">
                <a:solidFill>
                  <a:srgbClr val="FF0000"/>
                </a:solidFill>
                <a:latin typeface="Aileron Bold"/>
              </a:rPr>
              <a:t>teknoloji</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katma</a:t>
            </a:r>
            <a:r>
              <a:rPr lang="en-US" dirty="0">
                <a:solidFill>
                  <a:srgbClr val="FF0000"/>
                </a:solidFill>
                <a:latin typeface="Aileron Bold"/>
              </a:rPr>
              <a:t> </a:t>
            </a:r>
            <a:r>
              <a:rPr lang="en-US" dirty="0" err="1">
                <a:solidFill>
                  <a:srgbClr val="FF0000"/>
                </a:solidFill>
                <a:latin typeface="Aileron Bold"/>
              </a:rPr>
              <a:t>değerine</a:t>
            </a:r>
            <a:r>
              <a:rPr lang="en-US" dirty="0">
                <a:solidFill>
                  <a:srgbClr val="FF0000"/>
                </a:solidFill>
                <a:latin typeface="Aileron Bold"/>
              </a:rPr>
              <a:t> </a:t>
            </a:r>
            <a:r>
              <a:rPr lang="en-US" dirty="0" err="1">
                <a:solidFill>
                  <a:srgbClr val="FF0000"/>
                </a:solidFill>
                <a:latin typeface="Aileron Bold"/>
              </a:rPr>
              <a:t>yer</a:t>
            </a:r>
            <a:r>
              <a:rPr lang="en-US" dirty="0">
                <a:solidFill>
                  <a:srgbClr val="FF0000"/>
                </a:solidFill>
                <a:latin typeface="Aileron Bold"/>
              </a:rPr>
              <a:t> </a:t>
            </a:r>
            <a:r>
              <a:rPr lang="en-US" dirty="0" err="1">
                <a:solidFill>
                  <a:srgbClr val="FF0000"/>
                </a:solidFill>
                <a:latin typeface="Aileron Bold"/>
              </a:rPr>
              <a:t>verilmelidir</a:t>
            </a:r>
            <a:r>
              <a:rPr lang="en-US" dirty="0">
                <a:solidFill>
                  <a:srgbClr val="FF0000"/>
                </a:solidFill>
                <a:latin typeface="Aileron Bold"/>
              </a:rPr>
              <a:t>. </a:t>
            </a:r>
            <a:r>
              <a:rPr lang="en-US" dirty="0" err="1">
                <a:solidFill>
                  <a:srgbClr val="FF0000"/>
                </a:solidFill>
                <a:latin typeface="Aileron Bold"/>
              </a:rPr>
              <a:t>Projede</a:t>
            </a:r>
            <a:r>
              <a:rPr lang="en-US" dirty="0">
                <a:solidFill>
                  <a:srgbClr val="FF0000"/>
                </a:solidFill>
                <a:latin typeface="Aileron Bold"/>
              </a:rPr>
              <a:t> </a:t>
            </a:r>
            <a:r>
              <a:rPr lang="en-US" dirty="0" err="1">
                <a:solidFill>
                  <a:srgbClr val="FF0000"/>
                </a:solidFill>
                <a:latin typeface="Aileron Bold"/>
              </a:rPr>
              <a:t>elde</a:t>
            </a:r>
            <a:r>
              <a:rPr lang="en-US" dirty="0">
                <a:solidFill>
                  <a:srgbClr val="FF0000"/>
                </a:solidFill>
                <a:latin typeface="Aileron Bold"/>
              </a:rPr>
              <a:t> </a:t>
            </a:r>
            <a:r>
              <a:rPr lang="en-US" dirty="0" err="1">
                <a:solidFill>
                  <a:srgbClr val="FF0000"/>
                </a:solidFill>
                <a:latin typeface="Aileron Bold"/>
              </a:rPr>
              <a:t>edilen</a:t>
            </a:r>
            <a:r>
              <a:rPr lang="en-US" dirty="0">
                <a:solidFill>
                  <a:srgbClr val="FF0000"/>
                </a:solidFill>
                <a:latin typeface="Aileron Bold"/>
              </a:rPr>
              <a:t> </a:t>
            </a:r>
            <a:r>
              <a:rPr lang="en-US" dirty="0" err="1">
                <a:solidFill>
                  <a:srgbClr val="FF0000"/>
                </a:solidFill>
                <a:latin typeface="Aileron Bold"/>
              </a:rPr>
              <a:t>çözüm</a:t>
            </a:r>
            <a:r>
              <a:rPr lang="en-US" dirty="0">
                <a:solidFill>
                  <a:srgbClr val="FF0000"/>
                </a:solidFill>
                <a:latin typeface="Aileron Bold"/>
              </a:rPr>
              <a:t> </a:t>
            </a:r>
            <a:r>
              <a:rPr lang="en-US" dirty="0" err="1">
                <a:solidFill>
                  <a:srgbClr val="FF0000"/>
                </a:solidFill>
                <a:latin typeface="Aileron Bold"/>
              </a:rPr>
              <a:t>mevcut</a:t>
            </a:r>
            <a:r>
              <a:rPr lang="en-US" dirty="0">
                <a:solidFill>
                  <a:srgbClr val="FF0000"/>
                </a:solidFill>
                <a:latin typeface="Aileron Bold"/>
              </a:rPr>
              <a:t> </a:t>
            </a:r>
            <a:r>
              <a:rPr lang="en-US" dirty="0" err="1">
                <a:solidFill>
                  <a:srgbClr val="FF0000"/>
                </a:solidFill>
                <a:latin typeface="Aileron Bold"/>
              </a:rPr>
              <a:t>şartlarda</a:t>
            </a:r>
            <a:r>
              <a:rPr lang="en-US" dirty="0">
                <a:solidFill>
                  <a:srgbClr val="FF0000"/>
                </a:solidFill>
                <a:latin typeface="Aileron Bold"/>
              </a:rPr>
              <a:t> </a:t>
            </a:r>
            <a:r>
              <a:rPr lang="en-US" dirty="0" err="1">
                <a:solidFill>
                  <a:srgbClr val="FF0000"/>
                </a:solidFill>
                <a:latin typeface="Aileron Bold"/>
              </a:rPr>
              <a:t>uygulanabiliyor</a:t>
            </a:r>
            <a:r>
              <a:rPr lang="en-US" dirty="0">
                <a:solidFill>
                  <a:srgbClr val="FF0000"/>
                </a:solidFill>
                <a:latin typeface="Aileron Bold"/>
              </a:rPr>
              <a:t> </a:t>
            </a:r>
            <a:r>
              <a:rPr lang="en-US" dirty="0" err="1">
                <a:solidFill>
                  <a:srgbClr val="FF0000"/>
                </a:solidFill>
                <a:latin typeface="Aileron Bold"/>
              </a:rPr>
              <a:t>olmalı</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üretilebilmelidir</a:t>
            </a:r>
            <a:r>
              <a:rPr lang="en-US" dirty="0">
                <a:solidFill>
                  <a:srgbClr val="FF0000"/>
                </a:solidFill>
                <a:latin typeface="Aileron Bold"/>
              </a:rPr>
              <a:t>. </a:t>
            </a:r>
            <a:r>
              <a:rPr lang="en-US" dirty="0" err="1">
                <a:solidFill>
                  <a:srgbClr val="FF0000"/>
                </a:solidFill>
                <a:latin typeface="Aileron Bold"/>
              </a:rPr>
              <a:t>Projenin</a:t>
            </a:r>
            <a:r>
              <a:rPr lang="en-US" dirty="0">
                <a:solidFill>
                  <a:srgbClr val="FF0000"/>
                </a:solidFill>
                <a:latin typeface="Aileron Bold"/>
              </a:rPr>
              <a:t> yeni </a:t>
            </a:r>
            <a:r>
              <a:rPr lang="en-US" dirty="0" err="1">
                <a:solidFill>
                  <a:srgbClr val="FF0000"/>
                </a:solidFill>
                <a:latin typeface="Aileron Bold"/>
              </a:rPr>
              <a:t>projeler</a:t>
            </a:r>
            <a:r>
              <a:rPr lang="en-US" dirty="0">
                <a:solidFill>
                  <a:srgbClr val="FF0000"/>
                </a:solidFill>
                <a:latin typeface="Aileron Bold"/>
              </a:rPr>
              <a:t>, </a:t>
            </a:r>
            <a:r>
              <a:rPr lang="en-US" dirty="0" err="1">
                <a:solidFill>
                  <a:srgbClr val="FF0000"/>
                </a:solidFill>
                <a:latin typeface="Aileron Bold"/>
              </a:rPr>
              <a:t>iş</a:t>
            </a:r>
            <a:r>
              <a:rPr lang="en-US" dirty="0">
                <a:solidFill>
                  <a:srgbClr val="FF0000"/>
                </a:solidFill>
                <a:latin typeface="Aileron Bold"/>
              </a:rPr>
              <a:t> </a:t>
            </a:r>
            <a:r>
              <a:rPr lang="en-US" dirty="0" err="1">
                <a:solidFill>
                  <a:srgbClr val="FF0000"/>
                </a:solidFill>
                <a:latin typeface="Aileron Bold"/>
              </a:rPr>
              <a:t>ortaklıkları</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iş</a:t>
            </a:r>
            <a:r>
              <a:rPr lang="en-US" dirty="0">
                <a:solidFill>
                  <a:srgbClr val="FF0000"/>
                </a:solidFill>
                <a:latin typeface="Aileron Bold"/>
              </a:rPr>
              <a:t> </a:t>
            </a:r>
            <a:r>
              <a:rPr lang="en-US" dirty="0" err="1">
                <a:solidFill>
                  <a:srgbClr val="FF0000"/>
                </a:solidFill>
                <a:latin typeface="Aileron Bold"/>
              </a:rPr>
              <a:t>birlikleri</a:t>
            </a:r>
            <a:r>
              <a:rPr lang="en-US" dirty="0">
                <a:solidFill>
                  <a:srgbClr val="FF0000"/>
                </a:solidFill>
                <a:latin typeface="Aileron Bold"/>
              </a:rPr>
              <a:t> </a:t>
            </a:r>
            <a:r>
              <a:rPr lang="en-US" dirty="0" err="1">
                <a:solidFill>
                  <a:srgbClr val="FF0000"/>
                </a:solidFill>
                <a:latin typeface="Aileron Bold"/>
              </a:rPr>
              <a:t>oluşturma</a:t>
            </a:r>
            <a:r>
              <a:rPr lang="en-US" dirty="0">
                <a:solidFill>
                  <a:srgbClr val="FF0000"/>
                </a:solidFill>
                <a:latin typeface="Aileron Bold"/>
              </a:rPr>
              <a:t> </a:t>
            </a:r>
            <a:r>
              <a:rPr lang="en-US" dirty="0" err="1">
                <a:solidFill>
                  <a:srgbClr val="FF0000"/>
                </a:solidFill>
                <a:latin typeface="Aileron Bold"/>
              </a:rPr>
              <a:t>potansiyeline</a:t>
            </a:r>
            <a:r>
              <a:rPr lang="en-US" dirty="0">
                <a:solidFill>
                  <a:srgbClr val="FF0000"/>
                </a:solidFill>
                <a:latin typeface="Aileron Bold"/>
              </a:rPr>
              <a:t> </a:t>
            </a:r>
            <a:r>
              <a:rPr lang="en-US" dirty="0" err="1">
                <a:solidFill>
                  <a:srgbClr val="FF0000"/>
                </a:solidFill>
                <a:latin typeface="Aileron Bold"/>
              </a:rPr>
              <a:t>sahip</a:t>
            </a:r>
            <a:r>
              <a:rPr lang="en-US" dirty="0">
                <a:solidFill>
                  <a:srgbClr val="FF0000"/>
                </a:solidFill>
                <a:latin typeface="Aileron Bold"/>
              </a:rPr>
              <a:t> </a:t>
            </a:r>
            <a:r>
              <a:rPr lang="en-US" dirty="0" err="1">
                <a:solidFill>
                  <a:srgbClr val="FF0000"/>
                </a:solidFill>
                <a:latin typeface="Aileron Bold"/>
              </a:rPr>
              <a:t>olduğu</a:t>
            </a:r>
            <a:r>
              <a:rPr lang="en-US" dirty="0">
                <a:solidFill>
                  <a:srgbClr val="FF0000"/>
                </a:solidFill>
                <a:latin typeface="Aileron Bold"/>
              </a:rPr>
              <a:t> </a:t>
            </a:r>
            <a:r>
              <a:rPr lang="en-US" dirty="0" err="1">
                <a:solidFill>
                  <a:srgbClr val="FF0000"/>
                </a:solidFill>
                <a:latin typeface="Aileron Bold"/>
              </a:rPr>
              <a:t>gösterilmelidir</a:t>
            </a:r>
            <a:r>
              <a:rPr lang="en-US" dirty="0">
                <a:solidFill>
                  <a:srgbClr val="FF0000"/>
                </a:solidFill>
                <a:latin typeface="Aileron Bold"/>
              </a:rPr>
              <a:t>. </a:t>
            </a:r>
            <a:endParaRPr lang="tr-TR" dirty="0">
              <a:solidFill>
                <a:srgbClr val="FF0000"/>
              </a:solidFill>
              <a:latin typeface="Aileron Bold"/>
            </a:endParaRPr>
          </a:p>
          <a:p>
            <a:pPr marL="388620" lvl="1" indent="-194310" algn="just">
              <a:lnSpc>
                <a:spcPts val="2520"/>
              </a:lnSpc>
              <a:buFont typeface="Arial"/>
              <a:buChar char="•"/>
            </a:pPr>
            <a:r>
              <a:rPr lang="tr-TR" dirty="0">
                <a:solidFill>
                  <a:srgbClr val="FF0000"/>
                </a:solidFill>
                <a:latin typeface="Aileron Bold"/>
              </a:rPr>
              <a:t>S</a:t>
            </a:r>
            <a:r>
              <a:rPr lang="en-US" dirty="0" err="1">
                <a:solidFill>
                  <a:srgbClr val="FF0000"/>
                </a:solidFill>
                <a:latin typeface="Aileron Bold"/>
              </a:rPr>
              <a:t>ürdürülebilirlik</a:t>
            </a:r>
            <a:r>
              <a:rPr lang="en-US" dirty="0">
                <a:solidFill>
                  <a:srgbClr val="FF0000"/>
                </a:solidFill>
                <a:latin typeface="Aileron Bold"/>
              </a:rPr>
              <a:t> </a:t>
            </a:r>
            <a:r>
              <a:rPr lang="en-US" dirty="0" err="1">
                <a:solidFill>
                  <a:srgbClr val="FF0000"/>
                </a:solidFill>
                <a:latin typeface="Aileron Bold"/>
              </a:rPr>
              <a:t>başlığı</a:t>
            </a:r>
            <a:r>
              <a:rPr lang="en-US" dirty="0">
                <a:solidFill>
                  <a:srgbClr val="FF0000"/>
                </a:solidFill>
                <a:latin typeface="Aileron Bold"/>
              </a:rPr>
              <a:t> </a:t>
            </a:r>
            <a:r>
              <a:rPr lang="en-US" dirty="0" err="1">
                <a:solidFill>
                  <a:srgbClr val="FF0000"/>
                </a:solidFill>
                <a:latin typeface="Aileron Bold"/>
              </a:rPr>
              <a:t>için</a:t>
            </a:r>
            <a:r>
              <a:rPr lang="en-US" dirty="0">
                <a:solidFill>
                  <a:srgbClr val="FF0000"/>
                </a:solidFill>
                <a:latin typeface="Aileron Bold"/>
              </a:rPr>
              <a:t> </a:t>
            </a:r>
            <a:r>
              <a:rPr lang="en-US" dirty="0" err="1">
                <a:solidFill>
                  <a:srgbClr val="FF0000"/>
                </a:solidFill>
                <a:latin typeface="Aileron Bold"/>
              </a:rPr>
              <a:t>ise</a:t>
            </a:r>
            <a:r>
              <a:rPr lang="en-US" dirty="0">
                <a:solidFill>
                  <a:srgbClr val="FF0000"/>
                </a:solidFill>
                <a:latin typeface="Aileron Bold"/>
              </a:rPr>
              <a:t> </a:t>
            </a:r>
            <a:r>
              <a:rPr lang="en-US" dirty="0" err="1">
                <a:solidFill>
                  <a:srgbClr val="FF0000"/>
                </a:solidFill>
                <a:latin typeface="Aileron Bold"/>
              </a:rPr>
              <a:t>projenin</a:t>
            </a:r>
            <a:r>
              <a:rPr lang="en-US" dirty="0">
                <a:solidFill>
                  <a:srgbClr val="FF0000"/>
                </a:solidFill>
                <a:latin typeface="Aileron Bold"/>
              </a:rPr>
              <a:t> </a:t>
            </a:r>
            <a:r>
              <a:rPr lang="en-US" dirty="0" err="1">
                <a:solidFill>
                  <a:srgbClr val="FF0000"/>
                </a:solidFill>
                <a:latin typeface="Aileron Bold"/>
              </a:rPr>
              <a:t>başarıyla</a:t>
            </a:r>
            <a:r>
              <a:rPr lang="en-US" dirty="0">
                <a:solidFill>
                  <a:srgbClr val="FF0000"/>
                </a:solidFill>
                <a:latin typeface="Aileron Bold"/>
              </a:rPr>
              <a:t> </a:t>
            </a:r>
            <a:r>
              <a:rPr lang="en-US" dirty="0" err="1">
                <a:solidFill>
                  <a:srgbClr val="FF0000"/>
                </a:solidFill>
                <a:latin typeface="Aileron Bold"/>
              </a:rPr>
              <a:t>tamamlanmasının</a:t>
            </a:r>
            <a:r>
              <a:rPr lang="en-US" dirty="0">
                <a:solidFill>
                  <a:srgbClr val="FF0000"/>
                </a:solidFill>
                <a:latin typeface="Aileron Bold"/>
              </a:rPr>
              <a:t> </a:t>
            </a:r>
            <a:r>
              <a:rPr lang="en-US" dirty="0" err="1">
                <a:solidFill>
                  <a:srgbClr val="FF0000"/>
                </a:solidFill>
                <a:latin typeface="Aileron Bold"/>
              </a:rPr>
              <a:t>ardından</a:t>
            </a:r>
            <a:r>
              <a:rPr lang="en-US" dirty="0">
                <a:solidFill>
                  <a:srgbClr val="FF0000"/>
                </a:solidFill>
                <a:latin typeface="Aileron Bold"/>
              </a:rPr>
              <a:t> </a:t>
            </a:r>
            <a:r>
              <a:rPr lang="en-US" dirty="0" err="1">
                <a:solidFill>
                  <a:srgbClr val="FF0000"/>
                </a:solidFill>
                <a:latin typeface="Aileron Bold"/>
              </a:rPr>
              <a:t>uzun</a:t>
            </a:r>
            <a:r>
              <a:rPr lang="en-US" dirty="0">
                <a:solidFill>
                  <a:srgbClr val="FF0000"/>
                </a:solidFill>
                <a:latin typeface="Aileron Bold"/>
              </a:rPr>
              <a:t> </a:t>
            </a:r>
            <a:r>
              <a:rPr lang="en-US" dirty="0" err="1">
                <a:solidFill>
                  <a:srgbClr val="FF0000"/>
                </a:solidFill>
                <a:latin typeface="Aileron Bold"/>
              </a:rPr>
              <a:t>vadede</a:t>
            </a:r>
            <a:r>
              <a:rPr lang="en-US" dirty="0">
                <a:solidFill>
                  <a:srgbClr val="FF0000"/>
                </a:solidFill>
                <a:latin typeface="Aileron Bold"/>
              </a:rPr>
              <a:t> </a:t>
            </a:r>
            <a:r>
              <a:rPr lang="en-US" dirty="0" err="1">
                <a:solidFill>
                  <a:srgbClr val="FF0000"/>
                </a:solidFill>
                <a:latin typeface="Aileron Bold"/>
              </a:rPr>
              <a:t>devamlılığının</a:t>
            </a:r>
            <a:r>
              <a:rPr lang="en-US" dirty="0">
                <a:solidFill>
                  <a:srgbClr val="FF0000"/>
                </a:solidFill>
                <a:latin typeface="Aileron Bold"/>
              </a:rPr>
              <a:t> </a:t>
            </a:r>
            <a:r>
              <a:rPr lang="en-US" dirty="0" err="1">
                <a:solidFill>
                  <a:srgbClr val="FF0000"/>
                </a:solidFill>
                <a:latin typeface="Aileron Bold"/>
              </a:rPr>
              <a:t>nasıl</a:t>
            </a:r>
            <a:r>
              <a:rPr lang="en-US" dirty="0">
                <a:solidFill>
                  <a:srgbClr val="FF0000"/>
                </a:solidFill>
                <a:latin typeface="Aileron Bold"/>
              </a:rPr>
              <a:t> </a:t>
            </a:r>
            <a:r>
              <a:rPr lang="en-US" dirty="0" err="1">
                <a:solidFill>
                  <a:srgbClr val="FF0000"/>
                </a:solidFill>
                <a:latin typeface="Aileron Bold"/>
              </a:rPr>
              <a:t>sağlanacağına</a:t>
            </a:r>
            <a:r>
              <a:rPr lang="en-US" dirty="0">
                <a:solidFill>
                  <a:srgbClr val="FF0000"/>
                </a:solidFill>
                <a:latin typeface="Aileron Bold"/>
              </a:rPr>
              <a:t> </a:t>
            </a:r>
            <a:r>
              <a:rPr lang="en-US" dirty="0" err="1">
                <a:solidFill>
                  <a:srgbClr val="FF0000"/>
                </a:solidFill>
                <a:latin typeface="Aileron Bold"/>
              </a:rPr>
              <a:t>açıklanmalıdır</a:t>
            </a:r>
            <a:r>
              <a:rPr lang="en-US" dirty="0">
                <a:solidFill>
                  <a:srgbClr val="FF0000"/>
                </a:solidFill>
                <a:latin typeface="Aileron Bold"/>
              </a:rPr>
              <a:t>. </a:t>
            </a:r>
            <a:endParaRPr lang="tr-TR" dirty="0">
              <a:solidFill>
                <a:srgbClr val="FF0000"/>
              </a:solidFill>
              <a:latin typeface="Aileron Bold"/>
            </a:endParaRPr>
          </a:p>
          <a:p>
            <a:pPr marL="388620" lvl="1" indent="-194310" algn="just">
              <a:lnSpc>
                <a:spcPts val="2520"/>
              </a:lnSpc>
              <a:buFont typeface="Arial"/>
              <a:buChar char="•"/>
            </a:pPr>
            <a:r>
              <a:rPr lang="tr-TR" dirty="0">
                <a:solidFill>
                  <a:srgbClr val="FF0000"/>
                </a:solidFill>
                <a:latin typeface="Aileron Bold"/>
              </a:rPr>
              <a:t>Ayrıca projenin finansal , sosyal ve çevresel sürdürülebilirlik ilkeleri ile ilgili bölümleri (varsa) detaylıca açıklanmalıdır.</a:t>
            </a:r>
          </a:p>
          <a:p>
            <a:pPr marL="194310" lvl="1" algn="just">
              <a:lnSpc>
                <a:spcPts val="2520"/>
              </a:lnSpc>
            </a:pPr>
            <a:endParaRPr lang="en-US" dirty="0">
              <a:solidFill>
                <a:srgbClr val="FF0000"/>
              </a:solidFill>
              <a:latin typeface="Aileron Bold"/>
            </a:endParaRPr>
          </a:p>
          <a:p>
            <a:pPr marL="194310" lvl="1" algn="just">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a:p>
            <a:pPr marL="194310" lvl="1" algn="just">
              <a:lnSpc>
                <a:spcPts val="2520"/>
              </a:lnSpc>
            </a:pPr>
            <a:endParaRPr lang="tr-TR" strike="sngStrike" dirty="0">
              <a:solidFill>
                <a:srgbClr val="FF0000"/>
              </a:solidFill>
              <a:latin typeface="Aileron Bold"/>
            </a:endParaRPr>
          </a:p>
          <a:p>
            <a:pPr marL="388620" lvl="1" indent="-194310" algn="just">
              <a:lnSpc>
                <a:spcPts val="2520"/>
              </a:lnSpc>
              <a:buFont typeface="Arial"/>
              <a:buChar char="•"/>
            </a:pPr>
            <a:endParaRPr lang="tr-TR" dirty="0">
              <a:solidFill>
                <a:srgbClr val="FF0000"/>
              </a:solidFill>
              <a:highlight>
                <a:srgbClr val="FFFF00"/>
              </a:highlight>
              <a:latin typeface="Aileron Bold"/>
            </a:endParaRPr>
          </a:p>
          <a:p>
            <a:pPr marL="194310" lvl="1" algn="just">
              <a:lnSpc>
                <a:spcPts val="2520"/>
              </a:lnSpc>
            </a:pPr>
            <a:endParaRPr lang="en-US" dirty="0">
              <a:solidFill>
                <a:srgbClr val="FF0000"/>
              </a:solidFill>
              <a:highlight>
                <a:srgbClr val="FFFF00"/>
              </a:highlight>
              <a:latin typeface="Aileron Bold"/>
            </a:endParaRPr>
          </a:p>
          <a:p>
            <a:pPr marL="194310" lvl="1" algn="just">
              <a:lnSpc>
                <a:spcPts val="2520"/>
              </a:lnSpc>
            </a:pPr>
            <a:endParaRPr lang="en-US" dirty="0">
              <a:solidFill>
                <a:srgbClr val="FF0000"/>
              </a:solidFill>
              <a:latin typeface="Aileron Bold"/>
            </a:endParaRPr>
          </a:p>
        </p:txBody>
      </p:sp>
      <p:sp>
        <p:nvSpPr>
          <p:cNvPr id="4" name="AutoShape 20">
            <a:extLst>
              <a:ext uri="{FF2B5EF4-FFF2-40B4-BE49-F238E27FC236}">
                <a16:creationId xmlns:a16="http://schemas.microsoft.com/office/drawing/2014/main" id="{F1074E19-D883-A7C4-58D1-CC21528135D4}"/>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7C161F46-6D85-46C7-86F2-4F2CA74848B5}"/>
              </a:ext>
            </a:extLst>
          </p:cNvPr>
          <p:cNvSpPr txBox="1"/>
          <p:nvPr/>
        </p:nvSpPr>
        <p:spPr>
          <a:xfrm>
            <a:off x="15217854" y="4610100"/>
            <a:ext cx="2237037"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320E5741-48CF-08F4-9556-DE398C7ADF85}"/>
              </a:ext>
            </a:extLst>
          </p:cNvPr>
          <p:cNvSpPr txBox="1"/>
          <p:nvPr/>
        </p:nvSpPr>
        <p:spPr>
          <a:xfrm>
            <a:off x="15762030" y="3405481"/>
            <a:ext cx="1660989"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48580532-AF86-D7A7-6F89-DC3F177E1019}"/>
              </a:ext>
            </a:extLst>
          </p:cNvPr>
          <p:cNvSpPr txBox="1"/>
          <p:nvPr/>
        </p:nvSpPr>
        <p:spPr>
          <a:xfrm>
            <a:off x="15986302" y="7353300"/>
            <a:ext cx="1436949"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97CF7FAD-7A38-4007-07A4-D06E483BB383}"/>
              </a:ext>
            </a:extLst>
          </p:cNvPr>
          <p:cNvSpPr txBox="1"/>
          <p:nvPr/>
        </p:nvSpPr>
        <p:spPr>
          <a:xfrm>
            <a:off x="15217854" y="5372100"/>
            <a:ext cx="2198106"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9" name="TextBox 38">
            <a:extLst>
              <a:ext uri="{FF2B5EF4-FFF2-40B4-BE49-F238E27FC236}">
                <a16:creationId xmlns:a16="http://schemas.microsoft.com/office/drawing/2014/main" id="{CD8B5AAA-E6EA-BD96-F7B6-1AEA23FAF019}"/>
              </a:ext>
            </a:extLst>
          </p:cNvPr>
          <p:cNvSpPr txBox="1"/>
          <p:nvPr/>
        </p:nvSpPr>
        <p:spPr>
          <a:xfrm>
            <a:off x="15745664" y="6896100"/>
            <a:ext cx="1693723"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HEDEF ALAN</a:t>
            </a:r>
            <a:endParaRPr lang="en-US" sz="1550" dirty="0">
              <a:solidFill>
                <a:srgbClr val="1C4C61"/>
              </a:solidFill>
              <a:latin typeface="Aileron Bold"/>
            </a:endParaRPr>
          </a:p>
        </p:txBody>
      </p:sp>
      <p:sp>
        <p:nvSpPr>
          <p:cNvPr id="10" name="TextBox 39">
            <a:extLst>
              <a:ext uri="{FF2B5EF4-FFF2-40B4-BE49-F238E27FC236}">
                <a16:creationId xmlns:a16="http://schemas.microsoft.com/office/drawing/2014/main" id="{AD55A0AB-DCFB-1A2C-8008-AEC809A17FD7}"/>
              </a:ext>
            </a:extLst>
          </p:cNvPr>
          <p:cNvSpPr txBox="1"/>
          <p:nvPr/>
        </p:nvSpPr>
        <p:spPr>
          <a:xfrm>
            <a:off x="15668804" y="6134100"/>
            <a:ext cx="1724183"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11" name="Freeform 21">
            <a:extLst>
              <a:ext uri="{FF2B5EF4-FFF2-40B4-BE49-F238E27FC236}">
                <a16:creationId xmlns:a16="http://schemas.microsoft.com/office/drawing/2014/main" id="{A66497D6-4802-BC86-6878-5E01167FBD35}"/>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Freeform 21">
            <a:extLst>
              <a:ext uri="{FF2B5EF4-FFF2-40B4-BE49-F238E27FC236}">
                <a16:creationId xmlns:a16="http://schemas.microsoft.com/office/drawing/2014/main" id="{2EB65ECB-24E9-C53A-B910-5ADF721386C8}"/>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79278996-21B9-9674-01FD-B3FED873315E}"/>
              </a:ext>
            </a:extLst>
          </p:cNvPr>
          <p:cNvSpPr/>
          <p:nvPr/>
        </p:nvSpPr>
        <p:spPr>
          <a:xfrm>
            <a:off x="17528868" y="4000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7366D1F9-AD69-0AB5-8963-1BC8C8DCAE5B}"/>
              </a:ext>
            </a:extLst>
          </p:cNvPr>
          <p:cNvSpPr/>
          <p:nvPr/>
        </p:nvSpPr>
        <p:spPr>
          <a:xfrm>
            <a:off x="17537349" y="4686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3D2C9436-711D-053F-3764-B2527DA20D32}"/>
              </a:ext>
            </a:extLst>
          </p:cNvPr>
          <p:cNvSpPr/>
          <p:nvPr/>
        </p:nvSpPr>
        <p:spPr>
          <a:xfrm>
            <a:off x="17531608" y="5448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6CE78600-1324-DBF6-CFE8-790070AFCECA}"/>
              </a:ext>
            </a:extLst>
          </p:cNvPr>
          <p:cNvSpPr/>
          <p:nvPr/>
        </p:nvSpPr>
        <p:spPr>
          <a:xfrm>
            <a:off x="17516246" y="6210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3B9A9B74-711F-FEAF-CE51-81C11FEC4F51}"/>
              </a:ext>
            </a:extLst>
          </p:cNvPr>
          <p:cNvSpPr/>
          <p:nvPr/>
        </p:nvSpPr>
        <p:spPr>
          <a:xfrm>
            <a:off x="17516247" y="68199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AA62268B-CEE4-4C7A-D5F2-37AFC5CE32A0}"/>
              </a:ext>
            </a:extLst>
          </p:cNvPr>
          <p:cNvSpPr/>
          <p:nvPr/>
        </p:nvSpPr>
        <p:spPr>
          <a:xfrm>
            <a:off x="17530931" y="7429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71C47197-E3C6-6EB9-5ED7-F4E9E57D1C5D}"/>
              </a:ext>
            </a:extLst>
          </p:cNvPr>
          <p:cNvSpPr txBox="1"/>
          <p:nvPr/>
        </p:nvSpPr>
        <p:spPr>
          <a:xfrm>
            <a:off x="15521473" y="2673548"/>
            <a:ext cx="1928327"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PROBLEMİN TANIMI </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70BEEE11-0CBA-8420-30DC-36DE4CB381E4}"/>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1DB89B03-6C7B-F061-D21D-40430AEC34C0}"/>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CF7D2E1B-33EB-3D60-C7E6-C24C62E277E5}"/>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75B6E632-0D4B-E1B9-4AC2-3D7BC6C6072B}"/>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4" name="TextBox 35">
            <a:extLst>
              <a:ext uri="{FF2B5EF4-FFF2-40B4-BE49-F238E27FC236}">
                <a16:creationId xmlns:a16="http://schemas.microsoft.com/office/drawing/2014/main" id="{53D4F52C-2386-F11C-FEC8-B3B8217A97F5}"/>
              </a:ext>
            </a:extLst>
          </p:cNvPr>
          <p:cNvSpPr txBox="1"/>
          <p:nvPr/>
        </p:nvSpPr>
        <p:spPr>
          <a:xfrm>
            <a:off x="16004968" y="4076700"/>
            <a:ext cx="1444832"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5" name="Freeform 21">
            <a:extLst>
              <a:ext uri="{FF2B5EF4-FFF2-40B4-BE49-F238E27FC236}">
                <a16:creationId xmlns:a16="http://schemas.microsoft.com/office/drawing/2014/main" id="{0BDDFF42-9440-1DD1-E1FC-71BE79F0A084}"/>
              </a:ext>
            </a:extLst>
          </p:cNvPr>
          <p:cNvSpPr/>
          <p:nvPr/>
        </p:nvSpPr>
        <p:spPr>
          <a:xfrm>
            <a:off x="17544109" y="810983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6" name="TextBox 38">
            <a:extLst>
              <a:ext uri="{FF2B5EF4-FFF2-40B4-BE49-F238E27FC236}">
                <a16:creationId xmlns:a16="http://schemas.microsoft.com/office/drawing/2014/main" id="{47E01A11-7EBE-4E21-EE61-ACB2D1C0D5E3}"/>
              </a:ext>
            </a:extLst>
          </p:cNvPr>
          <p:cNvSpPr txBox="1"/>
          <p:nvPr/>
        </p:nvSpPr>
        <p:spPr>
          <a:xfrm>
            <a:off x="16004968" y="8161599"/>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Tree>
    <p:extLst>
      <p:ext uri="{BB962C8B-B14F-4D97-AF65-F5344CB8AC3E}">
        <p14:creationId xmlns:p14="http://schemas.microsoft.com/office/powerpoint/2010/main" val="4008183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2930FCE-0144-0236-4123-FB7EE5FB3800}"/>
            </a:ext>
          </a:extLst>
        </p:cNvPr>
        <p:cNvGrpSpPr/>
        <p:nvPr/>
      </p:nvGrpSpPr>
      <p:grpSpPr>
        <a:xfrm>
          <a:off x="0" y="0"/>
          <a:ext cx="0" cy="0"/>
          <a:chOff x="0" y="0"/>
          <a:chExt cx="0" cy="0"/>
        </a:xfrm>
      </p:grpSpPr>
      <p:sp>
        <p:nvSpPr>
          <p:cNvPr id="2" name="TextBox 114">
            <a:extLst>
              <a:ext uri="{FF2B5EF4-FFF2-40B4-BE49-F238E27FC236}">
                <a16:creationId xmlns:a16="http://schemas.microsoft.com/office/drawing/2014/main" id="{0356E0D5-0901-CCB6-EAFD-67E60BD1172D}"/>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
        <p:nvSpPr>
          <p:cNvPr id="3" name="TextBox 12">
            <a:extLst>
              <a:ext uri="{FF2B5EF4-FFF2-40B4-BE49-F238E27FC236}">
                <a16:creationId xmlns:a16="http://schemas.microsoft.com/office/drawing/2014/main" id="{9802CD68-0D0C-E273-7454-54B6E9AD95B1}"/>
              </a:ext>
            </a:extLst>
          </p:cNvPr>
          <p:cNvSpPr txBox="1">
            <a:spLocks/>
          </p:cNvSpPr>
          <p:nvPr/>
        </p:nvSpPr>
        <p:spPr>
          <a:xfrm>
            <a:off x="1654254" y="266700"/>
            <a:ext cx="14656674" cy="820738"/>
          </a:xfrm>
          <a:prstGeom prst="rect">
            <a:avLst/>
          </a:prstGeom>
        </p:spPr>
        <p:txBody>
          <a:bodyPr wrap="square" lIns="0" tIns="0" rIns="0" bIns="0" rtlCol="0" anchor="t">
            <a:spAutoFit/>
          </a:bodyPr>
          <a:lstStyle/>
          <a:p>
            <a:pPr algn="ctr">
              <a:lnSpc>
                <a:spcPts val="6399"/>
              </a:lnSpc>
              <a:spcBef>
                <a:spcPct val="0"/>
              </a:spcBef>
            </a:pPr>
            <a:r>
              <a:rPr lang="tr-TR" sz="6000" dirty="0">
                <a:solidFill>
                  <a:srgbClr val="1A426A"/>
                </a:solidFill>
                <a:latin typeface="Active Heart"/>
              </a:rPr>
              <a:t>ÖZGÜNLÜK VE YERLİLİK YÖNÜ </a:t>
            </a:r>
            <a:endParaRPr lang="en-US" sz="6000" dirty="0">
              <a:solidFill>
                <a:srgbClr val="1A426A"/>
              </a:solidFill>
              <a:latin typeface="Active Heart"/>
            </a:endParaRPr>
          </a:p>
        </p:txBody>
      </p:sp>
      <p:sp>
        <p:nvSpPr>
          <p:cNvPr id="36" name="TextBox 50">
            <a:extLst>
              <a:ext uri="{FF2B5EF4-FFF2-40B4-BE49-F238E27FC236}">
                <a16:creationId xmlns:a16="http://schemas.microsoft.com/office/drawing/2014/main" id="{23521049-8812-47C2-F36C-CEFF60637BF9}"/>
              </a:ext>
            </a:extLst>
          </p:cNvPr>
          <p:cNvSpPr txBox="1"/>
          <p:nvPr/>
        </p:nvSpPr>
        <p:spPr>
          <a:xfrm>
            <a:off x="1219200" y="2121381"/>
            <a:ext cx="13106400" cy="3178947"/>
          </a:xfrm>
          <a:prstGeom prst="rect">
            <a:avLst/>
          </a:prstGeom>
        </p:spPr>
        <p:txBody>
          <a:bodyPr wrap="square" lIns="0" tIns="0" rIns="0" bIns="0" rtlCol="0" anchor="t">
            <a:spAutoFit/>
          </a:bodyPr>
          <a:lstStyle/>
          <a:p>
            <a:pPr marL="388620" lvl="1" indent="-194310" algn="just">
              <a:lnSpc>
                <a:spcPts val="2520"/>
              </a:lnSpc>
              <a:buFont typeface="Arial"/>
              <a:buChar char="•"/>
            </a:pPr>
            <a:r>
              <a:rPr lang="tr-TR" dirty="0">
                <a:solidFill>
                  <a:srgbClr val="FF0000"/>
                </a:solidFill>
                <a:latin typeface="Aileron Bold"/>
              </a:rPr>
              <a:t>Özgünlük ve Yerlilik </a:t>
            </a:r>
            <a:r>
              <a:rPr lang="en-US" u="sng" dirty="0" err="1">
                <a:solidFill>
                  <a:srgbClr val="FF0000"/>
                </a:solidFill>
                <a:latin typeface="Aileron Bold Italics"/>
              </a:rPr>
              <a:t>en</a:t>
            </a:r>
            <a:r>
              <a:rPr lang="en-US" u="sng" dirty="0">
                <a:solidFill>
                  <a:srgbClr val="FF0000"/>
                </a:solidFill>
                <a:latin typeface="Aileron Bold Italics"/>
              </a:rPr>
              <a:t> </a:t>
            </a:r>
            <a:r>
              <a:rPr lang="en-US" u="sng" dirty="0" err="1">
                <a:solidFill>
                  <a:srgbClr val="FF0000"/>
                </a:solidFill>
                <a:latin typeface="Aileron Bold Italics"/>
              </a:rPr>
              <a:t>fazla</a:t>
            </a:r>
            <a:r>
              <a:rPr lang="en-US" u="sng" dirty="0">
                <a:solidFill>
                  <a:srgbClr val="FF0000"/>
                </a:solidFill>
                <a:latin typeface="Aileron Bold Italics"/>
              </a:rPr>
              <a:t> </a:t>
            </a:r>
            <a:r>
              <a:rPr lang="tr-TR" u="sng" dirty="0">
                <a:solidFill>
                  <a:srgbClr val="FF0000"/>
                </a:solidFill>
                <a:latin typeface="Aileron Bold"/>
              </a:rPr>
              <a:t>bir</a:t>
            </a:r>
            <a:r>
              <a:rPr lang="tr-TR" dirty="0">
                <a:solidFill>
                  <a:srgbClr val="FF0000"/>
                </a:solidFill>
                <a:latin typeface="Aileron Bold"/>
              </a:rPr>
              <a:t> (2</a:t>
            </a:r>
            <a:r>
              <a:rPr lang="en-US" dirty="0">
                <a:solidFill>
                  <a:srgbClr val="FF0000"/>
                </a:solidFill>
                <a:latin typeface="Aileron Bold"/>
              </a:rPr>
              <a:t>) </a:t>
            </a:r>
            <a:r>
              <a:rPr lang="en-US" dirty="0" err="1">
                <a:solidFill>
                  <a:srgbClr val="FF0000"/>
                </a:solidFill>
                <a:latin typeface="Aileron Bold"/>
              </a:rPr>
              <a:t>sayfad</a:t>
            </a:r>
            <a:r>
              <a:rPr lang="tr-TR" dirty="0">
                <a:solidFill>
                  <a:srgbClr val="FF0000"/>
                </a:solidFill>
                <a:latin typeface="Aileron Bold"/>
              </a:rPr>
              <a:t>a 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r>
              <a:rPr lang="en-US" dirty="0" err="1">
                <a:solidFill>
                  <a:srgbClr val="FF0000"/>
                </a:solidFill>
                <a:latin typeface="Aileron Bold"/>
              </a:rPr>
              <a:t>İsteyen</a:t>
            </a:r>
            <a:r>
              <a:rPr lang="en-US" dirty="0">
                <a:solidFill>
                  <a:srgbClr val="FF0000"/>
                </a:solidFill>
                <a:latin typeface="Aileron Bold"/>
              </a:rPr>
              <a:t> </a:t>
            </a:r>
            <a:r>
              <a:rPr lang="en-US" dirty="0" err="1">
                <a:solidFill>
                  <a:srgbClr val="FF0000"/>
                </a:solidFill>
                <a:latin typeface="Aileron Bold"/>
              </a:rPr>
              <a:t>takımlar</a:t>
            </a:r>
            <a:r>
              <a:rPr lang="en-US" dirty="0">
                <a:solidFill>
                  <a:srgbClr val="FF0000"/>
                </a:solidFill>
                <a:latin typeface="Aileron Bold"/>
              </a:rPr>
              <a:t> </a:t>
            </a:r>
            <a:r>
              <a:rPr lang="en-US" dirty="0" err="1">
                <a:solidFill>
                  <a:srgbClr val="FF0000"/>
                </a:solidFill>
                <a:latin typeface="Aileron Bold"/>
              </a:rPr>
              <a:t>bir</a:t>
            </a:r>
            <a:r>
              <a:rPr lang="en-US" dirty="0">
                <a:solidFill>
                  <a:srgbClr val="FF0000"/>
                </a:solidFill>
                <a:latin typeface="Aileron Bold"/>
              </a:rPr>
              <a:t> (1) </a:t>
            </a:r>
            <a:r>
              <a:rPr lang="en-US" dirty="0" err="1">
                <a:solidFill>
                  <a:srgbClr val="FF0000"/>
                </a:solidFill>
                <a:latin typeface="Aileron Bold"/>
              </a:rPr>
              <a:t>sayfada</a:t>
            </a:r>
            <a:r>
              <a:rPr lang="en-US" dirty="0">
                <a:solidFill>
                  <a:srgbClr val="FF0000"/>
                </a:solidFill>
                <a:latin typeface="Aileron Bold"/>
              </a:rPr>
              <a:t> </a:t>
            </a:r>
            <a:r>
              <a:rPr lang="en-US" dirty="0" err="1">
                <a:solidFill>
                  <a:srgbClr val="FF0000"/>
                </a:solidFill>
                <a:latin typeface="Aileron Bold"/>
              </a:rPr>
              <a:t>anlatabilir</a:t>
            </a:r>
            <a:r>
              <a:rPr lang="tr-TR" dirty="0">
                <a:solidFill>
                  <a:srgbClr val="FF0000"/>
                </a:solidFill>
                <a:latin typeface="Aileron Bold"/>
              </a:rPr>
              <a:t>.</a:t>
            </a:r>
          </a:p>
          <a:p>
            <a:pPr marL="388620" lvl="1" indent="-194310" algn="just">
              <a:lnSpc>
                <a:spcPts val="2520"/>
              </a:lnSpc>
              <a:buFont typeface="Arial"/>
              <a:buChar char="•"/>
            </a:pPr>
            <a:r>
              <a:rPr lang="en-US" dirty="0" err="1">
                <a:solidFill>
                  <a:srgbClr val="FF0000"/>
                </a:solidFill>
                <a:latin typeface="Aileron Bold"/>
              </a:rPr>
              <a:t>Projenizin</a:t>
            </a:r>
            <a:r>
              <a:rPr lang="en-US" dirty="0">
                <a:solidFill>
                  <a:srgbClr val="FF0000"/>
                </a:solidFill>
                <a:latin typeface="Aileron Bold"/>
              </a:rPr>
              <a:t> milli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yerli</a:t>
            </a:r>
            <a:r>
              <a:rPr lang="en-US" dirty="0">
                <a:solidFill>
                  <a:srgbClr val="FF0000"/>
                </a:solidFill>
                <a:latin typeface="Aileron Bold"/>
              </a:rPr>
              <a:t> </a:t>
            </a:r>
            <a:r>
              <a:rPr lang="en-US" dirty="0" err="1">
                <a:solidFill>
                  <a:srgbClr val="FF0000"/>
                </a:solidFill>
                <a:latin typeface="Aileron Bold"/>
              </a:rPr>
              <a:t>özelliklerini</a:t>
            </a:r>
            <a:r>
              <a:rPr lang="en-US" dirty="0">
                <a:solidFill>
                  <a:srgbClr val="FF0000"/>
                </a:solidFill>
                <a:latin typeface="Aileron Bold"/>
              </a:rPr>
              <a:t> </a:t>
            </a:r>
            <a:r>
              <a:rPr lang="en-US" dirty="0" err="1">
                <a:solidFill>
                  <a:srgbClr val="FF0000"/>
                </a:solidFill>
                <a:latin typeface="Aileron Bold"/>
              </a:rPr>
              <a:t>ortaya</a:t>
            </a:r>
            <a:r>
              <a:rPr lang="en-US" dirty="0">
                <a:solidFill>
                  <a:srgbClr val="FF0000"/>
                </a:solidFill>
                <a:latin typeface="Aileron Bold"/>
              </a:rPr>
              <a:t> </a:t>
            </a:r>
            <a:r>
              <a:rPr lang="en-US" dirty="0" err="1">
                <a:solidFill>
                  <a:srgbClr val="FF0000"/>
                </a:solidFill>
                <a:latin typeface="Aileron Bold"/>
              </a:rPr>
              <a:t>çıkaran</a:t>
            </a:r>
            <a:r>
              <a:rPr lang="en-US" dirty="0">
                <a:solidFill>
                  <a:srgbClr val="FF0000"/>
                </a:solidFill>
                <a:latin typeface="Aileron Bold"/>
              </a:rPr>
              <a:t> </a:t>
            </a:r>
            <a:r>
              <a:rPr lang="en-US" dirty="0" err="1">
                <a:solidFill>
                  <a:srgbClr val="FF0000"/>
                </a:solidFill>
                <a:latin typeface="Aileron Bold"/>
              </a:rPr>
              <a:t>unsurlar</a:t>
            </a:r>
            <a:r>
              <a:rPr lang="en-US" dirty="0">
                <a:solidFill>
                  <a:srgbClr val="FF0000"/>
                </a:solidFill>
                <a:latin typeface="Aileron Bold"/>
              </a:rPr>
              <a:t> </a:t>
            </a:r>
            <a:r>
              <a:rPr lang="en-US" dirty="0" err="1">
                <a:solidFill>
                  <a:srgbClr val="FF0000"/>
                </a:solidFill>
                <a:latin typeface="Aileron Bold"/>
              </a:rPr>
              <a:t>nelerdir</a:t>
            </a:r>
            <a:r>
              <a:rPr lang="en-US" dirty="0">
                <a:solidFill>
                  <a:srgbClr val="FF0000"/>
                </a:solidFill>
                <a:latin typeface="Aileron Bold"/>
              </a:rPr>
              <a:t>?</a:t>
            </a:r>
          </a:p>
          <a:p>
            <a:pPr marL="388620" lvl="1" indent="-194310" algn="just">
              <a:lnSpc>
                <a:spcPts val="2520"/>
              </a:lnSpc>
              <a:buFont typeface="Arial"/>
              <a:buChar char="•"/>
            </a:pPr>
            <a:r>
              <a:rPr lang="en-US" dirty="0" err="1">
                <a:solidFill>
                  <a:srgbClr val="FF0000"/>
                </a:solidFill>
                <a:latin typeface="Aileron Bold"/>
              </a:rPr>
              <a:t>Projeyi</a:t>
            </a:r>
            <a:r>
              <a:rPr lang="en-US" dirty="0">
                <a:solidFill>
                  <a:srgbClr val="FF0000"/>
                </a:solidFill>
                <a:latin typeface="Aileron Bold"/>
              </a:rPr>
              <a:t>, </a:t>
            </a:r>
            <a:r>
              <a:rPr lang="en-US" dirty="0" err="1">
                <a:solidFill>
                  <a:srgbClr val="FF0000"/>
                </a:solidFill>
                <a:latin typeface="Aileron Bold"/>
              </a:rPr>
              <a:t>literatürde</a:t>
            </a:r>
            <a:r>
              <a:rPr lang="en-US" dirty="0">
                <a:solidFill>
                  <a:srgbClr val="FF0000"/>
                </a:solidFill>
                <a:latin typeface="Aileron Bold"/>
              </a:rPr>
              <a:t> </a:t>
            </a:r>
            <a:r>
              <a:rPr lang="en-US" dirty="0" err="1">
                <a:solidFill>
                  <a:srgbClr val="FF0000"/>
                </a:solidFill>
                <a:latin typeface="Aileron Bold"/>
              </a:rPr>
              <a:t>bulunan</a:t>
            </a:r>
            <a:r>
              <a:rPr lang="en-US" dirty="0">
                <a:solidFill>
                  <a:srgbClr val="FF0000"/>
                </a:solidFill>
                <a:latin typeface="Aileron Bold"/>
              </a:rPr>
              <a:t> </a:t>
            </a:r>
            <a:r>
              <a:rPr lang="en-US" dirty="0" err="1">
                <a:solidFill>
                  <a:srgbClr val="FF0000"/>
                </a:solidFill>
                <a:latin typeface="Aileron Bold"/>
              </a:rPr>
              <a:t>benzer</a:t>
            </a:r>
            <a:r>
              <a:rPr lang="en-US" dirty="0">
                <a:solidFill>
                  <a:srgbClr val="FF0000"/>
                </a:solidFill>
                <a:latin typeface="Aileron Bold"/>
              </a:rPr>
              <a:t> </a:t>
            </a:r>
            <a:r>
              <a:rPr lang="en-US" dirty="0" err="1">
                <a:solidFill>
                  <a:srgbClr val="FF0000"/>
                </a:solidFill>
                <a:latin typeface="Aileron Bold"/>
              </a:rPr>
              <a:t>çözümlerden</a:t>
            </a:r>
            <a:r>
              <a:rPr lang="en-US" dirty="0">
                <a:solidFill>
                  <a:srgbClr val="FF0000"/>
                </a:solidFill>
                <a:latin typeface="Aileron Bold"/>
              </a:rPr>
              <a:t> </a:t>
            </a:r>
            <a:r>
              <a:rPr lang="en-US" dirty="0" err="1">
                <a:solidFill>
                  <a:srgbClr val="FF0000"/>
                </a:solidFill>
                <a:latin typeface="Aileron Bold"/>
              </a:rPr>
              <a:t>ayıran</a:t>
            </a:r>
            <a:r>
              <a:rPr lang="en-US" dirty="0">
                <a:solidFill>
                  <a:srgbClr val="FF0000"/>
                </a:solidFill>
                <a:latin typeface="Aileron Bold"/>
              </a:rPr>
              <a:t> </a:t>
            </a:r>
            <a:r>
              <a:rPr lang="en-US" dirty="0" err="1">
                <a:solidFill>
                  <a:srgbClr val="FF0000"/>
                </a:solidFill>
                <a:latin typeface="Aileron Bold"/>
              </a:rPr>
              <a:t>özellik</a:t>
            </a:r>
            <a:r>
              <a:rPr lang="en-US" dirty="0">
                <a:solidFill>
                  <a:srgbClr val="FF0000"/>
                </a:solidFill>
                <a:latin typeface="Aileron Bold"/>
              </a:rPr>
              <a:t>/</a:t>
            </a:r>
            <a:r>
              <a:rPr lang="en-US" dirty="0" err="1">
                <a:solidFill>
                  <a:srgbClr val="FF0000"/>
                </a:solidFill>
                <a:latin typeface="Aileron Bold"/>
              </a:rPr>
              <a:t>özelliklerin</a:t>
            </a:r>
            <a:r>
              <a:rPr lang="en-US" dirty="0">
                <a:solidFill>
                  <a:srgbClr val="FF0000"/>
                </a:solidFill>
                <a:latin typeface="Aileron Bold"/>
              </a:rPr>
              <a:t> </a:t>
            </a:r>
            <a:r>
              <a:rPr lang="en-US" dirty="0" err="1">
                <a:solidFill>
                  <a:srgbClr val="FF0000"/>
                </a:solidFill>
                <a:latin typeface="Aileron Bold"/>
              </a:rPr>
              <a:t>neler</a:t>
            </a:r>
            <a:r>
              <a:rPr lang="en-US" dirty="0">
                <a:solidFill>
                  <a:srgbClr val="FF0000"/>
                </a:solidFill>
                <a:latin typeface="Aileron Bold"/>
              </a:rPr>
              <a:t> </a:t>
            </a:r>
            <a:r>
              <a:rPr lang="en-US" dirty="0" err="1">
                <a:solidFill>
                  <a:srgbClr val="FF0000"/>
                </a:solidFill>
                <a:latin typeface="Aileron Bold"/>
              </a:rPr>
              <a:t>olduğu</a:t>
            </a:r>
            <a:r>
              <a:rPr lang="en-US" dirty="0">
                <a:solidFill>
                  <a:srgbClr val="FF0000"/>
                </a:solidFill>
                <a:latin typeface="Aileron Bold"/>
              </a:rPr>
              <a:t> </a:t>
            </a:r>
            <a:r>
              <a:rPr lang="en-US" dirty="0" err="1">
                <a:solidFill>
                  <a:srgbClr val="FF0000"/>
                </a:solidFill>
                <a:latin typeface="Aileron Bold"/>
              </a:rPr>
              <a:t>açıklanır</a:t>
            </a:r>
            <a:r>
              <a:rPr lang="en-US" dirty="0">
                <a:solidFill>
                  <a:srgbClr val="FF0000"/>
                </a:solidFill>
                <a:latin typeface="Aileron Bold"/>
              </a:rPr>
              <a:t>. </a:t>
            </a:r>
          </a:p>
          <a:p>
            <a:pPr marL="388620" lvl="1" indent="-194310" algn="just">
              <a:lnSpc>
                <a:spcPts val="2520"/>
              </a:lnSpc>
              <a:buFont typeface="Arial"/>
              <a:buChar char="•"/>
            </a:pPr>
            <a:r>
              <a:rPr lang="tr-TR" dirty="0">
                <a:solidFill>
                  <a:srgbClr val="FF0000"/>
                </a:solidFill>
                <a:latin typeface="Aileron Bold"/>
              </a:rPr>
              <a:t>M</a:t>
            </a:r>
            <a:r>
              <a:rPr lang="en-US" dirty="0" err="1">
                <a:solidFill>
                  <a:srgbClr val="FF0000"/>
                </a:solidFill>
                <a:latin typeface="Aileron Bold"/>
              </a:rPr>
              <a:t>evcut</a:t>
            </a:r>
            <a:r>
              <a:rPr lang="en-US" dirty="0">
                <a:solidFill>
                  <a:srgbClr val="FF0000"/>
                </a:solidFill>
                <a:latin typeface="Aileron Bold"/>
              </a:rPr>
              <a:t> </a:t>
            </a:r>
            <a:r>
              <a:rPr lang="en-US" dirty="0" err="1">
                <a:solidFill>
                  <a:srgbClr val="FF0000"/>
                </a:solidFill>
                <a:latin typeface="Aileron Bold"/>
              </a:rPr>
              <a:t>çözümlerden</a:t>
            </a:r>
            <a:r>
              <a:rPr lang="en-US" dirty="0">
                <a:solidFill>
                  <a:srgbClr val="FF0000"/>
                </a:solidFill>
                <a:latin typeface="Aileron Bold"/>
              </a:rPr>
              <a:t> </a:t>
            </a:r>
            <a:r>
              <a:rPr lang="en-US" dirty="0" err="1">
                <a:solidFill>
                  <a:srgbClr val="FF0000"/>
                </a:solidFill>
                <a:latin typeface="Aileron Bold"/>
              </a:rPr>
              <a:t>farkı</a:t>
            </a:r>
            <a:r>
              <a:rPr lang="en-US" dirty="0">
                <a:solidFill>
                  <a:srgbClr val="FF0000"/>
                </a:solidFill>
                <a:latin typeface="Aileron Bold"/>
              </a:rPr>
              <a:t> </a:t>
            </a:r>
            <a:r>
              <a:rPr lang="en-US" dirty="0" err="1">
                <a:solidFill>
                  <a:srgbClr val="FF0000"/>
                </a:solidFill>
                <a:latin typeface="Aileron Bold"/>
              </a:rPr>
              <a:t>bu</a:t>
            </a:r>
            <a:r>
              <a:rPr lang="en-US" dirty="0">
                <a:solidFill>
                  <a:srgbClr val="FF0000"/>
                </a:solidFill>
                <a:latin typeface="Aileron Bold"/>
              </a:rPr>
              <a:t> </a:t>
            </a:r>
            <a:r>
              <a:rPr lang="en-US" dirty="0" err="1">
                <a:solidFill>
                  <a:srgbClr val="FF0000"/>
                </a:solidFill>
                <a:latin typeface="Aileron Bold"/>
              </a:rPr>
              <a:t>başlık</a:t>
            </a:r>
            <a:r>
              <a:rPr lang="en-US" dirty="0">
                <a:solidFill>
                  <a:srgbClr val="FF0000"/>
                </a:solidFill>
                <a:latin typeface="Aileron Bold"/>
              </a:rPr>
              <a:t> </a:t>
            </a:r>
            <a:r>
              <a:rPr lang="en-US" dirty="0" err="1">
                <a:solidFill>
                  <a:srgbClr val="FF0000"/>
                </a:solidFill>
                <a:latin typeface="Aileron Bold"/>
              </a:rPr>
              <a:t>kapsamında</a:t>
            </a:r>
            <a:r>
              <a:rPr lang="en-US" dirty="0">
                <a:solidFill>
                  <a:srgbClr val="FF0000"/>
                </a:solidFill>
                <a:latin typeface="Aileron Bold"/>
              </a:rPr>
              <a:t> </a:t>
            </a:r>
            <a:r>
              <a:rPr lang="en-US" dirty="0" err="1">
                <a:solidFill>
                  <a:srgbClr val="FF0000"/>
                </a:solidFill>
                <a:latin typeface="Aileron Bold"/>
              </a:rPr>
              <a:t>detaylandırılarak</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karşılaştırma</a:t>
            </a:r>
            <a:r>
              <a:rPr lang="en-US" dirty="0">
                <a:solidFill>
                  <a:srgbClr val="FF0000"/>
                </a:solidFill>
                <a:latin typeface="Aileron Bold"/>
              </a:rPr>
              <a:t> </a:t>
            </a:r>
            <a:r>
              <a:rPr lang="en-US" dirty="0" err="1">
                <a:solidFill>
                  <a:srgbClr val="FF0000"/>
                </a:solidFill>
                <a:latin typeface="Aileron Bold"/>
              </a:rPr>
              <a:t>yapılarak</a:t>
            </a:r>
            <a:r>
              <a:rPr lang="en-US" dirty="0">
                <a:solidFill>
                  <a:srgbClr val="FF0000"/>
                </a:solidFill>
                <a:latin typeface="Aileron Bold"/>
              </a:rPr>
              <a:t> </a:t>
            </a:r>
            <a:r>
              <a:rPr lang="en-US" dirty="0" err="1">
                <a:solidFill>
                  <a:srgbClr val="FF0000"/>
                </a:solidFill>
                <a:latin typeface="Aileron Bold"/>
              </a:rPr>
              <a:t>anlatılmalıdır</a:t>
            </a:r>
            <a:r>
              <a:rPr lang="en-US" dirty="0">
                <a:solidFill>
                  <a:srgbClr val="FF0000"/>
                </a:solidFill>
                <a:latin typeface="Aileron Bold"/>
              </a:rPr>
              <a:t>.</a:t>
            </a:r>
          </a:p>
          <a:p>
            <a:pPr marL="194310" lvl="1" algn="just">
              <a:lnSpc>
                <a:spcPts val="2520"/>
              </a:lnSpc>
            </a:pPr>
            <a:endParaRPr lang="en-US" dirty="0">
              <a:solidFill>
                <a:srgbClr val="FF0000"/>
              </a:solidFill>
              <a:latin typeface="Aileron Bold"/>
            </a:endParaRPr>
          </a:p>
          <a:p>
            <a:pPr marL="194310" lvl="1" algn="just">
              <a:lnSpc>
                <a:spcPts val="2520"/>
              </a:lnSpc>
            </a:pPr>
            <a:r>
              <a:rPr lang="tr-TR" dirty="0">
                <a:solidFill>
                  <a:srgbClr val="FF0000"/>
                </a:solidFill>
                <a:latin typeface="Aileron Bold"/>
              </a:rPr>
              <a:t>Sayfalarda görsellerden (tablolar, akış diyagramı , infografik vb.) yararlanabilirsiniz.</a:t>
            </a:r>
            <a:endParaRPr lang="en-US" dirty="0">
              <a:solidFill>
                <a:srgbClr val="FF0000"/>
              </a:solidFill>
              <a:latin typeface="Aileron Bold"/>
            </a:endParaRPr>
          </a:p>
          <a:p>
            <a:pPr marL="194310" lvl="1" algn="just">
              <a:lnSpc>
                <a:spcPts val="2520"/>
              </a:lnSpc>
            </a:pPr>
            <a:endParaRPr lang="tr-TR" dirty="0">
              <a:solidFill>
                <a:srgbClr val="FF0000"/>
              </a:solidFill>
              <a:latin typeface="Aileron Bold"/>
            </a:endParaRPr>
          </a:p>
          <a:p>
            <a:pPr marL="194310" lvl="1" algn="just">
              <a:lnSpc>
                <a:spcPts val="2520"/>
              </a:lnSpc>
            </a:pPr>
            <a:endParaRPr lang="tr-TR" dirty="0">
              <a:solidFill>
                <a:srgbClr val="FF0000"/>
              </a:solidFill>
              <a:highlight>
                <a:srgbClr val="FFFF00"/>
              </a:highlight>
              <a:latin typeface="Aileron Bold"/>
            </a:endParaRPr>
          </a:p>
          <a:p>
            <a:pPr marL="194310" lvl="1" algn="just">
              <a:lnSpc>
                <a:spcPts val="2520"/>
              </a:lnSpc>
            </a:pPr>
            <a:endParaRPr lang="en-US" dirty="0">
              <a:solidFill>
                <a:srgbClr val="FF0000"/>
              </a:solidFill>
              <a:highlight>
                <a:srgbClr val="FFFF00"/>
              </a:highlight>
              <a:latin typeface="Aileron Bold"/>
            </a:endParaRPr>
          </a:p>
        </p:txBody>
      </p:sp>
      <p:sp>
        <p:nvSpPr>
          <p:cNvPr id="4" name="AutoShape 20">
            <a:extLst>
              <a:ext uri="{FF2B5EF4-FFF2-40B4-BE49-F238E27FC236}">
                <a16:creationId xmlns:a16="http://schemas.microsoft.com/office/drawing/2014/main" id="{6A4E5925-9DEA-6E9F-FCDE-72DA65A942B8}"/>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7F82565F-3144-A617-2ED1-1C43546A3158}"/>
              </a:ext>
            </a:extLst>
          </p:cNvPr>
          <p:cNvSpPr txBox="1"/>
          <p:nvPr/>
        </p:nvSpPr>
        <p:spPr>
          <a:xfrm>
            <a:off x="15217854" y="4610100"/>
            <a:ext cx="2237037"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11F67D01-7B7E-BEC0-45C6-A7824E8CF973}"/>
              </a:ext>
            </a:extLst>
          </p:cNvPr>
          <p:cNvSpPr txBox="1"/>
          <p:nvPr/>
        </p:nvSpPr>
        <p:spPr>
          <a:xfrm>
            <a:off x="15762030" y="3405481"/>
            <a:ext cx="1660989"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47443646-E9D7-4FAF-EBA1-455DEEE3A8CA}"/>
              </a:ext>
            </a:extLst>
          </p:cNvPr>
          <p:cNvSpPr txBox="1"/>
          <p:nvPr/>
        </p:nvSpPr>
        <p:spPr>
          <a:xfrm>
            <a:off x="15986302" y="7353300"/>
            <a:ext cx="1436949"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A87B1F46-4B18-F5B1-E78A-21526610ACE5}"/>
              </a:ext>
            </a:extLst>
          </p:cNvPr>
          <p:cNvSpPr txBox="1"/>
          <p:nvPr/>
        </p:nvSpPr>
        <p:spPr>
          <a:xfrm>
            <a:off x="15217854" y="5372100"/>
            <a:ext cx="2198106"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9" name="TextBox 38">
            <a:extLst>
              <a:ext uri="{FF2B5EF4-FFF2-40B4-BE49-F238E27FC236}">
                <a16:creationId xmlns:a16="http://schemas.microsoft.com/office/drawing/2014/main" id="{D30A683A-9687-0F30-5714-25D2B7CBB573}"/>
              </a:ext>
            </a:extLst>
          </p:cNvPr>
          <p:cNvSpPr txBox="1"/>
          <p:nvPr/>
        </p:nvSpPr>
        <p:spPr>
          <a:xfrm>
            <a:off x="15745664" y="6896100"/>
            <a:ext cx="1693723"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HEDEF ALAN</a:t>
            </a:r>
            <a:endParaRPr lang="en-US" sz="1550" dirty="0">
              <a:solidFill>
                <a:srgbClr val="1C4C61"/>
              </a:solidFill>
              <a:latin typeface="Aileron Bold"/>
            </a:endParaRPr>
          </a:p>
        </p:txBody>
      </p:sp>
      <p:sp>
        <p:nvSpPr>
          <p:cNvPr id="10" name="TextBox 39">
            <a:extLst>
              <a:ext uri="{FF2B5EF4-FFF2-40B4-BE49-F238E27FC236}">
                <a16:creationId xmlns:a16="http://schemas.microsoft.com/office/drawing/2014/main" id="{99188960-77CA-E3B5-6742-5CAED37F35E2}"/>
              </a:ext>
            </a:extLst>
          </p:cNvPr>
          <p:cNvSpPr txBox="1"/>
          <p:nvPr/>
        </p:nvSpPr>
        <p:spPr>
          <a:xfrm>
            <a:off x="15668804" y="6134100"/>
            <a:ext cx="1724183"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11" name="Freeform 21">
            <a:extLst>
              <a:ext uri="{FF2B5EF4-FFF2-40B4-BE49-F238E27FC236}">
                <a16:creationId xmlns:a16="http://schemas.microsoft.com/office/drawing/2014/main" id="{82657213-3679-08EC-D3E8-6FC82D26F456}"/>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Freeform 21">
            <a:extLst>
              <a:ext uri="{FF2B5EF4-FFF2-40B4-BE49-F238E27FC236}">
                <a16:creationId xmlns:a16="http://schemas.microsoft.com/office/drawing/2014/main" id="{606A5C05-5481-F073-2180-E550EC9B2E24}"/>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4CC3A372-1435-E1FE-F307-B4E36AF8BFF6}"/>
              </a:ext>
            </a:extLst>
          </p:cNvPr>
          <p:cNvSpPr/>
          <p:nvPr/>
        </p:nvSpPr>
        <p:spPr>
          <a:xfrm>
            <a:off x="17528868" y="4000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B6C5CC36-D608-6F46-0C89-3349D098F3FA}"/>
              </a:ext>
            </a:extLst>
          </p:cNvPr>
          <p:cNvSpPr/>
          <p:nvPr/>
        </p:nvSpPr>
        <p:spPr>
          <a:xfrm>
            <a:off x="17537349" y="4686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11011F69-426D-D703-7EA3-A570D321E2F4}"/>
              </a:ext>
            </a:extLst>
          </p:cNvPr>
          <p:cNvSpPr/>
          <p:nvPr/>
        </p:nvSpPr>
        <p:spPr>
          <a:xfrm>
            <a:off x="17531608" y="5448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50208783-7057-0F2F-667F-4A06E32A994E}"/>
              </a:ext>
            </a:extLst>
          </p:cNvPr>
          <p:cNvSpPr/>
          <p:nvPr/>
        </p:nvSpPr>
        <p:spPr>
          <a:xfrm>
            <a:off x="17516246" y="6210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D5D7CE72-8993-1528-33FF-08DECCADDE37}"/>
              </a:ext>
            </a:extLst>
          </p:cNvPr>
          <p:cNvSpPr/>
          <p:nvPr/>
        </p:nvSpPr>
        <p:spPr>
          <a:xfrm>
            <a:off x="17516247" y="68199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0F28B3BC-6D87-C034-A2E2-8F0FBC0E8420}"/>
              </a:ext>
            </a:extLst>
          </p:cNvPr>
          <p:cNvSpPr/>
          <p:nvPr/>
        </p:nvSpPr>
        <p:spPr>
          <a:xfrm>
            <a:off x="17530931" y="7429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BDEE15C4-6675-9E5A-4A6F-76CD6635F614}"/>
              </a:ext>
            </a:extLst>
          </p:cNvPr>
          <p:cNvSpPr txBox="1"/>
          <p:nvPr/>
        </p:nvSpPr>
        <p:spPr>
          <a:xfrm>
            <a:off x="15521473" y="2673548"/>
            <a:ext cx="1928327"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PROBLEMİN TANIMI </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3CE4C486-1EDF-0779-2181-A664E131B80E}"/>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B12117BB-2E36-0B09-33F9-65D71313051E}"/>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F0822869-7114-D4BD-400C-9358B8726561}"/>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62341AFA-5F67-78E0-D297-A531CE00E7A5}"/>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4" name="TextBox 35">
            <a:extLst>
              <a:ext uri="{FF2B5EF4-FFF2-40B4-BE49-F238E27FC236}">
                <a16:creationId xmlns:a16="http://schemas.microsoft.com/office/drawing/2014/main" id="{657C7395-6D01-B6B3-8B0E-43B317FCFC05}"/>
              </a:ext>
            </a:extLst>
          </p:cNvPr>
          <p:cNvSpPr txBox="1"/>
          <p:nvPr/>
        </p:nvSpPr>
        <p:spPr>
          <a:xfrm>
            <a:off x="16004968" y="4076700"/>
            <a:ext cx="1444832"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5" name="Freeform 21">
            <a:extLst>
              <a:ext uri="{FF2B5EF4-FFF2-40B4-BE49-F238E27FC236}">
                <a16:creationId xmlns:a16="http://schemas.microsoft.com/office/drawing/2014/main" id="{5FB39721-C525-72E4-5018-38DFA48226A5}"/>
              </a:ext>
            </a:extLst>
          </p:cNvPr>
          <p:cNvSpPr/>
          <p:nvPr/>
        </p:nvSpPr>
        <p:spPr>
          <a:xfrm>
            <a:off x="17544109" y="810983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6" name="TextBox 38">
            <a:extLst>
              <a:ext uri="{FF2B5EF4-FFF2-40B4-BE49-F238E27FC236}">
                <a16:creationId xmlns:a16="http://schemas.microsoft.com/office/drawing/2014/main" id="{41A9434A-1615-1EA5-5EE1-ACC4313E6652}"/>
              </a:ext>
            </a:extLst>
          </p:cNvPr>
          <p:cNvSpPr txBox="1"/>
          <p:nvPr/>
        </p:nvSpPr>
        <p:spPr>
          <a:xfrm>
            <a:off x="16004968" y="8161599"/>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Tree>
    <p:extLst>
      <p:ext uri="{BB962C8B-B14F-4D97-AF65-F5344CB8AC3E}">
        <p14:creationId xmlns:p14="http://schemas.microsoft.com/office/powerpoint/2010/main" val="149994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654490D-2EB7-AA69-2029-9C624E299F7B}"/>
            </a:ext>
          </a:extLst>
        </p:cNvPr>
        <p:cNvGrpSpPr/>
        <p:nvPr/>
      </p:nvGrpSpPr>
      <p:grpSpPr>
        <a:xfrm>
          <a:off x="0" y="0"/>
          <a:ext cx="0" cy="0"/>
          <a:chOff x="0" y="0"/>
          <a:chExt cx="0" cy="0"/>
        </a:xfrm>
      </p:grpSpPr>
      <p:sp>
        <p:nvSpPr>
          <p:cNvPr id="2" name="TextBox 114">
            <a:extLst>
              <a:ext uri="{FF2B5EF4-FFF2-40B4-BE49-F238E27FC236}">
                <a16:creationId xmlns:a16="http://schemas.microsoft.com/office/drawing/2014/main" id="{97A71B02-E409-8DD2-7E6E-AF15D25AB719}"/>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
        <p:nvSpPr>
          <p:cNvPr id="3" name="TextBox 12">
            <a:extLst>
              <a:ext uri="{FF2B5EF4-FFF2-40B4-BE49-F238E27FC236}">
                <a16:creationId xmlns:a16="http://schemas.microsoft.com/office/drawing/2014/main" id="{BCA2C181-3065-D3B5-28D4-4B30C1E86ED9}"/>
              </a:ext>
            </a:extLst>
          </p:cNvPr>
          <p:cNvSpPr txBox="1">
            <a:spLocks/>
          </p:cNvSpPr>
          <p:nvPr/>
        </p:nvSpPr>
        <p:spPr>
          <a:xfrm>
            <a:off x="1654254" y="266700"/>
            <a:ext cx="14656674" cy="820738"/>
          </a:xfrm>
          <a:prstGeom prst="rect">
            <a:avLst/>
          </a:prstGeom>
        </p:spPr>
        <p:txBody>
          <a:bodyPr wrap="square" lIns="0" tIns="0" rIns="0" bIns="0" rtlCol="0" anchor="t">
            <a:spAutoFit/>
          </a:bodyPr>
          <a:lstStyle/>
          <a:p>
            <a:pPr algn="ctr">
              <a:lnSpc>
                <a:spcPts val="6399"/>
              </a:lnSpc>
              <a:spcBef>
                <a:spcPct val="0"/>
              </a:spcBef>
            </a:pPr>
            <a:r>
              <a:rPr lang="en-US" sz="6000" dirty="0">
                <a:solidFill>
                  <a:srgbClr val="1A426A"/>
                </a:solidFill>
                <a:latin typeface="Active Heart"/>
              </a:rPr>
              <a:t>HEDEF </a:t>
            </a:r>
            <a:r>
              <a:rPr lang="tr-TR" sz="6000" dirty="0">
                <a:solidFill>
                  <a:srgbClr val="1A426A"/>
                </a:solidFill>
                <a:latin typeface="Active Heart"/>
              </a:rPr>
              <a:t>ALAN</a:t>
            </a:r>
            <a:endParaRPr lang="en-US" sz="6000" dirty="0">
              <a:solidFill>
                <a:srgbClr val="1A426A"/>
              </a:solidFill>
              <a:latin typeface="Active Heart"/>
            </a:endParaRPr>
          </a:p>
        </p:txBody>
      </p:sp>
      <p:sp>
        <p:nvSpPr>
          <p:cNvPr id="36" name="TextBox 50">
            <a:extLst>
              <a:ext uri="{FF2B5EF4-FFF2-40B4-BE49-F238E27FC236}">
                <a16:creationId xmlns:a16="http://schemas.microsoft.com/office/drawing/2014/main" id="{E4BDA718-C306-7E71-AEA7-CDE1EBB65EA4}"/>
              </a:ext>
            </a:extLst>
          </p:cNvPr>
          <p:cNvSpPr txBox="1"/>
          <p:nvPr/>
        </p:nvSpPr>
        <p:spPr>
          <a:xfrm>
            <a:off x="1219200" y="2121381"/>
            <a:ext cx="13106400" cy="3400162"/>
          </a:xfrm>
          <a:prstGeom prst="rect">
            <a:avLst/>
          </a:prstGeom>
        </p:spPr>
        <p:txBody>
          <a:bodyPr wrap="square" lIns="0" tIns="0" rIns="0" bIns="0" rtlCol="0" anchor="t">
            <a:spAutoFit/>
          </a:bodyPr>
          <a:lstStyle/>
          <a:p>
            <a:pPr marL="388620" lvl="1" indent="-194310" algn="just">
              <a:lnSpc>
                <a:spcPts val="2520"/>
              </a:lnSpc>
              <a:buFont typeface="Arial"/>
              <a:buChar char="•"/>
            </a:pPr>
            <a:r>
              <a:rPr lang="en-US" dirty="0" err="1">
                <a:solidFill>
                  <a:srgbClr val="FF0000"/>
                </a:solidFill>
                <a:latin typeface="Aileron Bold"/>
              </a:rPr>
              <a:t>Hedef</a:t>
            </a:r>
            <a:r>
              <a:rPr lang="en-US" dirty="0">
                <a:solidFill>
                  <a:srgbClr val="FF0000"/>
                </a:solidFill>
                <a:latin typeface="Aileron Bold"/>
              </a:rPr>
              <a:t> </a:t>
            </a:r>
            <a:r>
              <a:rPr lang="tr-TR" dirty="0">
                <a:solidFill>
                  <a:srgbClr val="FF0000"/>
                </a:solidFill>
                <a:latin typeface="Aileron Bold"/>
              </a:rPr>
              <a:t>alanın</a:t>
            </a:r>
            <a:r>
              <a:rPr lang="en-US" dirty="0">
                <a:solidFill>
                  <a:srgbClr val="FF0000"/>
                </a:solidFill>
                <a:latin typeface="Aileron Bold"/>
              </a:rPr>
              <a:t> </a:t>
            </a:r>
            <a:r>
              <a:rPr lang="en-US" dirty="0" err="1">
                <a:solidFill>
                  <a:srgbClr val="FF0000"/>
                </a:solidFill>
                <a:latin typeface="Aileron Bold"/>
              </a:rPr>
              <a:t>açıklandığı</a:t>
            </a:r>
            <a:r>
              <a:rPr lang="en-US" dirty="0">
                <a:solidFill>
                  <a:srgbClr val="FF0000"/>
                </a:solidFill>
                <a:latin typeface="Aileron Bold"/>
              </a:rPr>
              <a:t> </a:t>
            </a:r>
            <a:r>
              <a:rPr lang="en-US" dirty="0" err="1">
                <a:solidFill>
                  <a:srgbClr val="FF0000"/>
                </a:solidFill>
                <a:latin typeface="Aileron Bold"/>
              </a:rPr>
              <a:t>sayfadır</a:t>
            </a:r>
            <a:r>
              <a:rPr lang="en-US" dirty="0">
                <a:solidFill>
                  <a:srgbClr val="FF0000"/>
                </a:solidFill>
                <a:latin typeface="Aileron Bold"/>
              </a:rPr>
              <a:t>.</a:t>
            </a:r>
          </a:p>
          <a:p>
            <a:pPr marL="388620" lvl="1" indent="-194310" algn="just">
              <a:lnSpc>
                <a:spcPts val="2520"/>
              </a:lnSpc>
              <a:buFont typeface="Arial"/>
              <a:buChar char="•"/>
            </a:pPr>
            <a:r>
              <a:rPr lang="en-US" dirty="0" err="1">
                <a:solidFill>
                  <a:srgbClr val="FF0000"/>
                </a:solidFill>
                <a:latin typeface="Aileron Bold"/>
              </a:rPr>
              <a:t>Hedef</a:t>
            </a:r>
            <a:r>
              <a:rPr lang="en-US" dirty="0">
                <a:solidFill>
                  <a:srgbClr val="FF0000"/>
                </a:solidFill>
                <a:latin typeface="Aileron Bold"/>
              </a:rPr>
              <a:t> </a:t>
            </a:r>
            <a:r>
              <a:rPr lang="tr-TR" dirty="0">
                <a:solidFill>
                  <a:srgbClr val="FF0000"/>
                </a:solidFill>
                <a:latin typeface="Aileron Bold"/>
              </a:rPr>
              <a:t>alan</a:t>
            </a:r>
            <a:r>
              <a:rPr lang="en-US" dirty="0">
                <a:solidFill>
                  <a:srgbClr val="FF0000"/>
                </a:solidFill>
                <a:latin typeface="Aileron Bold"/>
              </a:rPr>
              <a:t> </a:t>
            </a:r>
            <a:r>
              <a:rPr lang="en-US" u="sng" dirty="0" err="1">
                <a:solidFill>
                  <a:srgbClr val="FF0000"/>
                </a:solidFill>
                <a:latin typeface="Aileron Bold Italics"/>
              </a:rPr>
              <a:t>en</a:t>
            </a:r>
            <a:r>
              <a:rPr lang="en-US" u="sng" dirty="0">
                <a:solidFill>
                  <a:srgbClr val="FF0000"/>
                </a:solidFill>
                <a:latin typeface="Aileron Bold Italics"/>
              </a:rPr>
              <a:t> </a:t>
            </a:r>
            <a:r>
              <a:rPr lang="en-US" u="sng" dirty="0" err="1">
                <a:solidFill>
                  <a:srgbClr val="FF0000"/>
                </a:solidFill>
                <a:latin typeface="Aileron Bold Italics"/>
              </a:rPr>
              <a:t>fazla</a:t>
            </a:r>
            <a:r>
              <a:rPr lang="en-US" u="sng" dirty="0">
                <a:solidFill>
                  <a:srgbClr val="FF0000"/>
                </a:solidFill>
                <a:latin typeface="Aileron Bold Italics"/>
              </a:rPr>
              <a:t> </a:t>
            </a:r>
            <a:r>
              <a:rPr lang="en-US" dirty="0" err="1">
                <a:solidFill>
                  <a:srgbClr val="FF0000"/>
                </a:solidFill>
                <a:latin typeface="Aileron Bold"/>
              </a:rPr>
              <a:t>bir</a:t>
            </a:r>
            <a:r>
              <a:rPr lang="en-US" dirty="0">
                <a:solidFill>
                  <a:srgbClr val="FF0000"/>
                </a:solidFill>
                <a:latin typeface="Aileron Bold"/>
              </a:rPr>
              <a:t>(1) </a:t>
            </a:r>
            <a:r>
              <a:rPr lang="en-US" dirty="0" err="1">
                <a:solidFill>
                  <a:srgbClr val="FF0000"/>
                </a:solidFill>
                <a:latin typeface="Aileron Bold"/>
              </a:rPr>
              <a:t>sayfad</a:t>
            </a:r>
            <a:r>
              <a:rPr lang="tr-TR" dirty="0">
                <a:solidFill>
                  <a:srgbClr val="FF0000"/>
                </a:solidFill>
                <a:latin typeface="Aileron Bold"/>
              </a:rPr>
              <a:t>a açıklanmalıdır</a:t>
            </a:r>
            <a:r>
              <a:rPr lang="en-US" dirty="0">
                <a:solidFill>
                  <a:srgbClr val="FF0000"/>
                </a:solidFill>
                <a:latin typeface="Aileron Bold"/>
              </a:rPr>
              <a:t>. </a:t>
            </a:r>
            <a:r>
              <a:rPr lang="en-US" u="sng" dirty="0" err="1">
                <a:solidFill>
                  <a:srgbClr val="FF0000"/>
                </a:solidFill>
                <a:latin typeface="Aileron Bold"/>
              </a:rPr>
              <a:t>Sayfa</a:t>
            </a:r>
            <a:r>
              <a:rPr lang="en-US" u="sng" dirty="0">
                <a:solidFill>
                  <a:srgbClr val="FF0000"/>
                </a:solidFill>
                <a:latin typeface="Aileron Bold"/>
              </a:rPr>
              <a:t> </a:t>
            </a:r>
            <a:r>
              <a:rPr lang="en-US" u="sng" dirty="0" err="1">
                <a:solidFill>
                  <a:srgbClr val="FF0000"/>
                </a:solidFill>
                <a:latin typeface="Aileron Bold"/>
              </a:rPr>
              <a:t>sınırı</a:t>
            </a:r>
            <a:r>
              <a:rPr lang="en-US" u="sng" dirty="0">
                <a:solidFill>
                  <a:srgbClr val="FF0000"/>
                </a:solidFill>
                <a:latin typeface="Aileron Bold"/>
              </a:rPr>
              <a:t> </a:t>
            </a:r>
            <a:r>
              <a:rPr lang="en-US" dirty="0" err="1">
                <a:solidFill>
                  <a:srgbClr val="FF0000"/>
                </a:solidFill>
                <a:latin typeface="Aileron Bold"/>
              </a:rPr>
              <a:t>aşılmamalıdır</a:t>
            </a:r>
            <a:r>
              <a:rPr lang="en-US" dirty="0">
                <a:solidFill>
                  <a:srgbClr val="FF0000"/>
                </a:solidFill>
                <a:latin typeface="Aileron Bold"/>
              </a:rPr>
              <a:t>. </a:t>
            </a:r>
            <a:endParaRPr lang="tr-TR" dirty="0">
              <a:solidFill>
                <a:srgbClr val="FF0000"/>
              </a:solidFill>
              <a:latin typeface="Aileron Bold"/>
            </a:endParaRPr>
          </a:p>
          <a:p>
            <a:pPr marL="388620" lvl="1" indent="-194310" algn="just">
              <a:lnSpc>
                <a:spcPts val="2520"/>
              </a:lnSpc>
              <a:buFont typeface="Arial"/>
              <a:buChar char="•"/>
            </a:pPr>
            <a:r>
              <a:rPr lang="tr-TR" dirty="0">
                <a:solidFill>
                  <a:srgbClr val="FF0000"/>
                </a:solidFill>
                <a:latin typeface="Aileron Bold"/>
              </a:rPr>
              <a:t>Bu bölümde projenin madencilik sektörünün hangi alanına ve süreçlerine katkı sağlayacağı detaylı bir şekilde anlatılmalıdır.</a:t>
            </a:r>
            <a:endParaRPr lang="en-US" dirty="0">
              <a:solidFill>
                <a:srgbClr val="FF0000"/>
              </a:solidFill>
              <a:latin typeface="Aileron Bold"/>
            </a:endParaRPr>
          </a:p>
          <a:p>
            <a:pPr marL="388620" lvl="1" indent="-194310" algn="just">
              <a:lnSpc>
                <a:spcPts val="2520"/>
              </a:lnSpc>
              <a:buFont typeface="Arial"/>
              <a:buChar char="•"/>
            </a:pPr>
            <a:r>
              <a:rPr lang="en-US" dirty="0" err="1">
                <a:solidFill>
                  <a:srgbClr val="FF0000"/>
                </a:solidFill>
                <a:latin typeface="Aileron Bold"/>
              </a:rPr>
              <a:t>Hedef</a:t>
            </a:r>
            <a:r>
              <a:rPr lang="en-US" dirty="0">
                <a:solidFill>
                  <a:srgbClr val="FF0000"/>
                </a:solidFill>
                <a:latin typeface="Aileron Bold"/>
              </a:rPr>
              <a:t> </a:t>
            </a:r>
            <a:r>
              <a:rPr lang="tr-TR" dirty="0">
                <a:solidFill>
                  <a:srgbClr val="FF0000"/>
                </a:solidFill>
                <a:latin typeface="Aileron Bold"/>
              </a:rPr>
              <a:t>alan</a:t>
            </a:r>
            <a:r>
              <a:rPr lang="en-US" dirty="0">
                <a:solidFill>
                  <a:srgbClr val="FF0000"/>
                </a:solidFill>
                <a:latin typeface="Aileron Bold"/>
              </a:rPr>
              <a:t> </a:t>
            </a:r>
            <a:r>
              <a:rPr lang="en-US" dirty="0" err="1">
                <a:solidFill>
                  <a:srgbClr val="FF0000"/>
                </a:solidFill>
                <a:latin typeface="Aileron Bold"/>
              </a:rPr>
              <a:t>geliştirilen</a:t>
            </a:r>
            <a:r>
              <a:rPr lang="en-US" dirty="0">
                <a:solidFill>
                  <a:srgbClr val="FF0000"/>
                </a:solidFill>
                <a:latin typeface="Aileron Bold"/>
              </a:rPr>
              <a:t> </a:t>
            </a:r>
            <a:r>
              <a:rPr lang="en-US" dirty="0" err="1">
                <a:solidFill>
                  <a:srgbClr val="FF0000"/>
                </a:solidFill>
                <a:latin typeface="Aileron Bold"/>
              </a:rPr>
              <a:t>projeye</a:t>
            </a:r>
            <a:r>
              <a:rPr lang="en-US" dirty="0">
                <a:solidFill>
                  <a:srgbClr val="FF0000"/>
                </a:solidFill>
                <a:latin typeface="Aileron Bold"/>
              </a:rPr>
              <a:t>/</a:t>
            </a:r>
            <a:r>
              <a:rPr lang="en-US" dirty="0" err="1">
                <a:solidFill>
                  <a:srgbClr val="FF0000"/>
                </a:solidFill>
                <a:latin typeface="Aileron Bold"/>
              </a:rPr>
              <a:t>fikre</a:t>
            </a:r>
            <a:r>
              <a:rPr lang="en-US" dirty="0">
                <a:solidFill>
                  <a:srgbClr val="FF0000"/>
                </a:solidFill>
                <a:latin typeface="Aileron Bold"/>
              </a:rPr>
              <a:t> </a:t>
            </a:r>
            <a:r>
              <a:rPr lang="en-US" dirty="0" err="1">
                <a:solidFill>
                  <a:srgbClr val="FF0000"/>
                </a:solidFill>
                <a:latin typeface="Aileron Bold"/>
              </a:rPr>
              <a:t>ve</a:t>
            </a:r>
            <a:r>
              <a:rPr lang="en-US" dirty="0">
                <a:solidFill>
                  <a:srgbClr val="FF0000"/>
                </a:solidFill>
                <a:latin typeface="Aileron Bold"/>
              </a:rPr>
              <a:t> </a:t>
            </a:r>
            <a:r>
              <a:rPr lang="en-US" dirty="0" err="1">
                <a:solidFill>
                  <a:srgbClr val="FF0000"/>
                </a:solidFill>
                <a:latin typeface="Aileron Bold"/>
              </a:rPr>
              <a:t>yarışma</a:t>
            </a:r>
            <a:r>
              <a:rPr lang="en-US" dirty="0">
                <a:solidFill>
                  <a:srgbClr val="FF0000"/>
                </a:solidFill>
                <a:latin typeface="Aileron Bold"/>
              </a:rPr>
              <a:t> </a:t>
            </a:r>
            <a:r>
              <a:rPr lang="en-US" dirty="0" err="1">
                <a:solidFill>
                  <a:srgbClr val="FF0000"/>
                </a:solidFill>
                <a:latin typeface="Aileron Bold"/>
              </a:rPr>
              <a:t>kategorisinin</a:t>
            </a:r>
            <a:r>
              <a:rPr lang="en-US" dirty="0">
                <a:solidFill>
                  <a:srgbClr val="FF0000"/>
                </a:solidFill>
                <a:latin typeface="Aileron Bold"/>
              </a:rPr>
              <a:t> </a:t>
            </a:r>
            <a:r>
              <a:rPr lang="en-US" dirty="0" err="1">
                <a:solidFill>
                  <a:srgbClr val="FF0000"/>
                </a:solidFill>
                <a:latin typeface="Aileron Bold"/>
              </a:rPr>
              <a:t>konu</a:t>
            </a:r>
            <a:r>
              <a:rPr lang="en-US" dirty="0">
                <a:solidFill>
                  <a:srgbClr val="FF0000"/>
                </a:solidFill>
                <a:latin typeface="Aileron Bold"/>
              </a:rPr>
              <a:t> </a:t>
            </a:r>
            <a:r>
              <a:rPr lang="en-US" dirty="0" err="1">
                <a:solidFill>
                  <a:srgbClr val="FF0000"/>
                </a:solidFill>
                <a:latin typeface="Aileron Bold"/>
              </a:rPr>
              <a:t>kapsamına</a:t>
            </a:r>
            <a:r>
              <a:rPr lang="en-US" dirty="0">
                <a:solidFill>
                  <a:srgbClr val="FF0000"/>
                </a:solidFill>
                <a:latin typeface="Aileron Bold"/>
              </a:rPr>
              <a:t> </a:t>
            </a:r>
            <a:r>
              <a:rPr lang="en-US" dirty="0" err="1">
                <a:solidFill>
                  <a:srgbClr val="FF0000"/>
                </a:solidFill>
                <a:latin typeface="Aileron Bold"/>
              </a:rPr>
              <a:t>uygun</a:t>
            </a:r>
            <a:r>
              <a:rPr lang="en-US" dirty="0">
                <a:solidFill>
                  <a:srgbClr val="FF0000"/>
                </a:solidFill>
                <a:latin typeface="Aileron Bold"/>
              </a:rPr>
              <a:t> </a:t>
            </a:r>
            <a:r>
              <a:rPr lang="en-US" dirty="0" err="1">
                <a:solidFill>
                  <a:srgbClr val="FF0000"/>
                </a:solidFill>
                <a:latin typeface="Aileron Bold"/>
              </a:rPr>
              <a:t>olmalıdır</a:t>
            </a:r>
            <a:r>
              <a:rPr lang="en-US" dirty="0">
                <a:solidFill>
                  <a:srgbClr val="FF0000"/>
                </a:solidFill>
                <a:latin typeface="Aileron Bold"/>
              </a:rPr>
              <a:t>.</a:t>
            </a:r>
          </a:p>
          <a:p>
            <a:pPr marL="388620" lvl="1" indent="-194310" algn="just">
              <a:lnSpc>
                <a:spcPts val="2520"/>
              </a:lnSpc>
              <a:buFont typeface="Arial"/>
              <a:buChar char="•"/>
            </a:pPr>
            <a:r>
              <a:rPr lang="en-US" dirty="0" err="1">
                <a:solidFill>
                  <a:srgbClr val="FF0000"/>
                </a:solidFill>
                <a:latin typeface="Aileron Bold"/>
              </a:rPr>
              <a:t>Hedef</a:t>
            </a:r>
            <a:r>
              <a:rPr lang="en-US" dirty="0">
                <a:solidFill>
                  <a:srgbClr val="FF0000"/>
                </a:solidFill>
                <a:latin typeface="Aileron Bold"/>
              </a:rPr>
              <a:t> </a:t>
            </a:r>
            <a:r>
              <a:rPr lang="tr-TR" dirty="0">
                <a:solidFill>
                  <a:srgbClr val="FF0000"/>
                </a:solidFill>
                <a:latin typeface="Aileron Bold"/>
              </a:rPr>
              <a:t>alan</a:t>
            </a:r>
            <a:r>
              <a:rPr lang="en-US" dirty="0">
                <a:solidFill>
                  <a:srgbClr val="FF0000"/>
                </a:solidFill>
                <a:latin typeface="Aileron Bold"/>
              </a:rPr>
              <a:t> </a:t>
            </a:r>
            <a:r>
              <a:rPr lang="en-US" dirty="0" err="1">
                <a:solidFill>
                  <a:srgbClr val="FF0000"/>
                </a:solidFill>
                <a:latin typeface="Aileron Bold"/>
              </a:rPr>
              <a:t>özelleştirilmelidir</a:t>
            </a:r>
            <a:r>
              <a:rPr lang="en-US" dirty="0">
                <a:solidFill>
                  <a:srgbClr val="FF0000"/>
                </a:solidFill>
                <a:latin typeface="Aileron Bold"/>
              </a:rPr>
              <a:t>. Genel </a:t>
            </a:r>
            <a:r>
              <a:rPr lang="en-US" dirty="0" err="1">
                <a:solidFill>
                  <a:srgbClr val="FF0000"/>
                </a:solidFill>
                <a:latin typeface="Aileron Bold"/>
              </a:rPr>
              <a:t>ifadelere</a:t>
            </a:r>
            <a:r>
              <a:rPr lang="en-US" dirty="0">
                <a:solidFill>
                  <a:srgbClr val="FF0000"/>
                </a:solidFill>
                <a:latin typeface="Aileron Bold"/>
              </a:rPr>
              <a:t> </a:t>
            </a:r>
            <a:r>
              <a:rPr lang="en-US" dirty="0" err="1">
                <a:solidFill>
                  <a:srgbClr val="FF0000"/>
                </a:solidFill>
                <a:latin typeface="Aileron Bold"/>
              </a:rPr>
              <a:t>yer</a:t>
            </a:r>
            <a:r>
              <a:rPr lang="en-US" dirty="0">
                <a:solidFill>
                  <a:srgbClr val="FF0000"/>
                </a:solidFill>
                <a:latin typeface="Aileron Bold"/>
              </a:rPr>
              <a:t> </a:t>
            </a:r>
            <a:r>
              <a:rPr lang="en-US" dirty="0" err="1">
                <a:solidFill>
                  <a:srgbClr val="FF0000"/>
                </a:solidFill>
                <a:latin typeface="Aileron Bold"/>
              </a:rPr>
              <a:t>verilmemelidir</a:t>
            </a:r>
            <a:r>
              <a:rPr lang="en-US" dirty="0">
                <a:solidFill>
                  <a:srgbClr val="FF0000"/>
                </a:solidFill>
                <a:latin typeface="Aileron Bold"/>
              </a:rPr>
              <a:t>. (Örn: </a:t>
            </a:r>
            <a:r>
              <a:rPr lang="tr-TR" dirty="0">
                <a:solidFill>
                  <a:srgbClr val="FF0000"/>
                </a:solidFill>
                <a:latin typeface="Aileron Bold"/>
              </a:rPr>
              <a:t>Tüm madencilik alanları</a:t>
            </a:r>
            <a:r>
              <a:rPr lang="en-US" dirty="0">
                <a:solidFill>
                  <a:srgbClr val="FF0000"/>
                </a:solidFill>
                <a:latin typeface="Aileron Bold"/>
              </a:rPr>
              <a:t>, </a:t>
            </a:r>
            <a:r>
              <a:rPr lang="tr-TR" dirty="0">
                <a:solidFill>
                  <a:srgbClr val="FF0000"/>
                </a:solidFill>
                <a:latin typeface="Aileron Bold"/>
              </a:rPr>
              <a:t>tüm üretim alanları.</a:t>
            </a:r>
            <a:r>
              <a:rPr lang="en-US" dirty="0">
                <a:solidFill>
                  <a:srgbClr val="FF0000"/>
                </a:solidFill>
                <a:latin typeface="Aileron Bold"/>
              </a:rPr>
              <a:t>.. )</a:t>
            </a:r>
            <a:endParaRPr lang="tr-TR" dirty="0">
              <a:solidFill>
                <a:srgbClr val="FF0000"/>
              </a:solidFill>
              <a:latin typeface="Aileron Bold"/>
            </a:endParaRPr>
          </a:p>
          <a:p>
            <a:pPr marL="388620" lvl="1" indent="-194310" algn="just">
              <a:lnSpc>
                <a:spcPts val="2520"/>
              </a:lnSpc>
              <a:buFont typeface="Arial"/>
              <a:buChar char="•"/>
            </a:pPr>
            <a:endParaRPr lang="tr-TR" dirty="0">
              <a:solidFill>
                <a:srgbClr val="FF0000"/>
              </a:solidFill>
              <a:latin typeface="Aileron Bold"/>
            </a:endParaRPr>
          </a:p>
          <a:p>
            <a:pPr marL="194311" lvl="1" algn="just">
              <a:lnSpc>
                <a:spcPts val="2520"/>
              </a:lnSpc>
            </a:pPr>
            <a:r>
              <a:rPr lang="tr-TR" dirty="0">
                <a:solidFill>
                  <a:srgbClr val="FF0000"/>
                </a:solidFill>
                <a:latin typeface="Aileron Bold"/>
              </a:rPr>
              <a:t>Sayfada görsellerden (tablolar, akış diyagramı , infografik vb.) yararlanabilirsiniz.</a:t>
            </a:r>
            <a:endParaRPr lang="en-US" dirty="0">
              <a:solidFill>
                <a:srgbClr val="FF0000"/>
              </a:solidFill>
              <a:latin typeface="Aileron Bold"/>
            </a:endParaRPr>
          </a:p>
          <a:p>
            <a:pPr marL="194310" lvl="1" algn="just">
              <a:lnSpc>
                <a:spcPts val="2520"/>
              </a:lnSpc>
            </a:pPr>
            <a:endParaRPr lang="en-US" dirty="0">
              <a:solidFill>
                <a:srgbClr val="FF0000"/>
              </a:solidFill>
              <a:latin typeface="Aileron Bold"/>
            </a:endParaRPr>
          </a:p>
          <a:p>
            <a:pPr algn="just">
              <a:lnSpc>
                <a:spcPts val="4759"/>
              </a:lnSpc>
            </a:pPr>
            <a:endParaRPr lang="en-US" dirty="0">
              <a:solidFill>
                <a:srgbClr val="FF0000"/>
              </a:solidFill>
              <a:latin typeface="Aileron Bold"/>
            </a:endParaRPr>
          </a:p>
        </p:txBody>
      </p:sp>
      <p:sp>
        <p:nvSpPr>
          <p:cNvPr id="4" name="AutoShape 20">
            <a:extLst>
              <a:ext uri="{FF2B5EF4-FFF2-40B4-BE49-F238E27FC236}">
                <a16:creationId xmlns:a16="http://schemas.microsoft.com/office/drawing/2014/main" id="{95CFB28E-5C8F-BA72-D0F9-16815E4D8A42}"/>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9B6C2D5B-5914-6CF5-E36A-8D87AAAF6D7E}"/>
              </a:ext>
            </a:extLst>
          </p:cNvPr>
          <p:cNvSpPr txBox="1"/>
          <p:nvPr/>
        </p:nvSpPr>
        <p:spPr>
          <a:xfrm>
            <a:off x="15217854" y="4610100"/>
            <a:ext cx="2237037"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A01CC8BC-1C7A-1490-4EEC-706105473483}"/>
              </a:ext>
            </a:extLst>
          </p:cNvPr>
          <p:cNvSpPr txBox="1"/>
          <p:nvPr/>
        </p:nvSpPr>
        <p:spPr>
          <a:xfrm>
            <a:off x="15762030" y="3405481"/>
            <a:ext cx="1660989"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447B83C2-1566-793A-06C6-BBFE36DF9FA4}"/>
              </a:ext>
            </a:extLst>
          </p:cNvPr>
          <p:cNvSpPr txBox="1"/>
          <p:nvPr/>
        </p:nvSpPr>
        <p:spPr>
          <a:xfrm>
            <a:off x="15986302" y="7353300"/>
            <a:ext cx="1436949" cy="539443"/>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874164C1-969F-A181-4814-4F2B46BC8A0F}"/>
              </a:ext>
            </a:extLst>
          </p:cNvPr>
          <p:cNvSpPr txBox="1"/>
          <p:nvPr/>
        </p:nvSpPr>
        <p:spPr>
          <a:xfrm>
            <a:off x="15217854" y="5372100"/>
            <a:ext cx="2198106"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9" name="TextBox 38">
            <a:extLst>
              <a:ext uri="{FF2B5EF4-FFF2-40B4-BE49-F238E27FC236}">
                <a16:creationId xmlns:a16="http://schemas.microsoft.com/office/drawing/2014/main" id="{DC1CF58F-CF05-0A26-12DE-E06186CC974B}"/>
              </a:ext>
            </a:extLst>
          </p:cNvPr>
          <p:cNvSpPr txBox="1"/>
          <p:nvPr/>
        </p:nvSpPr>
        <p:spPr>
          <a:xfrm>
            <a:off x="15745664" y="6896100"/>
            <a:ext cx="1693723" cy="257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HEDEF ALAN</a:t>
            </a:r>
            <a:endParaRPr lang="en-US" sz="1550" dirty="0">
              <a:solidFill>
                <a:srgbClr val="1C4C61"/>
              </a:solidFill>
              <a:latin typeface="Aileron Bold"/>
            </a:endParaRPr>
          </a:p>
        </p:txBody>
      </p:sp>
      <p:sp>
        <p:nvSpPr>
          <p:cNvPr id="10" name="TextBox 39">
            <a:extLst>
              <a:ext uri="{FF2B5EF4-FFF2-40B4-BE49-F238E27FC236}">
                <a16:creationId xmlns:a16="http://schemas.microsoft.com/office/drawing/2014/main" id="{F570E349-74D5-B528-7CF8-0FD460296CBA}"/>
              </a:ext>
            </a:extLst>
          </p:cNvPr>
          <p:cNvSpPr txBox="1"/>
          <p:nvPr/>
        </p:nvSpPr>
        <p:spPr>
          <a:xfrm>
            <a:off x="15668804" y="6134100"/>
            <a:ext cx="1724183"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11" name="Freeform 21">
            <a:extLst>
              <a:ext uri="{FF2B5EF4-FFF2-40B4-BE49-F238E27FC236}">
                <a16:creationId xmlns:a16="http://schemas.microsoft.com/office/drawing/2014/main" id="{64D4A218-808E-0B95-1D72-82D4EBF248C1}"/>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Freeform 21">
            <a:extLst>
              <a:ext uri="{FF2B5EF4-FFF2-40B4-BE49-F238E27FC236}">
                <a16:creationId xmlns:a16="http://schemas.microsoft.com/office/drawing/2014/main" id="{E7FAFC46-5748-DA5B-854E-2BD43AB7E3DB}"/>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2AB22ABC-6E94-B02A-A03B-F178FB2BFDB9}"/>
              </a:ext>
            </a:extLst>
          </p:cNvPr>
          <p:cNvSpPr/>
          <p:nvPr/>
        </p:nvSpPr>
        <p:spPr>
          <a:xfrm>
            <a:off x="17528868" y="4000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DCD11030-4CEE-0D6F-7823-3022E44E95C6}"/>
              </a:ext>
            </a:extLst>
          </p:cNvPr>
          <p:cNvSpPr/>
          <p:nvPr/>
        </p:nvSpPr>
        <p:spPr>
          <a:xfrm>
            <a:off x="17537349" y="4686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775AE0AD-5E22-EB3E-C5E9-B306C777C0C4}"/>
              </a:ext>
            </a:extLst>
          </p:cNvPr>
          <p:cNvSpPr/>
          <p:nvPr/>
        </p:nvSpPr>
        <p:spPr>
          <a:xfrm>
            <a:off x="17531608" y="5448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AD7D1008-666F-7EB1-5CBF-1A2F23CC5EE4}"/>
              </a:ext>
            </a:extLst>
          </p:cNvPr>
          <p:cNvSpPr/>
          <p:nvPr/>
        </p:nvSpPr>
        <p:spPr>
          <a:xfrm>
            <a:off x="17516246" y="6210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4B5DBB9E-0168-14A7-450F-5BDE90CB007F}"/>
              </a:ext>
            </a:extLst>
          </p:cNvPr>
          <p:cNvSpPr/>
          <p:nvPr/>
        </p:nvSpPr>
        <p:spPr>
          <a:xfrm>
            <a:off x="17516247" y="68199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825BC79A-7773-981C-27C3-3A39C910BC97}"/>
              </a:ext>
            </a:extLst>
          </p:cNvPr>
          <p:cNvSpPr/>
          <p:nvPr/>
        </p:nvSpPr>
        <p:spPr>
          <a:xfrm>
            <a:off x="17530931" y="7429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2FA703C5-05BF-A8F3-2251-D8CF17D45F49}"/>
              </a:ext>
            </a:extLst>
          </p:cNvPr>
          <p:cNvSpPr txBox="1"/>
          <p:nvPr/>
        </p:nvSpPr>
        <p:spPr>
          <a:xfrm>
            <a:off x="15521473" y="2673548"/>
            <a:ext cx="1928327"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PROBLEMİN TANIMI </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F2750189-504C-F436-E37C-4638D3FE70E4}"/>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EFD35E8B-D89C-ADE7-61AA-C0D330C35950}"/>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FF60DA3E-58C2-EB72-A32E-3D431028B87E}"/>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A0EB1C68-3BBC-F643-1643-070A33A861E8}"/>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4" name="TextBox 35">
            <a:extLst>
              <a:ext uri="{FF2B5EF4-FFF2-40B4-BE49-F238E27FC236}">
                <a16:creationId xmlns:a16="http://schemas.microsoft.com/office/drawing/2014/main" id="{9D2D4941-AA27-3610-DF2E-FF281811078B}"/>
              </a:ext>
            </a:extLst>
          </p:cNvPr>
          <p:cNvSpPr txBox="1"/>
          <p:nvPr/>
        </p:nvSpPr>
        <p:spPr>
          <a:xfrm>
            <a:off x="16004968" y="4076700"/>
            <a:ext cx="1444832"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5" name="Freeform 21">
            <a:extLst>
              <a:ext uri="{FF2B5EF4-FFF2-40B4-BE49-F238E27FC236}">
                <a16:creationId xmlns:a16="http://schemas.microsoft.com/office/drawing/2014/main" id="{58CFCD09-E163-DFC1-1960-3BCFE5162FAB}"/>
              </a:ext>
            </a:extLst>
          </p:cNvPr>
          <p:cNvSpPr/>
          <p:nvPr/>
        </p:nvSpPr>
        <p:spPr>
          <a:xfrm>
            <a:off x="17544109" y="810983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6" name="TextBox 38">
            <a:extLst>
              <a:ext uri="{FF2B5EF4-FFF2-40B4-BE49-F238E27FC236}">
                <a16:creationId xmlns:a16="http://schemas.microsoft.com/office/drawing/2014/main" id="{83E7781E-7A0B-9301-F525-A8943D49FE55}"/>
              </a:ext>
            </a:extLst>
          </p:cNvPr>
          <p:cNvSpPr txBox="1"/>
          <p:nvPr/>
        </p:nvSpPr>
        <p:spPr>
          <a:xfrm>
            <a:off x="16004968" y="8161599"/>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spTree>
    <p:extLst>
      <p:ext uri="{BB962C8B-B14F-4D97-AF65-F5344CB8AC3E}">
        <p14:creationId xmlns:p14="http://schemas.microsoft.com/office/powerpoint/2010/main" val="1101333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8F08486-8E3C-F087-674B-0A383CA0D314}"/>
            </a:ext>
          </a:extLst>
        </p:cNvPr>
        <p:cNvGrpSpPr/>
        <p:nvPr/>
      </p:nvGrpSpPr>
      <p:grpSpPr>
        <a:xfrm>
          <a:off x="0" y="0"/>
          <a:ext cx="0" cy="0"/>
          <a:chOff x="0" y="0"/>
          <a:chExt cx="0" cy="0"/>
        </a:xfrm>
      </p:grpSpPr>
      <p:sp>
        <p:nvSpPr>
          <p:cNvPr id="2" name="TextBox 114">
            <a:extLst>
              <a:ext uri="{FF2B5EF4-FFF2-40B4-BE49-F238E27FC236}">
                <a16:creationId xmlns:a16="http://schemas.microsoft.com/office/drawing/2014/main" id="{CC6D82EF-EDA2-6BC3-9AAA-E7ACEE7FEB5F}"/>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
        <p:nvSpPr>
          <p:cNvPr id="3" name="TextBox 12">
            <a:extLst>
              <a:ext uri="{FF2B5EF4-FFF2-40B4-BE49-F238E27FC236}">
                <a16:creationId xmlns:a16="http://schemas.microsoft.com/office/drawing/2014/main" id="{A3C05A31-5618-47FA-5530-E15B8D1E0F19}"/>
              </a:ext>
            </a:extLst>
          </p:cNvPr>
          <p:cNvSpPr txBox="1">
            <a:spLocks/>
          </p:cNvSpPr>
          <p:nvPr/>
        </p:nvSpPr>
        <p:spPr>
          <a:xfrm>
            <a:off x="1654254" y="266700"/>
            <a:ext cx="14656674" cy="820738"/>
          </a:xfrm>
          <a:prstGeom prst="rect">
            <a:avLst/>
          </a:prstGeom>
        </p:spPr>
        <p:txBody>
          <a:bodyPr wrap="square" lIns="0" tIns="0" rIns="0" bIns="0" rtlCol="0" anchor="t">
            <a:spAutoFit/>
          </a:bodyPr>
          <a:lstStyle/>
          <a:p>
            <a:pPr algn="ctr">
              <a:lnSpc>
                <a:spcPts val="6399"/>
              </a:lnSpc>
              <a:spcBef>
                <a:spcPct val="0"/>
              </a:spcBef>
            </a:pPr>
            <a:r>
              <a:rPr lang="tr-TR" sz="6000" dirty="0">
                <a:solidFill>
                  <a:srgbClr val="1A426A"/>
                </a:solidFill>
                <a:latin typeface="Active Heart"/>
              </a:rPr>
              <a:t>PROJE TAKVİMİ</a:t>
            </a:r>
            <a:endParaRPr lang="en-US" sz="6000" dirty="0">
              <a:solidFill>
                <a:srgbClr val="1A426A"/>
              </a:solidFill>
              <a:latin typeface="Active Heart"/>
            </a:endParaRPr>
          </a:p>
        </p:txBody>
      </p:sp>
      <p:sp>
        <p:nvSpPr>
          <p:cNvPr id="4" name="AutoShape 20">
            <a:extLst>
              <a:ext uri="{FF2B5EF4-FFF2-40B4-BE49-F238E27FC236}">
                <a16:creationId xmlns:a16="http://schemas.microsoft.com/office/drawing/2014/main" id="{D5139DA7-EE33-69E4-4C24-318BAE9B57D2}"/>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24F749B7-0946-B984-B62E-FD8992323DE1}"/>
              </a:ext>
            </a:extLst>
          </p:cNvPr>
          <p:cNvSpPr txBox="1"/>
          <p:nvPr/>
        </p:nvSpPr>
        <p:spPr>
          <a:xfrm>
            <a:off x="15217854" y="4610100"/>
            <a:ext cx="2237037"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518313ED-851F-FCD2-272D-50823F3CFE8B}"/>
              </a:ext>
            </a:extLst>
          </p:cNvPr>
          <p:cNvSpPr txBox="1"/>
          <p:nvPr/>
        </p:nvSpPr>
        <p:spPr>
          <a:xfrm>
            <a:off x="15762030" y="3405481"/>
            <a:ext cx="1660989"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167A15BC-7A87-B19F-747A-FAF929C32466}"/>
              </a:ext>
            </a:extLst>
          </p:cNvPr>
          <p:cNvSpPr txBox="1"/>
          <p:nvPr/>
        </p:nvSpPr>
        <p:spPr>
          <a:xfrm>
            <a:off x="15986302" y="7353300"/>
            <a:ext cx="1436949" cy="53944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FEB340CE-854D-B312-4196-918E0B5BE6DB}"/>
              </a:ext>
            </a:extLst>
          </p:cNvPr>
          <p:cNvSpPr txBox="1"/>
          <p:nvPr/>
        </p:nvSpPr>
        <p:spPr>
          <a:xfrm>
            <a:off x="15217854" y="5372100"/>
            <a:ext cx="2198106"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9" name="TextBox 38">
            <a:extLst>
              <a:ext uri="{FF2B5EF4-FFF2-40B4-BE49-F238E27FC236}">
                <a16:creationId xmlns:a16="http://schemas.microsoft.com/office/drawing/2014/main" id="{0740BD74-C3CA-FB53-5C42-8A5F7975F9FF}"/>
              </a:ext>
            </a:extLst>
          </p:cNvPr>
          <p:cNvSpPr txBox="1"/>
          <p:nvPr/>
        </p:nvSpPr>
        <p:spPr>
          <a:xfrm>
            <a:off x="15745664" y="6896100"/>
            <a:ext cx="1693723"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HEDEF ALAN</a:t>
            </a:r>
            <a:endParaRPr lang="en-US" sz="1550" dirty="0">
              <a:solidFill>
                <a:srgbClr val="1C4C61"/>
              </a:solidFill>
              <a:latin typeface="Aileron Bold"/>
            </a:endParaRPr>
          </a:p>
        </p:txBody>
      </p:sp>
      <p:sp>
        <p:nvSpPr>
          <p:cNvPr id="10" name="TextBox 39">
            <a:extLst>
              <a:ext uri="{FF2B5EF4-FFF2-40B4-BE49-F238E27FC236}">
                <a16:creationId xmlns:a16="http://schemas.microsoft.com/office/drawing/2014/main" id="{1E3CF494-7100-C5EF-7C52-81D4BD8F5D73}"/>
              </a:ext>
            </a:extLst>
          </p:cNvPr>
          <p:cNvSpPr txBox="1"/>
          <p:nvPr/>
        </p:nvSpPr>
        <p:spPr>
          <a:xfrm>
            <a:off x="15668804" y="6134100"/>
            <a:ext cx="1724183"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11" name="Freeform 21">
            <a:extLst>
              <a:ext uri="{FF2B5EF4-FFF2-40B4-BE49-F238E27FC236}">
                <a16:creationId xmlns:a16="http://schemas.microsoft.com/office/drawing/2014/main" id="{38E974A1-0695-39F9-5899-18694161B5BE}"/>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Freeform 21">
            <a:extLst>
              <a:ext uri="{FF2B5EF4-FFF2-40B4-BE49-F238E27FC236}">
                <a16:creationId xmlns:a16="http://schemas.microsoft.com/office/drawing/2014/main" id="{6B636C99-0B08-E7E0-FF90-69FC267835D2}"/>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1941BDF8-1641-26C1-6E70-1A18F59D6287}"/>
              </a:ext>
            </a:extLst>
          </p:cNvPr>
          <p:cNvSpPr/>
          <p:nvPr/>
        </p:nvSpPr>
        <p:spPr>
          <a:xfrm>
            <a:off x="17528868" y="4000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1E2552DE-D368-999D-C92C-A0AB066D9EF0}"/>
              </a:ext>
            </a:extLst>
          </p:cNvPr>
          <p:cNvSpPr/>
          <p:nvPr/>
        </p:nvSpPr>
        <p:spPr>
          <a:xfrm>
            <a:off x="17537349" y="4686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E06C5572-0EC8-95CF-D78B-737044872B9A}"/>
              </a:ext>
            </a:extLst>
          </p:cNvPr>
          <p:cNvSpPr/>
          <p:nvPr/>
        </p:nvSpPr>
        <p:spPr>
          <a:xfrm>
            <a:off x="17531608" y="5448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770D5751-96E3-6578-13FC-0D764B9799E4}"/>
              </a:ext>
            </a:extLst>
          </p:cNvPr>
          <p:cNvSpPr/>
          <p:nvPr/>
        </p:nvSpPr>
        <p:spPr>
          <a:xfrm>
            <a:off x="17516246" y="6210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7D1E78FD-2343-E00D-D28E-C0C833E0B4EC}"/>
              </a:ext>
            </a:extLst>
          </p:cNvPr>
          <p:cNvSpPr/>
          <p:nvPr/>
        </p:nvSpPr>
        <p:spPr>
          <a:xfrm>
            <a:off x="17516247" y="68199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1B5F3CF9-75AB-C559-0C0B-A338A4B8FDB4}"/>
              </a:ext>
            </a:extLst>
          </p:cNvPr>
          <p:cNvSpPr/>
          <p:nvPr/>
        </p:nvSpPr>
        <p:spPr>
          <a:xfrm>
            <a:off x="17530931" y="7429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43CF1FA3-8BE7-60F0-54C7-B9D229DC2F0E}"/>
              </a:ext>
            </a:extLst>
          </p:cNvPr>
          <p:cNvSpPr txBox="1"/>
          <p:nvPr/>
        </p:nvSpPr>
        <p:spPr>
          <a:xfrm>
            <a:off x="15521473" y="2673548"/>
            <a:ext cx="1928327"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PROBLEMİN TANIMI </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ED06F098-592B-4E8B-1E1C-AE4E01B699D2}"/>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3F06A417-D30E-0F3F-AFB7-3FDB0BB73B69}"/>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24B1733D-55D7-757D-A01F-B0377E82CE31}"/>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44A9297D-C918-A3F3-B5D8-53ECD46A6681}"/>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4" name="TextBox 35">
            <a:extLst>
              <a:ext uri="{FF2B5EF4-FFF2-40B4-BE49-F238E27FC236}">
                <a16:creationId xmlns:a16="http://schemas.microsoft.com/office/drawing/2014/main" id="{89BE4BF1-333A-9447-ABC7-15703540E487}"/>
              </a:ext>
            </a:extLst>
          </p:cNvPr>
          <p:cNvSpPr txBox="1"/>
          <p:nvPr/>
        </p:nvSpPr>
        <p:spPr>
          <a:xfrm>
            <a:off x="16004968" y="4076700"/>
            <a:ext cx="1444832"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5" name="Freeform 21">
            <a:extLst>
              <a:ext uri="{FF2B5EF4-FFF2-40B4-BE49-F238E27FC236}">
                <a16:creationId xmlns:a16="http://schemas.microsoft.com/office/drawing/2014/main" id="{0AD803F7-8C25-ADFE-34A2-50A8FCC5B424}"/>
              </a:ext>
            </a:extLst>
          </p:cNvPr>
          <p:cNvSpPr/>
          <p:nvPr/>
        </p:nvSpPr>
        <p:spPr>
          <a:xfrm>
            <a:off x="17544109" y="810983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6" name="TextBox 38">
            <a:extLst>
              <a:ext uri="{FF2B5EF4-FFF2-40B4-BE49-F238E27FC236}">
                <a16:creationId xmlns:a16="http://schemas.microsoft.com/office/drawing/2014/main" id="{BC76601D-5C8F-A069-C939-B8E4F16B0817}"/>
              </a:ext>
            </a:extLst>
          </p:cNvPr>
          <p:cNvSpPr txBox="1"/>
          <p:nvPr/>
        </p:nvSpPr>
        <p:spPr>
          <a:xfrm>
            <a:off x="16004968" y="8161599"/>
            <a:ext cx="1436949" cy="257315"/>
          </a:xfrm>
          <a:prstGeom prst="rect">
            <a:avLst/>
          </a:prstGeom>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graphicFrame>
        <p:nvGraphicFramePr>
          <p:cNvPr id="27" name="Tablo 26">
            <a:extLst>
              <a:ext uri="{FF2B5EF4-FFF2-40B4-BE49-F238E27FC236}">
                <a16:creationId xmlns:a16="http://schemas.microsoft.com/office/drawing/2014/main" id="{DA84A0FA-A6EB-64A4-DDA5-D0961C1077BD}"/>
              </a:ext>
            </a:extLst>
          </p:cNvPr>
          <p:cNvGraphicFramePr>
            <a:graphicFrameLocks noGrp="1"/>
          </p:cNvGraphicFramePr>
          <p:nvPr>
            <p:extLst>
              <p:ext uri="{D42A27DB-BD31-4B8C-83A1-F6EECF244321}">
                <p14:modId xmlns:p14="http://schemas.microsoft.com/office/powerpoint/2010/main" val="2400841460"/>
              </p:ext>
            </p:extLst>
          </p:nvPr>
        </p:nvGraphicFramePr>
        <p:xfrm>
          <a:off x="1903779" y="1740851"/>
          <a:ext cx="13194263" cy="3450290"/>
        </p:xfrm>
        <a:graphic>
          <a:graphicData uri="http://schemas.openxmlformats.org/drawingml/2006/table">
            <a:tbl>
              <a:tblPr firstRow="1" firstCol="1" bandRow="1">
                <a:tableStyleId>{5C22544A-7EE6-4342-B048-85BDC9FD1C3A}</a:tableStyleId>
              </a:tblPr>
              <a:tblGrid>
                <a:gridCol w="1419904">
                  <a:extLst>
                    <a:ext uri="{9D8B030D-6E8A-4147-A177-3AD203B41FA5}">
                      <a16:colId xmlns:a16="http://schemas.microsoft.com/office/drawing/2014/main" val="3651232533"/>
                    </a:ext>
                  </a:extLst>
                </a:gridCol>
                <a:gridCol w="3480614">
                  <a:extLst>
                    <a:ext uri="{9D8B030D-6E8A-4147-A177-3AD203B41FA5}">
                      <a16:colId xmlns:a16="http://schemas.microsoft.com/office/drawing/2014/main" val="286275402"/>
                    </a:ext>
                  </a:extLst>
                </a:gridCol>
                <a:gridCol w="3451480">
                  <a:extLst>
                    <a:ext uri="{9D8B030D-6E8A-4147-A177-3AD203B41FA5}">
                      <a16:colId xmlns:a16="http://schemas.microsoft.com/office/drawing/2014/main" val="1308968788"/>
                    </a:ext>
                  </a:extLst>
                </a:gridCol>
                <a:gridCol w="2392734">
                  <a:extLst>
                    <a:ext uri="{9D8B030D-6E8A-4147-A177-3AD203B41FA5}">
                      <a16:colId xmlns:a16="http://schemas.microsoft.com/office/drawing/2014/main" val="3301012220"/>
                    </a:ext>
                  </a:extLst>
                </a:gridCol>
                <a:gridCol w="2449531">
                  <a:extLst>
                    <a:ext uri="{9D8B030D-6E8A-4147-A177-3AD203B41FA5}">
                      <a16:colId xmlns:a16="http://schemas.microsoft.com/office/drawing/2014/main" val="642288747"/>
                    </a:ext>
                  </a:extLst>
                </a:gridCol>
              </a:tblGrid>
              <a:tr h="819116">
                <a:tc>
                  <a:txBody>
                    <a:bodyPr/>
                    <a:lstStyle/>
                    <a:p>
                      <a:pPr algn="ctr">
                        <a:lnSpc>
                          <a:spcPct val="107000"/>
                        </a:lnSpc>
                        <a:spcAft>
                          <a:spcPts val="800"/>
                        </a:spcAft>
                      </a:pPr>
                      <a:r>
                        <a:rPr lang="tr-TR" sz="1800" kern="100" dirty="0">
                          <a:effectLst/>
                        </a:rPr>
                        <a:t>İş Paketi No</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İŞ PAKETİ ADI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ALT FAALİYETLER</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BAŞLANGIÇ TARİHİ</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BİTİŞ TARİHİ</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extLst>
                  <a:ext uri="{0D108BD9-81ED-4DB2-BD59-A6C34878D82A}">
                    <a16:rowId xmlns:a16="http://schemas.microsoft.com/office/drawing/2014/main" val="40059261"/>
                  </a:ext>
                </a:extLst>
              </a:tr>
              <a:tr h="375882">
                <a:tc>
                  <a:txBody>
                    <a:bodyPr/>
                    <a:lstStyle/>
                    <a:p>
                      <a:pPr algn="ctr">
                        <a:lnSpc>
                          <a:spcPct val="107000"/>
                        </a:lnSpc>
                        <a:spcAft>
                          <a:spcPts val="800"/>
                        </a:spcAft>
                      </a:pPr>
                      <a:r>
                        <a:rPr lang="tr-TR" sz="1800" kern="100" dirty="0">
                          <a:effectLst/>
                        </a:rPr>
                        <a:t>1</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3403083039"/>
                  </a:ext>
                </a:extLst>
              </a:tr>
              <a:tr h="375882">
                <a:tc>
                  <a:txBody>
                    <a:bodyPr/>
                    <a:lstStyle/>
                    <a:p>
                      <a:pPr algn="ctr">
                        <a:lnSpc>
                          <a:spcPct val="107000"/>
                        </a:lnSpc>
                        <a:spcAft>
                          <a:spcPts val="800"/>
                        </a:spcAft>
                      </a:pPr>
                      <a:r>
                        <a:rPr lang="tr-TR" sz="1800" kern="100" dirty="0">
                          <a:effectLst/>
                        </a:rPr>
                        <a:t>2</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08245559"/>
                  </a:ext>
                </a:extLst>
              </a:tr>
              <a:tr h="375882">
                <a:tc>
                  <a:txBody>
                    <a:bodyPr/>
                    <a:lstStyle/>
                    <a:p>
                      <a:pPr algn="ctr">
                        <a:lnSpc>
                          <a:spcPct val="107000"/>
                        </a:lnSpc>
                        <a:spcAft>
                          <a:spcPts val="800"/>
                        </a:spcAft>
                      </a:pPr>
                      <a:r>
                        <a:rPr lang="tr-TR" sz="1800" kern="100" dirty="0">
                          <a:effectLst/>
                        </a:rPr>
                        <a:t>3</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889250296"/>
                  </a:ext>
                </a:extLst>
              </a:tr>
              <a:tr h="375882">
                <a:tc>
                  <a:txBody>
                    <a:bodyPr/>
                    <a:lstStyle/>
                    <a:p>
                      <a:pPr algn="ctr">
                        <a:lnSpc>
                          <a:spcPct val="107000"/>
                        </a:lnSpc>
                        <a:spcAft>
                          <a:spcPts val="800"/>
                        </a:spcAft>
                      </a:pPr>
                      <a:r>
                        <a:rPr lang="tr-TR" sz="1800" kern="100" dirty="0">
                          <a:effectLst/>
                        </a:rPr>
                        <a:t>4</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2101133"/>
                  </a:ext>
                </a:extLst>
              </a:tr>
              <a:tr h="375882">
                <a:tc>
                  <a:txBody>
                    <a:bodyPr/>
                    <a:lstStyle/>
                    <a:p>
                      <a:pPr algn="ctr">
                        <a:lnSpc>
                          <a:spcPct val="107000"/>
                        </a:lnSpc>
                        <a:spcAft>
                          <a:spcPts val="800"/>
                        </a:spcAft>
                      </a:pPr>
                      <a:r>
                        <a:rPr lang="tr-TR" sz="1800" kern="100" dirty="0">
                          <a:effectLst/>
                        </a:rPr>
                        <a:t>5</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159154711"/>
                  </a:ext>
                </a:extLst>
              </a:tr>
              <a:tr h="375882">
                <a:tc>
                  <a:txBody>
                    <a:bodyPr/>
                    <a:lstStyle/>
                    <a:p>
                      <a:pPr algn="ctr">
                        <a:lnSpc>
                          <a:spcPct val="107000"/>
                        </a:lnSpc>
                        <a:spcAft>
                          <a:spcPts val="800"/>
                        </a:spcAft>
                      </a:pPr>
                      <a:r>
                        <a:rPr lang="tr-TR" sz="1800" kern="100" dirty="0">
                          <a:effectLst/>
                        </a:rPr>
                        <a:t>6</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a:effectLst/>
                        </a:rPr>
                        <a:t> </a:t>
                      </a:r>
                      <a:endParaRPr lang="tr-TR" sz="16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79381981"/>
                  </a:ext>
                </a:extLst>
              </a:tr>
              <a:tr h="375882">
                <a:tc>
                  <a:txBody>
                    <a:bodyPr/>
                    <a:lstStyle/>
                    <a:p>
                      <a:pPr algn="ctr">
                        <a:lnSpc>
                          <a:spcPct val="107000"/>
                        </a:lnSpc>
                        <a:spcAft>
                          <a:spcPts val="800"/>
                        </a:spcAft>
                      </a:pPr>
                      <a:r>
                        <a:rPr lang="tr-TR" sz="1800" kern="100" dirty="0">
                          <a:effectLst/>
                        </a:rPr>
                        <a:t>7</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accent1">
                        <a:lumMod val="75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ctr">
                        <a:lnSpc>
                          <a:spcPct val="107000"/>
                        </a:lnSpc>
                        <a:spcAft>
                          <a:spcPts val="800"/>
                        </a:spcAft>
                      </a:pPr>
                      <a:r>
                        <a:rPr lang="tr-TR" sz="1800" kern="100" dirty="0">
                          <a:effectLst/>
                        </a:rPr>
                        <a:t> </a:t>
                      </a:r>
                      <a:endParaRPr lang="tr-TR" sz="16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1602613127"/>
                  </a:ext>
                </a:extLst>
              </a:tr>
            </a:tbl>
          </a:graphicData>
        </a:graphic>
      </p:graphicFrame>
      <p:sp>
        <p:nvSpPr>
          <p:cNvPr id="28" name="Metin kutusu 27">
            <a:extLst>
              <a:ext uri="{FF2B5EF4-FFF2-40B4-BE49-F238E27FC236}">
                <a16:creationId xmlns:a16="http://schemas.microsoft.com/office/drawing/2014/main" id="{A6401CA5-D46C-1000-5768-00775CD65808}"/>
              </a:ext>
            </a:extLst>
          </p:cNvPr>
          <p:cNvSpPr txBox="1"/>
          <p:nvPr/>
        </p:nvSpPr>
        <p:spPr>
          <a:xfrm>
            <a:off x="1509729" y="5723034"/>
            <a:ext cx="12886166" cy="923330"/>
          </a:xfrm>
          <a:prstGeom prst="rect">
            <a:avLst/>
          </a:prstGeom>
          <a:noFill/>
        </p:spPr>
        <p:txBody>
          <a:bodyPr wrap="square">
            <a:spAutoFit/>
          </a:bodyPr>
          <a:lstStyle/>
          <a:p>
            <a:r>
              <a:rPr lang="tr-TR" sz="1800" dirty="0">
                <a:solidFill>
                  <a:srgbClr val="EE0000"/>
                </a:solidFill>
                <a:effectLst/>
                <a:latin typeface="Arial" panose="020B0604020202020204" pitchFamily="34" charset="0"/>
                <a:ea typeface="Aptos" panose="020B0004020202020204" pitchFamily="34" charset="0"/>
              </a:rPr>
              <a:t>Proje kapsamında iş paketleri alt faaliyetleri ile birlikte detaylı, açık belirlenmiş ve gerçekçi olmalıdır. Görsel açıdan anlaşılır ve düzenli bir tablo kullanılmalıdır, örnek tablo yukarıda yer almaktadır. Paylaşılacak bilgiler yalnızca iş paketi detaylarına ve proje içeriğine odaklanmalı ve gerçekçi olmalıdır. </a:t>
            </a:r>
            <a:endParaRPr lang="tr-TR" dirty="0">
              <a:solidFill>
                <a:srgbClr val="EE0000"/>
              </a:solidFill>
            </a:endParaRPr>
          </a:p>
        </p:txBody>
      </p:sp>
      <p:sp>
        <p:nvSpPr>
          <p:cNvPr id="29" name="Metin kutusu 28">
            <a:extLst>
              <a:ext uri="{FF2B5EF4-FFF2-40B4-BE49-F238E27FC236}">
                <a16:creationId xmlns:a16="http://schemas.microsoft.com/office/drawing/2014/main" id="{564C7CC7-C1E4-621B-F9D7-BF9CE354AA2B}"/>
              </a:ext>
            </a:extLst>
          </p:cNvPr>
          <p:cNvSpPr txBox="1"/>
          <p:nvPr/>
        </p:nvSpPr>
        <p:spPr>
          <a:xfrm>
            <a:off x="1471059" y="6812851"/>
            <a:ext cx="12886166" cy="1766702"/>
          </a:xfrm>
          <a:prstGeom prst="rect">
            <a:avLst/>
          </a:prstGeom>
          <a:noFill/>
        </p:spPr>
        <p:txBody>
          <a:bodyPr wrap="square">
            <a:spAutoFit/>
          </a:bodyPr>
          <a:lstStyle/>
          <a:p>
            <a:pPr algn="just">
              <a:lnSpc>
                <a:spcPct val="107000"/>
              </a:lnSpc>
              <a:spcAft>
                <a:spcPts val="800"/>
              </a:spcAft>
            </a:pP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Tabloda yer alan </a:t>
            </a: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iş paketi</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ve </a:t>
            </a: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alt faaliyetlerin </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tanımı;</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İş Paketi:</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Bir projede belirli bir hedefe ulaşmak için yapılan, tamamlandığında net bir sonuç ortaya koyan ve genellikle belirli bir zaman, bütçe ve kaynakla sınırlı olan bağımsız bir görevler grubudur.</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tr-TR" sz="1800" b="1"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Alt Faaliyet:</a:t>
            </a:r>
            <a:r>
              <a:rPr lang="tr-TR" sz="1800" kern="100" dirty="0">
                <a:solidFill>
                  <a:srgbClr val="EE0000"/>
                </a:solidFill>
                <a:effectLst/>
                <a:latin typeface="Arial" panose="020B0604020202020204" pitchFamily="34" charset="0"/>
                <a:ea typeface="Aptos" panose="020B0004020202020204" pitchFamily="34" charset="0"/>
                <a:cs typeface="Times New Roman" panose="02020603050405020304" pitchFamily="18" charset="0"/>
              </a:rPr>
              <a:t> İş paketine bağlı daha küçük, daha detaylı görevler veya aktiviteler olarak tanımlanır. Alt faaliyetler, iş paketini tamamlamak için gereken adımların alt kırılımlarıdır ve genellikle daha kısa süreli ve daha spesifik görevlerdir.</a:t>
            </a:r>
            <a:endParaRPr lang="tr-TR" sz="1600" kern="100" dirty="0">
              <a:solidFill>
                <a:srgbClr val="EE0000"/>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30" name="Metin kutusu 29">
            <a:extLst>
              <a:ext uri="{FF2B5EF4-FFF2-40B4-BE49-F238E27FC236}">
                <a16:creationId xmlns:a16="http://schemas.microsoft.com/office/drawing/2014/main" id="{4556A045-1B88-033F-B701-723B7579C4FF}"/>
              </a:ext>
            </a:extLst>
          </p:cNvPr>
          <p:cNvSpPr txBox="1"/>
          <p:nvPr/>
        </p:nvSpPr>
        <p:spPr>
          <a:xfrm>
            <a:off x="1461091" y="5357628"/>
            <a:ext cx="9198590" cy="385875"/>
          </a:xfrm>
          <a:prstGeom prst="rect">
            <a:avLst/>
          </a:prstGeom>
          <a:noFill/>
        </p:spPr>
        <p:txBody>
          <a:bodyPr wrap="square">
            <a:spAutoFit/>
          </a:bodyPr>
          <a:lstStyle/>
          <a:p>
            <a:pPr marL="388620" lvl="1" indent="-194310" algn="l">
              <a:lnSpc>
                <a:spcPts val="2520"/>
              </a:lnSpc>
              <a:buFont typeface="Arial"/>
              <a:buChar char="•"/>
            </a:pPr>
            <a:r>
              <a:rPr lang="tr-TR" sz="1800" dirty="0">
                <a:solidFill>
                  <a:srgbClr val="FF0000"/>
                </a:solidFill>
                <a:latin typeface="Aileron Bold Italics"/>
              </a:rPr>
              <a:t>Proje Takvimi </a:t>
            </a:r>
            <a:r>
              <a:rPr lang="en-US" sz="1800" u="sng" dirty="0" err="1">
                <a:solidFill>
                  <a:srgbClr val="FF0000"/>
                </a:solidFill>
                <a:latin typeface="Aileron Bold Italics"/>
              </a:rPr>
              <a:t>en</a:t>
            </a:r>
            <a:r>
              <a:rPr lang="en-US" sz="1800" u="sng" dirty="0">
                <a:solidFill>
                  <a:srgbClr val="FF0000"/>
                </a:solidFill>
                <a:latin typeface="Aileron Bold Italics"/>
              </a:rPr>
              <a:t> </a:t>
            </a:r>
            <a:r>
              <a:rPr lang="en-US" sz="1800" u="sng" dirty="0" err="1">
                <a:solidFill>
                  <a:srgbClr val="FF0000"/>
                </a:solidFill>
                <a:latin typeface="Aileron Bold Italics"/>
              </a:rPr>
              <a:t>fazla</a:t>
            </a:r>
            <a:r>
              <a:rPr lang="en-US" sz="1800" u="sng" dirty="0">
                <a:solidFill>
                  <a:srgbClr val="FF0000"/>
                </a:solidFill>
                <a:latin typeface="Aileron Bold Italics"/>
              </a:rPr>
              <a:t> </a:t>
            </a:r>
            <a:r>
              <a:rPr lang="tr-TR" u="sng" dirty="0">
                <a:solidFill>
                  <a:srgbClr val="FF0000"/>
                </a:solidFill>
                <a:latin typeface="Aileron Bold"/>
              </a:rPr>
              <a:t>bir</a:t>
            </a:r>
            <a:r>
              <a:rPr lang="tr-TR" sz="1800" dirty="0">
                <a:solidFill>
                  <a:srgbClr val="FF0000"/>
                </a:solidFill>
                <a:latin typeface="Aileron Bold"/>
              </a:rPr>
              <a:t> </a:t>
            </a:r>
            <a:r>
              <a:rPr lang="en-US" sz="1800" dirty="0">
                <a:solidFill>
                  <a:srgbClr val="FF0000"/>
                </a:solidFill>
                <a:latin typeface="Aileron Bold"/>
              </a:rPr>
              <a:t>(</a:t>
            </a:r>
            <a:r>
              <a:rPr lang="tr-TR" dirty="0">
                <a:solidFill>
                  <a:srgbClr val="FF0000"/>
                </a:solidFill>
                <a:latin typeface="Aileron Bold"/>
              </a:rPr>
              <a:t>1</a:t>
            </a:r>
            <a:r>
              <a:rPr lang="en-US" sz="1800" dirty="0">
                <a:solidFill>
                  <a:srgbClr val="FF0000"/>
                </a:solidFill>
                <a:latin typeface="Aileron Bold"/>
              </a:rPr>
              <a:t>) </a:t>
            </a:r>
            <a:r>
              <a:rPr lang="en-US" sz="1800" dirty="0" err="1">
                <a:solidFill>
                  <a:srgbClr val="FF0000"/>
                </a:solidFill>
                <a:latin typeface="Aileron Bold"/>
              </a:rPr>
              <a:t>sayfad</a:t>
            </a:r>
            <a:r>
              <a:rPr lang="tr-TR" sz="1800" dirty="0">
                <a:solidFill>
                  <a:srgbClr val="FF0000"/>
                </a:solidFill>
                <a:latin typeface="Aileron Bold"/>
              </a:rPr>
              <a:t>a açıklanmalıdır</a:t>
            </a:r>
            <a:r>
              <a:rPr lang="en-US" sz="1800" dirty="0">
                <a:solidFill>
                  <a:srgbClr val="FF0000"/>
                </a:solidFill>
                <a:latin typeface="Aileron Bold"/>
              </a:rPr>
              <a:t>. </a:t>
            </a:r>
            <a:r>
              <a:rPr lang="en-US" sz="1800" u="sng" dirty="0" err="1">
                <a:solidFill>
                  <a:srgbClr val="FF0000"/>
                </a:solidFill>
                <a:latin typeface="Aileron Bold"/>
              </a:rPr>
              <a:t>Sayfa</a:t>
            </a:r>
            <a:r>
              <a:rPr lang="en-US" sz="1800" u="sng" dirty="0">
                <a:solidFill>
                  <a:srgbClr val="FF0000"/>
                </a:solidFill>
                <a:latin typeface="Aileron Bold"/>
              </a:rPr>
              <a:t> </a:t>
            </a:r>
            <a:r>
              <a:rPr lang="en-US" sz="1800" u="sng" dirty="0" err="1">
                <a:solidFill>
                  <a:srgbClr val="FF0000"/>
                </a:solidFill>
                <a:latin typeface="Aileron Bold"/>
              </a:rPr>
              <a:t>sınırı</a:t>
            </a:r>
            <a:r>
              <a:rPr lang="en-US" sz="1800" u="sng" dirty="0">
                <a:solidFill>
                  <a:srgbClr val="FF0000"/>
                </a:solidFill>
                <a:latin typeface="Aileron Bold"/>
              </a:rPr>
              <a:t> </a:t>
            </a:r>
            <a:r>
              <a:rPr lang="en-US" sz="1800" dirty="0" err="1">
                <a:solidFill>
                  <a:srgbClr val="FF0000"/>
                </a:solidFill>
                <a:latin typeface="Aileron Bold"/>
              </a:rPr>
              <a:t>aşılmamalıdır</a:t>
            </a:r>
            <a:r>
              <a:rPr lang="en-US" sz="1800" dirty="0">
                <a:solidFill>
                  <a:srgbClr val="FF0000"/>
                </a:solidFill>
                <a:latin typeface="Aileron Bold"/>
              </a:rPr>
              <a:t>. </a:t>
            </a:r>
          </a:p>
        </p:txBody>
      </p:sp>
    </p:spTree>
    <p:extLst>
      <p:ext uri="{BB962C8B-B14F-4D97-AF65-F5344CB8AC3E}">
        <p14:creationId xmlns:p14="http://schemas.microsoft.com/office/powerpoint/2010/main" val="2128998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CFC5365-30CA-789A-A165-71B9E9256D86}"/>
            </a:ext>
          </a:extLst>
        </p:cNvPr>
        <p:cNvGrpSpPr/>
        <p:nvPr/>
      </p:nvGrpSpPr>
      <p:grpSpPr>
        <a:xfrm>
          <a:off x="0" y="0"/>
          <a:ext cx="0" cy="0"/>
          <a:chOff x="0" y="0"/>
          <a:chExt cx="0" cy="0"/>
        </a:xfrm>
      </p:grpSpPr>
      <p:sp>
        <p:nvSpPr>
          <p:cNvPr id="2" name="TextBox 114">
            <a:extLst>
              <a:ext uri="{FF2B5EF4-FFF2-40B4-BE49-F238E27FC236}">
                <a16:creationId xmlns:a16="http://schemas.microsoft.com/office/drawing/2014/main" id="{390A7452-D699-1F1B-9FEC-24E1BB1ABCC4}"/>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
        <p:nvSpPr>
          <p:cNvPr id="3" name="TextBox 12">
            <a:extLst>
              <a:ext uri="{FF2B5EF4-FFF2-40B4-BE49-F238E27FC236}">
                <a16:creationId xmlns:a16="http://schemas.microsoft.com/office/drawing/2014/main" id="{974ADB1E-6F9B-E7CE-02ED-D4EAEEDB0918}"/>
              </a:ext>
            </a:extLst>
          </p:cNvPr>
          <p:cNvSpPr txBox="1">
            <a:spLocks/>
          </p:cNvSpPr>
          <p:nvPr/>
        </p:nvSpPr>
        <p:spPr>
          <a:xfrm>
            <a:off x="1654254" y="266700"/>
            <a:ext cx="14656674" cy="820738"/>
          </a:xfrm>
          <a:prstGeom prst="rect">
            <a:avLst/>
          </a:prstGeom>
        </p:spPr>
        <p:txBody>
          <a:bodyPr wrap="square" lIns="0" tIns="0" rIns="0" bIns="0" rtlCol="0" anchor="t">
            <a:spAutoFit/>
          </a:bodyPr>
          <a:lstStyle/>
          <a:p>
            <a:pPr algn="ctr">
              <a:lnSpc>
                <a:spcPts val="6399"/>
              </a:lnSpc>
              <a:spcBef>
                <a:spcPct val="0"/>
              </a:spcBef>
            </a:pPr>
            <a:r>
              <a:rPr lang="tr-TR" sz="6000" dirty="0">
                <a:solidFill>
                  <a:srgbClr val="1A426A"/>
                </a:solidFill>
                <a:latin typeface="Active Heart"/>
              </a:rPr>
              <a:t>SWOT ANALİZİ</a:t>
            </a:r>
            <a:endParaRPr lang="en-US" sz="6000" dirty="0">
              <a:solidFill>
                <a:srgbClr val="1A426A"/>
              </a:solidFill>
              <a:latin typeface="Active Heart"/>
            </a:endParaRPr>
          </a:p>
        </p:txBody>
      </p:sp>
      <p:sp>
        <p:nvSpPr>
          <p:cNvPr id="4" name="AutoShape 20">
            <a:extLst>
              <a:ext uri="{FF2B5EF4-FFF2-40B4-BE49-F238E27FC236}">
                <a16:creationId xmlns:a16="http://schemas.microsoft.com/office/drawing/2014/main" id="{C77F68AA-051C-F90D-1326-CF86557760B9}"/>
              </a:ext>
            </a:extLst>
          </p:cNvPr>
          <p:cNvSpPr/>
          <p:nvPr/>
        </p:nvSpPr>
        <p:spPr>
          <a:xfrm flipH="1" flipV="1">
            <a:off x="17692064" y="1619816"/>
            <a:ext cx="18018" cy="7342221"/>
          </a:xfrm>
          <a:prstGeom prst="line">
            <a:avLst/>
          </a:prstGeom>
          <a:ln w="38100" cap="flat">
            <a:solidFill>
              <a:srgbClr val="344C54"/>
            </a:solidFill>
            <a:prstDash val="solid"/>
            <a:headEnd type="none" w="sm" len="sm"/>
            <a:tailEnd type="none" w="sm" len="sm"/>
          </a:ln>
        </p:spPr>
        <p:txBody>
          <a:bodyPr/>
          <a:lstStyle/>
          <a:p>
            <a:endParaRPr lang="tr-TR"/>
          </a:p>
        </p:txBody>
      </p:sp>
      <p:sp>
        <p:nvSpPr>
          <p:cNvPr id="5" name="TextBox 34">
            <a:extLst>
              <a:ext uri="{FF2B5EF4-FFF2-40B4-BE49-F238E27FC236}">
                <a16:creationId xmlns:a16="http://schemas.microsoft.com/office/drawing/2014/main" id="{3B1AA65C-E13E-1357-7F25-76F59D259A0C}"/>
              </a:ext>
            </a:extLst>
          </p:cNvPr>
          <p:cNvSpPr txBox="1"/>
          <p:nvPr/>
        </p:nvSpPr>
        <p:spPr>
          <a:xfrm>
            <a:off x="15217854" y="4610100"/>
            <a:ext cx="2237037"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PROTOTİP / UYGULAMA GELİŞTİRME DURUMU</a:t>
            </a:r>
            <a:endParaRPr lang="en-US" sz="1550" dirty="0">
              <a:solidFill>
                <a:srgbClr val="1C4C61"/>
              </a:solidFill>
              <a:latin typeface="Aileron Bold"/>
            </a:endParaRPr>
          </a:p>
        </p:txBody>
      </p:sp>
      <p:sp>
        <p:nvSpPr>
          <p:cNvPr id="6" name="TextBox 35">
            <a:extLst>
              <a:ext uri="{FF2B5EF4-FFF2-40B4-BE49-F238E27FC236}">
                <a16:creationId xmlns:a16="http://schemas.microsoft.com/office/drawing/2014/main" id="{A2F0A091-77D4-0913-ACF6-22146B44B0E3}"/>
              </a:ext>
            </a:extLst>
          </p:cNvPr>
          <p:cNvSpPr txBox="1"/>
          <p:nvPr/>
        </p:nvSpPr>
        <p:spPr>
          <a:xfrm>
            <a:off x="15762030" y="3405481"/>
            <a:ext cx="1660989"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ÇÖZÜM ÖNERİSİ</a:t>
            </a:r>
            <a:endParaRPr lang="en-US" sz="1550" dirty="0">
              <a:solidFill>
                <a:srgbClr val="1C4C61"/>
              </a:solidFill>
              <a:latin typeface="Aileron Bold"/>
            </a:endParaRPr>
          </a:p>
        </p:txBody>
      </p:sp>
      <p:sp>
        <p:nvSpPr>
          <p:cNvPr id="7" name="TextBox 38">
            <a:extLst>
              <a:ext uri="{FF2B5EF4-FFF2-40B4-BE49-F238E27FC236}">
                <a16:creationId xmlns:a16="http://schemas.microsoft.com/office/drawing/2014/main" id="{86811B13-5C65-6ECD-82A9-2AF5045E7D49}"/>
              </a:ext>
            </a:extLst>
          </p:cNvPr>
          <p:cNvSpPr txBox="1"/>
          <p:nvPr/>
        </p:nvSpPr>
        <p:spPr>
          <a:xfrm>
            <a:off x="15986302" y="7353300"/>
            <a:ext cx="1436949"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TAKVİMİ</a:t>
            </a:r>
            <a:endParaRPr lang="en-US" sz="1550" dirty="0">
              <a:solidFill>
                <a:srgbClr val="1C4C61"/>
              </a:solidFill>
              <a:latin typeface="Aileron Bold"/>
            </a:endParaRPr>
          </a:p>
        </p:txBody>
      </p:sp>
      <p:sp>
        <p:nvSpPr>
          <p:cNvPr id="8" name="TextBox 39">
            <a:extLst>
              <a:ext uri="{FF2B5EF4-FFF2-40B4-BE49-F238E27FC236}">
                <a16:creationId xmlns:a16="http://schemas.microsoft.com/office/drawing/2014/main" id="{39C28A09-162C-361C-3135-EF7CECD3EC8A}"/>
              </a:ext>
            </a:extLst>
          </p:cNvPr>
          <p:cNvSpPr txBox="1"/>
          <p:nvPr/>
        </p:nvSpPr>
        <p:spPr>
          <a:xfrm>
            <a:off x="15217854" y="5372100"/>
            <a:ext cx="2198106"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UYGULANABİLİRLİK VE SÜRDÜRÜLEBİLİRLİK</a:t>
            </a:r>
            <a:endParaRPr lang="en-US" sz="1550" dirty="0">
              <a:solidFill>
                <a:srgbClr val="1C4C61"/>
              </a:solidFill>
              <a:latin typeface="Aileron Bold"/>
            </a:endParaRPr>
          </a:p>
        </p:txBody>
      </p:sp>
      <p:sp>
        <p:nvSpPr>
          <p:cNvPr id="9" name="TextBox 38">
            <a:extLst>
              <a:ext uri="{FF2B5EF4-FFF2-40B4-BE49-F238E27FC236}">
                <a16:creationId xmlns:a16="http://schemas.microsoft.com/office/drawing/2014/main" id="{FA8C3E0F-F4A9-7813-3A52-B5E234B27F6A}"/>
              </a:ext>
            </a:extLst>
          </p:cNvPr>
          <p:cNvSpPr txBox="1"/>
          <p:nvPr/>
        </p:nvSpPr>
        <p:spPr>
          <a:xfrm>
            <a:off x="15745664" y="6896100"/>
            <a:ext cx="1693723"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HEDEF ALAN</a:t>
            </a:r>
            <a:endParaRPr lang="en-US" sz="1550" dirty="0">
              <a:solidFill>
                <a:srgbClr val="1C4C61"/>
              </a:solidFill>
              <a:latin typeface="Aileron Bold"/>
            </a:endParaRPr>
          </a:p>
        </p:txBody>
      </p:sp>
      <p:sp>
        <p:nvSpPr>
          <p:cNvPr id="10" name="TextBox 39">
            <a:extLst>
              <a:ext uri="{FF2B5EF4-FFF2-40B4-BE49-F238E27FC236}">
                <a16:creationId xmlns:a16="http://schemas.microsoft.com/office/drawing/2014/main" id="{3EA4D0D2-9CAB-9182-15DF-CEE1DD69B1C5}"/>
              </a:ext>
            </a:extLst>
          </p:cNvPr>
          <p:cNvSpPr txBox="1"/>
          <p:nvPr/>
        </p:nvSpPr>
        <p:spPr>
          <a:xfrm>
            <a:off x="15668804" y="6134100"/>
            <a:ext cx="1724183"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ÖZGÜNLÜK VE YERLİLİK YÖNÜ</a:t>
            </a:r>
            <a:endParaRPr lang="en-US" sz="1550" dirty="0">
              <a:solidFill>
                <a:srgbClr val="1C4C61"/>
              </a:solidFill>
              <a:latin typeface="Aileron Bold"/>
            </a:endParaRPr>
          </a:p>
        </p:txBody>
      </p:sp>
      <p:sp>
        <p:nvSpPr>
          <p:cNvPr id="11" name="Freeform 21">
            <a:extLst>
              <a:ext uri="{FF2B5EF4-FFF2-40B4-BE49-F238E27FC236}">
                <a16:creationId xmlns:a16="http://schemas.microsoft.com/office/drawing/2014/main" id="{C1C0A0B5-A903-1161-8E23-7A14D8872601}"/>
              </a:ext>
            </a:extLst>
          </p:cNvPr>
          <p:cNvSpPr/>
          <p:nvPr/>
        </p:nvSpPr>
        <p:spPr>
          <a:xfrm>
            <a:off x="17530470" y="19619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2" name="Freeform 21">
            <a:extLst>
              <a:ext uri="{FF2B5EF4-FFF2-40B4-BE49-F238E27FC236}">
                <a16:creationId xmlns:a16="http://schemas.microsoft.com/office/drawing/2014/main" id="{2EB636F4-3E43-A3B1-A530-8A18E4CF8227}"/>
              </a:ext>
            </a:extLst>
          </p:cNvPr>
          <p:cNvSpPr/>
          <p:nvPr/>
        </p:nvSpPr>
        <p:spPr>
          <a:xfrm>
            <a:off x="17530670" y="33335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3" name="Freeform 21">
            <a:extLst>
              <a:ext uri="{FF2B5EF4-FFF2-40B4-BE49-F238E27FC236}">
                <a16:creationId xmlns:a16="http://schemas.microsoft.com/office/drawing/2014/main" id="{64CFCF5F-7BB9-8F98-1CF5-A51C3127B298}"/>
              </a:ext>
            </a:extLst>
          </p:cNvPr>
          <p:cNvSpPr/>
          <p:nvPr/>
        </p:nvSpPr>
        <p:spPr>
          <a:xfrm>
            <a:off x="17528868" y="4000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4" name="Freeform 21">
            <a:extLst>
              <a:ext uri="{FF2B5EF4-FFF2-40B4-BE49-F238E27FC236}">
                <a16:creationId xmlns:a16="http://schemas.microsoft.com/office/drawing/2014/main" id="{A3892CFB-48C3-02AF-24D8-034059492028}"/>
              </a:ext>
            </a:extLst>
          </p:cNvPr>
          <p:cNvSpPr/>
          <p:nvPr/>
        </p:nvSpPr>
        <p:spPr>
          <a:xfrm>
            <a:off x="17537349" y="4686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5" name="Freeform 21">
            <a:extLst>
              <a:ext uri="{FF2B5EF4-FFF2-40B4-BE49-F238E27FC236}">
                <a16:creationId xmlns:a16="http://schemas.microsoft.com/office/drawing/2014/main" id="{18922201-06D1-ED4D-3A44-9D25DD6B1C48}"/>
              </a:ext>
            </a:extLst>
          </p:cNvPr>
          <p:cNvSpPr/>
          <p:nvPr/>
        </p:nvSpPr>
        <p:spPr>
          <a:xfrm>
            <a:off x="17531608" y="5448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6" name="Freeform 21">
            <a:extLst>
              <a:ext uri="{FF2B5EF4-FFF2-40B4-BE49-F238E27FC236}">
                <a16:creationId xmlns:a16="http://schemas.microsoft.com/office/drawing/2014/main" id="{EB056D42-7F49-92FC-4AAA-5CCEAA3F0F6E}"/>
              </a:ext>
            </a:extLst>
          </p:cNvPr>
          <p:cNvSpPr/>
          <p:nvPr/>
        </p:nvSpPr>
        <p:spPr>
          <a:xfrm>
            <a:off x="17516246" y="62103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7" name="Freeform 21">
            <a:extLst>
              <a:ext uri="{FF2B5EF4-FFF2-40B4-BE49-F238E27FC236}">
                <a16:creationId xmlns:a16="http://schemas.microsoft.com/office/drawing/2014/main" id="{5F754A27-0202-0611-D766-6B179C8D0762}"/>
              </a:ext>
            </a:extLst>
          </p:cNvPr>
          <p:cNvSpPr/>
          <p:nvPr/>
        </p:nvSpPr>
        <p:spPr>
          <a:xfrm>
            <a:off x="17516247" y="68199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8" name="Freeform 21">
            <a:extLst>
              <a:ext uri="{FF2B5EF4-FFF2-40B4-BE49-F238E27FC236}">
                <a16:creationId xmlns:a16="http://schemas.microsoft.com/office/drawing/2014/main" id="{65699EB0-9621-1B66-CB97-C5E27E9A5E44}"/>
              </a:ext>
            </a:extLst>
          </p:cNvPr>
          <p:cNvSpPr/>
          <p:nvPr/>
        </p:nvSpPr>
        <p:spPr>
          <a:xfrm>
            <a:off x="17530931" y="7429500"/>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19" name="TextBox 34">
            <a:extLst>
              <a:ext uri="{FF2B5EF4-FFF2-40B4-BE49-F238E27FC236}">
                <a16:creationId xmlns:a16="http://schemas.microsoft.com/office/drawing/2014/main" id="{E85FF5C3-6371-EA44-961D-2A43A8FC4768}"/>
              </a:ext>
            </a:extLst>
          </p:cNvPr>
          <p:cNvSpPr txBox="1"/>
          <p:nvPr/>
        </p:nvSpPr>
        <p:spPr>
          <a:xfrm>
            <a:off x="15521473" y="2673548"/>
            <a:ext cx="1928327"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PROBLEMİN TANIMI </a:t>
            </a:r>
            <a:endParaRPr lang="en-US" sz="1550" dirty="0">
              <a:solidFill>
                <a:srgbClr val="1C4C61"/>
              </a:solidFill>
              <a:latin typeface="Aileron Bold"/>
            </a:endParaRPr>
          </a:p>
        </p:txBody>
      </p:sp>
      <p:sp>
        <p:nvSpPr>
          <p:cNvPr id="20" name="Freeform 97">
            <a:extLst>
              <a:ext uri="{FF2B5EF4-FFF2-40B4-BE49-F238E27FC236}">
                <a16:creationId xmlns:a16="http://schemas.microsoft.com/office/drawing/2014/main" id="{C9397F1E-6D5F-9456-E9DE-142F745CB7A5}"/>
              </a:ext>
            </a:extLst>
          </p:cNvPr>
          <p:cNvSpPr/>
          <p:nvPr/>
        </p:nvSpPr>
        <p:spPr>
          <a:xfrm>
            <a:off x="17535520" y="1419154"/>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1" name="Freeform 21">
            <a:extLst>
              <a:ext uri="{FF2B5EF4-FFF2-40B4-BE49-F238E27FC236}">
                <a16:creationId xmlns:a16="http://schemas.microsoft.com/office/drawing/2014/main" id="{31293F05-D4F5-7208-5068-546AE6EF2BEB}"/>
              </a:ext>
            </a:extLst>
          </p:cNvPr>
          <p:cNvSpPr/>
          <p:nvPr/>
        </p:nvSpPr>
        <p:spPr>
          <a:xfrm>
            <a:off x="17544110" y="2647743"/>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2" name="TextBox 40">
            <a:extLst>
              <a:ext uri="{FF2B5EF4-FFF2-40B4-BE49-F238E27FC236}">
                <a16:creationId xmlns:a16="http://schemas.microsoft.com/office/drawing/2014/main" id="{07963809-C2B9-BB09-6B60-8E952ABC0981}"/>
              </a:ext>
            </a:extLst>
          </p:cNvPr>
          <p:cNvSpPr txBox="1"/>
          <p:nvPr/>
        </p:nvSpPr>
        <p:spPr>
          <a:xfrm>
            <a:off x="15752068" y="1860857"/>
            <a:ext cx="1697732" cy="539443"/>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PROJE ÖZETİ VE KAPSAMI</a:t>
            </a:r>
            <a:endParaRPr lang="en-US" sz="1550" dirty="0">
              <a:solidFill>
                <a:srgbClr val="1C4C61"/>
              </a:solidFill>
              <a:latin typeface="Aileron Bold"/>
            </a:endParaRPr>
          </a:p>
        </p:txBody>
      </p:sp>
      <p:sp>
        <p:nvSpPr>
          <p:cNvPr id="23" name="Freeform 97">
            <a:extLst>
              <a:ext uri="{FF2B5EF4-FFF2-40B4-BE49-F238E27FC236}">
                <a16:creationId xmlns:a16="http://schemas.microsoft.com/office/drawing/2014/main" id="{722A3652-0B37-DFCF-9B07-CF4318CA6526}"/>
              </a:ext>
            </a:extLst>
          </p:cNvPr>
          <p:cNvSpPr/>
          <p:nvPr/>
        </p:nvSpPr>
        <p:spPr>
          <a:xfrm>
            <a:off x="17530693" y="8700592"/>
            <a:ext cx="371480" cy="371546"/>
          </a:xfrm>
          <a:custGeom>
            <a:avLst/>
            <a:gdLst/>
            <a:ahLst/>
            <a:cxnLst/>
            <a:rect l="l" t="t" r="r" b="b"/>
            <a:pathLst>
              <a:path w="369651" h="369651">
                <a:moveTo>
                  <a:pt x="0" y="0"/>
                </a:moveTo>
                <a:lnTo>
                  <a:pt x="369651" y="0"/>
                </a:lnTo>
                <a:lnTo>
                  <a:pt x="369651" y="369651"/>
                </a:lnTo>
                <a:lnTo>
                  <a:pt x="0" y="3696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24" name="TextBox 35">
            <a:extLst>
              <a:ext uri="{FF2B5EF4-FFF2-40B4-BE49-F238E27FC236}">
                <a16:creationId xmlns:a16="http://schemas.microsoft.com/office/drawing/2014/main" id="{722BDB84-7B79-7CF5-BE9E-41AA24FF7420}"/>
              </a:ext>
            </a:extLst>
          </p:cNvPr>
          <p:cNvSpPr txBox="1"/>
          <p:nvPr/>
        </p:nvSpPr>
        <p:spPr>
          <a:xfrm>
            <a:off x="16004968" y="4076700"/>
            <a:ext cx="1444832" cy="257315"/>
          </a:xfrm>
          <a:prstGeom prst="rect">
            <a:avLst/>
          </a:prstGeom>
          <a:noFill/>
        </p:spPr>
        <p:txBody>
          <a:bodyPr wrap="square" lIns="0" tIns="0" rIns="0" bIns="0" rtlCol="0" anchor="t">
            <a:spAutoFit/>
          </a:bodyPr>
          <a:lstStyle/>
          <a:p>
            <a:pPr algn="r">
              <a:lnSpc>
                <a:spcPts val="2232"/>
              </a:lnSpc>
            </a:pPr>
            <a:r>
              <a:rPr lang="tr-TR" sz="1550" dirty="0">
                <a:solidFill>
                  <a:srgbClr val="1C4C61"/>
                </a:solidFill>
                <a:latin typeface="Aileron Bold"/>
              </a:rPr>
              <a:t>YÖNTEM</a:t>
            </a:r>
            <a:endParaRPr lang="en-US" sz="1550" dirty="0">
              <a:solidFill>
                <a:srgbClr val="1C4C61"/>
              </a:solidFill>
              <a:latin typeface="Aileron Bold"/>
            </a:endParaRPr>
          </a:p>
        </p:txBody>
      </p:sp>
      <p:sp>
        <p:nvSpPr>
          <p:cNvPr id="25" name="Freeform 21">
            <a:extLst>
              <a:ext uri="{FF2B5EF4-FFF2-40B4-BE49-F238E27FC236}">
                <a16:creationId xmlns:a16="http://schemas.microsoft.com/office/drawing/2014/main" id="{C3E17888-217C-033F-300D-5B4D5365900C}"/>
              </a:ext>
            </a:extLst>
          </p:cNvPr>
          <p:cNvSpPr/>
          <p:nvPr/>
        </p:nvSpPr>
        <p:spPr>
          <a:xfrm>
            <a:off x="17544109" y="8109835"/>
            <a:ext cx="369651" cy="362157"/>
          </a:xfrm>
          <a:custGeom>
            <a:avLst/>
            <a:gdLst/>
            <a:ahLst/>
            <a:cxnLst/>
            <a:rect l="l" t="t" r="r" b="b"/>
            <a:pathLst>
              <a:path w="369651" h="369651">
                <a:moveTo>
                  <a:pt x="0" y="0"/>
                </a:moveTo>
                <a:lnTo>
                  <a:pt x="369651" y="0"/>
                </a:lnTo>
                <a:lnTo>
                  <a:pt x="369651" y="369652"/>
                </a:lnTo>
                <a:lnTo>
                  <a:pt x="0" y="3696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26" name="TextBox 38">
            <a:extLst>
              <a:ext uri="{FF2B5EF4-FFF2-40B4-BE49-F238E27FC236}">
                <a16:creationId xmlns:a16="http://schemas.microsoft.com/office/drawing/2014/main" id="{7900D8E1-F489-3D1F-DAAA-126B51C0FA13}"/>
              </a:ext>
            </a:extLst>
          </p:cNvPr>
          <p:cNvSpPr txBox="1"/>
          <p:nvPr/>
        </p:nvSpPr>
        <p:spPr>
          <a:xfrm>
            <a:off x="16004968" y="8161599"/>
            <a:ext cx="1436949" cy="25731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lIns="0" tIns="0" rIns="0" bIns="0" rtlCol="0" anchor="t">
            <a:spAutoFit/>
          </a:bodyPr>
          <a:lstStyle/>
          <a:p>
            <a:pPr algn="r">
              <a:lnSpc>
                <a:spcPts val="2232"/>
              </a:lnSpc>
            </a:pPr>
            <a:r>
              <a:rPr lang="tr-TR" sz="1550" dirty="0">
                <a:solidFill>
                  <a:srgbClr val="1C4C61"/>
                </a:solidFill>
                <a:latin typeface="Aileron Bold"/>
              </a:rPr>
              <a:t>SWOT ANALİZİ</a:t>
            </a:r>
            <a:endParaRPr lang="en-US" sz="1550" dirty="0">
              <a:solidFill>
                <a:srgbClr val="1C4C61"/>
              </a:solidFill>
              <a:latin typeface="Aileron Bold"/>
            </a:endParaRPr>
          </a:p>
        </p:txBody>
      </p:sp>
      <p:graphicFrame>
        <p:nvGraphicFramePr>
          <p:cNvPr id="31" name="Table 19">
            <a:extLst>
              <a:ext uri="{FF2B5EF4-FFF2-40B4-BE49-F238E27FC236}">
                <a16:creationId xmlns:a16="http://schemas.microsoft.com/office/drawing/2014/main" id="{E3F44FB1-7F0F-3846-B830-2D87C1228320}"/>
              </a:ext>
            </a:extLst>
          </p:cNvPr>
          <p:cNvGraphicFramePr>
            <a:graphicFrameLocks/>
          </p:cNvGraphicFramePr>
          <p:nvPr>
            <p:extLst>
              <p:ext uri="{D42A27DB-BD31-4B8C-83A1-F6EECF244321}">
                <p14:modId xmlns:p14="http://schemas.microsoft.com/office/powerpoint/2010/main" val="719483582"/>
              </p:ext>
            </p:extLst>
          </p:nvPr>
        </p:nvGraphicFramePr>
        <p:xfrm>
          <a:off x="1670308" y="3498984"/>
          <a:ext cx="12122832" cy="5378316"/>
        </p:xfrm>
        <a:graphic>
          <a:graphicData uri="http://schemas.openxmlformats.org/drawingml/2006/table">
            <a:tbl>
              <a:tblPr/>
              <a:tblGrid>
                <a:gridCol w="3030708">
                  <a:extLst>
                    <a:ext uri="{9D8B030D-6E8A-4147-A177-3AD203B41FA5}">
                      <a16:colId xmlns:a16="http://schemas.microsoft.com/office/drawing/2014/main" val="20000"/>
                    </a:ext>
                  </a:extLst>
                </a:gridCol>
                <a:gridCol w="3030708">
                  <a:extLst>
                    <a:ext uri="{9D8B030D-6E8A-4147-A177-3AD203B41FA5}">
                      <a16:colId xmlns:a16="http://schemas.microsoft.com/office/drawing/2014/main" val="20001"/>
                    </a:ext>
                  </a:extLst>
                </a:gridCol>
                <a:gridCol w="3030708">
                  <a:extLst>
                    <a:ext uri="{9D8B030D-6E8A-4147-A177-3AD203B41FA5}">
                      <a16:colId xmlns:a16="http://schemas.microsoft.com/office/drawing/2014/main" val="20002"/>
                    </a:ext>
                  </a:extLst>
                </a:gridCol>
                <a:gridCol w="3030708">
                  <a:extLst>
                    <a:ext uri="{9D8B030D-6E8A-4147-A177-3AD203B41FA5}">
                      <a16:colId xmlns:a16="http://schemas.microsoft.com/office/drawing/2014/main" val="20003"/>
                    </a:ext>
                  </a:extLst>
                </a:gridCol>
              </a:tblGrid>
              <a:tr h="1467395">
                <a:tc>
                  <a:txBody>
                    <a:bodyPr/>
                    <a:lstStyle/>
                    <a:p>
                      <a:pPr algn="ctr">
                        <a:lnSpc>
                          <a:spcPts val="3348"/>
                        </a:lnSpc>
                        <a:defRPr/>
                      </a:pPr>
                      <a:endParaRPr lang="en-US" sz="1100" dirty="0"/>
                    </a:p>
                    <a:p>
                      <a:pPr algn="ctr">
                        <a:lnSpc>
                          <a:spcPts val="3348"/>
                        </a:lnSpc>
                      </a:pPr>
                      <a:endParaRPr lang="en-US" sz="1100" dirty="0"/>
                    </a:p>
                    <a:p>
                      <a:pPr algn="ctr">
                        <a:lnSpc>
                          <a:spcPts val="3348"/>
                        </a:lnSpc>
                      </a:pPr>
                      <a:r>
                        <a:rPr lang="en-US" sz="2391" dirty="0">
                          <a:solidFill>
                            <a:srgbClr val="FFFFFF"/>
                          </a:solidFill>
                          <a:latin typeface="Aileron Bold"/>
                        </a:rPr>
                        <a:t>Güçlü </a:t>
                      </a:r>
                      <a:r>
                        <a:rPr lang="en-US" sz="2391" dirty="0" err="1">
                          <a:solidFill>
                            <a:srgbClr val="FFFFFF"/>
                          </a:solidFill>
                          <a:latin typeface="Aileron Bold"/>
                        </a:rPr>
                        <a:t>Yönler</a:t>
                      </a:r>
                      <a:endParaRPr lang="en-US" sz="2391" dirty="0">
                        <a:solidFill>
                          <a:srgbClr val="FFFFFF"/>
                        </a:solidFill>
                        <a:latin typeface="Aileron Bold"/>
                      </a:endParaRP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FFBD59"/>
                    </a:solidFill>
                  </a:tcPr>
                </a:tc>
                <a:tc>
                  <a:txBody>
                    <a:bodyPr/>
                    <a:lstStyle/>
                    <a:p>
                      <a:pPr algn="ctr">
                        <a:lnSpc>
                          <a:spcPts val="3348"/>
                        </a:lnSpc>
                        <a:defRPr/>
                      </a:pPr>
                      <a:endParaRPr lang="en-US" sz="1100" dirty="0"/>
                    </a:p>
                    <a:p>
                      <a:pPr algn="ctr">
                        <a:lnSpc>
                          <a:spcPts val="3348"/>
                        </a:lnSpc>
                      </a:pPr>
                      <a:endParaRPr lang="en-US" sz="1100" dirty="0"/>
                    </a:p>
                    <a:p>
                      <a:pPr algn="ctr">
                        <a:lnSpc>
                          <a:spcPts val="3348"/>
                        </a:lnSpc>
                      </a:pPr>
                      <a:r>
                        <a:rPr lang="en-US" sz="2391" dirty="0" err="1">
                          <a:solidFill>
                            <a:srgbClr val="FFFFFF"/>
                          </a:solidFill>
                          <a:latin typeface="Aileron"/>
                        </a:rPr>
                        <a:t>Zayıf</a:t>
                      </a:r>
                      <a:r>
                        <a:rPr lang="en-US" sz="2391" dirty="0">
                          <a:solidFill>
                            <a:srgbClr val="FFFFFF"/>
                          </a:solidFill>
                          <a:latin typeface="Aileron"/>
                        </a:rPr>
                        <a:t> </a:t>
                      </a:r>
                      <a:r>
                        <a:rPr lang="en-US" sz="2391" dirty="0" err="1">
                          <a:solidFill>
                            <a:srgbClr val="FFFFFF"/>
                          </a:solidFill>
                          <a:latin typeface="Aileron"/>
                        </a:rPr>
                        <a:t>Yönler</a:t>
                      </a:r>
                      <a:endParaRPr lang="en-US" sz="2391" dirty="0">
                        <a:solidFill>
                          <a:srgbClr val="FFFFFF"/>
                        </a:solidFill>
                        <a:latin typeface="Aileron"/>
                      </a:endParaRP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FF914D"/>
                    </a:solidFill>
                  </a:tcPr>
                </a:tc>
                <a:tc>
                  <a:txBody>
                    <a:bodyPr/>
                    <a:lstStyle/>
                    <a:p>
                      <a:pPr algn="ctr">
                        <a:lnSpc>
                          <a:spcPts val="3348"/>
                        </a:lnSpc>
                        <a:defRPr/>
                      </a:pPr>
                      <a:endParaRPr lang="en-US" sz="1100"/>
                    </a:p>
                    <a:p>
                      <a:pPr algn="ctr">
                        <a:lnSpc>
                          <a:spcPts val="3348"/>
                        </a:lnSpc>
                      </a:pPr>
                      <a:endParaRPr lang="en-US" sz="1100"/>
                    </a:p>
                    <a:p>
                      <a:pPr algn="ctr">
                        <a:lnSpc>
                          <a:spcPts val="3348"/>
                        </a:lnSpc>
                      </a:pPr>
                      <a:r>
                        <a:rPr lang="en-US" sz="2391">
                          <a:solidFill>
                            <a:srgbClr val="FFFFFF"/>
                          </a:solidFill>
                          <a:latin typeface="Aileron"/>
                        </a:rPr>
                        <a:t>Fırsatlar</a:t>
                      </a: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4F93A6"/>
                    </a:solidFill>
                  </a:tcPr>
                </a:tc>
                <a:tc>
                  <a:txBody>
                    <a:bodyPr/>
                    <a:lstStyle/>
                    <a:p>
                      <a:pPr algn="ctr">
                        <a:lnSpc>
                          <a:spcPts val="3348"/>
                        </a:lnSpc>
                        <a:defRPr/>
                      </a:pPr>
                      <a:endParaRPr lang="en-US" sz="1100" dirty="0"/>
                    </a:p>
                    <a:p>
                      <a:pPr algn="ctr">
                        <a:lnSpc>
                          <a:spcPts val="3348"/>
                        </a:lnSpc>
                      </a:pPr>
                      <a:endParaRPr lang="en-US" sz="1100" dirty="0"/>
                    </a:p>
                    <a:p>
                      <a:pPr algn="ctr">
                        <a:lnSpc>
                          <a:spcPts val="3348"/>
                        </a:lnSpc>
                      </a:pPr>
                      <a:r>
                        <a:rPr lang="en-US" sz="2391" dirty="0" err="1">
                          <a:solidFill>
                            <a:srgbClr val="FFFFFF"/>
                          </a:solidFill>
                          <a:latin typeface="Aileron Bold"/>
                        </a:rPr>
                        <a:t>Tehditler</a:t>
                      </a:r>
                      <a:endParaRPr lang="en-US" sz="2391" dirty="0">
                        <a:solidFill>
                          <a:srgbClr val="FFFFFF"/>
                        </a:solidFill>
                        <a:latin typeface="Aileron Bold"/>
                      </a:endParaRPr>
                    </a:p>
                  </a:txBody>
                  <a:tcPr marL="151876" marR="151876" marT="151876" marB="151876" anchor="ctr">
                    <a:lnL w="0" cap="flat" cmpd="sng" algn="ctr">
                      <a:solidFill>
                        <a:srgbClr val="83BBC6"/>
                      </a:solidFill>
                      <a:prstDash val="solid"/>
                      <a:round/>
                      <a:headEnd type="none" w="med" len="med"/>
                      <a:tailEnd type="none" w="med" len="med"/>
                    </a:lnL>
                    <a:lnR w="0" cap="flat" cmpd="sng" algn="ctr">
                      <a:solidFill>
                        <a:srgbClr val="83BBC6"/>
                      </a:solidFill>
                      <a:prstDash val="solid"/>
                      <a:round/>
                      <a:headEnd type="none" w="med" len="med"/>
                      <a:tailEnd type="none" w="med" len="med"/>
                    </a:lnR>
                    <a:lnT w="0" cap="flat" cmpd="sng" algn="ctr">
                      <a:solidFill>
                        <a:srgbClr val="83BBC6"/>
                      </a:solidFill>
                      <a:prstDash val="solid"/>
                      <a:round/>
                      <a:headEnd type="none" w="med" len="med"/>
                      <a:tailEnd type="none" w="med" len="med"/>
                    </a:lnT>
                    <a:lnB w="0" cap="flat" cmpd="sng" algn="ctr">
                      <a:solidFill>
                        <a:srgbClr val="D9D9D9"/>
                      </a:solidFill>
                      <a:prstDash val="solid"/>
                      <a:round/>
                      <a:headEnd type="none" w="med" len="med"/>
                      <a:tailEnd type="none" w="med" len="med"/>
                    </a:lnB>
                    <a:solidFill>
                      <a:srgbClr val="1C4C61"/>
                    </a:solidFill>
                  </a:tcPr>
                </a:tc>
                <a:extLst>
                  <a:ext uri="{0D108BD9-81ED-4DB2-BD59-A6C34878D82A}">
                    <a16:rowId xmlns:a16="http://schemas.microsoft.com/office/drawing/2014/main" val="10000"/>
                  </a:ext>
                </a:extLst>
              </a:tr>
              <a:tr h="3852189">
                <a:tc>
                  <a:txBody>
                    <a:bodyPr/>
                    <a:lstStyle/>
                    <a:p>
                      <a:pPr algn="ctr">
                        <a:lnSpc>
                          <a:spcPts val="2455"/>
                        </a:lnSpc>
                        <a:defRPr/>
                      </a:pPr>
                      <a:r>
                        <a:rPr lang="tr-TR" sz="1600" dirty="0">
                          <a:solidFill>
                            <a:srgbClr val="EE0000"/>
                          </a:solidFill>
                        </a:rPr>
                        <a:t>Projenizin en iyi yönleri nelerdir? Projeyi başarılı kılan şeyler neler? Hangi özellikleriniz sizi diğerlerinden farklı kılıyor?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tc>
                  <a:txBody>
                    <a:bodyPr/>
                    <a:lstStyle/>
                    <a:p>
                      <a:pPr algn="ctr">
                        <a:lnSpc>
                          <a:spcPts val="2455"/>
                        </a:lnSpc>
                        <a:defRPr/>
                      </a:pPr>
                      <a:r>
                        <a:rPr lang="tr-TR" sz="1600" dirty="0">
                          <a:solidFill>
                            <a:srgbClr val="EE0000"/>
                          </a:solidFill>
                        </a:rPr>
                        <a:t>Projemizin daha iyi olabilmesi için hangi yönlerini geliştirmemiz gerekiyor? Eksik veya çalışmayan noktalar neler? Projemiz hangi konularda yetersiz kalıyor?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tc>
                  <a:txBody>
                    <a:bodyPr/>
                    <a:lstStyle/>
                    <a:p>
                      <a:pPr algn="ctr">
                        <a:lnSpc>
                          <a:spcPts val="2455"/>
                        </a:lnSpc>
                        <a:defRPr/>
                      </a:pPr>
                      <a:r>
                        <a:rPr lang="tr-TR" sz="1600" dirty="0">
                          <a:solidFill>
                            <a:srgbClr val="EE0000"/>
                          </a:solidFill>
                        </a:rPr>
                        <a:t>Projemizi büyütmek, geliştirmek ve daha iyi hale getirmek için hangi fırsatlar var? Hangi yeni teknolojiler, destekler veya projeyi daha ileriye taşıyacak imkanlar var?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tc>
                  <a:txBody>
                    <a:bodyPr/>
                    <a:lstStyle/>
                    <a:p>
                      <a:pPr algn="ctr">
                        <a:lnSpc>
                          <a:spcPts val="2455"/>
                        </a:lnSpc>
                        <a:defRPr/>
                      </a:pPr>
                      <a:r>
                        <a:rPr lang="tr-TR" sz="1600" dirty="0">
                          <a:solidFill>
                            <a:srgbClr val="EE0000"/>
                          </a:solidFill>
                        </a:rPr>
                        <a:t>Projemizi zorlayabilecek veya başarısını engelleyebilecek dış etkenler neler?</a:t>
                      </a:r>
                      <a:endParaRPr lang="en-US" sz="1100" dirty="0">
                        <a:solidFill>
                          <a:srgbClr val="EE0000"/>
                        </a:solidFill>
                      </a:endParaRPr>
                    </a:p>
                  </a:txBody>
                  <a:tcPr marL="151876" marR="151876" marT="151876" marB="151876" anchor="ctr">
                    <a:lnL w="28457" cap="flat" cmpd="sng" algn="ctr">
                      <a:solidFill>
                        <a:srgbClr val="D9D9D9"/>
                      </a:solidFill>
                      <a:prstDash val="solid"/>
                      <a:round/>
                      <a:headEnd type="none" w="med" len="med"/>
                      <a:tailEnd type="none" w="med" len="med"/>
                    </a:lnL>
                    <a:lnR w="28457" cap="flat" cmpd="sng" algn="ctr">
                      <a:solidFill>
                        <a:srgbClr val="D9D9D9"/>
                      </a:solidFill>
                      <a:prstDash val="solid"/>
                      <a:round/>
                      <a:headEnd type="none" w="med" len="med"/>
                      <a:tailEnd type="none" w="med" len="med"/>
                    </a:lnR>
                    <a:lnT w="0" cap="flat" cmpd="sng" algn="ctr">
                      <a:solidFill>
                        <a:srgbClr val="D9D9D9"/>
                      </a:solidFill>
                      <a:prstDash val="solid"/>
                      <a:round/>
                      <a:headEnd type="none" w="med" len="med"/>
                      <a:tailEnd type="none" w="med" len="med"/>
                    </a:lnT>
                    <a:lnB w="28457"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pSp>
        <p:nvGrpSpPr>
          <p:cNvPr id="32" name="Group 20">
            <a:extLst>
              <a:ext uri="{FF2B5EF4-FFF2-40B4-BE49-F238E27FC236}">
                <a16:creationId xmlns:a16="http://schemas.microsoft.com/office/drawing/2014/main" id="{B582BA3A-DCB4-5E8D-4D3A-F66A1D01CFB4}"/>
              </a:ext>
            </a:extLst>
          </p:cNvPr>
          <p:cNvGrpSpPr>
            <a:grpSpLocks/>
          </p:cNvGrpSpPr>
          <p:nvPr/>
        </p:nvGrpSpPr>
        <p:grpSpPr>
          <a:xfrm>
            <a:off x="2209050" y="2461157"/>
            <a:ext cx="1859000" cy="1909168"/>
            <a:chOff x="0" y="0"/>
            <a:chExt cx="812800" cy="834735"/>
          </a:xfrm>
        </p:grpSpPr>
        <p:sp>
          <p:nvSpPr>
            <p:cNvPr id="33" name="Freeform 21">
              <a:extLst>
                <a:ext uri="{FF2B5EF4-FFF2-40B4-BE49-F238E27FC236}">
                  <a16:creationId xmlns:a16="http://schemas.microsoft.com/office/drawing/2014/main" id="{88DC827E-4C62-DDFF-A2F9-E19878F0D8C0}"/>
                </a:ext>
              </a:extLst>
            </p:cNvPr>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FFBD59"/>
              </a:solidFill>
              <a:prstDash val="solid"/>
              <a:miter/>
            </a:ln>
          </p:spPr>
          <p:txBody>
            <a:bodyPr/>
            <a:lstStyle/>
            <a:p>
              <a:endParaRPr lang="tr-TR"/>
            </a:p>
          </p:txBody>
        </p:sp>
        <p:sp>
          <p:nvSpPr>
            <p:cNvPr id="34" name="TextBox 22">
              <a:extLst>
                <a:ext uri="{FF2B5EF4-FFF2-40B4-BE49-F238E27FC236}">
                  <a16:creationId xmlns:a16="http://schemas.microsoft.com/office/drawing/2014/main" id="{DAB0A9BC-EBBA-0D80-2B9B-6F5DF485A60C}"/>
                </a:ext>
              </a:extLst>
            </p:cNvPr>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dirty="0">
                  <a:solidFill>
                    <a:srgbClr val="FFBD59"/>
                  </a:solidFill>
                  <a:latin typeface="Aileron Ultra-Bold"/>
                </a:rPr>
                <a:t>S</a:t>
              </a:r>
            </a:p>
          </p:txBody>
        </p:sp>
      </p:grpSp>
      <p:grpSp>
        <p:nvGrpSpPr>
          <p:cNvPr id="35" name="Group 23">
            <a:extLst>
              <a:ext uri="{FF2B5EF4-FFF2-40B4-BE49-F238E27FC236}">
                <a16:creationId xmlns:a16="http://schemas.microsoft.com/office/drawing/2014/main" id="{2C63B401-0673-B5F8-22E4-FB5283E7D9A4}"/>
              </a:ext>
            </a:extLst>
          </p:cNvPr>
          <p:cNvGrpSpPr>
            <a:grpSpLocks/>
          </p:cNvGrpSpPr>
          <p:nvPr/>
        </p:nvGrpSpPr>
        <p:grpSpPr>
          <a:xfrm>
            <a:off x="5427701" y="2461157"/>
            <a:ext cx="1859000" cy="1909168"/>
            <a:chOff x="0" y="0"/>
            <a:chExt cx="812800" cy="834735"/>
          </a:xfrm>
        </p:grpSpPr>
        <p:sp>
          <p:nvSpPr>
            <p:cNvPr id="36" name="Freeform 24">
              <a:extLst>
                <a:ext uri="{FF2B5EF4-FFF2-40B4-BE49-F238E27FC236}">
                  <a16:creationId xmlns:a16="http://schemas.microsoft.com/office/drawing/2014/main" id="{4B982B11-3C1B-8BAF-473D-B14AE357002F}"/>
                </a:ext>
              </a:extLst>
            </p:cNvPr>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FF914D"/>
              </a:solidFill>
              <a:prstDash val="solid"/>
              <a:miter/>
            </a:ln>
          </p:spPr>
          <p:txBody>
            <a:bodyPr/>
            <a:lstStyle/>
            <a:p>
              <a:endParaRPr lang="tr-TR"/>
            </a:p>
          </p:txBody>
        </p:sp>
        <p:sp>
          <p:nvSpPr>
            <p:cNvPr id="37" name="TextBox 25">
              <a:extLst>
                <a:ext uri="{FF2B5EF4-FFF2-40B4-BE49-F238E27FC236}">
                  <a16:creationId xmlns:a16="http://schemas.microsoft.com/office/drawing/2014/main" id="{A30CC2DA-D8DC-5D9D-8E3E-2686DD0A455D}"/>
                </a:ext>
              </a:extLst>
            </p:cNvPr>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a:solidFill>
                    <a:srgbClr val="FF914D"/>
                  </a:solidFill>
                  <a:latin typeface="Aileron Ultra-Bold"/>
                </a:rPr>
                <a:t>W</a:t>
              </a:r>
            </a:p>
          </p:txBody>
        </p:sp>
      </p:grpSp>
      <p:grpSp>
        <p:nvGrpSpPr>
          <p:cNvPr id="38" name="Group 26">
            <a:extLst>
              <a:ext uri="{FF2B5EF4-FFF2-40B4-BE49-F238E27FC236}">
                <a16:creationId xmlns:a16="http://schemas.microsoft.com/office/drawing/2014/main" id="{91874B0E-0849-4962-2A83-943D6B16DC16}"/>
              </a:ext>
            </a:extLst>
          </p:cNvPr>
          <p:cNvGrpSpPr>
            <a:grpSpLocks/>
          </p:cNvGrpSpPr>
          <p:nvPr/>
        </p:nvGrpSpPr>
        <p:grpSpPr>
          <a:xfrm>
            <a:off x="8296847" y="2461157"/>
            <a:ext cx="1859000" cy="1909168"/>
            <a:chOff x="0" y="0"/>
            <a:chExt cx="812800" cy="834735"/>
          </a:xfrm>
        </p:grpSpPr>
        <p:sp>
          <p:nvSpPr>
            <p:cNvPr id="39" name="Freeform 27">
              <a:extLst>
                <a:ext uri="{FF2B5EF4-FFF2-40B4-BE49-F238E27FC236}">
                  <a16:creationId xmlns:a16="http://schemas.microsoft.com/office/drawing/2014/main" id="{66EDA096-580A-803A-8082-42831F0B9065}"/>
                </a:ext>
              </a:extLst>
            </p:cNvPr>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4F93A6"/>
              </a:solidFill>
              <a:prstDash val="solid"/>
              <a:miter/>
            </a:ln>
          </p:spPr>
          <p:txBody>
            <a:bodyPr/>
            <a:lstStyle/>
            <a:p>
              <a:endParaRPr lang="tr-TR"/>
            </a:p>
          </p:txBody>
        </p:sp>
        <p:sp>
          <p:nvSpPr>
            <p:cNvPr id="40" name="TextBox 28">
              <a:extLst>
                <a:ext uri="{FF2B5EF4-FFF2-40B4-BE49-F238E27FC236}">
                  <a16:creationId xmlns:a16="http://schemas.microsoft.com/office/drawing/2014/main" id="{C5B04A67-2BA8-05BF-DC41-1A498C489422}"/>
                </a:ext>
              </a:extLst>
            </p:cNvPr>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a:solidFill>
                    <a:srgbClr val="4F93A6"/>
                  </a:solidFill>
                  <a:latin typeface="Aileron Ultra-Bold"/>
                </a:rPr>
                <a:t>O</a:t>
              </a:r>
            </a:p>
          </p:txBody>
        </p:sp>
      </p:grpSp>
      <p:grpSp>
        <p:nvGrpSpPr>
          <p:cNvPr id="41" name="Group 29">
            <a:extLst>
              <a:ext uri="{FF2B5EF4-FFF2-40B4-BE49-F238E27FC236}">
                <a16:creationId xmlns:a16="http://schemas.microsoft.com/office/drawing/2014/main" id="{1259DBF2-8888-0B32-F5F3-E24E2E90FD62}"/>
              </a:ext>
            </a:extLst>
          </p:cNvPr>
          <p:cNvGrpSpPr>
            <a:grpSpLocks/>
          </p:cNvGrpSpPr>
          <p:nvPr/>
        </p:nvGrpSpPr>
        <p:grpSpPr>
          <a:xfrm>
            <a:off x="11355104" y="2461157"/>
            <a:ext cx="1859000" cy="1909168"/>
            <a:chOff x="0" y="0"/>
            <a:chExt cx="812800" cy="834735"/>
          </a:xfrm>
        </p:grpSpPr>
        <p:sp>
          <p:nvSpPr>
            <p:cNvPr id="42" name="Freeform 30">
              <a:extLst>
                <a:ext uri="{FF2B5EF4-FFF2-40B4-BE49-F238E27FC236}">
                  <a16:creationId xmlns:a16="http://schemas.microsoft.com/office/drawing/2014/main" id="{E98EB318-5794-EE95-95D3-1B370A00B57C}"/>
                </a:ext>
              </a:extLst>
            </p:cNvPr>
            <p:cNvSpPr>
              <a:spLocks/>
            </p:cNvSpPr>
            <p:nvPr/>
          </p:nvSpPr>
          <p:spPr>
            <a:xfrm>
              <a:off x="0" y="0"/>
              <a:ext cx="812800" cy="834735"/>
            </a:xfrm>
            <a:custGeom>
              <a:avLst/>
              <a:gdLst/>
              <a:ahLst/>
              <a:cxnLst/>
              <a:rect l="l" t="t" r="r" b="b"/>
              <a:pathLst>
                <a:path w="812800" h="834735">
                  <a:moveTo>
                    <a:pt x="406400" y="0"/>
                  </a:moveTo>
                  <a:cubicBezTo>
                    <a:pt x="181951" y="0"/>
                    <a:pt x="0" y="186862"/>
                    <a:pt x="0" y="417367"/>
                  </a:cubicBezTo>
                  <a:cubicBezTo>
                    <a:pt x="0" y="647873"/>
                    <a:pt x="181951" y="834735"/>
                    <a:pt x="406400" y="834735"/>
                  </a:cubicBezTo>
                  <a:cubicBezTo>
                    <a:pt x="630849" y="834735"/>
                    <a:pt x="812800" y="647873"/>
                    <a:pt x="812800" y="417367"/>
                  </a:cubicBezTo>
                  <a:cubicBezTo>
                    <a:pt x="812800" y="186862"/>
                    <a:pt x="630849" y="0"/>
                    <a:pt x="406400" y="0"/>
                  </a:cubicBezTo>
                  <a:close/>
                </a:path>
              </a:pathLst>
            </a:custGeom>
            <a:solidFill>
              <a:srgbClr val="FFFFFF"/>
            </a:solidFill>
            <a:ln w="66675" cap="sq">
              <a:solidFill>
                <a:srgbClr val="1C4C61"/>
              </a:solidFill>
              <a:prstDash val="solid"/>
              <a:miter/>
            </a:ln>
          </p:spPr>
          <p:txBody>
            <a:bodyPr/>
            <a:lstStyle/>
            <a:p>
              <a:endParaRPr lang="tr-TR"/>
            </a:p>
          </p:txBody>
        </p:sp>
        <p:sp>
          <p:nvSpPr>
            <p:cNvPr id="43" name="TextBox 31">
              <a:extLst>
                <a:ext uri="{FF2B5EF4-FFF2-40B4-BE49-F238E27FC236}">
                  <a16:creationId xmlns:a16="http://schemas.microsoft.com/office/drawing/2014/main" id="{13C58447-72AF-642F-0B5C-CCDEF43437A9}"/>
                </a:ext>
              </a:extLst>
            </p:cNvPr>
            <p:cNvSpPr txBox="1">
              <a:spLocks/>
            </p:cNvSpPr>
            <p:nvPr/>
          </p:nvSpPr>
          <p:spPr>
            <a:xfrm>
              <a:off x="76200" y="202081"/>
              <a:ext cx="660400" cy="554397"/>
            </a:xfrm>
            <a:prstGeom prst="rect">
              <a:avLst/>
            </a:prstGeom>
          </p:spPr>
          <p:txBody>
            <a:bodyPr lIns="0" tIns="0" rIns="0" bIns="0" rtlCol="0" anchor="ctr"/>
            <a:lstStyle/>
            <a:p>
              <a:pPr algn="ctr">
                <a:lnSpc>
                  <a:spcPts val="6699"/>
                </a:lnSpc>
              </a:pPr>
              <a:r>
                <a:rPr lang="en-US" sz="6699">
                  <a:solidFill>
                    <a:srgbClr val="1C4C61"/>
                  </a:solidFill>
                  <a:latin typeface="Aileron Ultra-Bold"/>
                </a:rPr>
                <a:t>T</a:t>
              </a:r>
            </a:p>
          </p:txBody>
        </p:sp>
      </p:grpSp>
      <p:sp>
        <p:nvSpPr>
          <p:cNvPr id="44" name="TextBox 9">
            <a:extLst>
              <a:ext uri="{FF2B5EF4-FFF2-40B4-BE49-F238E27FC236}">
                <a16:creationId xmlns:a16="http://schemas.microsoft.com/office/drawing/2014/main" id="{4CBA6C52-236F-E610-35E5-A8F5E8F5A37B}"/>
              </a:ext>
            </a:extLst>
          </p:cNvPr>
          <p:cNvSpPr txBox="1"/>
          <p:nvPr/>
        </p:nvSpPr>
        <p:spPr>
          <a:xfrm>
            <a:off x="860241" y="1483727"/>
            <a:ext cx="13990038" cy="935355"/>
          </a:xfrm>
          <a:prstGeom prst="rect">
            <a:avLst/>
          </a:prstGeom>
        </p:spPr>
        <p:txBody>
          <a:bodyPr lIns="0" tIns="0" rIns="0" bIns="0" rtlCol="0" anchor="t">
            <a:spAutoFit/>
          </a:bodyPr>
          <a:lstStyle/>
          <a:p>
            <a:pPr marL="388620" lvl="1" indent="-194310" algn="l">
              <a:lnSpc>
                <a:spcPts val="2520"/>
              </a:lnSpc>
              <a:buFont typeface="Arial"/>
              <a:buChar char="•"/>
            </a:pPr>
            <a:r>
              <a:rPr lang="en-US" sz="1800" dirty="0">
                <a:solidFill>
                  <a:srgbClr val="FF0000"/>
                </a:solidFill>
                <a:latin typeface="Aileron Bold"/>
              </a:rPr>
              <a:t>Bu </a:t>
            </a:r>
            <a:r>
              <a:rPr lang="en-US" sz="1800" dirty="0" err="1">
                <a:solidFill>
                  <a:srgbClr val="FF0000"/>
                </a:solidFill>
                <a:latin typeface="Aileron Bold"/>
              </a:rPr>
              <a:t>sayfada</a:t>
            </a:r>
            <a:r>
              <a:rPr lang="en-US" sz="1800" dirty="0">
                <a:solidFill>
                  <a:srgbClr val="FF0000"/>
                </a:solidFill>
                <a:latin typeface="Aileron Bold"/>
              </a:rPr>
              <a:t> swot </a:t>
            </a:r>
            <a:r>
              <a:rPr lang="en-US" sz="1800" dirty="0" err="1">
                <a:solidFill>
                  <a:srgbClr val="FF0000"/>
                </a:solidFill>
                <a:latin typeface="Aileron Bold"/>
              </a:rPr>
              <a:t>analizi</a:t>
            </a:r>
            <a:r>
              <a:rPr lang="en-US" sz="1800" dirty="0">
                <a:solidFill>
                  <a:srgbClr val="FF0000"/>
                </a:solidFill>
                <a:latin typeface="Aileron Bold"/>
              </a:rPr>
              <a:t> </a:t>
            </a:r>
            <a:r>
              <a:rPr lang="en-US" sz="1800" dirty="0" err="1">
                <a:solidFill>
                  <a:srgbClr val="FF0000"/>
                </a:solidFill>
                <a:latin typeface="Aileron Bold"/>
              </a:rPr>
              <a:t>yapılmalıdır</a:t>
            </a:r>
            <a:r>
              <a:rPr lang="en-US" sz="1800" dirty="0">
                <a:solidFill>
                  <a:srgbClr val="FF0000"/>
                </a:solidFill>
                <a:latin typeface="Aileron Bold"/>
              </a:rPr>
              <a:t>. Swot </a:t>
            </a:r>
            <a:r>
              <a:rPr lang="en-US" sz="1800" dirty="0" err="1">
                <a:solidFill>
                  <a:srgbClr val="FF0000"/>
                </a:solidFill>
                <a:latin typeface="Aileron Bold"/>
              </a:rPr>
              <a:t>analizi</a:t>
            </a:r>
            <a:r>
              <a:rPr lang="en-US" sz="1800" dirty="0">
                <a:solidFill>
                  <a:srgbClr val="FF0000"/>
                </a:solidFill>
                <a:latin typeface="Aileron Bold"/>
              </a:rPr>
              <a:t>; </a:t>
            </a:r>
            <a:r>
              <a:rPr lang="en-US" sz="1800" dirty="0" err="1">
                <a:solidFill>
                  <a:srgbClr val="FF0000"/>
                </a:solidFill>
                <a:latin typeface="Aileron Bold"/>
              </a:rPr>
              <a:t>Projenin</a:t>
            </a:r>
            <a:r>
              <a:rPr lang="en-US" sz="1800" dirty="0">
                <a:solidFill>
                  <a:srgbClr val="FF0000"/>
                </a:solidFill>
                <a:latin typeface="Aileron Bold"/>
              </a:rPr>
              <a:t> </a:t>
            </a:r>
            <a:r>
              <a:rPr lang="en-US" sz="1800" dirty="0" err="1">
                <a:solidFill>
                  <a:srgbClr val="FF0000"/>
                </a:solidFill>
                <a:latin typeface="Aileron Bold"/>
              </a:rPr>
              <a:t>güçlü</a:t>
            </a:r>
            <a:r>
              <a:rPr lang="en-US" sz="1800" dirty="0">
                <a:solidFill>
                  <a:srgbClr val="FF0000"/>
                </a:solidFill>
                <a:latin typeface="Aileron Bold"/>
              </a:rPr>
              <a:t> </a:t>
            </a:r>
            <a:r>
              <a:rPr lang="en-US" sz="1800" dirty="0" err="1">
                <a:solidFill>
                  <a:srgbClr val="FF0000"/>
                </a:solidFill>
                <a:latin typeface="Aileron Bold"/>
              </a:rPr>
              <a:t>yönlerinin</a:t>
            </a:r>
            <a:r>
              <a:rPr lang="en-US" sz="1800" dirty="0">
                <a:solidFill>
                  <a:srgbClr val="FF0000"/>
                </a:solidFill>
                <a:latin typeface="Aileron Bold"/>
              </a:rPr>
              <a:t>, </a:t>
            </a:r>
            <a:r>
              <a:rPr lang="en-US" sz="1800" dirty="0" err="1">
                <a:solidFill>
                  <a:srgbClr val="FF0000"/>
                </a:solidFill>
                <a:latin typeface="Aileron Bold"/>
              </a:rPr>
              <a:t>zayıf</a:t>
            </a:r>
            <a:r>
              <a:rPr lang="en-US" sz="1800" dirty="0">
                <a:solidFill>
                  <a:srgbClr val="FF0000"/>
                </a:solidFill>
                <a:latin typeface="Aileron Bold"/>
              </a:rPr>
              <a:t> </a:t>
            </a:r>
            <a:r>
              <a:rPr lang="en-US" sz="1800" dirty="0" err="1">
                <a:solidFill>
                  <a:srgbClr val="FF0000"/>
                </a:solidFill>
                <a:latin typeface="Aileron Bold"/>
              </a:rPr>
              <a:t>yönlerinin</a:t>
            </a:r>
            <a:r>
              <a:rPr lang="en-US" sz="1800" dirty="0">
                <a:solidFill>
                  <a:srgbClr val="FF0000"/>
                </a:solidFill>
                <a:latin typeface="Aileron Bold"/>
              </a:rPr>
              <a:t>, </a:t>
            </a:r>
            <a:r>
              <a:rPr lang="en-US" sz="1800" dirty="0" err="1">
                <a:solidFill>
                  <a:srgbClr val="FF0000"/>
                </a:solidFill>
                <a:latin typeface="Aileron Bold"/>
              </a:rPr>
              <a:t>fırsatların</a:t>
            </a:r>
            <a:r>
              <a:rPr lang="en-US" sz="1800" dirty="0">
                <a:solidFill>
                  <a:srgbClr val="FF0000"/>
                </a:solidFill>
                <a:latin typeface="Aileron Bold"/>
              </a:rPr>
              <a:t> </a:t>
            </a:r>
            <a:r>
              <a:rPr lang="en-US" sz="1800" dirty="0" err="1">
                <a:solidFill>
                  <a:srgbClr val="FF0000"/>
                </a:solidFill>
                <a:latin typeface="Aileron Bold"/>
              </a:rPr>
              <a:t>ve</a:t>
            </a:r>
            <a:r>
              <a:rPr lang="en-US" sz="1800" dirty="0">
                <a:solidFill>
                  <a:srgbClr val="FF0000"/>
                </a:solidFill>
                <a:latin typeface="Aileron Bold"/>
              </a:rPr>
              <a:t> </a:t>
            </a:r>
            <a:r>
              <a:rPr lang="en-US" sz="1800" dirty="0" err="1">
                <a:solidFill>
                  <a:srgbClr val="FF0000"/>
                </a:solidFill>
                <a:latin typeface="Aileron Bold"/>
              </a:rPr>
              <a:t>tehditlerin</a:t>
            </a:r>
            <a:r>
              <a:rPr lang="en-US" sz="1800" dirty="0">
                <a:solidFill>
                  <a:srgbClr val="FF0000"/>
                </a:solidFill>
                <a:latin typeface="Aileron Bold"/>
              </a:rPr>
              <a:t> </a:t>
            </a:r>
            <a:r>
              <a:rPr lang="en-US" sz="1800" dirty="0" err="1">
                <a:solidFill>
                  <a:srgbClr val="FF0000"/>
                </a:solidFill>
                <a:latin typeface="Aileron Bold"/>
              </a:rPr>
              <a:t>anlatıldığı</a:t>
            </a:r>
            <a:r>
              <a:rPr lang="en-US" sz="1800" dirty="0">
                <a:solidFill>
                  <a:srgbClr val="FF0000"/>
                </a:solidFill>
                <a:latin typeface="Aileron Bold"/>
              </a:rPr>
              <a:t> </a:t>
            </a:r>
            <a:r>
              <a:rPr lang="en-US" sz="1800" dirty="0" err="1">
                <a:solidFill>
                  <a:srgbClr val="FF0000"/>
                </a:solidFill>
                <a:latin typeface="Aileron Bold"/>
              </a:rPr>
              <a:t>kısımdır</a:t>
            </a:r>
            <a:r>
              <a:rPr lang="en-US" sz="1800" dirty="0">
                <a:solidFill>
                  <a:srgbClr val="FF0000"/>
                </a:solidFill>
                <a:latin typeface="Aileron Bold"/>
              </a:rPr>
              <a:t>. Tablo </a:t>
            </a:r>
            <a:r>
              <a:rPr lang="en-US" sz="1800" dirty="0" err="1">
                <a:solidFill>
                  <a:srgbClr val="FF0000"/>
                </a:solidFill>
                <a:latin typeface="Aileron Bold"/>
              </a:rPr>
              <a:t>aynen</a:t>
            </a:r>
            <a:r>
              <a:rPr lang="en-US" sz="1800" dirty="0">
                <a:solidFill>
                  <a:srgbClr val="FF0000"/>
                </a:solidFill>
                <a:latin typeface="Aileron Bold"/>
              </a:rPr>
              <a:t> </a:t>
            </a:r>
            <a:r>
              <a:rPr lang="en-US" sz="1800" dirty="0" err="1">
                <a:solidFill>
                  <a:srgbClr val="FF0000"/>
                </a:solidFill>
                <a:latin typeface="Aileron Bold"/>
              </a:rPr>
              <a:t>kullanılmalıdır</a:t>
            </a:r>
            <a:r>
              <a:rPr lang="en-US" sz="1800" dirty="0">
                <a:solidFill>
                  <a:srgbClr val="FF0000"/>
                </a:solidFill>
                <a:latin typeface="Aileron Bold"/>
              </a:rPr>
              <a:t>. Swot </a:t>
            </a:r>
            <a:r>
              <a:rPr lang="en-US" sz="1800" dirty="0" err="1">
                <a:solidFill>
                  <a:srgbClr val="FF0000"/>
                </a:solidFill>
                <a:latin typeface="Aileron Bold"/>
              </a:rPr>
              <a:t>analizi</a:t>
            </a:r>
            <a:r>
              <a:rPr lang="en-US" sz="1800" dirty="0">
                <a:solidFill>
                  <a:srgbClr val="FF0000"/>
                </a:solidFill>
                <a:latin typeface="Aileron Bold"/>
              </a:rPr>
              <a:t> </a:t>
            </a:r>
            <a:r>
              <a:rPr lang="en-US" sz="1800" u="sng" dirty="0" err="1">
                <a:solidFill>
                  <a:srgbClr val="FF0000"/>
                </a:solidFill>
                <a:latin typeface="Aileron Bold Italics"/>
              </a:rPr>
              <a:t>en</a:t>
            </a:r>
            <a:r>
              <a:rPr lang="en-US" sz="1800" u="sng" dirty="0">
                <a:solidFill>
                  <a:srgbClr val="FF0000"/>
                </a:solidFill>
                <a:latin typeface="Aileron Bold Italics"/>
              </a:rPr>
              <a:t> </a:t>
            </a:r>
            <a:r>
              <a:rPr lang="en-US" sz="1800" u="sng" dirty="0" err="1">
                <a:solidFill>
                  <a:srgbClr val="FF0000"/>
                </a:solidFill>
                <a:latin typeface="Aileron Bold Italics"/>
              </a:rPr>
              <a:t>fazla</a:t>
            </a:r>
            <a:r>
              <a:rPr lang="en-US" sz="1800" dirty="0">
                <a:solidFill>
                  <a:srgbClr val="FF0000"/>
                </a:solidFill>
                <a:latin typeface="Aileron Bold"/>
              </a:rPr>
              <a:t> </a:t>
            </a:r>
            <a:r>
              <a:rPr lang="en-US" sz="1800" dirty="0" err="1">
                <a:solidFill>
                  <a:srgbClr val="FF0000"/>
                </a:solidFill>
                <a:latin typeface="Aileron Bold"/>
              </a:rPr>
              <a:t>bir</a:t>
            </a:r>
            <a:r>
              <a:rPr lang="en-US" sz="1800" dirty="0">
                <a:solidFill>
                  <a:srgbClr val="FF0000"/>
                </a:solidFill>
                <a:latin typeface="Aileron Bold"/>
              </a:rPr>
              <a:t>(1) </a:t>
            </a:r>
            <a:r>
              <a:rPr lang="en-US" sz="1800" dirty="0" err="1">
                <a:solidFill>
                  <a:srgbClr val="FF0000"/>
                </a:solidFill>
                <a:latin typeface="Aileron Bold"/>
              </a:rPr>
              <a:t>sayfad</a:t>
            </a:r>
            <a:r>
              <a:rPr lang="tr-TR" sz="1800" dirty="0">
                <a:solidFill>
                  <a:srgbClr val="FF0000"/>
                </a:solidFill>
                <a:latin typeface="Aileron Bold"/>
              </a:rPr>
              <a:t>a açıklanmalıdır</a:t>
            </a:r>
            <a:r>
              <a:rPr lang="en-US" sz="1800" dirty="0">
                <a:solidFill>
                  <a:srgbClr val="FF0000"/>
                </a:solidFill>
                <a:latin typeface="Aileron Bold"/>
              </a:rPr>
              <a:t>. </a:t>
            </a:r>
            <a:r>
              <a:rPr lang="en-US" sz="1800" dirty="0" err="1">
                <a:solidFill>
                  <a:srgbClr val="FF0000"/>
                </a:solidFill>
                <a:latin typeface="Aileron Bold"/>
              </a:rPr>
              <a:t>Sayfa</a:t>
            </a:r>
            <a:r>
              <a:rPr lang="en-US" sz="1800" dirty="0">
                <a:solidFill>
                  <a:srgbClr val="FF0000"/>
                </a:solidFill>
                <a:latin typeface="Aileron Bold"/>
              </a:rPr>
              <a:t> </a:t>
            </a:r>
            <a:r>
              <a:rPr lang="en-US" sz="1800" dirty="0" err="1">
                <a:solidFill>
                  <a:srgbClr val="FF0000"/>
                </a:solidFill>
                <a:latin typeface="Aileron Bold"/>
              </a:rPr>
              <a:t>sınırı</a:t>
            </a:r>
            <a:r>
              <a:rPr lang="en-US" sz="1800" dirty="0">
                <a:solidFill>
                  <a:srgbClr val="FF0000"/>
                </a:solidFill>
                <a:latin typeface="Aileron Bold"/>
              </a:rPr>
              <a:t> </a:t>
            </a:r>
            <a:r>
              <a:rPr lang="en-US" sz="1800" dirty="0" err="1">
                <a:solidFill>
                  <a:srgbClr val="FF0000"/>
                </a:solidFill>
                <a:latin typeface="Aileron Bold"/>
              </a:rPr>
              <a:t>aşılmamalıdır</a:t>
            </a:r>
            <a:r>
              <a:rPr lang="en-US" sz="1800" dirty="0">
                <a:solidFill>
                  <a:srgbClr val="FF0000"/>
                </a:solidFill>
                <a:latin typeface="Aileron Bold"/>
              </a:rPr>
              <a:t>. </a:t>
            </a:r>
          </a:p>
          <a:p>
            <a:pPr algn="l">
              <a:lnSpc>
                <a:spcPts val="2520"/>
              </a:lnSpc>
            </a:pPr>
            <a:endParaRPr lang="en-US" sz="1800" dirty="0">
              <a:solidFill>
                <a:srgbClr val="FF0000"/>
              </a:solidFill>
              <a:latin typeface="Aileron Bold"/>
            </a:endParaRPr>
          </a:p>
        </p:txBody>
      </p:sp>
    </p:spTree>
    <p:extLst>
      <p:ext uri="{BB962C8B-B14F-4D97-AF65-F5344CB8AC3E}">
        <p14:creationId xmlns:p14="http://schemas.microsoft.com/office/powerpoint/2010/main" val="3470544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noRot="1" noMove="1" noResize="1" noEditPoints="1" noAdjustHandles="1" noChangeArrowheads="1" noChangeShapeType="1"/>
          </p:cNvSpPr>
          <p:nvPr/>
        </p:nvSpPr>
        <p:spPr>
          <a:xfrm>
            <a:off x="428884" y="1284232"/>
            <a:ext cx="17171515" cy="3675"/>
          </a:xfrm>
          <a:prstGeom prst="line">
            <a:avLst/>
          </a:prstGeom>
          <a:ln w="38100" cap="flat">
            <a:solidFill>
              <a:srgbClr val="344C54"/>
            </a:solidFill>
            <a:prstDash val="solid"/>
            <a:headEnd type="none" w="sm" len="sm"/>
            <a:tailEnd type="none" w="sm" len="sm"/>
          </a:ln>
        </p:spPr>
        <p:txBody>
          <a:bodyPr/>
          <a:lstStyle/>
          <a:p>
            <a:endParaRPr lang="tr-TR"/>
          </a:p>
        </p:txBody>
      </p:sp>
      <p:sp>
        <p:nvSpPr>
          <p:cNvPr id="3" name="Freeform 3"/>
          <p:cNvSpPr/>
          <p:nvPr/>
        </p:nvSpPr>
        <p:spPr>
          <a:xfrm>
            <a:off x="428884" y="-176038"/>
            <a:ext cx="1745298" cy="1745298"/>
          </a:xfrm>
          <a:custGeom>
            <a:avLst/>
            <a:gdLst/>
            <a:ahLst/>
            <a:cxnLst/>
            <a:rect l="l" t="t" r="r" b="b"/>
            <a:pathLst>
              <a:path w="1745298" h="1745298">
                <a:moveTo>
                  <a:pt x="0" y="0"/>
                </a:moveTo>
                <a:lnTo>
                  <a:pt x="1745298" y="0"/>
                </a:lnTo>
                <a:lnTo>
                  <a:pt x="1745298" y="1745298"/>
                </a:lnTo>
                <a:lnTo>
                  <a:pt x="0" y="1745298"/>
                </a:lnTo>
                <a:lnTo>
                  <a:pt x="0" y="0"/>
                </a:lnTo>
                <a:close/>
              </a:path>
            </a:pathLst>
          </a:custGeom>
          <a:blipFill>
            <a:blip r:embed="rId2"/>
            <a:stretch>
              <a:fillRect/>
            </a:stretch>
          </a:blipFill>
        </p:spPr>
        <p:txBody>
          <a:bodyPr/>
          <a:lstStyle/>
          <a:p>
            <a:endParaRPr lang="tr-TR"/>
          </a:p>
        </p:txBody>
      </p:sp>
      <p:sp>
        <p:nvSpPr>
          <p:cNvPr id="4" name="Freeform 4"/>
          <p:cNvSpPr>
            <a:spLocks noGrp="1" noRot="1" noMove="1" noResize="1" noEditPoints="1" noAdjustHandles="1" noChangeArrowheads="1" noChangeShapeType="1"/>
          </p:cNvSpPr>
          <p:nvPr/>
        </p:nvSpPr>
        <p:spPr>
          <a:xfrm rot="6000">
            <a:off x="15526871" y="9323138"/>
            <a:ext cx="2106908" cy="869935"/>
          </a:xfrm>
          <a:custGeom>
            <a:avLst/>
            <a:gdLst/>
            <a:ahLst/>
            <a:cxnLst/>
            <a:rect l="l" t="t" r="r" b="b"/>
            <a:pathLst>
              <a:path w="2106908" h="869935">
                <a:moveTo>
                  <a:pt x="0" y="3675"/>
                </a:moveTo>
                <a:lnTo>
                  <a:pt x="2105396" y="0"/>
                </a:lnTo>
                <a:lnTo>
                  <a:pt x="2106908" y="866261"/>
                </a:lnTo>
                <a:lnTo>
                  <a:pt x="1512" y="869935"/>
                </a:lnTo>
                <a:lnTo>
                  <a:pt x="0" y="3675"/>
                </a:lnTo>
                <a:close/>
              </a:path>
            </a:pathLst>
          </a:custGeom>
          <a:blipFill>
            <a:blip r:embed="rId3"/>
            <a:stretch>
              <a:fillRect l="-24072" t="-50652" r="-24923" b="-52389"/>
            </a:stretch>
          </a:blipFill>
        </p:spPr>
        <p:txBody>
          <a:bodyPr/>
          <a:lstStyle/>
          <a:p>
            <a:endParaRPr lang="tr-TR"/>
          </a:p>
        </p:txBody>
      </p:sp>
      <p:sp>
        <p:nvSpPr>
          <p:cNvPr id="5" name="Freeform 5"/>
          <p:cNvSpPr>
            <a:spLocks noGrp="1" noRot="1" noMove="1" noResize="1" noEditPoints="1" noAdjustHandles="1" noChangeArrowheads="1" noChangeShapeType="1"/>
          </p:cNvSpPr>
          <p:nvPr/>
        </p:nvSpPr>
        <p:spPr>
          <a:xfrm>
            <a:off x="16424602" y="153804"/>
            <a:ext cx="1175797" cy="1067428"/>
          </a:xfrm>
          <a:custGeom>
            <a:avLst/>
            <a:gdLst/>
            <a:ahLst/>
            <a:cxnLst/>
            <a:rect l="l" t="t" r="r" b="b"/>
            <a:pathLst>
              <a:path w="1175797" h="1067428">
                <a:moveTo>
                  <a:pt x="0" y="0"/>
                </a:moveTo>
                <a:lnTo>
                  <a:pt x="1175797" y="0"/>
                </a:lnTo>
                <a:lnTo>
                  <a:pt x="1175797" y="1067428"/>
                </a:lnTo>
                <a:lnTo>
                  <a:pt x="0" y="1067428"/>
                </a:lnTo>
                <a:lnTo>
                  <a:pt x="0" y="0"/>
                </a:lnTo>
                <a:close/>
              </a:path>
            </a:pathLst>
          </a:custGeom>
          <a:blipFill>
            <a:blip r:embed="rId4"/>
            <a:stretch>
              <a:fillRect l="-47358" t="-8167" r="-48748"/>
            </a:stretch>
          </a:blipFill>
        </p:spPr>
        <p:txBody>
          <a:bodyPr/>
          <a:lstStyle/>
          <a:p>
            <a:endParaRPr lang="tr-TR"/>
          </a:p>
        </p:txBody>
      </p:sp>
      <p:sp>
        <p:nvSpPr>
          <p:cNvPr id="8" name="TextBox 8"/>
          <p:cNvSpPr txBox="1">
            <a:spLocks noGrp="1" noRot="1" noMove="1" noResize="1" noEditPoints="1" noAdjustHandles="1" noChangeArrowheads="1" noChangeShapeType="1"/>
          </p:cNvSpPr>
          <p:nvPr/>
        </p:nvSpPr>
        <p:spPr>
          <a:xfrm>
            <a:off x="3814152" y="315724"/>
            <a:ext cx="10715094" cy="820738"/>
          </a:xfrm>
          <a:prstGeom prst="rect">
            <a:avLst/>
          </a:prstGeom>
        </p:spPr>
        <p:txBody>
          <a:bodyPr lIns="0" tIns="0" rIns="0" bIns="0" rtlCol="0" anchor="t">
            <a:spAutoFit/>
          </a:bodyPr>
          <a:lstStyle/>
          <a:p>
            <a:pPr algn="ctr">
              <a:lnSpc>
                <a:spcPts val="6399"/>
              </a:lnSpc>
              <a:spcBef>
                <a:spcPct val="0"/>
              </a:spcBef>
            </a:pPr>
            <a:r>
              <a:rPr lang="en-US" sz="6399" dirty="0">
                <a:solidFill>
                  <a:srgbClr val="1A426A"/>
                </a:solidFill>
                <a:latin typeface="Active Heart"/>
              </a:rPr>
              <a:t>TEŞEKKÜRLER</a:t>
            </a:r>
          </a:p>
        </p:txBody>
      </p:sp>
      <p:sp>
        <p:nvSpPr>
          <p:cNvPr id="9" name="TextBox 9"/>
          <p:cNvSpPr txBox="1">
            <a:spLocks noGrp="1" noRot="1" noMove="1" noResize="1" noEditPoints="1" noAdjustHandles="1" noChangeArrowheads="1" noChangeShapeType="1"/>
          </p:cNvSpPr>
          <p:nvPr/>
        </p:nvSpPr>
        <p:spPr>
          <a:xfrm>
            <a:off x="11393775" y="9361293"/>
            <a:ext cx="1340569" cy="1060450"/>
          </a:xfrm>
          <a:prstGeom prst="rect">
            <a:avLst/>
          </a:prstGeom>
        </p:spPr>
        <p:txBody>
          <a:bodyPr lIns="0" tIns="0" rIns="0" bIns="0" rtlCol="0" anchor="t">
            <a:spAutoFit/>
          </a:bodyPr>
          <a:lstStyle/>
          <a:p>
            <a:pPr algn="l">
              <a:lnSpc>
                <a:spcPts val="2000"/>
              </a:lnSpc>
            </a:pPr>
            <a:r>
              <a:rPr lang="en-US" sz="2000">
                <a:solidFill>
                  <a:srgbClr val="1A426A"/>
                </a:solidFill>
                <a:latin typeface="Active Heart"/>
              </a:rPr>
              <a:t>TAKIM ADI:</a:t>
            </a:r>
          </a:p>
          <a:p>
            <a:pPr algn="l">
              <a:lnSpc>
                <a:spcPts val="2000"/>
              </a:lnSpc>
            </a:pPr>
            <a:r>
              <a:rPr lang="en-US" sz="2000">
                <a:solidFill>
                  <a:srgbClr val="1A426A"/>
                </a:solidFill>
                <a:latin typeface="Active Heart"/>
              </a:rPr>
              <a:t>TAKIM ID:</a:t>
            </a:r>
          </a:p>
          <a:p>
            <a:pPr algn="l">
              <a:lnSpc>
                <a:spcPts val="2000"/>
              </a:lnSpc>
            </a:pPr>
            <a:r>
              <a:rPr lang="en-US" sz="2000">
                <a:solidFill>
                  <a:srgbClr val="1A426A"/>
                </a:solidFill>
                <a:latin typeface="Active Heart"/>
              </a:rPr>
              <a:t>BAŞVURU ID:</a:t>
            </a:r>
          </a:p>
          <a:p>
            <a:pPr algn="l">
              <a:lnSpc>
                <a:spcPts val="2000"/>
              </a:lnSpc>
              <a:spcBef>
                <a:spcPct val="0"/>
              </a:spcBef>
            </a:pPr>
            <a:endParaRPr lang="en-US" sz="2000">
              <a:solidFill>
                <a:srgbClr val="1A426A"/>
              </a:solidFill>
              <a:latin typeface="Active Heart"/>
            </a:endParaRPr>
          </a:p>
        </p:txBody>
      </p:sp>
      <p:sp>
        <p:nvSpPr>
          <p:cNvPr id="10" name="TextBox 10"/>
          <p:cNvSpPr txBox="1">
            <a:spLocks/>
          </p:cNvSpPr>
          <p:nvPr/>
        </p:nvSpPr>
        <p:spPr>
          <a:xfrm>
            <a:off x="17830801" y="9607673"/>
            <a:ext cx="457199" cy="519822"/>
          </a:xfrm>
          <a:prstGeom prst="rect">
            <a:avLst/>
          </a:prstGeom>
        </p:spPr>
        <p:txBody>
          <a:bodyPr wrap="square" lIns="0" tIns="0" rIns="0" bIns="0" rtlCol="0" anchor="t">
            <a:spAutoFit/>
          </a:bodyPr>
          <a:lstStyle/>
          <a:p>
            <a:pPr algn="ctr">
              <a:lnSpc>
                <a:spcPts val="4759"/>
              </a:lnSpc>
            </a:pPr>
            <a:r>
              <a:rPr lang="tr-TR" sz="3399" dirty="0">
                <a:solidFill>
                  <a:srgbClr val="1A426A"/>
                </a:solidFill>
                <a:latin typeface="Active Heart"/>
              </a:rPr>
              <a:t>12</a:t>
            </a:r>
            <a:endParaRPr lang="en-US" sz="3399" dirty="0">
              <a:solidFill>
                <a:srgbClr val="1A426A"/>
              </a:solidFill>
              <a:latin typeface="Active Heart"/>
            </a:endParaRPr>
          </a:p>
        </p:txBody>
      </p:sp>
      <p:sp>
        <p:nvSpPr>
          <p:cNvPr id="11" name="Freeform 11"/>
          <p:cNvSpPr>
            <a:spLocks noGrp="1" noRot="1" noMove="1" noResize="1" noEditPoints="1" noAdjustHandles="1" noChangeArrowheads="1" noChangeShapeType="1"/>
          </p:cNvSpPr>
          <p:nvPr/>
        </p:nvSpPr>
        <p:spPr>
          <a:xfrm>
            <a:off x="1300117"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3" name="Freeform 13"/>
          <p:cNvSpPr>
            <a:spLocks noGrp="1" noRot="1" noMove="1" noResize="1" noEditPoints="1" noAdjustHandles="1" noChangeArrowheads="1" noChangeShapeType="1"/>
          </p:cNvSpPr>
          <p:nvPr/>
        </p:nvSpPr>
        <p:spPr>
          <a:xfrm>
            <a:off x="2310015"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4" name="Freeform 14"/>
          <p:cNvSpPr>
            <a:spLocks noGrp="1" noRot="1" noMove="1" noResize="1" noEditPoints="1" noAdjustHandles="1" noChangeArrowheads="1" noChangeShapeType="1"/>
          </p:cNvSpPr>
          <p:nvPr/>
        </p:nvSpPr>
        <p:spPr>
          <a:xfrm>
            <a:off x="1960949" y="9520632"/>
            <a:ext cx="107458" cy="227535"/>
          </a:xfrm>
          <a:custGeom>
            <a:avLst/>
            <a:gdLst/>
            <a:ahLst/>
            <a:cxnLst/>
            <a:rect l="l" t="t" r="r" b="b"/>
            <a:pathLst>
              <a:path w="107458" h="227535">
                <a:moveTo>
                  <a:pt x="0" y="0"/>
                </a:moveTo>
                <a:lnTo>
                  <a:pt x="107458" y="0"/>
                </a:lnTo>
                <a:lnTo>
                  <a:pt x="107458" y="227535"/>
                </a:lnTo>
                <a:lnTo>
                  <a:pt x="0" y="227535"/>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tr-TR"/>
          </a:p>
        </p:txBody>
      </p:sp>
      <p:sp>
        <p:nvSpPr>
          <p:cNvPr id="15" name="Freeform 15"/>
          <p:cNvSpPr>
            <a:spLocks noGrp="1" noRot="1" noMove="1" noResize="1" noEditPoints="1" noAdjustHandles="1" noChangeArrowheads="1" noChangeShapeType="1"/>
          </p:cNvSpPr>
          <p:nvPr/>
        </p:nvSpPr>
        <p:spPr>
          <a:xfrm>
            <a:off x="1805066" y="9424787"/>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tr-TR"/>
          </a:p>
        </p:txBody>
      </p:sp>
      <p:sp>
        <p:nvSpPr>
          <p:cNvPr id="16" name="TextBox 16"/>
          <p:cNvSpPr txBox="1">
            <a:spLocks noGrp="1" noRot="1" noMove="1" noResize="1" noEditPoints="1" noAdjustHandles="1" noChangeArrowheads="1" noChangeShapeType="1"/>
          </p:cNvSpPr>
          <p:nvPr/>
        </p:nvSpPr>
        <p:spPr>
          <a:xfrm>
            <a:off x="753578" y="9834486"/>
            <a:ext cx="2130891" cy="269304"/>
          </a:xfrm>
          <a:prstGeom prst="rect">
            <a:avLst/>
          </a:prstGeom>
        </p:spPr>
        <p:txBody>
          <a:bodyPr wrap="square" lIns="0" tIns="0" rIns="0" bIns="0" rtlCol="0" anchor="t">
            <a:spAutoFit/>
          </a:bodyPr>
          <a:lstStyle/>
          <a:p>
            <a:pPr algn="ctr">
              <a:lnSpc>
                <a:spcPts val="2100"/>
              </a:lnSpc>
              <a:spcBef>
                <a:spcPct val="0"/>
              </a:spcBef>
            </a:pPr>
            <a:r>
              <a:rPr lang="en-US" sz="2100" dirty="0">
                <a:solidFill>
                  <a:srgbClr val="1A426A"/>
                </a:solidFill>
                <a:latin typeface="Active Heart"/>
              </a:rPr>
              <a:t>www.teknofest.org</a:t>
            </a:r>
          </a:p>
        </p:txBody>
      </p:sp>
      <p:sp>
        <p:nvSpPr>
          <p:cNvPr id="21" name="TextBox 20"/>
          <p:cNvSpPr txBox="1"/>
          <p:nvPr/>
        </p:nvSpPr>
        <p:spPr>
          <a:xfrm>
            <a:off x="8817598" y="3313877"/>
            <a:ext cx="7192425"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dirty="0">
                <a:solidFill>
                  <a:srgbClr val="DE2223"/>
                </a:solidFill>
                <a:latin typeface="Aileron Bold"/>
              </a:rPr>
              <a:t>Bu </a:t>
            </a:r>
            <a:r>
              <a:rPr lang="en-US" sz="1800" dirty="0" err="1">
                <a:solidFill>
                  <a:srgbClr val="DE2223"/>
                </a:solidFill>
                <a:latin typeface="Aileron Bold"/>
              </a:rPr>
              <a:t>sayfada</a:t>
            </a:r>
            <a:r>
              <a:rPr lang="en-US" sz="1800" dirty="0">
                <a:solidFill>
                  <a:srgbClr val="DE2223"/>
                </a:solidFill>
                <a:latin typeface="Aileron Bold"/>
              </a:rPr>
              <a:t> </a:t>
            </a:r>
            <a:r>
              <a:rPr lang="en-US" sz="1800" dirty="0" err="1">
                <a:solidFill>
                  <a:srgbClr val="DE2223"/>
                </a:solidFill>
                <a:latin typeface="Aileron Bold"/>
              </a:rPr>
              <a:t>proje</a:t>
            </a:r>
            <a:r>
              <a:rPr lang="en-US" sz="1800" dirty="0">
                <a:solidFill>
                  <a:srgbClr val="DE2223"/>
                </a:solidFill>
                <a:latin typeface="Aileron Bold"/>
              </a:rPr>
              <a:t>/</a:t>
            </a:r>
            <a:r>
              <a:rPr lang="en-US" sz="1800" dirty="0" err="1">
                <a:solidFill>
                  <a:srgbClr val="DE2223"/>
                </a:solidFill>
                <a:latin typeface="Aileron Bold"/>
              </a:rPr>
              <a:t>fikre</a:t>
            </a:r>
            <a:r>
              <a:rPr lang="en-US" sz="1800" dirty="0">
                <a:solidFill>
                  <a:srgbClr val="DE2223"/>
                </a:solidFill>
                <a:latin typeface="Aileron Bold"/>
              </a:rPr>
              <a:t> </a:t>
            </a:r>
            <a:r>
              <a:rPr lang="en-US" sz="1800" dirty="0" err="1">
                <a:solidFill>
                  <a:srgbClr val="DE2223"/>
                </a:solidFill>
                <a:latin typeface="Aileron Bold"/>
              </a:rPr>
              <a:t>ait</a:t>
            </a:r>
            <a:r>
              <a:rPr lang="en-US" sz="1800" dirty="0">
                <a:solidFill>
                  <a:srgbClr val="DE2223"/>
                </a:solidFill>
                <a:latin typeface="Aileron Bold"/>
              </a:rPr>
              <a:t> </a:t>
            </a:r>
            <a:r>
              <a:rPr lang="en-US" sz="1800" dirty="0" err="1">
                <a:solidFill>
                  <a:srgbClr val="DE2223"/>
                </a:solidFill>
                <a:latin typeface="Aileron Bold"/>
              </a:rPr>
              <a:t>bir</a:t>
            </a:r>
            <a:r>
              <a:rPr lang="en-US" sz="1800" dirty="0">
                <a:solidFill>
                  <a:srgbClr val="DE2223"/>
                </a:solidFill>
                <a:latin typeface="Aileron Bold"/>
              </a:rPr>
              <a:t> </a:t>
            </a:r>
            <a:r>
              <a:rPr lang="en-US" sz="1800" dirty="0" err="1">
                <a:solidFill>
                  <a:srgbClr val="DE2223"/>
                </a:solidFill>
                <a:latin typeface="Aileron Bold"/>
              </a:rPr>
              <a:t>sloganla</a:t>
            </a:r>
            <a:r>
              <a:rPr lang="en-US" sz="1800" dirty="0">
                <a:solidFill>
                  <a:srgbClr val="DE2223"/>
                </a:solidFill>
                <a:latin typeface="Aileron Bold"/>
              </a:rPr>
              <a:t> </a:t>
            </a:r>
            <a:r>
              <a:rPr lang="en-US" sz="1800" dirty="0" err="1">
                <a:solidFill>
                  <a:srgbClr val="DE2223"/>
                </a:solidFill>
                <a:latin typeface="Aileron Bold"/>
              </a:rPr>
              <a:t>kapanış</a:t>
            </a:r>
            <a:r>
              <a:rPr lang="en-US" sz="1800" dirty="0">
                <a:solidFill>
                  <a:srgbClr val="DE2223"/>
                </a:solidFill>
                <a:latin typeface="Aileron Bold"/>
              </a:rPr>
              <a:t> </a:t>
            </a:r>
            <a:r>
              <a:rPr lang="en-US" sz="1800" dirty="0" err="1">
                <a:solidFill>
                  <a:srgbClr val="DE2223"/>
                </a:solidFill>
                <a:latin typeface="Aileron Bold"/>
              </a:rPr>
              <a:t>yapılmalıdır</a:t>
            </a:r>
            <a:r>
              <a:rPr lang="en-US" sz="1800" dirty="0">
                <a:solidFill>
                  <a:srgbClr val="DE2223"/>
                </a:solidFill>
                <a:latin typeface="Aileron Bold"/>
              </a:rPr>
              <a:t>.</a:t>
            </a:r>
          </a:p>
          <a:p>
            <a:pPr marL="388620" lvl="1" indent="-194310" algn="l">
              <a:lnSpc>
                <a:spcPts val="2520"/>
              </a:lnSpc>
              <a:buFont typeface="Arial"/>
              <a:buChar char="•"/>
            </a:pPr>
            <a:r>
              <a:rPr lang="en-US" sz="1800" dirty="0" err="1">
                <a:solidFill>
                  <a:srgbClr val="DE2223"/>
                </a:solidFill>
                <a:latin typeface="Aileron Bold"/>
              </a:rPr>
              <a:t>Sayfa</a:t>
            </a:r>
            <a:r>
              <a:rPr lang="en-US" sz="1800" dirty="0">
                <a:solidFill>
                  <a:srgbClr val="DE2223"/>
                </a:solidFill>
                <a:latin typeface="Aileron Bold"/>
              </a:rPr>
              <a:t> </a:t>
            </a:r>
            <a:r>
              <a:rPr lang="en-US" sz="1800" dirty="0" err="1">
                <a:solidFill>
                  <a:srgbClr val="DE2223"/>
                </a:solidFill>
                <a:latin typeface="Aileron Bold"/>
              </a:rPr>
              <a:t>aynen</a:t>
            </a:r>
            <a:r>
              <a:rPr lang="en-US" sz="1800" dirty="0">
                <a:solidFill>
                  <a:srgbClr val="DE2223"/>
                </a:solidFill>
                <a:latin typeface="Aileron Bold"/>
              </a:rPr>
              <a:t> </a:t>
            </a:r>
            <a:r>
              <a:rPr lang="en-US" sz="1800" dirty="0" err="1">
                <a:solidFill>
                  <a:srgbClr val="DE2223"/>
                </a:solidFill>
                <a:latin typeface="Aileron Bold"/>
              </a:rPr>
              <a:t>kullanılmalı</a:t>
            </a:r>
            <a:r>
              <a:rPr lang="en-US" sz="1800" dirty="0">
                <a:solidFill>
                  <a:srgbClr val="DE2223"/>
                </a:solidFill>
                <a:latin typeface="Aileron Bold"/>
              </a:rPr>
              <a:t> </a:t>
            </a:r>
            <a:r>
              <a:rPr lang="en-US" sz="1800" dirty="0" err="1">
                <a:solidFill>
                  <a:srgbClr val="DE2223"/>
                </a:solidFill>
                <a:latin typeface="Aileron Bold"/>
              </a:rPr>
              <a:t>sadece</a:t>
            </a:r>
            <a:r>
              <a:rPr lang="en-US" sz="1800" dirty="0">
                <a:solidFill>
                  <a:srgbClr val="DE2223"/>
                </a:solidFill>
                <a:latin typeface="Aileron Bold"/>
              </a:rPr>
              <a:t> slogan </a:t>
            </a:r>
            <a:r>
              <a:rPr lang="en-US" sz="1800" dirty="0" err="1">
                <a:solidFill>
                  <a:srgbClr val="DE2223"/>
                </a:solidFill>
                <a:latin typeface="Aileron Bold"/>
              </a:rPr>
              <a:t>eklenmelidir</a:t>
            </a:r>
            <a:r>
              <a:rPr lang="en-US" sz="1800" dirty="0">
                <a:solidFill>
                  <a:srgbClr val="DE2223"/>
                </a:solidFill>
                <a:latin typeface="Aileron Bold"/>
              </a:rPr>
              <a:t>. </a:t>
            </a:r>
          </a:p>
        </p:txBody>
      </p:sp>
      <p:pic>
        <p:nvPicPr>
          <p:cNvPr id="24" name="Resim 23" descr="siyah, karanlık içeren bir resim&#10;&#10;Yapay zeka tarafından oluşturulan içerik yanlış olabilir.">
            <a:extLst>
              <a:ext uri="{FF2B5EF4-FFF2-40B4-BE49-F238E27FC236}">
                <a16:creationId xmlns:a16="http://schemas.microsoft.com/office/drawing/2014/main" id="{7101F50E-72F3-88E8-A07F-D853D5A9237E}"/>
              </a:ext>
            </a:extLst>
          </p:cNvPr>
          <p:cNvPicPr>
            <a:picLocks noChangeAspect="1"/>
          </p:cNvPicPr>
          <p:nvPr/>
        </p:nvPicPr>
        <p:blipFill>
          <a:blip r:embed="rId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882672" y="9516832"/>
            <a:ext cx="226336" cy="231335"/>
          </a:xfrm>
          <a:prstGeom prst="rect">
            <a:avLst/>
          </a:prstGeom>
        </p:spPr>
      </p:pic>
      <p:sp>
        <p:nvSpPr>
          <p:cNvPr id="25" name="Freeform 10">
            <a:extLst>
              <a:ext uri="{FF2B5EF4-FFF2-40B4-BE49-F238E27FC236}">
                <a16:creationId xmlns:a16="http://schemas.microsoft.com/office/drawing/2014/main" id="{268512C5-9B7D-88FA-A3C0-AA9BEB855D82}"/>
              </a:ext>
            </a:extLst>
          </p:cNvPr>
          <p:cNvSpPr/>
          <p:nvPr/>
        </p:nvSpPr>
        <p:spPr>
          <a:xfrm>
            <a:off x="789149" y="9420025"/>
            <a:ext cx="419224" cy="419224"/>
          </a:xfrm>
          <a:custGeom>
            <a:avLst/>
            <a:gdLst/>
            <a:ahLst/>
            <a:cxnLst/>
            <a:rect l="l" t="t" r="r" b="b"/>
            <a:pathLst>
              <a:path w="419224" h="419224">
                <a:moveTo>
                  <a:pt x="0" y="0"/>
                </a:moveTo>
                <a:lnTo>
                  <a:pt x="419224" y="0"/>
                </a:lnTo>
                <a:lnTo>
                  <a:pt x="419224" y="419224"/>
                </a:lnTo>
                <a:lnTo>
                  <a:pt x="0" y="41922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tr-TR"/>
          </a:p>
        </p:txBody>
      </p:sp>
      <p:sp>
        <p:nvSpPr>
          <p:cNvPr id="26" name="AutoShape 11">
            <a:extLst>
              <a:ext uri="{FF2B5EF4-FFF2-40B4-BE49-F238E27FC236}">
                <a16:creationId xmlns:a16="http://schemas.microsoft.com/office/drawing/2014/main" id="{06F7182A-2F75-CC35-0CCE-F6CCD2ED2006}"/>
              </a:ext>
            </a:extLst>
          </p:cNvPr>
          <p:cNvSpPr>
            <a:spLocks noGrp="1" noRot="1" noMove="1" noResize="1" noEditPoints="1" noAdjustHandles="1" noChangeArrowheads="1" noChangeShapeType="1"/>
          </p:cNvSpPr>
          <p:nvPr/>
        </p:nvSpPr>
        <p:spPr>
          <a:xfrm flipV="1">
            <a:off x="11134676" y="9248790"/>
            <a:ext cx="17829" cy="1038209"/>
          </a:xfrm>
          <a:prstGeom prst="line">
            <a:avLst/>
          </a:prstGeom>
          <a:ln w="38100" cap="flat">
            <a:solidFill>
              <a:srgbClr val="344C54"/>
            </a:solidFill>
            <a:prstDash val="solid"/>
            <a:headEnd type="none" w="sm" len="sm"/>
            <a:tailEnd type="none" w="sm" len="sm"/>
          </a:ln>
        </p:spPr>
        <p:txBody>
          <a:bodyPr/>
          <a:lstStyle/>
          <a:p>
            <a:endParaRPr lang="tr-TR"/>
          </a:p>
        </p:txBody>
      </p:sp>
      <p:sp>
        <p:nvSpPr>
          <p:cNvPr id="27" name="AutoShape 6">
            <a:extLst>
              <a:ext uri="{FF2B5EF4-FFF2-40B4-BE49-F238E27FC236}">
                <a16:creationId xmlns:a16="http://schemas.microsoft.com/office/drawing/2014/main" id="{077CA28C-2F25-0355-4EB2-E981A9BE69EE}"/>
              </a:ext>
            </a:extLst>
          </p:cNvPr>
          <p:cNvSpPr>
            <a:spLocks noGrp="1" noRot="1" noMove="1" noResize="1" noEditPoints="1" noAdjustHandles="1" noChangeArrowheads="1" noChangeShapeType="1"/>
          </p:cNvSpPr>
          <p:nvPr/>
        </p:nvSpPr>
        <p:spPr>
          <a:xfrm>
            <a:off x="753578" y="9220201"/>
            <a:ext cx="16846820" cy="38099"/>
          </a:xfrm>
          <a:prstGeom prst="line">
            <a:avLst/>
          </a:prstGeom>
          <a:ln w="38100" cap="flat">
            <a:solidFill>
              <a:srgbClr val="344C54"/>
            </a:solidFill>
            <a:prstDash val="solid"/>
            <a:headEnd type="none" w="sm" len="sm"/>
            <a:tailEnd type="none" w="sm" len="sm"/>
          </a:ln>
        </p:spPr>
        <p:txBody>
          <a:bodyPr/>
          <a:lstStyle/>
          <a:p>
            <a:endParaRPr lang="tr-TR"/>
          </a:p>
        </p:txBody>
      </p:sp>
      <p:pic>
        <p:nvPicPr>
          <p:cNvPr id="1026" name="Picture 2" descr="https://cdn.teknofest.org/media/uploads/2026/02/20/maden-teknolojileri-yarsmas.jp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85800" y="2865153"/>
            <a:ext cx="6088347" cy="6088347"/>
          </a:xfrm>
          <a:prstGeom prst="rect">
            <a:avLst/>
          </a:prstGeom>
          <a:noFill/>
          <a:extLst>
            <a:ext uri="{909E8E84-426E-40DD-AFC4-6F175D3DCCD1}">
              <a14:hiddenFill xmlns:a14="http://schemas.microsoft.com/office/drawing/2010/main">
                <a:solidFill>
                  <a:srgbClr val="FFFFFF"/>
                </a:solidFill>
              </a14:hiddenFill>
            </a:ext>
          </a:extLst>
        </p:spPr>
      </p:pic>
      <p:sp>
        <p:nvSpPr>
          <p:cNvPr id="19" name="Freeform 19"/>
          <p:cNvSpPr>
            <a:spLocks/>
          </p:cNvSpPr>
          <p:nvPr/>
        </p:nvSpPr>
        <p:spPr>
          <a:xfrm>
            <a:off x="6553200" y="1737434"/>
            <a:ext cx="10885957" cy="4564842"/>
          </a:xfrm>
          <a:custGeom>
            <a:avLst/>
            <a:gdLst/>
            <a:ahLst/>
            <a:cxnLst/>
            <a:rect l="l" t="t" r="r" b="b"/>
            <a:pathLst>
              <a:path w="9516598" h="6399912">
                <a:moveTo>
                  <a:pt x="0" y="0"/>
                </a:moveTo>
                <a:lnTo>
                  <a:pt x="9516597" y="0"/>
                </a:lnTo>
                <a:lnTo>
                  <a:pt x="9516597" y="6399912"/>
                </a:lnTo>
                <a:lnTo>
                  <a:pt x="0" y="6399912"/>
                </a:lnTo>
                <a:lnTo>
                  <a:pt x="0" y="0"/>
                </a:lnTo>
                <a:close/>
              </a:path>
            </a:pathLst>
          </a:custGeom>
          <a:blipFill>
            <a:blip>
              <a:extLst>
                <a:ext uri="{96DAC541-7B7A-43D3-8B79-37D633B846F1}">
                  <asvg:svgBlip xmlns:asvg="http://schemas.microsoft.com/office/drawing/2016/SVG/main" r:embed="rId11"/>
                </a:ext>
              </a:extLst>
            </a:blip>
            <a:stretch>
              <a:fillRect/>
            </a:stretch>
          </a:blipFill>
        </p:spPr>
        <p:txBody>
          <a:bodyPr/>
          <a:lstStyle/>
          <a:p>
            <a:endParaRPr lang="tr-TR"/>
          </a:p>
        </p:txBody>
      </p:sp>
      <p:sp>
        <p:nvSpPr>
          <p:cNvPr id="6" name="TextBox 114">
            <a:extLst>
              <a:ext uri="{FF2B5EF4-FFF2-40B4-BE49-F238E27FC236}">
                <a16:creationId xmlns:a16="http://schemas.microsoft.com/office/drawing/2014/main" id="{7A1C1C55-7995-52BF-4D5E-FF248482DE9D}"/>
              </a:ext>
            </a:extLst>
          </p:cNvPr>
          <p:cNvSpPr txBox="1">
            <a:spLocks/>
          </p:cNvSpPr>
          <p:nvPr/>
        </p:nvSpPr>
        <p:spPr>
          <a:xfrm>
            <a:off x="2590800" y="9563100"/>
            <a:ext cx="7994957" cy="256480"/>
          </a:xfrm>
          <a:prstGeom prst="rect">
            <a:avLst/>
          </a:prstGeom>
        </p:spPr>
        <p:txBody>
          <a:bodyPr wrap="square" lIns="0" tIns="0" rIns="0" bIns="0" rtlCol="0" anchor="t">
            <a:spAutoFit/>
          </a:bodyPr>
          <a:lstStyle/>
          <a:p>
            <a:pPr algn="ctr">
              <a:lnSpc>
                <a:spcPts val="2000"/>
              </a:lnSpc>
              <a:spcBef>
                <a:spcPct val="0"/>
              </a:spcBef>
            </a:pPr>
            <a:r>
              <a:rPr lang="en-US" dirty="0">
                <a:solidFill>
                  <a:srgbClr val="1A426A"/>
                </a:solidFill>
                <a:latin typeface="Active Heart"/>
              </a:rPr>
              <a:t>202</a:t>
            </a:r>
            <a:r>
              <a:rPr lang="tr-TR" dirty="0">
                <a:solidFill>
                  <a:srgbClr val="1A426A"/>
                </a:solidFill>
                <a:latin typeface="Active Heart"/>
              </a:rPr>
              <a:t>6</a:t>
            </a:r>
            <a:r>
              <a:rPr lang="en-US" dirty="0">
                <a:solidFill>
                  <a:srgbClr val="1A426A"/>
                </a:solidFill>
                <a:latin typeface="Active Heart"/>
              </a:rPr>
              <a:t> TEKNOFEST </a:t>
            </a:r>
            <a:r>
              <a:rPr lang="tr-TR" dirty="0">
                <a:solidFill>
                  <a:srgbClr val="1A426A"/>
                </a:solidFill>
                <a:latin typeface="Active Heart"/>
              </a:rPr>
              <a:t>MADEN TEKNOLOJİLERİ YARIŞMASI</a:t>
            </a:r>
            <a:r>
              <a:rPr lang="en-US" dirty="0">
                <a:solidFill>
                  <a:srgbClr val="1A426A"/>
                </a:solidFill>
                <a:latin typeface="Active Heart"/>
              </a:rPr>
              <a:t> PROJE SUNUMU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38196" y="1028700"/>
            <a:ext cx="17041027" cy="8771632"/>
          </a:xfrm>
          <a:prstGeom prst="rect">
            <a:avLst/>
          </a:prstGeom>
        </p:spPr>
        <p:txBody>
          <a:bodyPr wrap="square" lIns="0" tIns="0" rIns="0" bIns="0" rtlCol="0" anchor="t">
            <a:spAutoFit/>
          </a:bodyPr>
          <a:lstStyle/>
          <a:p>
            <a:r>
              <a:rPr lang="tr-TR" sz="1900" dirty="0"/>
              <a:t>Aşağıda belirtilen kurallar, proje sunum dosyalarının hazırlanması, yüklenmesi ve sunum aşamasıyla ilgili gereklilikleri içermektedir. Takımların, belirlenen kurallara tam uyum sağlaması beklenmektedir.</a:t>
            </a:r>
          </a:p>
          <a:p>
            <a:endParaRPr lang="tr-TR" sz="1900" dirty="0"/>
          </a:p>
          <a:p>
            <a:r>
              <a:rPr lang="tr-TR" sz="1900" b="1" u="sng" dirty="0"/>
              <a:t>1. Genel Şablon Kullanımı</a:t>
            </a:r>
          </a:p>
          <a:p>
            <a:pPr>
              <a:buFont typeface="Arial" panose="020B0604020202020204" pitchFamily="34" charset="0"/>
              <a:buChar char="•"/>
            </a:pPr>
            <a:r>
              <a:rPr lang="tr-TR" sz="1900" dirty="0"/>
              <a:t> Sunum için sağlanan </a:t>
            </a:r>
            <a:r>
              <a:rPr lang="tr-TR" sz="1900" b="1" dirty="0"/>
              <a:t>şablon aynen kullanılmalı</a:t>
            </a:r>
            <a:r>
              <a:rPr lang="tr-TR" sz="1900" dirty="0"/>
              <a:t>, herhangi bir format veya sayfa düzeni değişikliği yapılmamalıdır.</a:t>
            </a:r>
          </a:p>
          <a:p>
            <a:pPr>
              <a:buFont typeface="Arial" panose="020B0604020202020204" pitchFamily="34" charset="0"/>
              <a:buChar char="•"/>
            </a:pPr>
            <a:r>
              <a:rPr lang="tr-TR" sz="1900" b="1" dirty="0"/>
              <a:t> Konu başlıkları altındaki kırmızı açıklamalar kaldırılmalı</a:t>
            </a:r>
            <a:r>
              <a:rPr lang="tr-TR" sz="1900" dirty="0"/>
              <a:t> ve yerine takımlar kendi açıklamalarını, görsellerini veya içeriklerini eklemelidir.</a:t>
            </a:r>
          </a:p>
          <a:p>
            <a:pPr>
              <a:buFont typeface="Arial" panose="020B0604020202020204" pitchFamily="34" charset="0"/>
              <a:buChar char="•"/>
            </a:pPr>
            <a:r>
              <a:rPr lang="tr-TR" sz="1900" dirty="0"/>
              <a:t> Font tipi ve boyutu </a:t>
            </a:r>
            <a:r>
              <a:rPr lang="tr-TR" sz="1900" b="1" dirty="0"/>
              <a:t>serbesttir</a:t>
            </a:r>
            <a:r>
              <a:rPr lang="tr-TR" sz="1900" dirty="0"/>
              <a:t>, ancak toplam sayfa sayısı sınırları aşılmamalıdır.</a:t>
            </a:r>
          </a:p>
          <a:p>
            <a:endParaRPr lang="tr-TR" sz="1900" dirty="0"/>
          </a:p>
          <a:p>
            <a:r>
              <a:rPr lang="tr-TR" sz="1900" b="1" u="sng" dirty="0"/>
              <a:t>2. Sayfa Düzeni ve İçerik Kuralları</a:t>
            </a:r>
          </a:p>
          <a:p>
            <a:pPr>
              <a:buFont typeface="Arial" panose="020B0604020202020204" pitchFamily="34" charset="0"/>
              <a:buChar char="•"/>
            </a:pPr>
            <a:r>
              <a:rPr lang="tr-TR" sz="1900" b="1" dirty="0"/>
              <a:t> Sayfa alt kısmında</a:t>
            </a:r>
            <a:r>
              <a:rPr lang="tr-TR" sz="1900" dirty="0"/>
              <a:t> yer alan </a:t>
            </a:r>
            <a:r>
              <a:rPr lang="tr-TR" sz="1900" b="1" dirty="0"/>
              <a:t>TAKIM ADI – TAKIM ID – BAŞVURU ID </a:t>
            </a:r>
            <a:r>
              <a:rPr lang="tr-TR" sz="1900" dirty="0"/>
              <a:t>bilgileri </a:t>
            </a:r>
            <a:r>
              <a:rPr lang="tr-TR" sz="1900" b="1" dirty="0"/>
              <a:t>tüm sayfalarda aynı pozisyonda ve formatta</a:t>
            </a:r>
            <a:r>
              <a:rPr lang="tr-TR" sz="1900" dirty="0"/>
              <a:t> olmalıdır.</a:t>
            </a:r>
          </a:p>
          <a:p>
            <a:pPr>
              <a:buFont typeface="Arial" panose="020B0604020202020204" pitchFamily="34" charset="0"/>
              <a:buChar char="•"/>
            </a:pPr>
            <a:r>
              <a:rPr lang="tr-TR" sz="1900" dirty="0"/>
              <a:t> Her başlık altında </a:t>
            </a:r>
            <a:r>
              <a:rPr lang="tr-TR" sz="1900" b="1" dirty="0"/>
              <a:t>yalnızca ilgili konu anlatılmalıdır</a:t>
            </a:r>
            <a:r>
              <a:rPr lang="tr-TR" sz="1900" dirty="0"/>
              <a:t>; farklı bir başlığa yönelik içerik eklenmemelidir.</a:t>
            </a:r>
          </a:p>
          <a:p>
            <a:pPr>
              <a:buFont typeface="Arial" panose="020B0604020202020204" pitchFamily="34" charset="0"/>
              <a:buChar char="•"/>
            </a:pPr>
            <a:r>
              <a:rPr lang="tr-TR" sz="1900" dirty="0"/>
              <a:t> Sunum içeriğinde </a:t>
            </a:r>
            <a:r>
              <a:rPr lang="tr-TR" sz="1900" b="1" dirty="0"/>
              <a:t>tekrarlayan veya birbirinin aynısı olan ifadeler </a:t>
            </a:r>
            <a:r>
              <a:rPr lang="tr-TR" sz="1900" b="1" u="sng" dirty="0"/>
              <a:t>bulunmamalıdır</a:t>
            </a:r>
            <a:r>
              <a:rPr lang="tr-TR" sz="1900" dirty="0"/>
              <a:t>. Metinler, açık ve anlaşılır bir dille yazılmalıdır.</a:t>
            </a:r>
          </a:p>
          <a:p>
            <a:pPr>
              <a:buFont typeface="Arial" panose="020B0604020202020204" pitchFamily="34" charset="0"/>
              <a:buChar char="•"/>
            </a:pPr>
            <a:r>
              <a:rPr lang="tr-TR" sz="1900" b="1" dirty="0"/>
              <a:t> Takım tanıtım sayfasında</a:t>
            </a:r>
            <a:r>
              <a:rPr lang="tr-TR" sz="1900" dirty="0"/>
              <a:t>, takım üyelerinin fotoğrafları isteğe bağlı olarak eklenebilir.</a:t>
            </a:r>
          </a:p>
          <a:p>
            <a:pPr>
              <a:buFont typeface="Arial" panose="020B0604020202020204" pitchFamily="34" charset="0"/>
              <a:buChar char="•"/>
            </a:pPr>
            <a:r>
              <a:rPr lang="tr-TR" sz="1900" dirty="0"/>
              <a:t> Metin ve görsel tasarımı, </a:t>
            </a:r>
            <a:r>
              <a:rPr lang="tr-TR" sz="1900" b="1" dirty="0"/>
              <a:t>kapak sayfası, takım tanıtım sayfası, SWOT analizi ve teşekkür sayfası hariç</a:t>
            </a:r>
            <a:r>
              <a:rPr lang="tr-TR" sz="1900" dirty="0"/>
              <a:t> takımların inisiyatifindedir.</a:t>
            </a:r>
          </a:p>
          <a:p>
            <a:pPr>
              <a:buFont typeface="Arial" panose="020B0604020202020204" pitchFamily="34" charset="0"/>
              <a:buChar char="•"/>
            </a:pPr>
            <a:r>
              <a:rPr lang="tr-TR" sz="1900" b="1" dirty="0"/>
              <a:t> Ek görseller</a:t>
            </a:r>
            <a:r>
              <a:rPr lang="tr-TR" sz="1900" dirty="0"/>
              <a:t> eklenecekse, şablonun düzeni bozulmadan ve sayfa sınırı kurallarına uygun şekilde yerleştirilmelidir.</a:t>
            </a:r>
          </a:p>
          <a:p>
            <a:endParaRPr lang="tr-TR" sz="1900" dirty="0"/>
          </a:p>
          <a:p>
            <a:r>
              <a:rPr lang="tr-TR" sz="1900" b="1" u="sng" dirty="0"/>
              <a:t>3. Sayfa ve Dosya Sınırlandırmaları</a:t>
            </a:r>
          </a:p>
          <a:p>
            <a:pPr>
              <a:buFont typeface="Arial" panose="020B0604020202020204" pitchFamily="34" charset="0"/>
              <a:buChar char="•"/>
            </a:pPr>
            <a:r>
              <a:rPr lang="tr-TR" sz="1900" dirty="0"/>
              <a:t> Sunum dosyası, Kapak sayfası dahil </a:t>
            </a:r>
            <a:r>
              <a:rPr lang="tr-TR" sz="1900" b="1" dirty="0"/>
              <a:t>toplamda 19 sayfayı geçmemelidir</a:t>
            </a:r>
            <a:r>
              <a:rPr lang="tr-TR" sz="1900" dirty="0"/>
              <a:t>.</a:t>
            </a:r>
          </a:p>
          <a:p>
            <a:pPr>
              <a:buFont typeface="Arial" panose="020B0604020202020204" pitchFamily="34" charset="0"/>
              <a:buChar char="•"/>
            </a:pPr>
            <a:r>
              <a:rPr lang="tr-TR" sz="1900" b="1" dirty="0"/>
              <a:t> Her sayfada belirtilen sayfa sınırı </a:t>
            </a:r>
            <a:r>
              <a:rPr lang="tr-TR" sz="1900" b="1" u="sng" dirty="0"/>
              <a:t>aşılmamalıdır</a:t>
            </a:r>
            <a:r>
              <a:rPr lang="tr-TR" sz="1900" b="1" dirty="0"/>
              <a:t>.</a:t>
            </a:r>
            <a:r>
              <a:rPr lang="tr-TR" sz="1900" dirty="0"/>
              <a:t> Sayfa sınırının aşılması halinde </a:t>
            </a:r>
            <a:r>
              <a:rPr lang="tr-TR" sz="1900" b="1" dirty="0"/>
              <a:t>her fazla sayfa için 3 ceza puanı uygulanacaktır</a:t>
            </a:r>
            <a:r>
              <a:rPr lang="tr-TR" sz="1900" dirty="0"/>
              <a:t>.</a:t>
            </a:r>
          </a:p>
          <a:p>
            <a:pPr>
              <a:buFont typeface="Arial" panose="020B0604020202020204" pitchFamily="34" charset="0"/>
              <a:buChar char="•"/>
            </a:pPr>
            <a:r>
              <a:rPr lang="tr-TR" sz="1900" dirty="0"/>
              <a:t> Toplam sayfa sınırı aşıldığında, </a:t>
            </a:r>
            <a:r>
              <a:rPr lang="tr-TR" sz="1900" b="1" dirty="0"/>
              <a:t>sistem dosya yüklemesini kabul etmeyecektir.</a:t>
            </a:r>
          </a:p>
          <a:p>
            <a:pPr>
              <a:buFont typeface="Arial" panose="020B0604020202020204" pitchFamily="34" charset="0"/>
              <a:buChar char="•"/>
            </a:pPr>
            <a:r>
              <a:rPr lang="tr-TR" sz="1900" dirty="0"/>
              <a:t> Sunum dosyası, </a:t>
            </a:r>
            <a:r>
              <a:rPr lang="tr-TR" sz="1900" b="1" dirty="0"/>
              <a:t>PDF formatında ve maksimum 75 MB boyutunda</a:t>
            </a:r>
            <a:r>
              <a:rPr lang="tr-TR" sz="1900" dirty="0"/>
              <a:t> olmalıdır. Aksi takdirde sistem yükleme işlemini gerçekleştirmeyecektir.</a:t>
            </a:r>
          </a:p>
          <a:p>
            <a:endParaRPr lang="tr-TR" sz="1900" dirty="0"/>
          </a:p>
          <a:p>
            <a:r>
              <a:rPr lang="tr-TR" sz="1900" b="1" u="sng" dirty="0"/>
              <a:t>4. Sunum Süreci ve Yükleme Kuralları</a:t>
            </a:r>
          </a:p>
          <a:p>
            <a:pPr>
              <a:buFont typeface="Arial" panose="020B0604020202020204" pitchFamily="34" charset="0"/>
              <a:buChar char="•"/>
            </a:pPr>
            <a:r>
              <a:rPr lang="tr-TR" sz="1900" b="1" dirty="0"/>
              <a:t> Sisteme yüklenen sunum üzerinden çevrim içi sunum aşaması gerçekleştirilecektir.</a:t>
            </a:r>
            <a:endParaRPr lang="tr-TR" sz="1900" dirty="0"/>
          </a:p>
          <a:p>
            <a:pPr>
              <a:buFont typeface="Arial" panose="020B0604020202020204" pitchFamily="34" charset="0"/>
              <a:buChar char="•"/>
            </a:pPr>
            <a:r>
              <a:rPr lang="tr-TR" sz="1900" dirty="0"/>
              <a:t> Belirtilen son yükleme tarihinden sonra sunumda herhangi bir </a:t>
            </a:r>
            <a:r>
              <a:rPr lang="tr-TR" sz="1900" b="1" dirty="0"/>
              <a:t>güncelleme yapılamayacaktır</a:t>
            </a:r>
            <a:r>
              <a:rPr lang="tr-TR" sz="1900" dirty="0"/>
              <a:t>.</a:t>
            </a:r>
          </a:p>
          <a:p>
            <a:pPr>
              <a:buFont typeface="Arial" panose="020B0604020202020204" pitchFamily="34" charset="0"/>
              <a:buChar char="•"/>
            </a:pPr>
            <a:r>
              <a:rPr lang="tr-TR" sz="1900" b="1" dirty="0"/>
              <a:t> Sunum dosyasında kaynak gösterimi için video veya </a:t>
            </a:r>
            <a:r>
              <a:rPr lang="tr-TR" sz="1900" b="1" dirty="0" err="1"/>
              <a:t>drive</a:t>
            </a:r>
            <a:r>
              <a:rPr lang="tr-TR" sz="1900" b="1" dirty="0"/>
              <a:t> linki </a:t>
            </a:r>
            <a:r>
              <a:rPr lang="tr-TR" sz="1900" b="1" u="sng" dirty="0"/>
              <a:t>eklenmemelidir</a:t>
            </a:r>
            <a:r>
              <a:rPr lang="tr-TR" sz="1900" dirty="0"/>
              <a:t>. Bu tür içerikler incelemeye alınmayacaktır.</a:t>
            </a:r>
          </a:p>
          <a:p>
            <a:pPr>
              <a:buFont typeface="Arial" panose="020B0604020202020204" pitchFamily="34" charset="0"/>
              <a:buChar char="•"/>
            </a:pPr>
            <a:r>
              <a:rPr lang="tr-TR" sz="1900" b="1" dirty="0"/>
              <a:t> Proje sunumu yalnızca takım üyeleri tarafından gerçekleştirilecektir</a:t>
            </a:r>
            <a:r>
              <a:rPr lang="tr-TR" sz="1900" dirty="0"/>
              <a:t>. </a:t>
            </a:r>
          </a:p>
          <a:p>
            <a:pPr>
              <a:buFont typeface="Arial" panose="020B0604020202020204" pitchFamily="34" charset="0"/>
              <a:buChar char="•"/>
            </a:pPr>
            <a:r>
              <a:rPr lang="tr-TR" sz="1900" dirty="0"/>
              <a:t> Sunuma </a:t>
            </a:r>
            <a:r>
              <a:rPr lang="tr-TR" sz="1900" b="1" dirty="0"/>
              <a:t>en az bir takım üyesinin katılımı zorunludur</a:t>
            </a:r>
            <a:r>
              <a:rPr lang="tr-TR" sz="1900" dirty="0"/>
              <a:t>. </a:t>
            </a:r>
          </a:p>
          <a:p>
            <a:pPr>
              <a:buFont typeface="Arial" panose="020B0604020202020204" pitchFamily="34" charset="0"/>
              <a:buChar char="•"/>
            </a:pPr>
            <a:r>
              <a:rPr lang="tr-TR" sz="1900" b="1" dirty="0"/>
              <a:t> Sunumlarını KYS sistemi üzerinden belirtilen süre içinde yüklemeyen takımlara randevu planlaması yapılmayacak ve sunum hakkı kaybedilecektir.</a:t>
            </a:r>
            <a:endParaRPr lang="tr-TR" sz="1900" dirty="0"/>
          </a:p>
        </p:txBody>
      </p:sp>
      <p:sp>
        <p:nvSpPr>
          <p:cNvPr id="3" name="TextBox 3"/>
          <p:cNvSpPr txBox="1"/>
          <p:nvPr/>
        </p:nvSpPr>
        <p:spPr>
          <a:xfrm>
            <a:off x="3149968" y="-94862"/>
            <a:ext cx="11988064" cy="590162"/>
          </a:xfrm>
          <a:prstGeom prst="rect">
            <a:avLst/>
          </a:prstGeom>
        </p:spPr>
        <p:txBody>
          <a:bodyPr lIns="0" tIns="0" rIns="0" bIns="0" rtlCol="0" anchor="t">
            <a:spAutoFit/>
          </a:bodyPr>
          <a:lstStyle/>
          <a:p>
            <a:pPr marL="0" lvl="0" indent="0" algn="ctr">
              <a:lnSpc>
                <a:spcPts val="5370"/>
              </a:lnSpc>
              <a:spcBef>
                <a:spcPct val="0"/>
              </a:spcBef>
            </a:pPr>
            <a:r>
              <a:rPr lang="en-US" sz="2400" u="sng" spc="122" dirty="0">
                <a:solidFill>
                  <a:srgbClr val="1C4C61"/>
                </a:solidFill>
                <a:latin typeface="Aileron Bold"/>
              </a:rPr>
              <a:t>SUNUM HAZIRLAMA KURALLARI</a:t>
            </a:r>
          </a:p>
        </p:txBody>
      </p:sp>
      <p:sp>
        <p:nvSpPr>
          <p:cNvPr id="4" name="TextBox 4"/>
          <p:cNvSpPr txBox="1"/>
          <p:nvPr/>
        </p:nvSpPr>
        <p:spPr>
          <a:xfrm>
            <a:off x="100409" y="405356"/>
            <a:ext cx="18516599" cy="532453"/>
          </a:xfrm>
          <a:prstGeom prst="rect">
            <a:avLst/>
          </a:prstGeom>
        </p:spPr>
        <p:txBody>
          <a:bodyPr wrap="square" lIns="0" tIns="0" rIns="0" bIns="0" rtlCol="0" anchor="t">
            <a:spAutoFit/>
          </a:bodyPr>
          <a:lstStyle/>
          <a:p>
            <a:pPr algn="ctr">
              <a:lnSpc>
                <a:spcPts val="4759"/>
              </a:lnSpc>
            </a:pPr>
            <a:r>
              <a:rPr lang="en-US" sz="2400" b="1" u="sng" dirty="0">
                <a:solidFill>
                  <a:srgbClr val="DE2223"/>
                </a:solidFill>
                <a:latin typeface="Aileron Bold"/>
              </a:rPr>
              <a:t>SUNUMDA BU SAYFAYA YER VERİLMEYECEKTİR!!!</a:t>
            </a:r>
            <a:r>
              <a:rPr lang="tr-TR" sz="2400" b="1" u="sng" dirty="0">
                <a:solidFill>
                  <a:srgbClr val="DE2223"/>
                </a:solidFill>
                <a:latin typeface="Aileron Bold"/>
              </a:rPr>
              <a:t> </a:t>
            </a:r>
            <a:r>
              <a:rPr lang="en-US" sz="2400" b="1" u="sng" dirty="0">
                <a:solidFill>
                  <a:srgbClr val="DE2223"/>
                </a:solidFill>
                <a:latin typeface="Aileron Bold"/>
              </a:rPr>
              <a:t>(KURALLARA GÖRE HAZIRLANDIKTAN SONRA SİLİNMELİDİR.)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1137</TotalTime>
  <Words>2077</Words>
  <Application>Microsoft Macintosh PowerPoint</Application>
  <PresentationFormat>Özel</PresentationFormat>
  <Paragraphs>312</Paragraphs>
  <Slides>14</Slides>
  <Notes>1</Notes>
  <HiddenSlides>0</HiddenSlides>
  <MMClips>0</MMClips>
  <ScaleCrop>false</ScaleCrop>
  <HeadingPairs>
    <vt:vector size="6" baseType="variant">
      <vt:variant>
        <vt:lpstr>Kullanılan Yazı Tipleri</vt:lpstr>
      </vt:variant>
      <vt:variant>
        <vt:i4>10</vt:i4>
      </vt:variant>
      <vt:variant>
        <vt:lpstr>Tema</vt:lpstr>
      </vt:variant>
      <vt:variant>
        <vt:i4>1</vt:i4>
      </vt:variant>
      <vt:variant>
        <vt:lpstr>Slayt Başlıkları</vt:lpstr>
      </vt:variant>
      <vt:variant>
        <vt:i4>14</vt:i4>
      </vt:variant>
    </vt:vector>
  </HeadingPairs>
  <TitlesOfParts>
    <vt:vector size="25" baseType="lpstr">
      <vt:lpstr>Aileron Ultra-Bold</vt:lpstr>
      <vt:lpstr>Calibri</vt:lpstr>
      <vt:lpstr>Active Heart</vt:lpstr>
      <vt:lpstr>Aileron</vt:lpstr>
      <vt:lpstr>Symbol</vt:lpstr>
      <vt:lpstr>Aileron Bold</vt:lpstr>
      <vt:lpstr>Aptos</vt:lpstr>
      <vt:lpstr>Aileron Bold Italics</vt:lpstr>
      <vt:lpstr>Arial</vt:lpstr>
      <vt:lpstr>Arial Black</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SUNUM ŞABLONU</dc:title>
  <dc:creator>TEKNOFEST</dc:creator>
  <cp:lastModifiedBy>Muhammet Fatih Şahin</cp:lastModifiedBy>
  <cp:revision>53</cp:revision>
  <dcterms:created xsi:type="dcterms:W3CDTF">2006-08-16T00:00:00Z</dcterms:created>
  <dcterms:modified xsi:type="dcterms:W3CDTF">2026-05-21T14:51:50Z</dcterms:modified>
  <dc:identifier>DAGDnxWSptA</dc:identifier>
</cp:coreProperties>
</file>