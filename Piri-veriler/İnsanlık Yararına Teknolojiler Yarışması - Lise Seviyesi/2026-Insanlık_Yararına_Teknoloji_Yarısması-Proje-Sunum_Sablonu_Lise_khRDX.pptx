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70" r:id="rId2"/>
    <p:sldId id="273" r:id="rId3"/>
    <p:sldId id="276" r:id="rId4"/>
    <p:sldId id="277" r:id="rId5"/>
    <p:sldId id="278" r:id="rId6"/>
    <p:sldId id="279" r:id="rId7"/>
    <p:sldId id="280" r:id="rId8"/>
    <p:sldId id="281" r:id="rId9"/>
    <p:sldId id="264" r:id="rId10"/>
    <p:sldId id="284" r:id="rId11"/>
    <p:sldId id="286" r:id="rId12"/>
    <p:sldId id="285" r:id="rId13"/>
    <p:sldId id="267" r:id="rId14"/>
  </p:sldIdLst>
  <p:sldSz cx="18288000" cy="10287000"/>
  <p:notesSz cx="6858000" cy="9144000"/>
  <p:embeddedFontLst>
    <p:embeddedFont>
      <p:font typeface="Active Heart" panose="020B0604020202020204" charset="-128"/>
      <p:regular r:id="rId16"/>
    </p:embeddedFont>
    <p:embeddedFont>
      <p:font typeface="Aileron" panose="020B0604020202020204" charset="-94"/>
      <p:regular r:id="rId17"/>
    </p:embeddedFont>
    <p:embeddedFont>
      <p:font typeface="Aileron Bold" panose="020B0604020202020204" charset="-94"/>
      <p:regular r:id="rId18"/>
      <p:bold r:id="rId19"/>
    </p:embeddedFont>
    <p:embeddedFont>
      <p:font typeface="Aileron Bold Italics" panose="020B0604020202020204" charset="-94"/>
      <p:regular r:id="rId20"/>
      <p:bold r:id="rId21"/>
      <p:italic r:id="rId22"/>
      <p:boldItalic r:id="rId23"/>
    </p:embeddedFont>
    <p:embeddedFont>
      <p:font typeface="Aileron Ultra-Bold" panose="020B0604020202020204" charset="-94"/>
      <p:regular r:id="rId24"/>
      <p:bold r:id="rId25"/>
    </p:embeddedFont>
    <p:embeddedFont>
      <p:font typeface="Arial Black" panose="020B0A04020102020204" pitchFamily="34" charset="0"/>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495207-2648-AC9A-99DA-C80A0E75CDD1}" name="Elifnur ŞAHİN" initials="ENŞ" userId="Elifnur ŞAH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27" autoAdjust="0"/>
    <p:restoredTop sz="94494" autoAdjust="0"/>
  </p:normalViewPr>
  <p:slideViewPr>
    <p:cSldViewPr>
      <p:cViewPr varScale="1">
        <p:scale>
          <a:sx n="70" d="100"/>
          <a:sy n="70" d="100"/>
        </p:scale>
        <p:origin x="60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E22E5-1583-4998-9D3E-1C704A07CEF8}" type="datetimeFigureOut">
              <a:rPr lang="tr-TR" smtClean="0"/>
              <a:t>9.06.2026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C965D-C147-4619-915A-6E6CB58E6415}" type="slidenum">
              <a:rPr lang="tr-TR" smtClean="0"/>
              <a:t>‹#›</a:t>
            </a:fld>
            <a:endParaRPr lang="tr-TR"/>
          </a:p>
        </p:txBody>
      </p:sp>
    </p:spTree>
    <p:extLst>
      <p:ext uri="{BB962C8B-B14F-4D97-AF65-F5344CB8AC3E}">
        <p14:creationId xmlns:p14="http://schemas.microsoft.com/office/powerpoint/2010/main" val="1031666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3</a:t>
            </a:fld>
            <a:endParaRPr lang="tr-TR"/>
          </a:p>
        </p:txBody>
      </p:sp>
    </p:spTree>
    <p:extLst>
      <p:ext uri="{BB962C8B-B14F-4D97-AF65-F5344CB8AC3E}">
        <p14:creationId xmlns:p14="http://schemas.microsoft.com/office/powerpoint/2010/main" val="374132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6</a:t>
            </a:fld>
            <a:endParaRPr lang="tr-TR"/>
          </a:p>
        </p:txBody>
      </p:sp>
    </p:spTree>
    <p:extLst>
      <p:ext uri="{BB962C8B-B14F-4D97-AF65-F5344CB8AC3E}">
        <p14:creationId xmlns:p14="http://schemas.microsoft.com/office/powerpoint/2010/main" val="3911524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7</a:t>
            </a:fld>
            <a:endParaRPr lang="tr-TR"/>
          </a:p>
        </p:txBody>
      </p:sp>
    </p:spTree>
    <p:extLst>
      <p:ext uri="{BB962C8B-B14F-4D97-AF65-F5344CB8AC3E}">
        <p14:creationId xmlns:p14="http://schemas.microsoft.com/office/powerpoint/2010/main" val="2280441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8</a:t>
            </a:fld>
            <a:endParaRPr lang="tr-TR"/>
          </a:p>
        </p:txBody>
      </p:sp>
    </p:spTree>
    <p:extLst>
      <p:ext uri="{BB962C8B-B14F-4D97-AF65-F5344CB8AC3E}">
        <p14:creationId xmlns:p14="http://schemas.microsoft.com/office/powerpoint/2010/main" val="3425060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13</a:t>
            </a:fld>
            <a:endParaRPr lang="tr-TR"/>
          </a:p>
        </p:txBody>
      </p:sp>
    </p:spTree>
    <p:extLst>
      <p:ext uri="{BB962C8B-B14F-4D97-AF65-F5344CB8AC3E}">
        <p14:creationId xmlns:p14="http://schemas.microsoft.com/office/powerpoint/2010/main" val="2204376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EA242C-E71C-674D-9D50-0773AC2C14A1}" type="datetime1">
              <a:rPr lang="tr-TR" smtClean="0"/>
              <a:t>9.06.2026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EA6977-19DC-0041-826C-6EFA3D4D0D04}" type="datetime1">
              <a:rPr lang="tr-TR" smtClean="0"/>
              <a:t>9.06.2026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10F57-2F22-F349-9593-848B074953AE}" type="datetime1">
              <a:rPr lang="tr-TR" smtClean="0"/>
              <a:t>9.06.2026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974EB8C-A17B-DB43-924F-D2680DB98EBC}" type="datetime1">
              <a:rPr lang="tr-TR" smtClean="0"/>
              <a:t>9.06.2026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A94A05-C0C8-EC44-B96A-404C45AA149D}" type="datetime1">
              <a:rPr lang="tr-TR" smtClean="0"/>
              <a:t>9.06.2026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18E1DA0-7FB5-024A-B31A-FAE7E1B033FF}" type="datetime1">
              <a:rPr lang="tr-TR" smtClean="0"/>
              <a:t>9.06.2026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719573-F49F-1D4E-BB1B-10BF79D1F4C2}" type="datetime1">
              <a:rPr lang="tr-TR" smtClean="0"/>
              <a:t>9.06.2026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66BCEB-F171-0349-8C5B-9A02B29C3E59}" type="datetime1">
              <a:rPr lang="tr-TR" smtClean="0"/>
              <a:t>9.06.2026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54072B-CF8D-1947-8767-4142311E0054}" type="datetime1">
              <a:rPr lang="tr-TR" smtClean="0"/>
              <a:t>9.06.2026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CED821-8563-F34E-8B37-2AE2BCEB6A2F}" type="datetime1">
              <a:rPr lang="tr-TR" smtClean="0"/>
              <a:t>9.06.2026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3AE1FC-B444-CE43-B5AA-3DAFB0AD3E68}" type="datetime1">
              <a:rPr lang="tr-TR" smtClean="0"/>
              <a:t>9.06.2026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BE2C47-6547-CA48-9B52-F4619CAA901C}" type="datetime1">
              <a:rPr lang="tr-TR" smtClean="0"/>
              <a:t>9.06.2026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2417379" y="244324"/>
            <a:ext cx="14097000" cy="2194062"/>
          </a:xfrm>
          <a:prstGeom prst="rect">
            <a:avLst/>
          </a:prstGeom>
        </p:spPr>
        <p:txBody>
          <a:bodyPr wrap="square" lIns="0" tIns="0" rIns="0" bIns="0" rtlCol="0" anchor="t">
            <a:spAutoFit/>
          </a:bodyPr>
          <a:lstStyle/>
          <a:p>
            <a:pPr marL="0" marR="0" lvl="0" indent="0" algn="ctr" defTabSz="914400" rtl="0" eaLnBrk="1" fontAlgn="auto" latinLnBrk="0" hangingPunct="1">
              <a:lnSpc>
                <a:spcPts val="5759"/>
              </a:lnSpc>
              <a:spcBef>
                <a:spcPts val="0"/>
              </a:spcBef>
              <a:spcAft>
                <a:spcPts val="0"/>
              </a:spcAft>
              <a:buClrTx/>
              <a:buSzTx/>
              <a:buFontTx/>
              <a:buNone/>
              <a:tabLst/>
              <a:defRPr/>
            </a:pPr>
            <a:r>
              <a:rPr lang="tr-TR" sz="4400" b="1" dirty="0">
                <a:ln>
                  <a:solidFill>
                    <a:srgbClr val="002060"/>
                  </a:solidFill>
                </a:ln>
                <a:solidFill>
                  <a:schemeClr val="bg1"/>
                </a:solidFill>
                <a:latin typeface="Arial Black" panose="020B0A04020102020204" pitchFamily="34" charset="0"/>
              </a:rPr>
              <a:t>İNSANLIK YARARINA TEKNOLOJİLER </a:t>
            </a:r>
          </a:p>
          <a:p>
            <a:pPr marL="0" marR="0" lvl="0" indent="0" algn="ctr" defTabSz="914400" rtl="0" eaLnBrk="1" fontAlgn="auto" latinLnBrk="0" hangingPunct="1">
              <a:lnSpc>
                <a:spcPts val="5759"/>
              </a:lnSpc>
              <a:spcBef>
                <a:spcPts val="0"/>
              </a:spcBef>
              <a:spcAft>
                <a:spcPts val="0"/>
              </a:spcAft>
              <a:buClrTx/>
              <a:buSzTx/>
              <a:buFontTx/>
              <a:buNone/>
              <a:tabLst/>
              <a:defRPr/>
            </a:pPr>
            <a:r>
              <a:rPr lang="tr-TR" sz="4400" b="1" dirty="0">
                <a:ln>
                  <a:solidFill>
                    <a:srgbClr val="002060"/>
                  </a:solidFill>
                </a:ln>
                <a:solidFill>
                  <a:schemeClr val="bg1"/>
                </a:solidFill>
                <a:latin typeface="Arial Black" panose="020B0A04020102020204" pitchFamily="34" charset="0"/>
              </a:rPr>
              <a:t>YARIŞMASI</a:t>
            </a:r>
            <a:endParaRPr lang="en-US" sz="4400" b="1" dirty="0">
              <a:ln>
                <a:solidFill>
                  <a:srgbClr val="002060"/>
                </a:solidFill>
              </a:ln>
              <a:solidFill>
                <a:schemeClr val="bg1"/>
              </a:solidFill>
              <a:latin typeface="Arial Black" panose="020B0A04020102020204" pitchFamily="34" charset="0"/>
            </a:endParaRPr>
          </a:p>
          <a:p>
            <a:pPr marL="0" marR="0" lvl="0" indent="0" algn="ctr" defTabSz="914400" rtl="0" eaLnBrk="1" fontAlgn="auto" latinLnBrk="0" hangingPunct="1">
              <a:lnSpc>
                <a:spcPts val="5759"/>
              </a:lnSpc>
              <a:spcBef>
                <a:spcPts val="0"/>
              </a:spcBef>
              <a:spcAft>
                <a:spcPts val="0"/>
              </a:spcAft>
              <a:buClrTx/>
              <a:buSzTx/>
              <a:buFontTx/>
              <a:buNone/>
              <a:tabLst/>
              <a:defRPr/>
            </a:pPr>
            <a:r>
              <a:rPr lang="en-US" sz="4400" b="1" dirty="0">
                <a:ln>
                  <a:solidFill>
                    <a:srgbClr val="002060"/>
                  </a:solidFill>
                </a:ln>
                <a:solidFill>
                  <a:schemeClr val="bg1"/>
                </a:solidFill>
                <a:latin typeface="Arial Black" panose="020B0A04020102020204" pitchFamily="34" charset="0"/>
              </a:rPr>
              <a:t>PROJE SUNUMU</a:t>
            </a:r>
          </a:p>
        </p:txBody>
      </p:sp>
      <p:sp>
        <p:nvSpPr>
          <p:cNvPr id="4" name="Freeform 4"/>
          <p:cNvSpPr/>
          <p:nvPr/>
        </p:nvSpPr>
        <p:spPr>
          <a:xfrm>
            <a:off x="11615131" y="1748495"/>
            <a:ext cx="397785" cy="423176"/>
          </a:xfrm>
          <a:custGeom>
            <a:avLst/>
            <a:gdLst/>
            <a:ahLst/>
            <a:cxnLst/>
            <a:rect l="l" t="t" r="r" b="b"/>
            <a:pathLst>
              <a:path w="397785" h="423176">
                <a:moveTo>
                  <a:pt x="0" y="0"/>
                </a:moveTo>
                <a:lnTo>
                  <a:pt x="397786" y="0"/>
                </a:lnTo>
                <a:lnTo>
                  <a:pt x="397786" y="423176"/>
                </a:lnTo>
                <a:lnTo>
                  <a:pt x="0" y="4231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0" name="TextBox 10"/>
          <p:cNvSpPr txBox="1"/>
          <p:nvPr/>
        </p:nvSpPr>
        <p:spPr>
          <a:xfrm>
            <a:off x="1143000" y="2857500"/>
            <a:ext cx="14238557" cy="5519460"/>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PROJE ADI: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EĞİTİM SEV</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YES</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a:t>
            </a: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KONU BAŞLIĞI:</a:t>
            </a:r>
            <a:b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b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ADI: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BAŞVURU ID:</a:t>
            </a:r>
          </a:p>
        </p:txBody>
      </p:sp>
      <p:sp>
        <p:nvSpPr>
          <p:cNvPr id="11" name="TextBox 11"/>
          <p:cNvSpPr txBox="1"/>
          <p:nvPr/>
        </p:nvSpPr>
        <p:spPr>
          <a:xfrm>
            <a:off x="664779" y="9604236"/>
            <a:ext cx="17602200" cy="621030"/>
          </a:xfrm>
          <a:prstGeom prst="rect">
            <a:avLst/>
          </a:prstGeom>
        </p:spPr>
        <p:txBody>
          <a:bodyPr wrap="square" lIns="0" tIns="0" rIns="0" bIns="0" rtlCol="0" anchor="t">
            <a:sp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*Bu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kapak</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sayfasıdır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İstenilen</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bilgiler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doğru</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girilmelidir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Tüm</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sayfalarda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olduğu</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gibi</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aynı</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kullanılmalı</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değişiklik</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yapılmamalıdır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p>
          <a:p>
            <a:pPr marL="0" marR="0" lvl="0" indent="0" algn="l" defTabSz="914400" rtl="0" eaLnBrk="1" fontAlgn="auto" latinLnBrk="0" hangingPunct="1">
              <a:lnSpc>
                <a:spcPts val="2520"/>
              </a:lnSpc>
              <a:spcBef>
                <a:spcPts val="0"/>
              </a:spcBef>
              <a:spcAft>
                <a:spcPts val="0"/>
              </a:spcAft>
              <a:buClrTx/>
              <a:buSzTx/>
              <a:buFontTx/>
              <a:buNone/>
              <a:tabLst/>
              <a:defRPr/>
            </a:pP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(Bu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açıklama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silinmelidir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19">
            <a:extLst>
              <a:ext uri="{FF2B5EF4-FFF2-40B4-BE49-F238E27FC236}">
                <a16:creationId xmlns:a16="http://schemas.microsoft.com/office/drawing/2014/main" id="{BE803B92-EF9A-F13C-BEF5-CCD50BE44B64}"/>
              </a:ext>
            </a:extLst>
          </p:cNvPr>
          <p:cNvSpPr/>
          <p:nvPr/>
        </p:nvSpPr>
        <p:spPr>
          <a:xfrm>
            <a:off x="11433791" y="5161080"/>
            <a:ext cx="3603191" cy="1216358"/>
          </a:xfrm>
          <a:prstGeom prst="rect">
            <a:avLst/>
          </a:prstGeom>
          <a:solidFill>
            <a:schemeClr val="accent1"/>
          </a:solidFill>
        </p:spPr>
        <p:txBody>
          <a:bodyPr/>
          <a:lstStyle/>
          <a:p>
            <a:endParaRPr lang="tr-TR"/>
          </a:p>
        </p:txBody>
      </p:sp>
      <p:sp>
        <p:nvSpPr>
          <p:cNvPr id="4" name="AutoShape 20">
            <a:extLst>
              <a:ext uri="{FF2B5EF4-FFF2-40B4-BE49-F238E27FC236}">
                <a16:creationId xmlns:a16="http://schemas.microsoft.com/office/drawing/2014/main" id="{FE2CE7AC-4DC0-90F7-D5E1-EB1A8115752B}"/>
              </a:ext>
            </a:extLst>
          </p:cNvPr>
          <p:cNvSpPr/>
          <p:nvPr/>
        </p:nvSpPr>
        <p:spPr>
          <a:xfrm>
            <a:off x="7107505" y="5161080"/>
            <a:ext cx="3600486" cy="1216358"/>
          </a:xfrm>
          <a:prstGeom prst="rect">
            <a:avLst/>
          </a:prstGeom>
          <a:solidFill>
            <a:schemeClr val="tx2">
              <a:lumMod val="20000"/>
              <a:lumOff val="80000"/>
            </a:schemeClr>
          </a:solidFill>
        </p:spPr>
        <p:txBody>
          <a:bodyPr/>
          <a:lstStyle/>
          <a:p>
            <a:endParaRPr lang="tr-TR"/>
          </a:p>
        </p:txBody>
      </p:sp>
      <p:sp>
        <p:nvSpPr>
          <p:cNvPr id="5" name="AutoShape 21">
            <a:extLst>
              <a:ext uri="{FF2B5EF4-FFF2-40B4-BE49-F238E27FC236}">
                <a16:creationId xmlns:a16="http://schemas.microsoft.com/office/drawing/2014/main" id="{46422C15-799E-5EB7-B5E9-8BA9C4EEDF49}"/>
              </a:ext>
            </a:extLst>
          </p:cNvPr>
          <p:cNvSpPr/>
          <p:nvPr/>
        </p:nvSpPr>
        <p:spPr>
          <a:xfrm>
            <a:off x="11433791" y="3827439"/>
            <a:ext cx="3603191" cy="1216358"/>
          </a:xfrm>
          <a:prstGeom prst="rect">
            <a:avLst/>
          </a:prstGeom>
          <a:solidFill>
            <a:schemeClr val="tx2">
              <a:lumMod val="60000"/>
              <a:lumOff val="40000"/>
              <a:alpha val="80000"/>
            </a:schemeClr>
          </a:solidFill>
        </p:spPr>
        <p:txBody>
          <a:bodyPr/>
          <a:lstStyle/>
          <a:p>
            <a:endParaRPr lang="tr-TR"/>
          </a:p>
        </p:txBody>
      </p:sp>
      <p:sp>
        <p:nvSpPr>
          <p:cNvPr id="6" name="AutoShape 22">
            <a:extLst>
              <a:ext uri="{FF2B5EF4-FFF2-40B4-BE49-F238E27FC236}">
                <a16:creationId xmlns:a16="http://schemas.microsoft.com/office/drawing/2014/main" id="{29698772-78D0-19B9-C8AD-A4D017804E8D}"/>
              </a:ext>
            </a:extLst>
          </p:cNvPr>
          <p:cNvSpPr/>
          <p:nvPr/>
        </p:nvSpPr>
        <p:spPr>
          <a:xfrm>
            <a:off x="7107505" y="3827439"/>
            <a:ext cx="3600486" cy="1216358"/>
          </a:xfrm>
          <a:prstGeom prst="rect">
            <a:avLst/>
          </a:prstGeom>
          <a:solidFill>
            <a:schemeClr val="accent1">
              <a:lumMod val="40000"/>
              <a:lumOff val="60000"/>
              <a:alpha val="80000"/>
            </a:schemeClr>
          </a:solidFill>
          <a:ln cap="sq">
            <a:noFill/>
            <a:prstDash val="solid"/>
            <a:miter/>
          </a:ln>
        </p:spPr>
        <p:txBody>
          <a:bodyPr/>
          <a:lstStyle/>
          <a:p>
            <a:endParaRPr lang="tr-TR"/>
          </a:p>
        </p:txBody>
      </p:sp>
      <p:sp>
        <p:nvSpPr>
          <p:cNvPr id="7" name="AutoShape 32">
            <a:extLst>
              <a:ext uri="{FF2B5EF4-FFF2-40B4-BE49-F238E27FC236}">
                <a16:creationId xmlns:a16="http://schemas.microsoft.com/office/drawing/2014/main" id="{23F1317F-2868-2567-693C-FF66CA30A616}"/>
              </a:ext>
            </a:extLst>
          </p:cNvPr>
          <p:cNvSpPr/>
          <p:nvPr/>
        </p:nvSpPr>
        <p:spPr>
          <a:xfrm>
            <a:off x="7107505" y="6494721"/>
            <a:ext cx="3600486" cy="1216358"/>
          </a:xfrm>
          <a:prstGeom prst="rect">
            <a:avLst/>
          </a:prstGeom>
          <a:solidFill>
            <a:schemeClr val="accent1">
              <a:lumMod val="60000"/>
              <a:lumOff val="40000"/>
            </a:schemeClr>
          </a:solidFill>
        </p:spPr>
        <p:txBody>
          <a:bodyPr/>
          <a:lstStyle/>
          <a:p>
            <a:endParaRPr lang="tr-TR" dirty="0"/>
          </a:p>
        </p:txBody>
      </p:sp>
      <p:sp>
        <p:nvSpPr>
          <p:cNvPr id="8" name="Freeform 52">
            <a:extLst>
              <a:ext uri="{FF2B5EF4-FFF2-40B4-BE49-F238E27FC236}">
                <a16:creationId xmlns:a16="http://schemas.microsoft.com/office/drawing/2014/main" id="{40CEBFA7-E227-1A7B-5E38-F1B3B7C96487}"/>
              </a:ext>
            </a:extLst>
          </p:cNvPr>
          <p:cNvSpPr>
            <a:spLocks/>
          </p:cNvSpPr>
          <p:nvPr/>
        </p:nvSpPr>
        <p:spPr>
          <a:xfrm rot="10800000">
            <a:off x="4669386" y="5593845"/>
            <a:ext cx="173874" cy="150401"/>
          </a:xfrm>
          <a:custGeom>
            <a:avLst/>
            <a:gdLst/>
            <a:ahLst/>
            <a:cxnLst/>
            <a:rect l="l" t="t" r="r" b="b"/>
            <a:pathLst>
              <a:path w="173874" h="150401">
                <a:moveTo>
                  <a:pt x="0" y="0"/>
                </a:moveTo>
                <a:lnTo>
                  <a:pt x="173873" y="0"/>
                </a:lnTo>
                <a:lnTo>
                  <a:pt x="173873" y="150401"/>
                </a:lnTo>
                <a:lnTo>
                  <a:pt x="0" y="1504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9" name="TextBox 62">
            <a:extLst>
              <a:ext uri="{FF2B5EF4-FFF2-40B4-BE49-F238E27FC236}">
                <a16:creationId xmlns:a16="http://schemas.microsoft.com/office/drawing/2014/main" id="{B6734464-CB7F-F25B-FB81-ABBBE28E3AD4}"/>
              </a:ext>
            </a:extLst>
          </p:cNvPr>
          <p:cNvSpPr txBox="1"/>
          <p:nvPr/>
        </p:nvSpPr>
        <p:spPr>
          <a:xfrm>
            <a:off x="3373318" y="3328800"/>
            <a:ext cx="2745589" cy="410268"/>
          </a:xfrm>
          <a:prstGeom prst="rect">
            <a:avLst/>
          </a:prstGeom>
        </p:spPr>
        <p:txBody>
          <a:bodyPr lIns="0" tIns="0" rIns="0" bIns="0" rtlCol="0" anchor="t">
            <a:spAutoFit/>
          </a:bodyPr>
          <a:lstStyle/>
          <a:p>
            <a:pPr marL="0" lvl="0" indent="0" algn="ctr">
              <a:lnSpc>
                <a:spcPts val="3225"/>
              </a:lnSpc>
              <a:spcBef>
                <a:spcPct val="0"/>
              </a:spcBef>
            </a:pPr>
            <a:r>
              <a:rPr lang="en-US" sz="2462" spc="73">
                <a:solidFill>
                  <a:srgbClr val="1A426A"/>
                </a:solidFill>
                <a:latin typeface="Aileron Ultra-Bold"/>
              </a:rPr>
              <a:t>TAKIM YAPISI</a:t>
            </a:r>
          </a:p>
        </p:txBody>
      </p:sp>
      <p:sp>
        <p:nvSpPr>
          <p:cNvPr id="10" name="TextBox 63">
            <a:extLst>
              <a:ext uri="{FF2B5EF4-FFF2-40B4-BE49-F238E27FC236}">
                <a16:creationId xmlns:a16="http://schemas.microsoft.com/office/drawing/2014/main" id="{E6231985-CBD8-12DC-7371-FA8CDD9DA4CE}"/>
              </a:ext>
            </a:extLst>
          </p:cNvPr>
          <p:cNvSpPr txBox="1"/>
          <p:nvPr/>
        </p:nvSpPr>
        <p:spPr>
          <a:xfrm>
            <a:off x="8530137" y="3964547"/>
            <a:ext cx="1732974" cy="784574"/>
          </a:xfrm>
          <a:prstGeom prst="rect">
            <a:avLst/>
          </a:prstGeom>
        </p:spPr>
        <p:txBody>
          <a:bodyPr lIns="0" tIns="0" rIns="0" bIns="0" rtlCol="0" anchor="t">
            <a:spAutoFit/>
          </a:bodyPr>
          <a:lstStyle/>
          <a:p>
            <a:pPr algn="ctr">
              <a:lnSpc>
                <a:spcPts val="2088"/>
              </a:lnSpc>
            </a:pPr>
            <a:r>
              <a:rPr lang="en-US" sz="1492" dirty="0">
                <a:latin typeface="Aileron"/>
              </a:rPr>
              <a:t>ÜYE 1         TAKIMDAKİ GÖREVİ EĞİTİM BİLGİSİ</a:t>
            </a:r>
          </a:p>
        </p:txBody>
      </p:sp>
      <p:sp>
        <p:nvSpPr>
          <p:cNvPr id="11" name="TextBox 64">
            <a:extLst>
              <a:ext uri="{FF2B5EF4-FFF2-40B4-BE49-F238E27FC236}">
                <a16:creationId xmlns:a16="http://schemas.microsoft.com/office/drawing/2014/main" id="{79209DF3-FE1B-A12B-0DEF-9F89D2C74505}"/>
              </a:ext>
            </a:extLst>
          </p:cNvPr>
          <p:cNvSpPr txBox="1"/>
          <p:nvPr/>
        </p:nvSpPr>
        <p:spPr>
          <a:xfrm>
            <a:off x="3769415" y="5248350"/>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DANIŞMANI</a:t>
            </a:r>
            <a:endParaRPr lang="en-US" sz="1436" dirty="0">
              <a:solidFill>
                <a:srgbClr val="191919"/>
              </a:solidFill>
              <a:latin typeface="Aileron Bold"/>
            </a:endParaRPr>
          </a:p>
        </p:txBody>
      </p:sp>
      <p:sp>
        <p:nvSpPr>
          <p:cNvPr id="12" name="TextBox 65">
            <a:extLst>
              <a:ext uri="{FF2B5EF4-FFF2-40B4-BE49-F238E27FC236}">
                <a16:creationId xmlns:a16="http://schemas.microsoft.com/office/drawing/2014/main" id="{8B0DF083-2D4C-AC3A-C943-7059224337F6}"/>
              </a:ext>
            </a:extLst>
          </p:cNvPr>
          <p:cNvSpPr txBox="1">
            <a:spLocks/>
          </p:cNvSpPr>
          <p:nvPr/>
        </p:nvSpPr>
        <p:spPr>
          <a:xfrm>
            <a:off x="3784302" y="7182466"/>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KAPTANI</a:t>
            </a:r>
            <a:endParaRPr lang="en-US" sz="1436" dirty="0">
              <a:solidFill>
                <a:srgbClr val="191919"/>
              </a:solidFill>
              <a:latin typeface="Aileron Bold"/>
            </a:endParaRPr>
          </a:p>
        </p:txBody>
      </p:sp>
      <p:sp>
        <p:nvSpPr>
          <p:cNvPr id="13" name="TextBox 66">
            <a:extLst>
              <a:ext uri="{FF2B5EF4-FFF2-40B4-BE49-F238E27FC236}">
                <a16:creationId xmlns:a16="http://schemas.microsoft.com/office/drawing/2014/main" id="{80453772-24BB-C475-DA30-DE5409DC1855}"/>
              </a:ext>
            </a:extLst>
          </p:cNvPr>
          <p:cNvSpPr txBox="1"/>
          <p:nvPr/>
        </p:nvSpPr>
        <p:spPr>
          <a:xfrm>
            <a:off x="8530137" y="5236376"/>
            <a:ext cx="1732974" cy="784574"/>
          </a:xfrm>
          <a:prstGeom prst="rect">
            <a:avLst/>
          </a:prstGeom>
        </p:spPr>
        <p:txBody>
          <a:bodyPr lIns="0" tIns="0" rIns="0" bIns="0" rtlCol="0" anchor="t">
            <a:spAutoFit/>
          </a:bodyPr>
          <a:lstStyle/>
          <a:p>
            <a:pPr algn="ctr">
              <a:lnSpc>
                <a:spcPts val="2088"/>
              </a:lnSpc>
            </a:pPr>
            <a:r>
              <a:rPr lang="en-US" sz="1492" dirty="0">
                <a:latin typeface="Aileron"/>
              </a:rPr>
              <a:t>ÜYE 2         TAKIMDAKİ GÖREVİ EĞİTİM BİLGİSİ</a:t>
            </a:r>
          </a:p>
        </p:txBody>
      </p:sp>
      <p:sp>
        <p:nvSpPr>
          <p:cNvPr id="14" name="TextBox 67">
            <a:extLst>
              <a:ext uri="{FF2B5EF4-FFF2-40B4-BE49-F238E27FC236}">
                <a16:creationId xmlns:a16="http://schemas.microsoft.com/office/drawing/2014/main" id="{7016BA19-32A6-B290-BCE2-AEC8D3BA9353}"/>
              </a:ext>
            </a:extLst>
          </p:cNvPr>
          <p:cNvSpPr txBox="1"/>
          <p:nvPr/>
        </p:nvSpPr>
        <p:spPr>
          <a:xfrm>
            <a:off x="8530137" y="6629648"/>
            <a:ext cx="1732974" cy="784574"/>
          </a:xfrm>
          <a:prstGeom prst="rect">
            <a:avLst/>
          </a:prstGeom>
        </p:spPr>
        <p:txBody>
          <a:bodyPr lIns="0" tIns="0" rIns="0" bIns="0" rtlCol="0" anchor="t">
            <a:spAutoFit/>
          </a:bodyPr>
          <a:lstStyle/>
          <a:p>
            <a:pPr algn="ctr">
              <a:lnSpc>
                <a:spcPts val="2088"/>
              </a:lnSpc>
            </a:pPr>
            <a:r>
              <a:rPr lang="en-US" sz="1492" dirty="0">
                <a:latin typeface="Aileron"/>
              </a:rPr>
              <a:t>ÜYE 3        TAKIMDAKİ GÖREVİ EĞİTİM BİLGİSİ</a:t>
            </a:r>
          </a:p>
        </p:txBody>
      </p:sp>
      <p:sp>
        <p:nvSpPr>
          <p:cNvPr id="15" name="TextBox 70">
            <a:extLst>
              <a:ext uri="{FF2B5EF4-FFF2-40B4-BE49-F238E27FC236}">
                <a16:creationId xmlns:a16="http://schemas.microsoft.com/office/drawing/2014/main" id="{D3597450-D782-6B61-75B2-DD2FCE299C7B}"/>
              </a:ext>
            </a:extLst>
          </p:cNvPr>
          <p:cNvSpPr txBox="1"/>
          <p:nvPr/>
        </p:nvSpPr>
        <p:spPr>
          <a:xfrm>
            <a:off x="13042228" y="3947516"/>
            <a:ext cx="1757927"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4</a:t>
            </a:r>
            <a:r>
              <a:rPr lang="en-US" sz="1492" dirty="0">
                <a:latin typeface="Aileron"/>
              </a:rPr>
              <a:t>        TAKIMDAKİ GÖREVİ EĞİTİM BİLGİSİ</a:t>
            </a:r>
          </a:p>
        </p:txBody>
      </p:sp>
      <p:sp>
        <p:nvSpPr>
          <p:cNvPr id="16" name="TextBox 71">
            <a:extLst>
              <a:ext uri="{FF2B5EF4-FFF2-40B4-BE49-F238E27FC236}">
                <a16:creationId xmlns:a16="http://schemas.microsoft.com/office/drawing/2014/main" id="{30FEBC42-F8E9-373F-C249-3145CC9E4088}"/>
              </a:ext>
            </a:extLst>
          </p:cNvPr>
          <p:cNvSpPr txBox="1"/>
          <p:nvPr/>
        </p:nvSpPr>
        <p:spPr>
          <a:xfrm>
            <a:off x="13032002" y="5300665"/>
            <a:ext cx="1732974"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5</a:t>
            </a:r>
            <a:r>
              <a:rPr lang="en-US" sz="1492" dirty="0">
                <a:latin typeface="Aileron"/>
              </a:rPr>
              <a:t>         TAKIMDAKİ GÖREVİ EĞİTİM BİLGİSİ</a:t>
            </a:r>
          </a:p>
        </p:txBody>
      </p:sp>
      <p:sp>
        <p:nvSpPr>
          <p:cNvPr id="17" name="Dikdörtgen 16">
            <a:extLst>
              <a:ext uri="{FF2B5EF4-FFF2-40B4-BE49-F238E27FC236}">
                <a16:creationId xmlns:a16="http://schemas.microsoft.com/office/drawing/2014/main" id="{CD5EF3AF-AF19-A1F5-BDEA-764ED16219B4}"/>
              </a:ext>
            </a:extLst>
          </p:cNvPr>
          <p:cNvSpPr/>
          <p:nvPr/>
        </p:nvSpPr>
        <p:spPr>
          <a:xfrm>
            <a:off x="4101769" y="3876723"/>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Dikdörtgen 17">
            <a:extLst>
              <a:ext uri="{FF2B5EF4-FFF2-40B4-BE49-F238E27FC236}">
                <a16:creationId xmlns:a16="http://schemas.microsoft.com/office/drawing/2014/main" id="{F1CADE96-E4CC-F814-B4B0-86E4268DAE08}"/>
              </a:ext>
            </a:extLst>
          </p:cNvPr>
          <p:cNvSpPr/>
          <p:nvPr/>
        </p:nvSpPr>
        <p:spPr>
          <a:xfrm>
            <a:off x="4106125" y="5843312"/>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Dikdörtgen 18">
            <a:extLst>
              <a:ext uri="{FF2B5EF4-FFF2-40B4-BE49-F238E27FC236}">
                <a16:creationId xmlns:a16="http://schemas.microsoft.com/office/drawing/2014/main" id="{5C4492AC-AF5F-DF77-1499-85EB5240A0E9}"/>
              </a:ext>
            </a:extLst>
          </p:cNvPr>
          <p:cNvSpPr/>
          <p:nvPr/>
        </p:nvSpPr>
        <p:spPr>
          <a:xfrm>
            <a:off x="7315200" y="3924300"/>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Dikdörtgen 19">
            <a:extLst>
              <a:ext uri="{FF2B5EF4-FFF2-40B4-BE49-F238E27FC236}">
                <a16:creationId xmlns:a16="http://schemas.microsoft.com/office/drawing/2014/main" id="{9B138ACC-4A8A-595C-80D5-D8232A1D3692}"/>
              </a:ext>
            </a:extLst>
          </p:cNvPr>
          <p:cNvSpPr/>
          <p:nvPr/>
        </p:nvSpPr>
        <p:spPr>
          <a:xfrm>
            <a:off x="7315200" y="5277386"/>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Dikdörtgen 20">
            <a:extLst>
              <a:ext uri="{FF2B5EF4-FFF2-40B4-BE49-F238E27FC236}">
                <a16:creationId xmlns:a16="http://schemas.microsoft.com/office/drawing/2014/main" id="{B07796D0-C95F-36D3-4F2D-95473D214482}"/>
              </a:ext>
            </a:extLst>
          </p:cNvPr>
          <p:cNvSpPr/>
          <p:nvPr/>
        </p:nvSpPr>
        <p:spPr>
          <a:xfrm>
            <a:off x="7315200" y="6631423"/>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2" name="Dikdörtgen 21">
            <a:extLst>
              <a:ext uri="{FF2B5EF4-FFF2-40B4-BE49-F238E27FC236}">
                <a16:creationId xmlns:a16="http://schemas.microsoft.com/office/drawing/2014/main" id="{FEC392A7-28BC-A3CA-1AE0-E737C697F206}"/>
              </a:ext>
            </a:extLst>
          </p:cNvPr>
          <p:cNvSpPr/>
          <p:nvPr/>
        </p:nvSpPr>
        <p:spPr>
          <a:xfrm>
            <a:off x="11704875" y="3925227"/>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Dikdörtgen 22">
            <a:extLst>
              <a:ext uri="{FF2B5EF4-FFF2-40B4-BE49-F238E27FC236}">
                <a16:creationId xmlns:a16="http://schemas.microsoft.com/office/drawing/2014/main" id="{9093B8A5-F1C2-AB00-70DF-93CA0C048E30}"/>
              </a:ext>
            </a:extLst>
          </p:cNvPr>
          <p:cNvSpPr/>
          <p:nvPr/>
        </p:nvSpPr>
        <p:spPr>
          <a:xfrm>
            <a:off x="11700676" y="5250029"/>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Freeform 40">
            <a:extLst>
              <a:ext uri="{FF2B5EF4-FFF2-40B4-BE49-F238E27FC236}">
                <a16:creationId xmlns:a16="http://schemas.microsoft.com/office/drawing/2014/main" id="{86477E56-9D72-8915-66D4-73EEB1CF3EC2}"/>
              </a:ext>
            </a:extLst>
          </p:cNvPr>
          <p:cNvSpPr/>
          <p:nvPr/>
        </p:nvSpPr>
        <p:spPr>
          <a:xfrm rot="5400000">
            <a:off x="6371208" y="696082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5" name="Freeform 41">
            <a:extLst>
              <a:ext uri="{FF2B5EF4-FFF2-40B4-BE49-F238E27FC236}">
                <a16:creationId xmlns:a16="http://schemas.microsoft.com/office/drawing/2014/main" id="{CC9D86DC-9A0E-BA66-132F-3CC928889916}"/>
              </a:ext>
            </a:extLst>
          </p:cNvPr>
          <p:cNvSpPr/>
          <p:nvPr/>
        </p:nvSpPr>
        <p:spPr>
          <a:xfrm rot="5400000">
            <a:off x="6396380" y="5553463"/>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6" name="Freeform 42">
            <a:extLst>
              <a:ext uri="{FF2B5EF4-FFF2-40B4-BE49-F238E27FC236}">
                <a16:creationId xmlns:a16="http://schemas.microsoft.com/office/drawing/2014/main" id="{A69D2965-0F01-B4F0-952A-A538BBA9FC35}"/>
              </a:ext>
            </a:extLst>
          </p:cNvPr>
          <p:cNvSpPr/>
          <p:nvPr/>
        </p:nvSpPr>
        <p:spPr>
          <a:xfrm rot="5400000">
            <a:off x="6396380" y="431094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cxnSp>
        <p:nvCxnSpPr>
          <p:cNvPr id="27" name="Düz Bağlayıcı 26">
            <a:extLst>
              <a:ext uri="{FF2B5EF4-FFF2-40B4-BE49-F238E27FC236}">
                <a16:creationId xmlns:a16="http://schemas.microsoft.com/office/drawing/2014/main" id="{5109290E-A593-03F9-A40A-7F0981769496}"/>
              </a:ext>
            </a:extLst>
          </p:cNvPr>
          <p:cNvCxnSpPr/>
          <p:nvPr/>
        </p:nvCxnSpPr>
        <p:spPr>
          <a:xfrm flipH="1">
            <a:off x="6301732" y="4172142"/>
            <a:ext cx="27083" cy="426551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Düz Bağlayıcı 27">
            <a:extLst>
              <a:ext uri="{FF2B5EF4-FFF2-40B4-BE49-F238E27FC236}">
                <a16:creationId xmlns:a16="http://schemas.microsoft.com/office/drawing/2014/main" id="{FFF38E80-45F2-0B4D-4E07-552B85788E3E}"/>
              </a:ext>
            </a:extLst>
          </p:cNvPr>
          <p:cNvCxnSpPr/>
          <p:nvPr/>
        </p:nvCxnSpPr>
        <p:spPr>
          <a:xfrm flipH="1">
            <a:off x="4669385" y="8472731"/>
            <a:ext cx="1632347" cy="6497"/>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Düz Bağlayıcı 28">
            <a:extLst>
              <a:ext uri="{FF2B5EF4-FFF2-40B4-BE49-F238E27FC236}">
                <a16:creationId xmlns:a16="http://schemas.microsoft.com/office/drawing/2014/main" id="{6CC08668-86F9-97CB-BEA6-3F5DD935B3EB}"/>
              </a:ext>
            </a:extLst>
          </p:cNvPr>
          <p:cNvCxnSpPr/>
          <p:nvPr/>
        </p:nvCxnSpPr>
        <p:spPr>
          <a:xfrm flipV="1">
            <a:off x="4669385" y="7631795"/>
            <a:ext cx="0" cy="854709"/>
          </a:xfrm>
          <a:prstGeom prst="line">
            <a:avLst/>
          </a:prstGeom>
        </p:spPr>
        <p:style>
          <a:lnRef idx="2">
            <a:schemeClr val="accent1"/>
          </a:lnRef>
          <a:fillRef idx="0">
            <a:schemeClr val="accent1"/>
          </a:fillRef>
          <a:effectRef idx="1">
            <a:schemeClr val="accent1"/>
          </a:effectRef>
          <a:fontRef idx="minor">
            <a:schemeClr val="tx1"/>
          </a:fontRef>
        </p:style>
      </p:cxnSp>
      <p:sp>
        <p:nvSpPr>
          <p:cNvPr id="30" name="Akış Çizelgesi: Bağlayıcı 88">
            <a:extLst>
              <a:ext uri="{FF2B5EF4-FFF2-40B4-BE49-F238E27FC236}">
                <a16:creationId xmlns:a16="http://schemas.microsoft.com/office/drawing/2014/main" id="{4E30A670-29AB-8586-077C-6F7D6D88CD3B}"/>
              </a:ext>
            </a:extLst>
          </p:cNvPr>
          <p:cNvSpPr/>
          <p:nvPr/>
        </p:nvSpPr>
        <p:spPr>
          <a:xfrm>
            <a:off x="4561285" y="7523780"/>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31" name="Akış Çizelgesi: Bağlayıcı 89">
            <a:extLst>
              <a:ext uri="{FF2B5EF4-FFF2-40B4-BE49-F238E27FC236}">
                <a16:creationId xmlns:a16="http://schemas.microsoft.com/office/drawing/2014/main" id="{F2ADC5C2-CACC-D17D-DF86-090E8AA67B3F}"/>
              </a:ext>
            </a:extLst>
          </p:cNvPr>
          <p:cNvSpPr/>
          <p:nvPr/>
        </p:nvSpPr>
        <p:spPr>
          <a:xfrm>
            <a:off x="6203483" y="4004446"/>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32" name="Freeform 42">
            <a:extLst>
              <a:ext uri="{FF2B5EF4-FFF2-40B4-BE49-F238E27FC236}">
                <a16:creationId xmlns:a16="http://schemas.microsoft.com/office/drawing/2014/main" id="{F515C086-610C-ABA2-296F-82765867D5C2}"/>
              </a:ext>
            </a:extLst>
          </p:cNvPr>
          <p:cNvSpPr/>
          <p:nvPr/>
        </p:nvSpPr>
        <p:spPr>
          <a:xfrm rot="5400000">
            <a:off x="10958674" y="4367903"/>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3" name="Freeform 42">
            <a:extLst>
              <a:ext uri="{FF2B5EF4-FFF2-40B4-BE49-F238E27FC236}">
                <a16:creationId xmlns:a16="http://schemas.microsoft.com/office/drawing/2014/main" id="{0E5524B8-3702-FD34-DE8C-86863DADE9D3}"/>
              </a:ext>
            </a:extLst>
          </p:cNvPr>
          <p:cNvSpPr/>
          <p:nvPr/>
        </p:nvSpPr>
        <p:spPr>
          <a:xfrm rot="5400000">
            <a:off x="10943430" y="564040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4" name="TextBox 115">
            <a:extLst>
              <a:ext uri="{FF2B5EF4-FFF2-40B4-BE49-F238E27FC236}">
                <a16:creationId xmlns:a16="http://schemas.microsoft.com/office/drawing/2014/main" id="{D5CE0A16-323D-4709-68A0-112AB4C5AE31}"/>
              </a:ext>
            </a:extLst>
          </p:cNvPr>
          <p:cNvSpPr txBox="1"/>
          <p:nvPr/>
        </p:nvSpPr>
        <p:spPr>
          <a:xfrm>
            <a:off x="80123" y="1883786"/>
            <a:ext cx="18127754" cy="934743"/>
          </a:xfrm>
          <a:prstGeom prst="rect">
            <a:avLst/>
          </a:prstGeom>
        </p:spPr>
        <p:txBody>
          <a:bodyPr lIns="0" tIns="0" rIns="0" bIns="0" rtlCol="0" anchor="t">
            <a:spAutoFit/>
          </a:bodyPr>
          <a:lstStyle/>
          <a:p>
            <a:pPr algn="ctr">
              <a:lnSpc>
                <a:spcPts val="2520"/>
              </a:lnSpc>
            </a:pP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şablonundaki</a:t>
            </a:r>
            <a:r>
              <a:rPr lang="en-US" sz="1800" dirty="0">
                <a:solidFill>
                  <a:srgbClr val="FF0000"/>
                </a:solidFill>
                <a:latin typeface="Aileron Bold"/>
              </a:rPr>
              <a:t> kutu </a:t>
            </a:r>
            <a:r>
              <a:rPr lang="en-US" sz="1800" dirty="0" err="1">
                <a:solidFill>
                  <a:srgbClr val="FF0000"/>
                </a:solidFill>
                <a:latin typeface="Aileron Bold"/>
              </a:rPr>
              <a:t>sayısı</a:t>
            </a:r>
            <a:r>
              <a:rPr lang="en-US" sz="1800" dirty="0">
                <a:solidFill>
                  <a:srgbClr val="FF0000"/>
                </a:solidFill>
                <a:latin typeface="Aileron Bold"/>
              </a:rPr>
              <a:t> </a:t>
            </a: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üye</a:t>
            </a:r>
            <a:r>
              <a:rPr lang="en-US" sz="1800" dirty="0">
                <a:solidFill>
                  <a:srgbClr val="FF0000"/>
                </a:solidFill>
                <a:latin typeface="Aileron Bold"/>
              </a:rPr>
              <a:t> </a:t>
            </a:r>
            <a:r>
              <a:rPr lang="en-US" sz="1800" dirty="0" err="1">
                <a:solidFill>
                  <a:srgbClr val="FF0000"/>
                </a:solidFill>
                <a:latin typeface="Aileron Bold"/>
              </a:rPr>
              <a:t>sayısına</a:t>
            </a:r>
            <a:r>
              <a:rPr lang="en-US" sz="1800" dirty="0">
                <a:solidFill>
                  <a:srgbClr val="FF0000"/>
                </a:solidFill>
                <a:latin typeface="Aileron Bold"/>
              </a:rPr>
              <a:t> </a:t>
            </a:r>
            <a:r>
              <a:rPr lang="en-US" sz="1800" dirty="0" err="1">
                <a:solidFill>
                  <a:srgbClr val="FF0000"/>
                </a:solidFill>
                <a:latin typeface="Aileron Bold"/>
              </a:rPr>
              <a:t>göre</a:t>
            </a:r>
            <a:r>
              <a:rPr lang="en-US" sz="1800" dirty="0">
                <a:solidFill>
                  <a:srgbClr val="FF0000"/>
                </a:solidFill>
                <a:latin typeface="Aileron Bold"/>
              </a:rPr>
              <a:t> </a:t>
            </a:r>
            <a:r>
              <a:rPr lang="en-US" sz="1800" dirty="0" err="1">
                <a:solidFill>
                  <a:srgbClr val="FF0000"/>
                </a:solidFill>
                <a:latin typeface="Aileron Bold"/>
              </a:rPr>
              <a:t>güncellenmelidir</a:t>
            </a:r>
            <a:r>
              <a:rPr lang="en-US" sz="1800" dirty="0">
                <a:solidFill>
                  <a:srgbClr val="FF0000"/>
                </a:solidFill>
                <a:latin typeface="Aileron Bold"/>
              </a:rPr>
              <a:t>. </a:t>
            </a:r>
            <a:r>
              <a:rPr lang="en-US" sz="1800" dirty="0" err="1">
                <a:solidFill>
                  <a:srgbClr val="FF0000"/>
                </a:solidFill>
                <a:latin typeface="Aileron Bold"/>
              </a:rPr>
              <a:t>Şablondaki</a:t>
            </a:r>
            <a:r>
              <a:rPr lang="en-US" sz="1800" dirty="0">
                <a:solidFill>
                  <a:srgbClr val="FF0000"/>
                </a:solidFill>
                <a:latin typeface="Aileron Bold"/>
              </a:rPr>
              <a:t> </a:t>
            </a:r>
            <a:r>
              <a:rPr lang="en-US" sz="1800" dirty="0" err="1">
                <a:solidFill>
                  <a:srgbClr val="FF0000"/>
                </a:solidFill>
                <a:latin typeface="Aileron Bold"/>
              </a:rPr>
              <a:t>istenilen</a:t>
            </a:r>
            <a:r>
              <a:rPr lang="en-US" sz="1800" dirty="0">
                <a:solidFill>
                  <a:srgbClr val="FF0000"/>
                </a:solidFill>
                <a:latin typeface="Aileron Bold"/>
              </a:rPr>
              <a:t> </a:t>
            </a:r>
            <a:r>
              <a:rPr lang="en-US" sz="1800" dirty="0" err="1">
                <a:solidFill>
                  <a:srgbClr val="FF0000"/>
                </a:solidFill>
                <a:latin typeface="Aileron Bold"/>
              </a:rPr>
              <a:t>bilgiler</a:t>
            </a:r>
            <a:r>
              <a:rPr lang="en-US" sz="1800" dirty="0">
                <a:solidFill>
                  <a:srgbClr val="FF0000"/>
                </a:solidFill>
                <a:latin typeface="Aileron Bold"/>
              </a:rPr>
              <a:t> </a:t>
            </a:r>
            <a:r>
              <a:rPr lang="en-US" sz="1800" dirty="0" err="1">
                <a:solidFill>
                  <a:srgbClr val="FF0000"/>
                </a:solidFill>
                <a:latin typeface="Aileron Bold"/>
              </a:rPr>
              <a:t>doldurulmalıdır</a:t>
            </a:r>
            <a:r>
              <a:rPr lang="en-US" sz="1800" dirty="0">
                <a:solidFill>
                  <a:srgbClr val="FF0000"/>
                </a:solidFill>
                <a:latin typeface="Aileron Bold"/>
              </a:rPr>
              <a:t>.</a:t>
            </a:r>
          </a:p>
          <a:p>
            <a:pPr algn="ctr">
              <a:lnSpc>
                <a:spcPts val="2520"/>
              </a:lnSpc>
            </a:pP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tanıtımı</a:t>
            </a:r>
            <a:r>
              <a:rPr lang="en-US" sz="1800" dirty="0">
                <a:solidFill>
                  <a:srgbClr val="FF0000"/>
                </a:solidFill>
                <a:latin typeface="Aileron Bold"/>
              </a:rPr>
              <a:t>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dirty="0">
                <a:solidFill>
                  <a:srgbClr val="FF0000"/>
                </a:solidFill>
                <a:latin typeface="Aileron Bold"/>
              </a:rPr>
              <a:t> 1 (</a:t>
            </a:r>
            <a:r>
              <a:rPr lang="en-US" sz="1800" dirty="0" err="1">
                <a:solidFill>
                  <a:srgbClr val="FF0000"/>
                </a:solidFill>
                <a:latin typeface="Aileron Bold"/>
              </a:rPr>
              <a:t>bir</a:t>
            </a:r>
            <a:r>
              <a:rPr lang="en-US" sz="1800" dirty="0">
                <a:solidFill>
                  <a:srgbClr val="FF0000"/>
                </a:solidFill>
                <a:latin typeface="Aileron Bold"/>
              </a:rPr>
              <a:t>) </a:t>
            </a:r>
            <a:r>
              <a:rPr lang="en-US" sz="1800" dirty="0" err="1">
                <a:solidFill>
                  <a:srgbClr val="FF0000"/>
                </a:solidFill>
                <a:latin typeface="Aileron Bold"/>
              </a:rPr>
              <a:t>sayfadır</a:t>
            </a:r>
            <a:r>
              <a:rPr lang="en-US" sz="1800" dirty="0">
                <a:solidFill>
                  <a:srgbClr val="FF0000"/>
                </a:solidFill>
                <a:latin typeface="Aileron Bold"/>
              </a:rPr>
              <a:t>. </a:t>
            </a:r>
            <a:r>
              <a:rPr lang="en-US" sz="1800" dirty="0" err="1">
                <a:solidFill>
                  <a:srgbClr val="FF0000"/>
                </a:solidFill>
                <a:latin typeface="Aileron Bold"/>
              </a:rPr>
              <a:t>Sayfa</a:t>
            </a:r>
            <a:r>
              <a:rPr lang="en-US" sz="1800" dirty="0">
                <a:solidFill>
                  <a:srgbClr val="FF0000"/>
                </a:solidFill>
                <a:latin typeface="Aileron Bold"/>
              </a:rPr>
              <a:t> </a:t>
            </a:r>
            <a:r>
              <a:rPr lang="en-US" sz="1800" dirty="0" err="1">
                <a:solidFill>
                  <a:srgbClr val="FF0000"/>
                </a:solidFill>
                <a:latin typeface="Aileron Bold"/>
              </a:rPr>
              <a:t>sınırı</a:t>
            </a:r>
            <a:r>
              <a:rPr lang="en-US" sz="1800"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r>
              <a:rPr lang="tr-TR" sz="1800" dirty="0">
                <a:solidFill>
                  <a:srgbClr val="FF0000"/>
                </a:solidFill>
                <a:latin typeface="Aileron Bold"/>
              </a:rPr>
              <a:t> </a:t>
            </a:r>
          </a:p>
          <a:p>
            <a:pPr algn="ctr">
              <a:lnSpc>
                <a:spcPts val="2520"/>
              </a:lnSpc>
            </a:pPr>
            <a:r>
              <a:rPr lang="tr-TR" sz="1800" dirty="0">
                <a:solidFill>
                  <a:srgbClr val="FF0000"/>
                </a:solidFill>
                <a:latin typeface="Aileron Bold"/>
              </a:rPr>
              <a:t>Takım kaptanı bilgilerini ilgili alanda verip tekrar üye olarak yer verm</a:t>
            </a:r>
            <a:r>
              <a:rPr lang="tr-TR" dirty="0">
                <a:solidFill>
                  <a:srgbClr val="FF0000"/>
                </a:solidFill>
                <a:latin typeface="Aileron Bold"/>
              </a:rPr>
              <a:t>emelisiniz. </a:t>
            </a:r>
            <a:endParaRPr lang="en-US" sz="1800" dirty="0">
              <a:solidFill>
                <a:srgbClr val="FF0000"/>
              </a:solidFill>
              <a:latin typeface="Aileron Bold"/>
            </a:endParaRPr>
          </a:p>
        </p:txBody>
      </p:sp>
      <p:sp>
        <p:nvSpPr>
          <p:cNvPr id="35" name="TextBox 12">
            <a:extLst>
              <a:ext uri="{FF2B5EF4-FFF2-40B4-BE49-F238E27FC236}">
                <a16:creationId xmlns:a16="http://schemas.microsoft.com/office/drawing/2014/main" id="{7BDCA584-09B8-B63E-B0A8-4821139BA2DE}"/>
              </a:ext>
            </a:extLst>
          </p:cNvPr>
          <p:cNvSpPr txBox="1">
            <a:spLocks/>
          </p:cNvSpPr>
          <p:nvPr/>
        </p:nvSpPr>
        <p:spPr>
          <a:xfrm>
            <a:off x="2850642" y="255421"/>
            <a:ext cx="12426470"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PROJE TAKIMI VE GÖREV PAYLAŞIMI</a:t>
            </a:r>
          </a:p>
        </p:txBody>
      </p:sp>
      <p:sp>
        <p:nvSpPr>
          <p:cNvPr id="2" name="TextBox 114">
            <a:extLst>
              <a:ext uri="{FF2B5EF4-FFF2-40B4-BE49-F238E27FC236}">
                <a16:creationId xmlns:a16="http://schemas.microsoft.com/office/drawing/2014/main" id="{BFF1B743-5240-A0C5-C07B-7424471A0F66}"/>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extLst>
      <p:ext uri="{BB962C8B-B14F-4D97-AF65-F5344CB8AC3E}">
        <p14:creationId xmlns:p14="http://schemas.microsoft.com/office/powerpoint/2010/main" val="2379912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6F1F6-620C-9172-C754-6D5D674C3ACD}"/>
            </a:ext>
          </a:extLst>
        </p:cNvPr>
        <p:cNvGrpSpPr/>
        <p:nvPr/>
      </p:nvGrpSpPr>
      <p:grpSpPr>
        <a:xfrm>
          <a:off x="0" y="0"/>
          <a:ext cx="0" cy="0"/>
          <a:chOff x="0" y="0"/>
          <a:chExt cx="0" cy="0"/>
        </a:xfrm>
      </p:grpSpPr>
      <p:sp>
        <p:nvSpPr>
          <p:cNvPr id="4" name="AutoShape 20">
            <a:extLst>
              <a:ext uri="{FF2B5EF4-FFF2-40B4-BE49-F238E27FC236}">
                <a16:creationId xmlns:a16="http://schemas.microsoft.com/office/drawing/2014/main" id="{44FFCC67-29F4-DC61-E75F-7F202A75CF82}"/>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34">
            <a:extLst>
              <a:ext uri="{FF2B5EF4-FFF2-40B4-BE49-F238E27FC236}">
                <a16:creationId xmlns:a16="http://schemas.microsoft.com/office/drawing/2014/main" id="{EE953F42-50C7-E511-5BB3-8AE13EB8A653}"/>
              </a:ext>
            </a:extLst>
          </p:cNvPr>
          <p:cNvSpPr txBox="1"/>
          <p:nvPr/>
        </p:nvSpPr>
        <p:spPr>
          <a:xfrm>
            <a:off x="15343980" y="47564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9" name="TextBox 35">
            <a:extLst>
              <a:ext uri="{FF2B5EF4-FFF2-40B4-BE49-F238E27FC236}">
                <a16:creationId xmlns:a16="http://schemas.microsoft.com/office/drawing/2014/main" id="{900C69A2-3129-A39A-38F4-786246D95678}"/>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12" name="TextBox 38">
            <a:extLst>
              <a:ext uri="{FF2B5EF4-FFF2-40B4-BE49-F238E27FC236}">
                <a16:creationId xmlns:a16="http://schemas.microsoft.com/office/drawing/2014/main" id="{9BE4A65D-C85A-47D4-4F0D-BB76EA9A464B}"/>
              </a:ext>
            </a:extLst>
          </p:cNvPr>
          <p:cNvSpPr txBox="1"/>
          <p:nvPr/>
        </p:nvSpPr>
        <p:spPr>
          <a:xfrm>
            <a:off x="15986302" y="8010385"/>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13" name="TextBox 39">
            <a:extLst>
              <a:ext uri="{FF2B5EF4-FFF2-40B4-BE49-F238E27FC236}">
                <a16:creationId xmlns:a16="http://schemas.microsoft.com/office/drawing/2014/main" id="{28BFA71C-A2A6-5010-3274-2F84E7D2D434}"/>
              </a:ext>
            </a:extLst>
          </p:cNvPr>
          <p:cNvSpPr txBox="1"/>
          <p:nvPr/>
        </p:nvSpPr>
        <p:spPr>
          <a:xfrm>
            <a:off x="15233043" y="5555213"/>
            <a:ext cx="2198106"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TİCARİLEŞTİRME POTANSİYELİ VE SÜRDÜRÜLEBİLİRLİK</a:t>
            </a:r>
            <a:endParaRPr lang="en-US" sz="1550" dirty="0">
              <a:solidFill>
                <a:srgbClr val="1C4C61"/>
              </a:solidFill>
              <a:latin typeface="Aileron Bold"/>
            </a:endParaRPr>
          </a:p>
        </p:txBody>
      </p:sp>
      <p:sp>
        <p:nvSpPr>
          <p:cNvPr id="18" name="TextBox 38">
            <a:extLst>
              <a:ext uri="{FF2B5EF4-FFF2-40B4-BE49-F238E27FC236}">
                <a16:creationId xmlns:a16="http://schemas.microsoft.com/office/drawing/2014/main" id="{54CC48F7-6155-D6F3-FF23-DE9B4A80AE04}"/>
              </a:ext>
            </a:extLst>
          </p:cNvPr>
          <p:cNvSpPr txBox="1"/>
          <p:nvPr/>
        </p:nvSpPr>
        <p:spPr>
          <a:xfrm>
            <a:off x="15745664" y="73245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PROJE TAKVİMİ</a:t>
            </a:r>
          </a:p>
        </p:txBody>
      </p:sp>
      <p:sp>
        <p:nvSpPr>
          <p:cNvPr id="22" name="TextBox 40">
            <a:extLst>
              <a:ext uri="{FF2B5EF4-FFF2-40B4-BE49-F238E27FC236}">
                <a16:creationId xmlns:a16="http://schemas.microsoft.com/office/drawing/2014/main" id="{12BEDB8F-9DDA-858B-B968-6A984DC97C6D}"/>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23" name="Freeform 21">
            <a:extLst>
              <a:ext uri="{FF2B5EF4-FFF2-40B4-BE49-F238E27FC236}">
                <a16:creationId xmlns:a16="http://schemas.microsoft.com/office/drawing/2014/main" id="{1AF69061-9A74-6A40-3158-0AF2574289B6}"/>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5" name="Freeform 21">
            <a:extLst>
              <a:ext uri="{FF2B5EF4-FFF2-40B4-BE49-F238E27FC236}">
                <a16:creationId xmlns:a16="http://schemas.microsoft.com/office/drawing/2014/main" id="{CA8B6456-ECA7-C36E-351E-EF796089C739}"/>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7" name="Freeform 21">
            <a:extLst>
              <a:ext uri="{FF2B5EF4-FFF2-40B4-BE49-F238E27FC236}">
                <a16:creationId xmlns:a16="http://schemas.microsoft.com/office/drawing/2014/main" id="{F405716D-BA81-5A4F-B5B2-5D6533371438}"/>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9" name="Freeform 21">
            <a:extLst>
              <a:ext uri="{FF2B5EF4-FFF2-40B4-BE49-F238E27FC236}">
                <a16:creationId xmlns:a16="http://schemas.microsoft.com/office/drawing/2014/main" id="{9A65774D-2E63-7B0E-30C3-C75E2734ED57}"/>
              </a:ext>
            </a:extLst>
          </p:cNvPr>
          <p:cNvSpPr/>
          <p:nvPr/>
        </p:nvSpPr>
        <p:spPr>
          <a:xfrm>
            <a:off x="17537349" y="4857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1" name="Freeform 21">
            <a:extLst>
              <a:ext uri="{FF2B5EF4-FFF2-40B4-BE49-F238E27FC236}">
                <a16:creationId xmlns:a16="http://schemas.microsoft.com/office/drawing/2014/main" id="{F3113027-CA7E-2BD5-76A0-9A9F96E9F8E5}"/>
              </a:ext>
            </a:extLst>
          </p:cNvPr>
          <p:cNvSpPr/>
          <p:nvPr/>
        </p:nvSpPr>
        <p:spPr>
          <a:xfrm>
            <a:off x="17531608" y="5695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5" name="Freeform 21">
            <a:extLst>
              <a:ext uri="{FF2B5EF4-FFF2-40B4-BE49-F238E27FC236}">
                <a16:creationId xmlns:a16="http://schemas.microsoft.com/office/drawing/2014/main" id="{5130FC05-994A-81D8-E232-BBAAEB18378A}"/>
              </a:ext>
            </a:extLst>
          </p:cNvPr>
          <p:cNvSpPr/>
          <p:nvPr/>
        </p:nvSpPr>
        <p:spPr>
          <a:xfrm>
            <a:off x="17516247" y="7295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9" name="Freeform 21">
            <a:extLst>
              <a:ext uri="{FF2B5EF4-FFF2-40B4-BE49-F238E27FC236}">
                <a16:creationId xmlns:a16="http://schemas.microsoft.com/office/drawing/2014/main" id="{C2EECE07-1156-58B6-6909-465C1649DCE3}"/>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3" name="TextBox 34">
            <a:extLst>
              <a:ext uri="{FF2B5EF4-FFF2-40B4-BE49-F238E27FC236}">
                <a16:creationId xmlns:a16="http://schemas.microsoft.com/office/drawing/2014/main" id="{85D60762-0C6C-F8E9-1D28-39E614BF56D6}"/>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45" name="Freeform 97">
            <a:extLst>
              <a:ext uri="{FF2B5EF4-FFF2-40B4-BE49-F238E27FC236}">
                <a16:creationId xmlns:a16="http://schemas.microsoft.com/office/drawing/2014/main" id="{3CDFD19A-7A14-D649-B2EC-F8E410B165FC}"/>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6" name="TextBox 8">
            <a:extLst>
              <a:ext uri="{FF2B5EF4-FFF2-40B4-BE49-F238E27FC236}">
                <a16:creationId xmlns:a16="http://schemas.microsoft.com/office/drawing/2014/main" id="{CC9EEC2A-D26A-EB38-28D9-C7A19CE4779D}"/>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PROJE ÖZETİ VE KAPSAMI</a:t>
            </a:r>
            <a:endParaRPr lang="en-US" sz="6399" dirty="0">
              <a:solidFill>
                <a:srgbClr val="1A426A"/>
              </a:solidFill>
              <a:latin typeface="Active Heart"/>
            </a:endParaRPr>
          </a:p>
        </p:txBody>
      </p:sp>
      <p:sp>
        <p:nvSpPr>
          <p:cNvPr id="48" name="Metin kutusu 47">
            <a:extLst>
              <a:ext uri="{FF2B5EF4-FFF2-40B4-BE49-F238E27FC236}">
                <a16:creationId xmlns:a16="http://schemas.microsoft.com/office/drawing/2014/main" id="{E94CBBAD-33A5-CD54-66F1-6EC7F70226DB}"/>
              </a:ext>
            </a:extLst>
          </p:cNvPr>
          <p:cNvSpPr txBox="1"/>
          <p:nvPr/>
        </p:nvSpPr>
        <p:spPr>
          <a:xfrm>
            <a:off x="1219200" y="2171700"/>
            <a:ext cx="11631457" cy="3477875"/>
          </a:xfrm>
          <a:prstGeom prst="rect">
            <a:avLst/>
          </a:prstGeom>
          <a:noFill/>
        </p:spPr>
        <p:txBody>
          <a:bodyPr wrap="square">
            <a:spAutoFit/>
          </a:bodyPr>
          <a:lstStyle/>
          <a:p>
            <a:pPr marL="342900" indent="-342900" algn="just">
              <a:buSzPts val="1000"/>
              <a:buFont typeface="Symbol" pitchFamily="2" charset="2"/>
              <a:buChar char=""/>
              <a:tabLst>
                <a:tab pos="457200" algn="l"/>
              </a:tabLst>
            </a:pP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özeti</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kapsamı</a:t>
            </a:r>
            <a:r>
              <a:rPr lang="en-US" dirty="0">
                <a:solidFill>
                  <a:srgbClr val="FF0000"/>
                </a:solidFill>
                <a:latin typeface="Aileron Bold"/>
              </a:rPr>
              <a:t> </a:t>
            </a:r>
            <a:r>
              <a:rPr lang="en-US" dirty="0" err="1">
                <a:solidFill>
                  <a:srgbClr val="FF0000"/>
                </a:solidFill>
                <a:latin typeface="Aileron Bold"/>
              </a:rPr>
              <a:t>sayfasıdır</a:t>
            </a:r>
            <a:r>
              <a:rPr lang="en-US" dirty="0">
                <a:solidFill>
                  <a:srgbClr val="FF0000"/>
                </a:solidFill>
                <a:latin typeface="Aileron Bold"/>
              </a:rPr>
              <a:t>.  </a:t>
            </a:r>
            <a:r>
              <a:rPr lang="en-US" dirty="0" err="1">
                <a:solidFill>
                  <a:srgbClr val="FF0000"/>
                </a:solidFill>
                <a:latin typeface="Aileron Bold"/>
              </a:rPr>
              <a:t>Aşağıdaki</a:t>
            </a:r>
            <a:r>
              <a:rPr lang="en-US" dirty="0">
                <a:solidFill>
                  <a:srgbClr val="FF0000"/>
                </a:solidFill>
                <a:latin typeface="Aileron Bold"/>
              </a:rPr>
              <a:t> </a:t>
            </a:r>
            <a:r>
              <a:rPr lang="en-US" dirty="0" err="1">
                <a:solidFill>
                  <a:srgbClr val="FF0000"/>
                </a:solidFill>
                <a:latin typeface="Aileron Bold"/>
              </a:rPr>
              <a:t>başlıklar</a:t>
            </a:r>
            <a:r>
              <a:rPr lang="en-US" dirty="0">
                <a:solidFill>
                  <a:srgbClr val="FF0000"/>
                </a:solidFill>
                <a:latin typeface="Aileron Bold"/>
              </a:rPr>
              <a:t> </a:t>
            </a:r>
            <a:r>
              <a:rPr lang="en-US" dirty="0" err="1">
                <a:solidFill>
                  <a:srgbClr val="FF0000"/>
                </a:solidFill>
                <a:latin typeface="Aileron Bold"/>
              </a:rPr>
              <a:t>en</a:t>
            </a:r>
            <a:r>
              <a:rPr lang="en-US" dirty="0">
                <a:solidFill>
                  <a:srgbClr val="FF0000"/>
                </a:solidFill>
                <a:latin typeface="Aileron Bold"/>
              </a:rPr>
              <a:t> </a:t>
            </a:r>
            <a:r>
              <a:rPr lang="en-US" dirty="0" err="1">
                <a:solidFill>
                  <a:srgbClr val="FF0000"/>
                </a:solidFill>
                <a:latin typeface="Aileron Bold"/>
              </a:rPr>
              <a:t>fazla</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kısaca</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p>
          <a:p>
            <a:pPr marL="342900" indent="-342900" algn="just">
              <a:buSzPts val="1000"/>
              <a:buFont typeface="Symbol" pitchFamily="2" charset="2"/>
              <a:buChar char=""/>
              <a:tabLst>
                <a:tab pos="457200" algn="l"/>
              </a:tabLst>
            </a:pPr>
            <a:r>
              <a:rPr lang="tr-TR" dirty="0">
                <a:solidFill>
                  <a:srgbClr val="FF0000"/>
                </a:solidFill>
                <a:latin typeface="Aileron Bold"/>
              </a:rPr>
              <a:t>Kullanılan dil; açık, anlaşılır ve öğrencilerin ifade düzeyiyle uyumlu olmalı, aşırı teknik ayrıntılardan kaçınmalıdır. </a:t>
            </a:r>
          </a:p>
          <a:p>
            <a:pPr algn="just">
              <a:buSzPts val="1000"/>
              <a:tabLst>
                <a:tab pos="457200" algn="l"/>
              </a:tabLst>
            </a:pPr>
            <a:endParaRPr lang="tr-TR" b="1" dirty="0">
              <a:latin typeface="Arial" panose="020B0604020202020204" pitchFamily="34"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Proje Adı</a:t>
            </a:r>
            <a:r>
              <a:rPr lang="tr-TR" dirty="0">
                <a:effectLst/>
                <a:latin typeface="Arial" panose="020B0604020202020204" pitchFamily="34" charset="0"/>
                <a:ea typeface="Times New Roman" panose="02020603050405020304" pitchFamily="18" charset="0"/>
              </a:rPr>
              <a:t>: Projeyi tanımlayan kısa ve anlamlı isim,</a:t>
            </a:r>
            <a:endParaRPr lang="tr-TR"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Ana Fikir / Problem</a:t>
            </a:r>
            <a:r>
              <a:rPr lang="tr-TR" dirty="0">
                <a:effectLst/>
                <a:latin typeface="Arial" panose="020B0604020202020204" pitchFamily="34" charset="0"/>
                <a:ea typeface="Times New Roman" panose="02020603050405020304" pitchFamily="18" charset="0"/>
              </a:rPr>
              <a:t>: </a:t>
            </a:r>
            <a:r>
              <a:rPr lang="tr-TR" dirty="0">
                <a:effectLst/>
                <a:latin typeface="Arial" panose="020B0604020202020204" pitchFamily="34" charset="0"/>
                <a:ea typeface="Arial" panose="020B0604020202020204" pitchFamily="34" charset="0"/>
              </a:rPr>
              <a:t>Projenin temel düşüncesi ve çözmeyi hedeflediği problem,</a:t>
            </a:r>
            <a:endParaRPr lang="tr-TR"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Çözüm Yaklaşımı</a:t>
            </a:r>
            <a:r>
              <a:rPr lang="tr-TR" dirty="0">
                <a:effectLst/>
                <a:latin typeface="Arial" panose="020B0604020202020204" pitchFamily="34" charset="0"/>
                <a:ea typeface="Times New Roman" panose="02020603050405020304" pitchFamily="18" charset="0"/>
              </a:rPr>
              <a:t>: Problemin çözümüne yönelik izlenen yolun sade ve genel açıklaması,</a:t>
            </a:r>
            <a:endParaRPr lang="tr-TR"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Beklenen Etki</a:t>
            </a:r>
            <a:r>
              <a:rPr lang="tr-TR" dirty="0">
                <a:effectLst/>
                <a:latin typeface="Arial" panose="020B0604020202020204" pitchFamily="34" charset="0"/>
                <a:ea typeface="Times New Roman" panose="02020603050405020304" pitchFamily="18" charset="0"/>
              </a:rPr>
              <a:t>: Projenin insanlar, çevre veya günlük yaşam üzerindeki olası olumlu etkileri,</a:t>
            </a:r>
            <a:endParaRPr lang="tr-TR"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itchFamily="2" charset="2"/>
              <a:buChar char=""/>
              <a:tabLst>
                <a:tab pos="457200" algn="l"/>
              </a:tabLst>
            </a:pPr>
            <a:r>
              <a:rPr lang="tr-TR" b="1" dirty="0">
                <a:effectLst/>
                <a:latin typeface="Arial" panose="020B0604020202020204" pitchFamily="34" charset="0"/>
                <a:ea typeface="Times New Roman" panose="02020603050405020304" pitchFamily="18" charset="0"/>
              </a:rPr>
              <a:t>Ana / Alt Tema Uyumu</a:t>
            </a:r>
            <a:r>
              <a:rPr lang="tr-TR" dirty="0">
                <a:effectLst/>
                <a:latin typeface="Arial" panose="020B0604020202020204" pitchFamily="34" charset="0"/>
                <a:ea typeface="Times New Roman" panose="02020603050405020304" pitchFamily="18" charset="0"/>
              </a:rPr>
              <a:t>: </a:t>
            </a:r>
            <a:r>
              <a:rPr lang="tr-TR" dirty="0">
                <a:effectLst/>
                <a:latin typeface="Arial" panose="020B0604020202020204" pitchFamily="34" charset="0"/>
                <a:ea typeface="Arial" panose="020B0604020202020204" pitchFamily="34" charset="0"/>
              </a:rPr>
              <a:t>Projenin yarışmanın ana ve alt temalarıyla ilişkisi.</a:t>
            </a:r>
          </a:p>
          <a:p>
            <a:pPr marL="342900" lvl="0" indent="-342900" algn="just">
              <a:buSzPts val="1000"/>
              <a:buFont typeface="Symbol" pitchFamily="2" charset="2"/>
              <a:buChar char=""/>
              <a:tabLst>
                <a:tab pos="457200" algn="l"/>
              </a:tabLst>
            </a:pPr>
            <a:endParaRPr lang="tr-TR" sz="2000" dirty="0">
              <a:latin typeface="Arial" panose="020B0604020202020204" pitchFamily="34" charset="0"/>
              <a:ea typeface="Times New Roman" panose="02020603050405020304" pitchFamily="18" charset="0"/>
            </a:endParaRPr>
          </a:p>
          <a:p>
            <a:pPr lvl="0" algn="just">
              <a:buSzPts val="1000"/>
              <a:tabLst>
                <a:tab pos="457200" algn="l"/>
              </a:tabLst>
            </a:pPr>
            <a:endParaRPr lang="tr-TR" sz="2000" dirty="0">
              <a:effectLst/>
              <a:latin typeface="Times New Roman" panose="02020603050405020304" pitchFamily="18" charset="0"/>
              <a:ea typeface="Times New Roman" panose="02020603050405020304" pitchFamily="18" charset="0"/>
            </a:endParaRPr>
          </a:p>
        </p:txBody>
      </p:sp>
      <p:sp>
        <p:nvSpPr>
          <p:cNvPr id="51" name="Freeform 21">
            <a:extLst>
              <a:ext uri="{FF2B5EF4-FFF2-40B4-BE49-F238E27FC236}">
                <a16:creationId xmlns:a16="http://schemas.microsoft.com/office/drawing/2014/main" id="{E30959FB-F815-59AF-0614-29FCD9554AAD}"/>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2" name="TextBox 40">
            <a:extLst>
              <a:ext uri="{FF2B5EF4-FFF2-40B4-BE49-F238E27FC236}">
                <a16:creationId xmlns:a16="http://schemas.microsoft.com/office/drawing/2014/main" id="{24E5745B-4FE5-06A2-EBF6-53EBCA37AE51}"/>
              </a:ext>
            </a:extLst>
          </p:cNvPr>
          <p:cNvSpPr txBox="1"/>
          <p:nvPr/>
        </p:nvSpPr>
        <p:spPr>
          <a:xfrm>
            <a:off x="15752068" y="1860857"/>
            <a:ext cx="1697732" cy="539443"/>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55" name="Freeform 97">
            <a:extLst>
              <a:ext uri="{FF2B5EF4-FFF2-40B4-BE49-F238E27FC236}">
                <a16:creationId xmlns:a16="http://schemas.microsoft.com/office/drawing/2014/main" id="{1282E5F6-FAC4-E3E1-2B6E-9F984FB11EAB}"/>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 name="TextBox 38">
            <a:extLst>
              <a:ext uri="{FF2B5EF4-FFF2-40B4-BE49-F238E27FC236}">
                <a16:creationId xmlns:a16="http://schemas.microsoft.com/office/drawing/2014/main" id="{AA2FA476-8E45-0D5D-CB31-998B20CC15E7}"/>
              </a:ext>
            </a:extLst>
          </p:cNvPr>
          <p:cNvSpPr txBox="1"/>
          <p:nvPr/>
        </p:nvSpPr>
        <p:spPr>
          <a:xfrm>
            <a:off x="15754072" y="66387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HEDEF KİTLE</a:t>
            </a:r>
          </a:p>
        </p:txBody>
      </p:sp>
      <p:sp>
        <p:nvSpPr>
          <p:cNvPr id="7" name="Freeform 21">
            <a:extLst>
              <a:ext uri="{FF2B5EF4-FFF2-40B4-BE49-F238E27FC236}">
                <a16:creationId xmlns:a16="http://schemas.microsoft.com/office/drawing/2014/main" id="{1FC9C567-7E27-217C-C944-457836CB5E53}"/>
              </a:ext>
            </a:extLst>
          </p:cNvPr>
          <p:cNvSpPr/>
          <p:nvPr/>
        </p:nvSpPr>
        <p:spPr>
          <a:xfrm>
            <a:off x="17537349" y="66101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97E0369F-26A4-6838-7B9B-2A8C8DEEC95A}"/>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extLst>
      <p:ext uri="{BB962C8B-B14F-4D97-AF65-F5344CB8AC3E}">
        <p14:creationId xmlns:p14="http://schemas.microsoft.com/office/powerpoint/2010/main" val="3281490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4E7AC-8160-9702-BE6A-604449C93281}"/>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1E75BAB8-511D-5D18-3883-1D35AD22F3E6}"/>
              </a:ext>
            </a:extLst>
          </p:cNvPr>
          <p:cNvSpPr txBox="1"/>
          <p:nvPr/>
        </p:nvSpPr>
        <p:spPr>
          <a:xfrm>
            <a:off x="1295400" y="1958957"/>
            <a:ext cx="11631457" cy="4555093"/>
          </a:xfrm>
          <a:prstGeom prst="rect">
            <a:avLst/>
          </a:prstGeom>
          <a:noFill/>
        </p:spPr>
        <p:txBody>
          <a:bodyPr wrap="square">
            <a:spAutoFit/>
          </a:bodyPr>
          <a:lstStyle/>
          <a:p>
            <a:pPr marL="342900" indent="-342900" algn="just">
              <a:buSzPts val="1000"/>
              <a:buFont typeface="Symbol" pitchFamily="2" charset="2"/>
              <a:buChar char=""/>
              <a:tabLst>
                <a:tab pos="457200" algn="l"/>
              </a:tabLst>
            </a:pPr>
            <a:endParaRPr lang="en-US" dirty="0">
              <a:solidFill>
                <a:srgbClr val="FF0000"/>
              </a:solidFill>
              <a:latin typeface="Aileron Bold"/>
            </a:endParaRPr>
          </a:p>
          <a:p>
            <a:pPr marL="342900" indent="-342900" algn="just">
              <a:buSzPts val="1000"/>
              <a:buFont typeface="Symbol" pitchFamily="2" charset="2"/>
              <a:buChar char=""/>
              <a:tabLst>
                <a:tab pos="457200" algn="l"/>
              </a:tabLst>
            </a:pPr>
            <a:r>
              <a:rPr lang="tr-TR" b="1" dirty="0">
                <a:solidFill>
                  <a:srgbClr val="FF0000"/>
                </a:solidFill>
                <a:latin typeface="Arial" panose="020B0604020202020204" pitchFamily="34" charset="0"/>
              </a:rPr>
              <a:t>Proje amacının ve toplumsal katkısının açıklandığı sayfadır. </a:t>
            </a:r>
            <a:r>
              <a:rPr lang="en-US" dirty="0">
                <a:solidFill>
                  <a:srgbClr val="FF0000"/>
                </a:solidFill>
                <a:latin typeface="Aileron Bold"/>
              </a:rPr>
              <a:t>En </a:t>
            </a:r>
            <a:r>
              <a:rPr lang="en-US" dirty="0" err="1">
                <a:solidFill>
                  <a:srgbClr val="FF0000"/>
                </a:solidFill>
                <a:latin typeface="Aileron Bold"/>
              </a:rPr>
              <a:t>fazla</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p>
          <a:p>
            <a:pPr algn="just">
              <a:buSzPts val="1000"/>
              <a:tabLst>
                <a:tab pos="457200" algn="l"/>
              </a:tabLst>
            </a:pPr>
            <a:endParaRPr lang="tr-TR" b="1" dirty="0">
              <a:solidFill>
                <a:srgbClr val="FF0000"/>
              </a:solidFill>
              <a:latin typeface="Arial" panose="020B0604020202020204" pitchFamily="34" charset="0"/>
            </a:endParaRPr>
          </a:p>
          <a:p>
            <a:pPr marL="342900" indent="-342900" algn="just">
              <a:buSzPts val="1000"/>
              <a:buFont typeface="Symbol" pitchFamily="2" charset="2"/>
              <a:buChar char=""/>
              <a:tabLst>
                <a:tab pos="457200" algn="l"/>
              </a:tabLst>
            </a:pPr>
            <a:r>
              <a:rPr lang="tr-TR" b="1" dirty="0">
                <a:solidFill>
                  <a:srgbClr val="FF0000"/>
                </a:solidFill>
                <a:latin typeface="Arial" panose="020B0604020202020204" pitchFamily="34" charset="0"/>
              </a:rPr>
              <a:t>Bu bölümde, projenin hangi gerekçeyle geliştirildiği, hangi temel sorunu çözmeyi amaçladığı ve topluma nasıl katkı sağlayacağı açık bir biçimde ortaya konulmalıdır. </a:t>
            </a:r>
          </a:p>
          <a:p>
            <a:pPr marL="342900" indent="-342900" algn="just">
              <a:buSzPts val="1000"/>
              <a:buFont typeface="Symbol" pitchFamily="2" charset="2"/>
              <a:buChar char=""/>
              <a:tabLst>
                <a:tab pos="457200" algn="l"/>
              </a:tabLst>
            </a:pPr>
            <a:endParaRPr lang="tr-TR" b="1" dirty="0">
              <a:solidFill>
                <a:srgbClr val="FF0000"/>
              </a:solidFill>
              <a:latin typeface="Arial" panose="020B0604020202020204" pitchFamily="34" charset="0"/>
            </a:endParaRPr>
          </a:p>
          <a:p>
            <a:pPr algn="just"/>
            <a:r>
              <a:rPr lang="tr-TR" b="1" dirty="0">
                <a:solidFill>
                  <a:srgbClr val="FF0000"/>
                </a:solidFill>
                <a:latin typeface="Arial" panose="020B0604020202020204" pitchFamily="34" charset="0"/>
              </a:rPr>
              <a:t>     Bu kapsamda;</a:t>
            </a:r>
          </a:p>
          <a:p>
            <a:pPr marL="342900" lvl="0" indent="-342900" algn="just">
              <a:buFont typeface="Arial" panose="020B0604020202020204" pitchFamily="34" charset="0"/>
              <a:buChar char="•"/>
            </a:pPr>
            <a:r>
              <a:rPr lang="tr-TR" b="1" dirty="0">
                <a:solidFill>
                  <a:srgbClr val="FF0000"/>
                </a:solidFill>
                <a:latin typeface="Arial" panose="020B0604020202020204" pitchFamily="34" charset="0"/>
              </a:rPr>
              <a:t>Proje amacı açık, anlaşılır ve tutarlı bir şekilde ifade edilmelidir.</a:t>
            </a:r>
          </a:p>
          <a:p>
            <a:pPr marL="342900" lvl="0" indent="-342900" algn="just">
              <a:buFont typeface="Arial" panose="020B0604020202020204" pitchFamily="34" charset="0"/>
              <a:buChar char="•"/>
            </a:pPr>
            <a:r>
              <a:rPr lang="tr-TR" b="1" dirty="0">
                <a:solidFill>
                  <a:srgbClr val="FF0000"/>
                </a:solidFill>
                <a:latin typeface="Arial" panose="020B0604020202020204" pitchFamily="34" charset="0"/>
              </a:rPr>
              <a:t>Proje, günlük yaşamla ilişkilendirilebilen gerçek bir soruna odaklanmalıdır.</a:t>
            </a:r>
          </a:p>
          <a:p>
            <a:pPr marL="342900" lvl="0" indent="-342900" algn="just">
              <a:buFont typeface="Arial" panose="020B0604020202020204" pitchFamily="34" charset="0"/>
              <a:buChar char="•"/>
            </a:pPr>
            <a:r>
              <a:rPr lang="tr-TR" b="1" dirty="0">
                <a:solidFill>
                  <a:srgbClr val="FF0000"/>
                </a:solidFill>
                <a:latin typeface="Arial" panose="020B0604020202020204" pitchFamily="34" charset="0"/>
              </a:rPr>
              <a:t>İnsanlar, çevre veya toplum açısından olumlu bir katkı hedefi taşımalıdır.</a:t>
            </a:r>
          </a:p>
          <a:p>
            <a:pPr marL="342900" lvl="0" indent="-342900" algn="just">
              <a:buFont typeface="Arial" panose="020B0604020202020204" pitchFamily="34" charset="0"/>
              <a:buChar char="•"/>
            </a:pPr>
            <a:r>
              <a:rPr lang="tr-TR" b="1" dirty="0">
                <a:solidFill>
                  <a:srgbClr val="FF0000"/>
                </a:solidFill>
                <a:latin typeface="Arial" panose="020B0604020202020204" pitchFamily="34" charset="0"/>
              </a:rPr>
              <a:t>Proje, öğrenci düzeyine uygun özgün bir yaklaşım içermeli; öğrencinin probleme bakış açısı ve çözüm geliştirme çabası görünür olmalıdır.</a:t>
            </a:r>
          </a:p>
          <a:p>
            <a:pPr marL="342900" lvl="0" indent="-342900" algn="just">
              <a:buFont typeface="Arial" panose="020B0604020202020204" pitchFamily="34" charset="0"/>
              <a:buChar char="•"/>
            </a:pPr>
            <a:r>
              <a:rPr lang="tr-TR" b="1" dirty="0">
                <a:solidFill>
                  <a:srgbClr val="FF0000"/>
                </a:solidFill>
                <a:latin typeface="Arial" panose="020B0604020202020204" pitchFamily="34" charset="0"/>
              </a:rPr>
              <a:t>Projenin, mevcut imkânlar ve eğitim seviyesine uygun araçlarla uygulanabilir nitelikte olduğu anlaşılmalıdır.</a:t>
            </a:r>
            <a:endParaRPr lang="tr-TR" sz="2000" dirty="0">
              <a:solidFill>
                <a:srgbClr val="FF0000"/>
              </a:solidFill>
              <a:latin typeface="Aileron Bold"/>
            </a:endParaRPr>
          </a:p>
          <a:p>
            <a:pPr algn="just">
              <a:buSzPts val="1000"/>
              <a:tabLst>
                <a:tab pos="457200" algn="l"/>
              </a:tabLst>
            </a:pPr>
            <a:endParaRPr lang="tr-TR" sz="2000" dirty="0">
              <a:solidFill>
                <a:srgbClr val="DE2223"/>
              </a:solidFill>
              <a:latin typeface="Aileron Bold"/>
            </a:endParaRPr>
          </a:p>
        </p:txBody>
      </p:sp>
      <p:sp>
        <p:nvSpPr>
          <p:cNvPr id="24" name="TextBox 8">
            <a:extLst>
              <a:ext uri="{FF2B5EF4-FFF2-40B4-BE49-F238E27FC236}">
                <a16:creationId xmlns:a16="http://schemas.microsoft.com/office/drawing/2014/main" id="{71D1C19C-B582-2E24-BFAD-646B541B4991}"/>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PROJE AMACI VE TOPLUMSAL KATKI</a:t>
            </a:r>
            <a:endParaRPr lang="en-US" sz="6399" dirty="0">
              <a:solidFill>
                <a:srgbClr val="1A426A"/>
              </a:solidFill>
              <a:latin typeface="Active Heart"/>
            </a:endParaRPr>
          </a:p>
        </p:txBody>
      </p:sp>
      <p:sp>
        <p:nvSpPr>
          <p:cNvPr id="4" name="AutoShape 20">
            <a:extLst>
              <a:ext uri="{FF2B5EF4-FFF2-40B4-BE49-F238E27FC236}">
                <a16:creationId xmlns:a16="http://schemas.microsoft.com/office/drawing/2014/main" id="{2D13176A-84D7-66E7-17C9-DF310B03B167}"/>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C11EE7D3-B04C-DBEC-516C-E9E95D2F6C79}"/>
              </a:ext>
            </a:extLst>
          </p:cNvPr>
          <p:cNvSpPr txBox="1"/>
          <p:nvPr/>
        </p:nvSpPr>
        <p:spPr>
          <a:xfrm>
            <a:off x="15343980" y="47564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502FC5E4-F465-8447-2514-5C69DFB4977C}"/>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CA098559-2C83-06C5-1553-F1EA75F82049}"/>
              </a:ext>
            </a:extLst>
          </p:cNvPr>
          <p:cNvSpPr txBox="1"/>
          <p:nvPr/>
        </p:nvSpPr>
        <p:spPr>
          <a:xfrm>
            <a:off x="15986302" y="8010385"/>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CD4C4667-DD56-C9D6-304D-693C3183F767}"/>
              </a:ext>
            </a:extLst>
          </p:cNvPr>
          <p:cNvSpPr txBox="1"/>
          <p:nvPr/>
        </p:nvSpPr>
        <p:spPr>
          <a:xfrm>
            <a:off x="15233043" y="5555213"/>
            <a:ext cx="2198106"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TİCARİLEŞTİRME POTANSİYELİ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4E174176-6C10-7F4F-1A90-C2F1FD68B7B7}"/>
              </a:ext>
            </a:extLst>
          </p:cNvPr>
          <p:cNvSpPr txBox="1"/>
          <p:nvPr/>
        </p:nvSpPr>
        <p:spPr>
          <a:xfrm>
            <a:off x="15745664" y="73245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PROJE TAKVİMİ</a:t>
            </a:r>
          </a:p>
        </p:txBody>
      </p:sp>
      <p:sp>
        <p:nvSpPr>
          <p:cNvPr id="10" name="TextBox 40">
            <a:extLst>
              <a:ext uri="{FF2B5EF4-FFF2-40B4-BE49-F238E27FC236}">
                <a16:creationId xmlns:a16="http://schemas.microsoft.com/office/drawing/2014/main" id="{17187EA9-D557-51D5-67DB-C35CAA64EFB0}"/>
              </a:ext>
            </a:extLst>
          </p:cNvPr>
          <p:cNvSpPr txBox="1"/>
          <p:nvPr/>
        </p:nvSpPr>
        <p:spPr>
          <a:xfrm>
            <a:off x="15562818" y="2546657"/>
            <a:ext cx="1886982"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887F1E8D-6754-7302-9985-07E0BE812A5E}"/>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953185FC-F42E-FA24-6B72-76941671798F}"/>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F6FE7088-9DBB-B9D6-DC6F-CDA1CF406EAC}"/>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7E27EDD6-FB11-0B5F-30AC-FFF9080836A8}"/>
              </a:ext>
            </a:extLst>
          </p:cNvPr>
          <p:cNvSpPr/>
          <p:nvPr/>
        </p:nvSpPr>
        <p:spPr>
          <a:xfrm>
            <a:off x="17537349" y="4857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43EBA5A6-4539-655F-DF84-7B84A57A2542}"/>
              </a:ext>
            </a:extLst>
          </p:cNvPr>
          <p:cNvSpPr/>
          <p:nvPr/>
        </p:nvSpPr>
        <p:spPr>
          <a:xfrm>
            <a:off x="17531608" y="5695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7E62E5F6-060F-EE12-F797-A67FA617F22D}"/>
              </a:ext>
            </a:extLst>
          </p:cNvPr>
          <p:cNvSpPr/>
          <p:nvPr/>
        </p:nvSpPr>
        <p:spPr>
          <a:xfrm>
            <a:off x="17516247" y="7295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4C79A322-42F6-EA25-B3B1-4658B3524080}"/>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8" name="TextBox 34">
            <a:extLst>
              <a:ext uri="{FF2B5EF4-FFF2-40B4-BE49-F238E27FC236}">
                <a16:creationId xmlns:a16="http://schemas.microsoft.com/office/drawing/2014/main" id="{2C693720-0A00-07B1-5108-1F48ECAC4849}"/>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19" name="Freeform 97">
            <a:extLst>
              <a:ext uri="{FF2B5EF4-FFF2-40B4-BE49-F238E27FC236}">
                <a16:creationId xmlns:a16="http://schemas.microsoft.com/office/drawing/2014/main" id="{CFB85C95-198D-41F4-4798-E261AB97ED9B}"/>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0" name="Freeform 21">
            <a:extLst>
              <a:ext uri="{FF2B5EF4-FFF2-40B4-BE49-F238E27FC236}">
                <a16:creationId xmlns:a16="http://schemas.microsoft.com/office/drawing/2014/main" id="{6F22DD21-F495-9AE2-385B-18E7E052B01D}"/>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1" name="TextBox 40">
            <a:extLst>
              <a:ext uri="{FF2B5EF4-FFF2-40B4-BE49-F238E27FC236}">
                <a16:creationId xmlns:a16="http://schemas.microsoft.com/office/drawing/2014/main" id="{1FF45F31-5200-A2FF-6E2C-626BC99AEBD9}"/>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2" name="Freeform 97">
            <a:extLst>
              <a:ext uri="{FF2B5EF4-FFF2-40B4-BE49-F238E27FC236}">
                <a16:creationId xmlns:a16="http://schemas.microsoft.com/office/drawing/2014/main" id="{92B64A78-9027-A3A8-50EA-4BA20E1D2DE7}"/>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3" name="TextBox 38">
            <a:extLst>
              <a:ext uri="{FF2B5EF4-FFF2-40B4-BE49-F238E27FC236}">
                <a16:creationId xmlns:a16="http://schemas.microsoft.com/office/drawing/2014/main" id="{82696E56-F17F-81B7-C383-132669DDFC27}"/>
              </a:ext>
            </a:extLst>
          </p:cNvPr>
          <p:cNvSpPr txBox="1"/>
          <p:nvPr/>
        </p:nvSpPr>
        <p:spPr>
          <a:xfrm>
            <a:off x="15754072" y="66387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HEDEF KİTLE</a:t>
            </a:r>
          </a:p>
        </p:txBody>
      </p:sp>
      <p:sp>
        <p:nvSpPr>
          <p:cNvPr id="25" name="Freeform 21">
            <a:extLst>
              <a:ext uri="{FF2B5EF4-FFF2-40B4-BE49-F238E27FC236}">
                <a16:creationId xmlns:a16="http://schemas.microsoft.com/office/drawing/2014/main" id="{29277000-94DF-58D5-3A50-279A04D85016}"/>
              </a:ext>
            </a:extLst>
          </p:cNvPr>
          <p:cNvSpPr/>
          <p:nvPr/>
        </p:nvSpPr>
        <p:spPr>
          <a:xfrm>
            <a:off x="17537349" y="66101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 name="TextBox 114">
            <a:extLst>
              <a:ext uri="{FF2B5EF4-FFF2-40B4-BE49-F238E27FC236}">
                <a16:creationId xmlns:a16="http://schemas.microsoft.com/office/drawing/2014/main" id="{6010A2C6-8F17-9FEA-6AF2-BBEF23080D91}"/>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 ŞABLONU</a:t>
            </a:r>
          </a:p>
        </p:txBody>
      </p:sp>
    </p:spTree>
    <p:extLst>
      <p:ext uri="{BB962C8B-B14F-4D97-AF65-F5344CB8AC3E}">
        <p14:creationId xmlns:p14="http://schemas.microsoft.com/office/powerpoint/2010/main" val="41558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F88C-5545-8565-509F-869A8FC309EC}"/>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C34BA6F3-FF3A-3F81-0BA9-EF72C08CEEAC}"/>
              </a:ext>
            </a:extLst>
          </p:cNvPr>
          <p:cNvSpPr txBox="1"/>
          <p:nvPr/>
        </p:nvSpPr>
        <p:spPr>
          <a:xfrm>
            <a:off x="1295400" y="1775374"/>
            <a:ext cx="11631457" cy="6264407"/>
          </a:xfrm>
          <a:prstGeom prst="rect">
            <a:avLst/>
          </a:prstGeom>
          <a:noFill/>
        </p:spPr>
        <p:txBody>
          <a:bodyPr wrap="square">
            <a:spAutoFit/>
          </a:bodyPr>
          <a:lstStyle/>
          <a:p>
            <a:pPr algn="just">
              <a:lnSpc>
                <a:spcPts val="2880"/>
              </a:lnSpc>
            </a:pPr>
            <a:endParaRPr lang="tr-TR" dirty="0">
              <a:solidFill>
                <a:srgbClr val="FF0000"/>
              </a:solidFill>
            </a:endParaRPr>
          </a:p>
          <a:p>
            <a:pPr marL="480060" lvl="1" indent="-285750" algn="just">
              <a:lnSpc>
                <a:spcPts val="2880"/>
              </a:lnSpc>
              <a:buFont typeface="Arial" panose="020B0604020202020204" pitchFamily="34" charset="0"/>
              <a:buChar char="•"/>
            </a:pPr>
            <a:r>
              <a:rPr lang="tr-TR" dirty="0">
                <a:solidFill>
                  <a:srgbClr val="FF0000"/>
                </a:solidFill>
                <a:latin typeface="Aileron Bold"/>
              </a:rPr>
              <a:t>Problemin ele alındığı sayfadır.</a:t>
            </a:r>
          </a:p>
          <a:p>
            <a:pPr marL="480060" lvl="1" indent="-285750" algn="just">
              <a:lnSpc>
                <a:spcPts val="2880"/>
              </a:lnSpc>
              <a:buFont typeface="Arial" panose="020B0604020202020204" pitchFamily="34" charset="0"/>
              <a:buChar char="•"/>
            </a:pPr>
            <a:r>
              <a:rPr lang="tr-TR" dirty="0">
                <a:solidFill>
                  <a:srgbClr val="FF0000"/>
                </a:solidFill>
                <a:latin typeface="Aileron Bold"/>
              </a:rPr>
              <a:t>Problem tanımı </a:t>
            </a:r>
            <a:r>
              <a:rPr lang="tr-TR" u="sng" dirty="0">
                <a:solidFill>
                  <a:srgbClr val="FF0000"/>
                </a:solidFill>
                <a:latin typeface="Aileron Bold Italics"/>
              </a:rPr>
              <a:t>en  fazla 2 </a:t>
            </a:r>
            <a:r>
              <a:rPr lang="tr-TR" dirty="0">
                <a:solidFill>
                  <a:srgbClr val="FF0000"/>
                </a:solidFill>
                <a:latin typeface="Aileron Bold"/>
              </a:rPr>
              <a:t>(iki) sayfada açıklanmalıdır. </a:t>
            </a:r>
            <a:r>
              <a:rPr lang="tr-TR" u="sng" dirty="0">
                <a:solidFill>
                  <a:srgbClr val="FF0000"/>
                </a:solidFill>
                <a:latin typeface="Aileron Bold"/>
              </a:rPr>
              <a:t>Sayfa sınırı </a:t>
            </a:r>
            <a:r>
              <a:rPr lang="tr-TR" dirty="0">
                <a:solidFill>
                  <a:srgbClr val="FF0000"/>
                </a:solidFill>
                <a:latin typeface="Aileron Bold"/>
              </a:rPr>
              <a:t>aşılmamalıdır. İsteyen takımlar bir 1 (bir) sayfada anlatabilir.</a:t>
            </a:r>
          </a:p>
          <a:p>
            <a:pPr marL="194310" lvl="1" algn="just">
              <a:lnSpc>
                <a:spcPts val="2880"/>
              </a:lnSpc>
            </a:pPr>
            <a:endParaRPr lang="tr-TR" dirty="0">
              <a:solidFill>
                <a:srgbClr val="FF0000"/>
              </a:solidFill>
              <a:latin typeface="Aileron Bold"/>
            </a:endParaRPr>
          </a:p>
          <a:p>
            <a:pPr marL="194310" lvl="1" algn="just">
              <a:lnSpc>
                <a:spcPts val="2880"/>
              </a:lnSpc>
            </a:pPr>
            <a:r>
              <a:rPr lang="tr-TR" dirty="0">
                <a:solidFill>
                  <a:srgbClr val="FF0000"/>
                </a:solidFill>
                <a:latin typeface="Aileron Bold"/>
              </a:rPr>
              <a:t>Projede ele alınan problem açık ve tutarlı bir dil kullanılarak tanımlanmalıdır. Yapılan açıklamalar, problemin önemi ve hangi alanları etkilediğini ortaya koymalıdır.</a:t>
            </a:r>
          </a:p>
          <a:p>
            <a:pPr algn="just"/>
            <a:endParaRPr lang="tr-TR" dirty="0">
              <a:solidFill>
                <a:srgbClr val="FF0000"/>
              </a:solidFill>
              <a:latin typeface="Aileron Bold"/>
            </a:endParaRPr>
          </a:p>
          <a:p>
            <a:pPr algn="just"/>
            <a:r>
              <a:rPr lang="tr-TR" dirty="0">
                <a:solidFill>
                  <a:srgbClr val="FF0000"/>
                </a:solidFill>
                <a:latin typeface="Aileron Bold"/>
              </a:rPr>
              <a:t>     Bu kapsamda;</a:t>
            </a:r>
          </a:p>
          <a:p>
            <a:pPr marL="742950" lvl="1" indent="-285750" algn="just">
              <a:buFont typeface="Arial" panose="020B0604020202020204" pitchFamily="34" charset="0"/>
              <a:buChar char="•"/>
            </a:pPr>
            <a:r>
              <a:rPr lang="tr-TR" dirty="0">
                <a:solidFill>
                  <a:srgbClr val="FF0000"/>
                </a:solidFill>
                <a:latin typeface="Aileron Bold"/>
              </a:rPr>
              <a:t>Problemin ne olduğu açık biçimde ifade edilmelidir. </a:t>
            </a:r>
          </a:p>
          <a:p>
            <a:pPr marL="742950" lvl="1" indent="-285750" algn="just">
              <a:buFont typeface="Arial" panose="020B0604020202020204" pitchFamily="34" charset="0"/>
              <a:buChar char="•"/>
            </a:pPr>
            <a:r>
              <a:rPr lang="tr-TR" dirty="0">
                <a:solidFill>
                  <a:srgbClr val="FF0000"/>
                </a:solidFill>
                <a:latin typeface="Aileron Bold"/>
              </a:rPr>
              <a:t>Problemin insanlar, çevre veya yaşam kalitesi üzerindeki etkileri belirtilmelidir.</a:t>
            </a:r>
          </a:p>
          <a:p>
            <a:pPr marL="742950" lvl="1" indent="-285750" algn="just">
              <a:buFont typeface="Arial" panose="020B0604020202020204" pitchFamily="34" charset="0"/>
              <a:buChar char="•"/>
            </a:pPr>
            <a:r>
              <a:rPr lang="tr-TR" dirty="0">
                <a:solidFill>
                  <a:srgbClr val="FF0000"/>
                </a:solidFill>
                <a:latin typeface="Aileron Bold"/>
              </a:rPr>
              <a:t>Problemle ilgili daha önce bilinen çözümler, gözlemler veya örnek uygulamalar kısa ve açıklayıcı biçimde belirtilebilir.</a:t>
            </a:r>
          </a:p>
          <a:p>
            <a:pPr lvl="1" algn="just"/>
            <a:endParaRPr lang="tr-TR" dirty="0">
              <a:solidFill>
                <a:srgbClr val="FF0000"/>
              </a:solidFill>
              <a:latin typeface="Aileron Bold"/>
            </a:endParaRPr>
          </a:p>
          <a:p>
            <a:pPr lvl="1" algn="just"/>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a:p>
            <a:pPr lvl="1" algn="just"/>
            <a:endParaRPr lang="tr-TR" dirty="0">
              <a:solidFill>
                <a:srgbClr val="C00000"/>
              </a:solidFill>
              <a:latin typeface="Aileron Bold"/>
            </a:endParaRPr>
          </a:p>
          <a:p>
            <a:pPr marL="194310" lvl="1" algn="just">
              <a:lnSpc>
                <a:spcPts val="2880"/>
              </a:lnSpc>
            </a:pPr>
            <a:endParaRPr lang="tr-TR" dirty="0">
              <a:solidFill>
                <a:srgbClr val="DE2223"/>
              </a:solidFill>
              <a:latin typeface="Aileron Bold"/>
            </a:endParaRPr>
          </a:p>
          <a:p>
            <a:pPr algn="just">
              <a:lnSpc>
                <a:spcPts val="2880"/>
              </a:lnSpc>
            </a:pPr>
            <a:endParaRPr lang="tr-TR" dirty="0">
              <a:solidFill>
                <a:srgbClr val="DE2223"/>
              </a:solidFill>
              <a:latin typeface="Aileron Bold"/>
            </a:endParaRPr>
          </a:p>
          <a:p>
            <a:pPr algn="just">
              <a:lnSpc>
                <a:spcPts val="2880"/>
              </a:lnSpc>
            </a:pPr>
            <a:endParaRPr lang="tr-TR" dirty="0">
              <a:solidFill>
                <a:srgbClr val="DE2223"/>
              </a:solidFill>
              <a:latin typeface="Aileron Bold"/>
            </a:endParaRPr>
          </a:p>
        </p:txBody>
      </p:sp>
      <p:sp>
        <p:nvSpPr>
          <p:cNvPr id="24" name="TextBox 8">
            <a:extLst>
              <a:ext uri="{FF2B5EF4-FFF2-40B4-BE49-F238E27FC236}">
                <a16:creationId xmlns:a16="http://schemas.microsoft.com/office/drawing/2014/main" id="{B7500F9C-8E20-CE91-C4E8-D5562DFBBF69}"/>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PROBLEMİN TANIMI VE ÖNEMİ</a:t>
            </a:r>
            <a:endParaRPr lang="en-US" sz="6399" dirty="0">
              <a:solidFill>
                <a:srgbClr val="1A426A"/>
              </a:solidFill>
              <a:latin typeface="Active Heart"/>
            </a:endParaRPr>
          </a:p>
        </p:txBody>
      </p:sp>
      <p:sp>
        <p:nvSpPr>
          <p:cNvPr id="4" name="AutoShape 20">
            <a:extLst>
              <a:ext uri="{FF2B5EF4-FFF2-40B4-BE49-F238E27FC236}">
                <a16:creationId xmlns:a16="http://schemas.microsoft.com/office/drawing/2014/main" id="{9D63BB99-FA61-F035-D612-FECFE26B5CF6}"/>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3DA65E91-519E-C8C7-54D8-96E16A868D77}"/>
              </a:ext>
            </a:extLst>
          </p:cNvPr>
          <p:cNvSpPr txBox="1"/>
          <p:nvPr/>
        </p:nvSpPr>
        <p:spPr>
          <a:xfrm>
            <a:off x="15343980" y="47564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EC6136B9-56DE-B91F-0C10-786F151C03B2}"/>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482F5F06-8D3D-91FD-A0C4-4CCE38E6A175}"/>
              </a:ext>
            </a:extLst>
          </p:cNvPr>
          <p:cNvSpPr txBox="1"/>
          <p:nvPr/>
        </p:nvSpPr>
        <p:spPr>
          <a:xfrm>
            <a:off x="15986302" y="8010385"/>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5904FC7B-06FC-3C8C-6FE3-9696829283A6}"/>
              </a:ext>
            </a:extLst>
          </p:cNvPr>
          <p:cNvSpPr txBox="1"/>
          <p:nvPr/>
        </p:nvSpPr>
        <p:spPr>
          <a:xfrm>
            <a:off x="15233043" y="5555213"/>
            <a:ext cx="2198106"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TİCARİLEŞTİRME POTANSİYELİ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38BFE0DD-6816-412B-E9DA-774C06875D16}"/>
              </a:ext>
            </a:extLst>
          </p:cNvPr>
          <p:cNvSpPr txBox="1"/>
          <p:nvPr/>
        </p:nvSpPr>
        <p:spPr>
          <a:xfrm>
            <a:off x="15745664" y="73245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PROJE TAKVİMİ</a:t>
            </a:r>
          </a:p>
        </p:txBody>
      </p:sp>
      <p:sp>
        <p:nvSpPr>
          <p:cNvPr id="10" name="TextBox 40">
            <a:extLst>
              <a:ext uri="{FF2B5EF4-FFF2-40B4-BE49-F238E27FC236}">
                <a16:creationId xmlns:a16="http://schemas.microsoft.com/office/drawing/2014/main" id="{05D5FF23-6A25-064F-FED2-7D8815C720E1}"/>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D731DBD6-04D4-21E0-27A8-264074A2F4EA}"/>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49A04346-AFC1-89B9-605D-30BF277CBA1F}"/>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A02E3FFC-7159-0AD5-3C61-E306AF683BD7}"/>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F6146797-3CD8-77AC-4EC9-5292F92AB5C5}"/>
              </a:ext>
            </a:extLst>
          </p:cNvPr>
          <p:cNvSpPr/>
          <p:nvPr/>
        </p:nvSpPr>
        <p:spPr>
          <a:xfrm>
            <a:off x="17537349" y="4857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953C9E04-F07F-0060-472C-E5F8D467DA2C}"/>
              </a:ext>
            </a:extLst>
          </p:cNvPr>
          <p:cNvSpPr/>
          <p:nvPr/>
        </p:nvSpPr>
        <p:spPr>
          <a:xfrm>
            <a:off x="17531608" y="5695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D9DED318-7DA1-244F-5E89-4DE6BB7BAD68}"/>
              </a:ext>
            </a:extLst>
          </p:cNvPr>
          <p:cNvSpPr/>
          <p:nvPr/>
        </p:nvSpPr>
        <p:spPr>
          <a:xfrm>
            <a:off x="17516247" y="7295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579FFADA-C93F-96E8-64D0-8869A5CCF96E}"/>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8" name="TextBox 34">
            <a:extLst>
              <a:ext uri="{FF2B5EF4-FFF2-40B4-BE49-F238E27FC236}">
                <a16:creationId xmlns:a16="http://schemas.microsoft.com/office/drawing/2014/main" id="{03B714AD-7B16-48DB-2A4E-5675D943FF94}"/>
              </a:ext>
            </a:extLst>
          </p:cNvPr>
          <p:cNvSpPr txBox="1"/>
          <p:nvPr/>
        </p:nvSpPr>
        <p:spPr>
          <a:xfrm>
            <a:off x="15562818" y="3308657"/>
            <a:ext cx="1928327"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19" name="Freeform 97">
            <a:extLst>
              <a:ext uri="{FF2B5EF4-FFF2-40B4-BE49-F238E27FC236}">
                <a16:creationId xmlns:a16="http://schemas.microsoft.com/office/drawing/2014/main" id="{ADFE48BF-369F-2D56-AC8B-12081B10967A}"/>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0" name="Freeform 21">
            <a:extLst>
              <a:ext uri="{FF2B5EF4-FFF2-40B4-BE49-F238E27FC236}">
                <a16:creationId xmlns:a16="http://schemas.microsoft.com/office/drawing/2014/main" id="{955CEC20-702A-4296-E3C8-AD19C446F324}"/>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1" name="TextBox 40">
            <a:extLst>
              <a:ext uri="{FF2B5EF4-FFF2-40B4-BE49-F238E27FC236}">
                <a16:creationId xmlns:a16="http://schemas.microsoft.com/office/drawing/2014/main" id="{AD9360A6-DF7C-1FDC-9F06-481684AB89F7}"/>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2" name="Freeform 97">
            <a:extLst>
              <a:ext uri="{FF2B5EF4-FFF2-40B4-BE49-F238E27FC236}">
                <a16:creationId xmlns:a16="http://schemas.microsoft.com/office/drawing/2014/main" id="{4F139894-A5F9-4774-6E28-CF05059CF081}"/>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3" name="TextBox 38">
            <a:extLst>
              <a:ext uri="{FF2B5EF4-FFF2-40B4-BE49-F238E27FC236}">
                <a16:creationId xmlns:a16="http://schemas.microsoft.com/office/drawing/2014/main" id="{17130BB2-5E21-926D-0364-8153E5D10C8E}"/>
              </a:ext>
            </a:extLst>
          </p:cNvPr>
          <p:cNvSpPr txBox="1"/>
          <p:nvPr/>
        </p:nvSpPr>
        <p:spPr>
          <a:xfrm>
            <a:off x="15754072" y="66387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HEDEF KİTLE</a:t>
            </a:r>
          </a:p>
        </p:txBody>
      </p:sp>
      <p:sp>
        <p:nvSpPr>
          <p:cNvPr id="25" name="Freeform 21">
            <a:extLst>
              <a:ext uri="{FF2B5EF4-FFF2-40B4-BE49-F238E27FC236}">
                <a16:creationId xmlns:a16="http://schemas.microsoft.com/office/drawing/2014/main" id="{B8110DFB-268A-A76A-2822-F7433F7E2BED}"/>
              </a:ext>
            </a:extLst>
          </p:cNvPr>
          <p:cNvSpPr/>
          <p:nvPr/>
        </p:nvSpPr>
        <p:spPr>
          <a:xfrm>
            <a:off x="17537349" y="66101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6" name="TextBox 114">
            <a:extLst>
              <a:ext uri="{FF2B5EF4-FFF2-40B4-BE49-F238E27FC236}">
                <a16:creationId xmlns:a16="http://schemas.microsoft.com/office/drawing/2014/main" id="{A48F7044-DBAD-EE96-19D4-94825C649D08}"/>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extLst>
      <p:ext uri="{BB962C8B-B14F-4D97-AF65-F5344CB8AC3E}">
        <p14:creationId xmlns:p14="http://schemas.microsoft.com/office/powerpoint/2010/main" val="368117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71F58-4EAD-D6C6-D1D2-1CC3ED248536}"/>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1767CCA2-C620-3B93-EC55-720D1532EE96}"/>
              </a:ext>
            </a:extLst>
          </p:cNvPr>
          <p:cNvSpPr txBox="1"/>
          <p:nvPr/>
        </p:nvSpPr>
        <p:spPr>
          <a:xfrm>
            <a:off x="1295400" y="2022762"/>
            <a:ext cx="11631457" cy="4738348"/>
          </a:xfrm>
          <a:prstGeom prst="rect">
            <a:avLst/>
          </a:prstGeom>
          <a:noFill/>
        </p:spPr>
        <p:txBody>
          <a:bodyPr wrap="square">
            <a:spAutoFit/>
          </a:bodyPr>
          <a:lstStyle/>
          <a:p>
            <a:pPr marL="388620" lvl="1" indent="-194310">
              <a:lnSpc>
                <a:spcPts val="2880"/>
              </a:lnSpc>
              <a:buFont typeface="Arial"/>
              <a:buChar char="•"/>
            </a:pP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fikre</a:t>
            </a:r>
            <a:r>
              <a:rPr lang="en-US" dirty="0">
                <a:solidFill>
                  <a:srgbClr val="FF0000"/>
                </a:solidFill>
                <a:latin typeface="Aileron Bold"/>
              </a:rPr>
              <a:t> </a:t>
            </a:r>
            <a:r>
              <a:rPr lang="en-US" dirty="0" err="1">
                <a:solidFill>
                  <a:srgbClr val="FF0000"/>
                </a:solidFill>
                <a:latin typeface="Aileron Bold"/>
              </a:rPr>
              <a:t>ait</a:t>
            </a:r>
            <a:r>
              <a:rPr lang="en-US" dirty="0">
                <a:solidFill>
                  <a:srgbClr val="FF0000"/>
                </a:solidFill>
                <a:latin typeface="Aileron Bold"/>
              </a:rPr>
              <a:t> </a:t>
            </a:r>
            <a:r>
              <a:rPr lang="en-US" dirty="0" err="1">
                <a:solidFill>
                  <a:srgbClr val="FF0000"/>
                </a:solidFill>
                <a:latin typeface="Aileron Bold"/>
              </a:rPr>
              <a:t>çözümün</a:t>
            </a:r>
            <a:r>
              <a:rPr lang="en-US" dirty="0">
                <a:solidFill>
                  <a:srgbClr val="FF0000"/>
                </a:solidFill>
                <a:latin typeface="Aileron Bold"/>
              </a:rPr>
              <a:t> </a:t>
            </a:r>
            <a:r>
              <a:rPr lang="en-US" dirty="0" err="1">
                <a:solidFill>
                  <a:srgbClr val="FF0000"/>
                </a:solidFill>
                <a:latin typeface="Aileron Bold"/>
              </a:rPr>
              <a:t>anlatıldığı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nSpc>
                <a:spcPts val="2880"/>
              </a:lnSpc>
              <a:buFont typeface="Arial"/>
              <a:buChar char="•"/>
            </a:pPr>
            <a:r>
              <a:rPr lang="en-US" dirty="0" err="1">
                <a:solidFill>
                  <a:srgbClr val="FF0000"/>
                </a:solidFill>
                <a:latin typeface="Aileron Bold"/>
              </a:rPr>
              <a:t>Çözüm</a:t>
            </a:r>
            <a:r>
              <a:rPr lang="en-US" dirty="0">
                <a:solidFill>
                  <a:srgbClr val="FF0000"/>
                </a:solidFill>
                <a:latin typeface="Aileron Bold"/>
              </a:rPr>
              <a:t> </a:t>
            </a:r>
            <a:r>
              <a:rPr lang="en-US" u="sng" dirty="0" err="1">
                <a:solidFill>
                  <a:srgbClr val="FF0000"/>
                </a:solidFill>
                <a:latin typeface="Aileron Bold"/>
              </a:rPr>
              <a:t>en</a:t>
            </a:r>
            <a:r>
              <a:rPr lang="en-US" u="sng" dirty="0">
                <a:solidFill>
                  <a:srgbClr val="FF0000"/>
                </a:solidFill>
                <a:latin typeface="Aileron Bold"/>
              </a:rPr>
              <a:t> </a:t>
            </a:r>
            <a:r>
              <a:rPr lang="en-US" u="sng" dirty="0" err="1">
                <a:solidFill>
                  <a:srgbClr val="FF0000"/>
                </a:solidFill>
                <a:latin typeface="Aileron Bold"/>
              </a:rPr>
              <a:t>fazla</a:t>
            </a:r>
            <a:r>
              <a:rPr lang="en-US" u="sng" dirty="0">
                <a:solidFill>
                  <a:srgbClr val="FF0000"/>
                </a:solidFill>
                <a:latin typeface="Aileron Bold"/>
              </a:rPr>
              <a:t> 2 (</a:t>
            </a:r>
            <a:r>
              <a:rPr lang="en-US" u="sng" dirty="0" err="1">
                <a:solidFill>
                  <a:srgbClr val="FF0000"/>
                </a:solidFill>
                <a:latin typeface="Aileron Bold"/>
              </a:rPr>
              <a:t>iki</a:t>
            </a:r>
            <a:r>
              <a:rPr lang="en-US" u="sng" dirty="0">
                <a:solidFill>
                  <a:srgbClr val="FF0000"/>
                </a:solidFill>
                <a:latin typeface="Aileron Bold"/>
              </a:rPr>
              <a:t>) </a:t>
            </a:r>
            <a:r>
              <a:rPr lang="en-US" u="sng" dirty="0" err="1">
                <a:solidFill>
                  <a:srgbClr val="FF0000"/>
                </a:solidFill>
                <a:latin typeface="Aileron Bold"/>
              </a:rPr>
              <a:t>sayfad</a:t>
            </a:r>
            <a:r>
              <a:rPr lang="tr-TR" u="sng" dirty="0">
                <a:solidFill>
                  <a:srgbClr val="FF0000"/>
                </a:solidFill>
                <a:latin typeface="Aileron Bold"/>
              </a:rPr>
              <a:t>a </a:t>
            </a:r>
            <a:r>
              <a:rPr lang="tr-TR" dirty="0">
                <a:solidFill>
                  <a:srgbClr val="FF0000"/>
                </a:solidFill>
                <a:latin typeface="Aileron Bold"/>
              </a:rPr>
              <a:t>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a:t>
            </a:r>
          </a:p>
          <a:p>
            <a:pPr marL="194310" lvl="1">
              <a:lnSpc>
                <a:spcPts val="2880"/>
              </a:lnSpc>
            </a:pPr>
            <a:endParaRPr lang="en-US" dirty="0">
              <a:solidFill>
                <a:srgbClr val="FF0000"/>
              </a:solidFill>
              <a:latin typeface="Aileron Bold"/>
            </a:endParaRPr>
          </a:p>
          <a:p>
            <a:pPr lvl="1" algn="just"/>
            <a:r>
              <a:rPr lang="tr-TR" dirty="0">
                <a:solidFill>
                  <a:srgbClr val="FF0000"/>
                </a:solidFill>
                <a:latin typeface="Aileron Bold"/>
              </a:rPr>
              <a:t>Tanımlanan probleme yönelik geliştirilen çözüm önerisi sade, anlaşılır ve uygun bir anlatımla açıklanmalıdır. </a:t>
            </a:r>
          </a:p>
          <a:p>
            <a:pPr lvl="1" algn="just"/>
            <a:r>
              <a:rPr lang="tr-TR" dirty="0">
                <a:solidFill>
                  <a:srgbClr val="FF0000"/>
                </a:solidFill>
                <a:latin typeface="Aileron Bold"/>
              </a:rPr>
              <a:t>Sunulan açıklama, çözümün problemle olan ilişkisini ve temel işleyiş mantığını ortaya koymalıdır.</a:t>
            </a:r>
          </a:p>
          <a:p>
            <a:pPr lvl="1" algn="just"/>
            <a:r>
              <a:rPr lang="tr-TR" dirty="0">
                <a:solidFill>
                  <a:srgbClr val="FF0000"/>
                </a:solidFill>
                <a:latin typeface="Aileron Bold"/>
              </a:rPr>
              <a:t>Bu çerçevede;</a:t>
            </a:r>
          </a:p>
          <a:p>
            <a:pPr marL="742950" lvl="1" indent="-285750" algn="just">
              <a:buFont typeface="Arial" panose="020B0604020202020204" pitchFamily="34" charset="0"/>
              <a:buChar char="•"/>
            </a:pPr>
            <a:r>
              <a:rPr lang="tr-TR" dirty="0">
                <a:solidFill>
                  <a:srgbClr val="FF0000"/>
                </a:solidFill>
                <a:latin typeface="Aileron Bold"/>
              </a:rPr>
              <a:t>Projede önerilen çözümün hangi sorunu çözmek için düşünüldüğü,</a:t>
            </a:r>
          </a:p>
          <a:p>
            <a:pPr marL="742950" lvl="1" indent="-285750" algn="just">
              <a:buFont typeface="Arial" panose="020B0604020202020204" pitchFamily="34" charset="0"/>
              <a:buChar char="•"/>
            </a:pPr>
            <a:r>
              <a:rPr lang="tr-TR" dirty="0">
                <a:solidFill>
                  <a:srgbClr val="FF0000"/>
                </a:solidFill>
                <a:latin typeface="Aileron Bold"/>
              </a:rPr>
              <a:t>Bu çözümün kısaca nasıl etkili olacağı,</a:t>
            </a:r>
          </a:p>
          <a:p>
            <a:pPr marL="742950" lvl="1" indent="-285750" algn="just">
              <a:buFont typeface="Arial" panose="020B0604020202020204" pitchFamily="34" charset="0"/>
              <a:buChar char="•"/>
            </a:pPr>
            <a:r>
              <a:rPr lang="tr-TR" dirty="0">
                <a:solidFill>
                  <a:srgbClr val="FF0000"/>
                </a:solidFill>
                <a:latin typeface="Aileron Bold"/>
              </a:rPr>
              <a:t>Çözümün temel çalışma mantığı,</a:t>
            </a:r>
          </a:p>
          <a:p>
            <a:pPr marL="742950" lvl="1" indent="-285750" algn="just">
              <a:buFont typeface="Arial" panose="020B0604020202020204" pitchFamily="34" charset="0"/>
              <a:buChar char="•"/>
            </a:pPr>
            <a:r>
              <a:rPr lang="tr-TR" dirty="0">
                <a:solidFill>
                  <a:srgbClr val="FF0000"/>
                </a:solidFill>
                <a:latin typeface="Aileron Bold"/>
              </a:rPr>
              <a:t>Çözümün günlük hayatta nasıl kullanılabileceği </a:t>
            </a:r>
          </a:p>
          <a:p>
            <a:pPr lvl="1" algn="just"/>
            <a:r>
              <a:rPr lang="tr-TR" dirty="0">
                <a:solidFill>
                  <a:srgbClr val="FF0000"/>
                </a:solidFill>
                <a:latin typeface="Aileron Bold"/>
              </a:rPr>
              <a:t>belirtilmelidir.</a:t>
            </a:r>
          </a:p>
          <a:p>
            <a:pPr marL="194310" lvl="1">
              <a:lnSpc>
                <a:spcPts val="2880"/>
              </a:lnSpc>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24" name="TextBox 8">
            <a:extLst>
              <a:ext uri="{FF2B5EF4-FFF2-40B4-BE49-F238E27FC236}">
                <a16:creationId xmlns:a16="http://schemas.microsoft.com/office/drawing/2014/main" id="{1BA7500B-3F67-CACC-AB60-F7CCC3C327BE}"/>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ÇÖZÜM ÖNERİSİ</a:t>
            </a:r>
            <a:endParaRPr lang="en-US" sz="6399" dirty="0">
              <a:solidFill>
                <a:srgbClr val="1A426A"/>
              </a:solidFill>
              <a:latin typeface="Active Heart"/>
            </a:endParaRPr>
          </a:p>
        </p:txBody>
      </p:sp>
      <p:sp>
        <p:nvSpPr>
          <p:cNvPr id="4" name="AutoShape 20">
            <a:extLst>
              <a:ext uri="{FF2B5EF4-FFF2-40B4-BE49-F238E27FC236}">
                <a16:creationId xmlns:a16="http://schemas.microsoft.com/office/drawing/2014/main" id="{B90734C6-6812-F0A4-4A1E-B7ED114C6A87}"/>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D9B6353C-62E5-7442-B3E0-B71F009221EB}"/>
              </a:ext>
            </a:extLst>
          </p:cNvPr>
          <p:cNvSpPr txBox="1"/>
          <p:nvPr/>
        </p:nvSpPr>
        <p:spPr>
          <a:xfrm>
            <a:off x="15343980" y="47564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AF7A243B-541E-55FA-18BE-2C6324328A32}"/>
              </a:ext>
            </a:extLst>
          </p:cNvPr>
          <p:cNvSpPr txBox="1"/>
          <p:nvPr/>
        </p:nvSpPr>
        <p:spPr>
          <a:xfrm>
            <a:off x="15745664" y="4124185"/>
            <a:ext cx="1660989"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6F5D6E1A-0EEA-DF58-2325-34A6EA462925}"/>
              </a:ext>
            </a:extLst>
          </p:cNvPr>
          <p:cNvSpPr txBox="1"/>
          <p:nvPr/>
        </p:nvSpPr>
        <p:spPr>
          <a:xfrm>
            <a:off x="15986302" y="8010385"/>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BA6EED68-1BD8-B867-E9D7-5609E3FB8105}"/>
              </a:ext>
            </a:extLst>
          </p:cNvPr>
          <p:cNvSpPr txBox="1"/>
          <p:nvPr/>
        </p:nvSpPr>
        <p:spPr>
          <a:xfrm>
            <a:off x="15233043" y="5555213"/>
            <a:ext cx="2198106"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TİCARİLEŞTİRME POTANSİYELİ VE SÜRDÜRÜLEBİLİRLİK</a:t>
            </a:r>
            <a:endParaRPr lang="en-US" sz="1550" dirty="0">
              <a:solidFill>
                <a:srgbClr val="1C4C61"/>
              </a:solidFill>
              <a:latin typeface="Aileron Bold"/>
            </a:endParaRPr>
          </a:p>
        </p:txBody>
      </p:sp>
      <p:sp>
        <p:nvSpPr>
          <p:cNvPr id="10" name="TextBox 38">
            <a:extLst>
              <a:ext uri="{FF2B5EF4-FFF2-40B4-BE49-F238E27FC236}">
                <a16:creationId xmlns:a16="http://schemas.microsoft.com/office/drawing/2014/main" id="{5BD84E8C-4F3B-D560-80A4-8167D0E45412}"/>
              </a:ext>
            </a:extLst>
          </p:cNvPr>
          <p:cNvSpPr txBox="1"/>
          <p:nvPr/>
        </p:nvSpPr>
        <p:spPr>
          <a:xfrm>
            <a:off x="15745664" y="73245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PROJE TAKVİMİ</a:t>
            </a:r>
          </a:p>
        </p:txBody>
      </p:sp>
      <p:sp>
        <p:nvSpPr>
          <p:cNvPr id="11" name="TextBox 40">
            <a:extLst>
              <a:ext uri="{FF2B5EF4-FFF2-40B4-BE49-F238E27FC236}">
                <a16:creationId xmlns:a16="http://schemas.microsoft.com/office/drawing/2014/main" id="{3A6B7431-DBAB-FECE-7F94-671A7B194B0C}"/>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12" name="Freeform 21">
            <a:extLst>
              <a:ext uri="{FF2B5EF4-FFF2-40B4-BE49-F238E27FC236}">
                <a16:creationId xmlns:a16="http://schemas.microsoft.com/office/drawing/2014/main" id="{C4482EAE-687E-3B3C-F9CC-A3EB7E1A0BA8}"/>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5A737A90-C7BD-BA87-0ED3-E9F18CD61D98}"/>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3FDC2BC9-5903-A457-36E6-651821A73D94}"/>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B31697C1-F244-5691-3E74-C64FCB581B63}"/>
              </a:ext>
            </a:extLst>
          </p:cNvPr>
          <p:cNvSpPr/>
          <p:nvPr/>
        </p:nvSpPr>
        <p:spPr>
          <a:xfrm>
            <a:off x="17537349" y="4857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A14C1342-BF71-7A37-BF27-3DD670BD076B}"/>
              </a:ext>
            </a:extLst>
          </p:cNvPr>
          <p:cNvSpPr/>
          <p:nvPr/>
        </p:nvSpPr>
        <p:spPr>
          <a:xfrm>
            <a:off x="17531608" y="5695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F1A1EF05-8304-C535-9052-02EBBD77D462}"/>
              </a:ext>
            </a:extLst>
          </p:cNvPr>
          <p:cNvSpPr/>
          <p:nvPr/>
        </p:nvSpPr>
        <p:spPr>
          <a:xfrm>
            <a:off x="17516247" y="7295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18D05716-FC4B-39A4-61A1-BA4F8635868E}"/>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3FCCB033-70C2-E8CD-4498-301C8DC8567A}"/>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F48CB98A-E87B-57F2-CDBF-49D617548F02}"/>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A25A25BD-AACD-073B-8104-55C50991E842}"/>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F6D6C815-2191-CCA1-2317-AF6F7B53D2B4}"/>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DBFAE0DB-9A42-7B46-8CAE-F51214A2EFE8}"/>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5" name="TextBox 38">
            <a:extLst>
              <a:ext uri="{FF2B5EF4-FFF2-40B4-BE49-F238E27FC236}">
                <a16:creationId xmlns:a16="http://schemas.microsoft.com/office/drawing/2014/main" id="{6E868ECF-AA4F-502A-1496-F972437984D0}"/>
              </a:ext>
            </a:extLst>
          </p:cNvPr>
          <p:cNvSpPr txBox="1"/>
          <p:nvPr/>
        </p:nvSpPr>
        <p:spPr>
          <a:xfrm>
            <a:off x="15754072" y="66387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HEDEF KİTLE</a:t>
            </a:r>
          </a:p>
        </p:txBody>
      </p:sp>
      <p:sp>
        <p:nvSpPr>
          <p:cNvPr id="26" name="Freeform 21">
            <a:extLst>
              <a:ext uri="{FF2B5EF4-FFF2-40B4-BE49-F238E27FC236}">
                <a16:creationId xmlns:a16="http://schemas.microsoft.com/office/drawing/2014/main" id="{E414F514-C7CC-F3CE-DA24-2365456EFAE0}"/>
              </a:ext>
            </a:extLst>
          </p:cNvPr>
          <p:cNvSpPr/>
          <p:nvPr/>
        </p:nvSpPr>
        <p:spPr>
          <a:xfrm>
            <a:off x="17537349" y="66101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 name="TextBox 114">
            <a:extLst>
              <a:ext uri="{FF2B5EF4-FFF2-40B4-BE49-F238E27FC236}">
                <a16:creationId xmlns:a16="http://schemas.microsoft.com/office/drawing/2014/main" id="{19CDD76C-E3DB-42F9-05E4-40DF929A8C71}"/>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extLst>
      <p:ext uri="{BB962C8B-B14F-4D97-AF65-F5344CB8AC3E}">
        <p14:creationId xmlns:p14="http://schemas.microsoft.com/office/powerpoint/2010/main" val="163091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9917E-E2B5-6444-9A8A-998310BEF9F4}"/>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DC6E3004-700F-F1BF-B458-62194549D879}"/>
              </a:ext>
            </a:extLst>
          </p:cNvPr>
          <p:cNvSpPr txBox="1"/>
          <p:nvPr/>
        </p:nvSpPr>
        <p:spPr>
          <a:xfrm>
            <a:off x="1295400" y="2022762"/>
            <a:ext cx="13100511" cy="6041269"/>
          </a:xfrm>
          <a:prstGeom prst="rect">
            <a:avLst/>
          </a:prstGeom>
          <a:noFill/>
        </p:spPr>
        <p:txBody>
          <a:bodyPr wrap="square">
            <a:spAutoFit/>
          </a:bodyPr>
          <a:lstStyle/>
          <a:p>
            <a:pPr marL="388620" lvl="1" indent="-194310">
              <a:lnSpc>
                <a:spcPts val="2880"/>
              </a:lnSpc>
              <a:buFont typeface="Arial"/>
              <a:buChar char="•"/>
            </a:pPr>
            <a:r>
              <a:rPr lang="en-US" dirty="0" err="1">
                <a:solidFill>
                  <a:srgbClr val="FF0000"/>
                </a:solidFill>
                <a:latin typeface="Aileron Bold"/>
              </a:rPr>
              <a:t>Prototip</a:t>
            </a:r>
            <a:r>
              <a:rPr lang="en-US" dirty="0">
                <a:solidFill>
                  <a:srgbClr val="FF0000"/>
                </a:solidFill>
                <a:latin typeface="Aileron Bold"/>
              </a:rPr>
              <a:t>/</a:t>
            </a:r>
            <a:r>
              <a:rPr lang="en-US" dirty="0" err="1">
                <a:solidFill>
                  <a:srgbClr val="FF0000"/>
                </a:solidFill>
                <a:latin typeface="Aileron Bold"/>
              </a:rPr>
              <a:t>Tasarım</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işleyişi</a:t>
            </a:r>
            <a:r>
              <a:rPr lang="en-US" dirty="0">
                <a:solidFill>
                  <a:srgbClr val="FF0000"/>
                </a:solidFill>
                <a:latin typeface="Aileron Bold"/>
              </a:rPr>
              <a:t> </a:t>
            </a:r>
            <a:r>
              <a:rPr lang="en-US" dirty="0" err="1">
                <a:solidFill>
                  <a:srgbClr val="FF0000"/>
                </a:solidFill>
                <a:latin typeface="Aileron Bold"/>
              </a:rPr>
              <a:t>ile</a:t>
            </a:r>
            <a:r>
              <a:rPr lang="en-US" dirty="0">
                <a:solidFill>
                  <a:srgbClr val="FF0000"/>
                </a:solidFill>
                <a:latin typeface="Aileron Bold"/>
              </a:rPr>
              <a:t> </a:t>
            </a:r>
            <a:r>
              <a:rPr lang="en-US" dirty="0" err="1">
                <a:solidFill>
                  <a:srgbClr val="FF0000"/>
                </a:solidFill>
                <a:latin typeface="Aileron Bold"/>
              </a:rPr>
              <a:t>birlikte</a:t>
            </a:r>
            <a:r>
              <a:rPr lang="en-US" dirty="0">
                <a:solidFill>
                  <a:srgbClr val="FF0000"/>
                </a:solidFill>
                <a:latin typeface="Aileron Bold"/>
              </a:rPr>
              <a:t> </a:t>
            </a:r>
            <a:r>
              <a:rPr lang="en-US" dirty="0" err="1">
                <a:solidFill>
                  <a:srgbClr val="FF0000"/>
                </a:solidFill>
                <a:latin typeface="Aileron Bold"/>
              </a:rPr>
              <a:t>yöntemin</a:t>
            </a:r>
            <a:r>
              <a:rPr lang="en-US" dirty="0">
                <a:solidFill>
                  <a:srgbClr val="FF0000"/>
                </a:solidFill>
                <a:latin typeface="Aileron Bold"/>
              </a:rPr>
              <a:t> </a:t>
            </a:r>
            <a:r>
              <a:rPr lang="en-US" dirty="0" err="1">
                <a:solidFill>
                  <a:srgbClr val="FF0000"/>
                </a:solidFill>
                <a:latin typeface="Aileron Bold"/>
              </a:rPr>
              <a:t>anlatıldığı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nSpc>
                <a:spcPts val="2880"/>
              </a:lnSpc>
              <a:buFont typeface="Arial"/>
              <a:buChar char="•"/>
            </a:pPr>
            <a:r>
              <a:rPr lang="en-US" u="sng" dirty="0">
                <a:solidFill>
                  <a:srgbClr val="FF0000"/>
                </a:solidFill>
                <a:latin typeface="Aileron Bold"/>
              </a:rPr>
              <a:t>En </a:t>
            </a:r>
            <a:r>
              <a:rPr lang="en-US" u="sng" dirty="0" err="1">
                <a:solidFill>
                  <a:srgbClr val="FF0000"/>
                </a:solidFill>
                <a:latin typeface="Aileron Bold"/>
              </a:rPr>
              <a:t>fazla</a:t>
            </a:r>
            <a:r>
              <a:rPr lang="en-US" u="sng" dirty="0">
                <a:solidFill>
                  <a:srgbClr val="FF0000"/>
                </a:solidFill>
                <a:latin typeface="Aileron Bold"/>
              </a:rPr>
              <a:t> 2 (</a:t>
            </a:r>
            <a:r>
              <a:rPr lang="en-US" u="sng" dirty="0" err="1">
                <a:solidFill>
                  <a:srgbClr val="FF0000"/>
                </a:solidFill>
                <a:latin typeface="Aileron Bold"/>
              </a:rPr>
              <a:t>iki</a:t>
            </a:r>
            <a:r>
              <a:rPr lang="en-US" u="sng" dirty="0">
                <a:solidFill>
                  <a:srgbClr val="FF0000"/>
                </a:solidFill>
                <a:latin typeface="Aileron Bold"/>
              </a:rPr>
              <a:t>) </a:t>
            </a:r>
            <a:r>
              <a:rPr lang="en-US" u="sng" dirty="0" err="1">
                <a:solidFill>
                  <a:srgbClr val="FF0000"/>
                </a:solidFill>
                <a:latin typeface="Aileron Bold"/>
              </a:rPr>
              <a:t>sayfad</a:t>
            </a:r>
            <a:r>
              <a:rPr lang="tr-TR" u="sng" dirty="0">
                <a:solidFill>
                  <a:srgbClr val="FF0000"/>
                </a:solidFill>
                <a:latin typeface="Aileron Bold"/>
              </a:rPr>
              <a:t>a </a:t>
            </a:r>
            <a:r>
              <a:rPr lang="tr-TR" dirty="0">
                <a:solidFill>
                  <a:srgbClr val="FF0000"/>
                </a:solidFill>
                <a:latin typeface="Aileron Bold"/>
              </a:rPr>
              <a:t>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a:t>
            </a:r>
          </a:p>
          <a:p>
            <a:pPr marL="194310" lvl="1">
              <a:lnSpc>
                <a:spcPts val="2880"/>
              </a:lnSpc>
            </a:pPr>
            <a:endParaRPr lang="en-US" dirty="0">
              <a:solidFill>
                <a:srgbClr val="FF0000"/>
              </a:solidFill>
              <a:latin typeface="Aileron Bold"/>
            </a:endParaRPr>
          </a:p>
          <a:p>
            <a:pPr marL="388620" lvl="1" indent="-194310">
              <a:lnSpc>
                <a:spcPts val="2520"/>
              </a:lnSpc>
              <a:buFont typeface="Arial"/>
              <a:buChar char="•"/>
            </a:pPr>
            <a:r>
              <a:rPr lang="tr-TR" dirty="0">
                <a:solidFill>
                  <a:srgbClr val="FF0000"/>
                </a:solidFill>
                <a:latin typeface="Aileron Bold"/>
              </a:rPr>
              <a:t>Problem çözümü için seçilen yöntem, izlenecek metot/deney, kullanılacak teknolojiler, analizler ve kullanılacak malzemelerle desteklenerek açıklanmalıdır.</a:t>
            </a:r>
          </a:p>
          <a:p>
            <a:pPr marL="388620" lvl="1" indent="-194310" algn="just">
              <a:lnSpc>
                <a:spcPts val="2520"/>
              </a:lnSpc>
              <a:buFont typeface="Arial"/>
              <a:buChar char="•"/>
            </a:pPr>
            <a:r>
              <a:rPr lang="tr-TR" dirty="0">
                <a:solidFill>
                  <a:srgbClr val="FF0000"/>
                </a:solidFill>
                <a:latin typeface="Aileron Bold"/>
              </a:rPr>
              <a:t>Proje fikrinizin somut bir ürüne dönüşme süreci detaylı bir şekilde açıklanmalıdır. Proje kapsamında prototip geliştirilip geliştirilmediği belirtilmeli; varsa prototipe ait görseller, prototip yoksa tasarımsal çalışmanızın görselleri ya da demo görselleri sunuma eklenmelidir. </a:t>
            </a:r>
          </a:p>
          <a:p>
            <a:pPr marL="388620" lvl="1" indent="-194310" algn="just">
              <a:lnSpc>
                <a:spcPts val="2520"/>
              </a:lnSpc>
              <a:buFont typeface="Arial"/>
              <a:buChar char="•"/>
            </a:pPr>
            <a:r>
              <a:rPr lang="tr-TR" dirty="0">
                <a:solidFill>
                  <a:srgbClr val="FF0000"/>
                </a:solidFill>
                <a:latin typeface="Aileron Bold"/>
              </a:rPr>
              <a:t>Geliştirilen prototipin ne tür bir sistem ya da ürün olduğu açıklanmalı; çözüm önerinizin donanım temelli mi, yazılım temelli mi yoksa her ikisini içeren hibrit bir yapı mı olduğu açıkça belirtilmelidir. Prototipin oluşturulmasında kullanılan malzeme, araç, yazılım, sensör, sistem bileşenleri gibi teknik detaylar maddeler halinde listelenmelidir.</a:t>
            </a:r>
          </a:p>
          <a:p>
            <a:pPr marL="388620" lvl="1" indent="-194310" algn="just">
              <a:lnSpc>
                <a:spcPts val="2520"/>
              </a:lnSpc>
              <a:buFont typeface="Arial"/>
              <a:buChar char="•"/>
            </a:pPr>
            <a:r>
              <a:rPr lang="tr-TR" dirty="0">
                <a:solidFill>
                  <a:srgbClr val="FF0000"/>
                </a:solidFill>
                <a:latin typeface="Aileron Bold"/>
              </a:rPr>
              <a:t> Prototipin geliştirme süreci; tasarım, üretim, kodlama ve test aşamaları şeklinde açıklanmalı, bu aşamalardan hangilerinin tamamlandığı belirtilmelidir. Henüz tamamlanmamış olan kısımlar varsa, üzerinde çalışılan alanlar açıklanmalıdır. </a:t>
            </a:r>
          </a:p>
          <a:p>
            <a:pPr marL="388620" lvl="1" indent="-194310" algn="just">
              <a:lnSpc>
                <a:spcPts val="2520"/>
              </a:lnSpc>
              <a:buFont typeface="Arial"/>
              <a:buChar char="•"/>
            </a:pPr>
            <a:r>
              <a:rPr lang="tr-TR" dirty="0">
                <a:solidFill>
                  <a:srgbClr val="FF0000"/>
                </a:solidFill>
                <a:latin typeface="Aileron Bold"/>
              </a:rPr>
              <a:t>Prototipin nasıl çalışacağı da bu kısımda belirtilebilir.</a:t>
            </a:r>
          </a:p>
          <a:p>
            <a:pPr marL="388620" lvl="1" indent="-194310">
              <a:lnSpc>
                <a:spcPts val="2520"/>
              </a:lnSpc>
              <a:buFont typeface="Arial"/>
              <a:buChar char="•"/>
            </a:pPr>
            <a:endParaRPr lang="tr-TR" dirty="0">
              <a:solidFill>
                <a:srgbClr val="FF0000"/>
              </a:solidFill>
              <a:latin typeface="Aileron Bold"/>
            </a:endParaRPr>
          </a:p>
          <a:p>
            <a:pPr marL="194310" lvl="1">
              <a:lnSpc>
                <a:spcPts val="2880"/>
              </a:lnSpc>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24" name="TextBox 8">
            <a:extLst>
              <a:ext uri="{FF2B5EF4-FFF2-40B4-BE49-F238E27FC236}">
                <a16:creationId xmlns:a16="http://schemas.microsoft.com/office/drawing/2014/main" id="{537EAD31-E8DF-949A-01E2-E0CD8835DBAB}"/>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PROTOTİP / TASARIM VE İŞLEYİŞİ</a:t>
            </a:r>
            <a:endParaRPr lang="en-US" sz="6399" dirty="0">
              <a:solidFill>
                <a:srgbClr val="1A426A"/>
              </a:solidFill>
              <a:latin typeface="Active Heart"/>
            </a:endParaRPr>
          </a:p>
        </p:txBody>
      </p:sp>
      <p:sp>
        <p:nvSpPr>
          <p:cNvPr id="4" name="AutoShape 20">
            <a:extLst>
              <a:ext uri="{FF2B5EF4-FFF2-40B4-BE49-F238E27FC236}">
                <a16:creationId xmlns:a16="http://schemas.microsoft.com/office/drawing/2014/main" id="{4C5E5BF6-08D9-75C0-52ED-D8725FE8DA10}"/>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9837215B-F56E-C030-5474-10B777F6ADE4}"/>
              </a:ext>
            </a:extLst>
          </p:cNvPr>
          <p:cNvSpPr txBox="1"/>
          <p:nvPr/>
        </p:nvSpPr>
        <p:spPr>
          <a:xfrm>
            <a:off x="15343980" y="4756457"/>
            <a:ext cx="2080667"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CD8C2175-323F-359E-16EB-CC231610B611}"/>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95C97092-ADEC-DF71-6C1E-40D32F6E8A37}"/>
              </a:ext>
            </a:extLst>
          </p:cNvPr>
          <p:cNvSpPr txBox="1"/>
          <p:nvPr/>
        </p:nvSpPr>
        <p:spPr>
          <a:xfrm>
            <a:off x="15986302" y="8010385"/>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85C386B2-D1A8-2452-B4E3-EACAC9D867F8}"/>
              </a:ext>
            </a:extLst>
          </p:cNvPr>
          <p:cNvSpPr txBox="1"/>
          <p:nvPr/>
        </p:nvSpPr>
        <p:spPr>
          <a:xfrm>
            <a:off x="15233043" y="5555213"/>
            <a:ext cx="2198106"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TİCARİLEŞTİRME POTANSİYELİ VE SÜRDÜRÜLEBİLİRLİK</a:t>
            </a:r>
            <a:endParaRPr lang="en-US" sz="1550" dirty="0">
              <a:solidFill>
                <a:srgbClr val="1C4C61"/>
              </a:solidFill>
              <a:latin typeface="Aileron Bold"/>
            </a:endParaRPr>
          </a:p>
        </p:txBody>
      </p:sp>
      <p:sp>
        <p:nvSpPr>
          <p:cNvPr id="10" name="TextBox 38">
            <a:extLst>
              <a:ext uri="{FF2B5EF4-FFF2-40B4-BE49-F238E27FC236}">
                <a16:creationId xmlns:a16="http://schemas.microsoft.com/office/drawing/2014/main" id="{5340677B-C3DE-C7A1-54A3-027250088523}"/>
              </a:ext>
            </a:extLst>
          </p:cNvPr>
          <p:cNvSpPr txBox="1"/>
          <p:nvPr/>
        </p:nvSpPr>
        <p:spPr>
          <a:xfrm>
            <a:off x="15745664" y="73245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PROJE TAKVİMİ</a:t>
            </a:r>
          </a:p>
        </p:txBody>
      </p:sp>
      <p:sp>
        <p:nvSpPr>
          <p:cNvPr id="11" name="TextBox 40">
            <a:extLst>
              <a:ext uri="{FF2B5EF4-FFF2-40B4-BE49-F238E27FC236}">
                <a16:creationId xmlns:a16="http://schemas.microsoft.com/office/drawing/2014/main" id="{411329AD-5D6B-23B4-19C2-8AB79D2F4C57}"/>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12" name="Freeform 21">
            <a:extLst>
              <a:ext uri="{FF2B5EF4-FFF2-40B4-BE49-F238E27FC236}">
                <a16:creationId xmlns:a16="http://schemas.microsoft.com/office/drawing/2014/main" id="{E727173A-7304-BA7C-FF3A-41B33BD23360}"/>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511E79A1-CB3E-0C69-E491-7AA172811A15}"/>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89A5A009-1451-8EBA-0D80-4AF1FE5F9045}"/>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18D2F103-BE26-1CB9-0F05-3162A3BAB9B3}"/>
              </a:ext>
            </a:extLst>
          </p:cNvPr>
          <p:cNvSpPr/>
          <p:nvPr/>
        </p:nvSpPr>
        <p:spPr>
          <a:xfrm>
            <a:off x="17537349" y="4857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F7065AF1-E7E4-265D-C55A-8CE12ED5A062}"/>
              </a:ext>
            </a:extLst>
          </p:cNvPr>
          <p:cNvSpPr/>
          <p:nvPr/>
        </p:nvSpPr>
        <p:spPr>
          <a:xfrm>
            <a:off x="17531608" y="5695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7F70FB1E-13C7-1DCB-B96B-73BE1F49EEF0}"/>
              </a:ext>
            </a:extLst>
          </p:cNvPr>
          <p:cNvSpPr/>
          <p:nvPr/>
        </p:nvSpPr>
        <p:spPr>
          <a:xfrm>
            <a:off x="17516247" y="7295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8507B1D4-300F-5915-B842-B04AB73210B5}"/>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6490E336-C7CC-056D-2283-CC3448966FB4}"/>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E206468A-955C-B018-1D24-28D714C9A74B}"/>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421ED4A5-1104-431B-1F69-77471D5DD999}"/>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BD2F320C-550C-45CD-BB9F-5D3B9F88CA09}"/>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44CB6DCC-1912-E632-C5D8-D2093CCDB761}"/>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5" name="TextBox 38">
            <a:extLst>
              <a:ext uri="{FF2B5EF4-FFF2-40B4-BE49-F238E27FC236}">
                <a16:creationId xmlns:a16="http://schemas.microsoft.com/office/drawing/2014/main" id="{59DEB881-DF62-2022-4C6F-F6D9C6295EB8}"/>
              </a:ext>
            </a:extLst>
          </p:cNvPr>
          <p:cNvSpPr txBox="1"/>
          <p:nvPr/>
        </p:nvSpPr>
        <p:spPr>
          <a:xfrm>
            <a:off x="15754072" y="66387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HEDEF KİTLE</a:t>
            </a:r>
          </a:p>
        </p:txBody>
      </p:sp>
      <p:sp>
        <p:nvSpPr>
          <p:cNvPr id="26" name="Freeform 21">
            <a:extLst>
              <a:ext uri="{FF2B5EF4-FFF2-40B4-BE49-F238E27FC236}">
                <a16:creationId xmlns:a16="http://schemas.microsoft.com/office/drawing/2014/main" id="{90B06C8D-A49F-280B-FD55-197B5535C9E0}"/>
              </a:ext>
            </a:extLst>
          </p:cNvPr>
          <p:cNvSpPr/>
          <p:nvPr/>
        </p:nvSpPr>
        <p:spPr>
          <a:xfrm>
            <a:off x="17537349" y="66101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 name="TextBox 114">
            <a:extLst>
              <a:ext uri="{FF2B5EF4-FFF2-40B4-BE49-F238E27FC236}">
                <a16:creationId xmlns:a16="http://schemas.microsoft.com/office/drawing/2014/main" id="{26C81632-F315-2CED-E0E3-7D175B8E28D7}"/>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extLst>
      <p:ext uri="{BB962C8B-B14F-4D97-AF65-F5344CB8AC3E}">
        <p14:creationId xmlns:p14="http://schemas.microsoft.com/office/powerpoint/2010/main" val="3208363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F7BD3-347A-A759-B861-2EA2AD1BF5C2}"/>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0141D05E-D873-7501-51D5-12A3F198602F}"/>
              </a:ext>
            </a:extLst>
          </p:cNvPr>
          <p:cNvSpPr txBox="1"/>
          <p:nvPr/>
        </p:nvSpPr>
        <p:spPr>
          <a:xfrm>
            <a:off x="1295400" y="2022762"/>
            <a:ext cx="13100511" cy="3643177"/>
          </a:xfrm>
          <a:prstGeom prst="rect">
            <a:avLst/>
          </a:prstGeom>
          <a:noFill/>
        </p:spPr>
        <p:txBody>
          <a:bodyPr wrap="square">
            <a:spAutoFit/>
          </a:bodyPr>
          <a:lstStyle/>
          <a:p>
            <a:pPr marL="388620" lvl="1" indent="-194310">
              <a:lnSpc>
                <a:spcPts val="2520"/>
              </a:lnSpc>
              <a:buFont typeface="Arial"/>
              <a:buChar char="•"/>
            </a:pPr>
            <a:r>
              <a:rPr lang="tr-TR" dirty="0">
                <a:solidFill>
                  <a:srgbClr val="FF0000"/>
                </a:solidFill>
                <a:latin typeface="Aileron Bold"/>
              </a:rPr>
              <a:t>Ticarileşme Potansiyeli ve Sürdürülebilirlik </a:t>
            </a:r>
            <a:r>
              <a:rPr lang="en-US" u="sng" dirty="0" err="1">
                <a:solidFill>
                  <a:srgbClr val="FF0000"/>
                </a:solidFill>
                <a:latin typeface="Aileron Bold Italics"/>
              </a:rPr>
              <a:t>en</a:t>
            </a:r>
            <a:r>
              <a:rPr lang="en-US" u="sng" dirty="0">
                <a:solidFill>
                  <a:srgbClr val="FF0000"/>
                </a:solidFill>
                <a:latin typeface="Aileron Bold Italics"/>
              </a:rPr>
              <a:t> </a:t>
            </a:r>
            <a:r>
              <a:rPr lang="en-US" u="sng" dirty="0" err="1">
                <a:solidFill>
                  <a:srgbClr val="FF0000"/>
                </a:solidFill>
                <a:latin typeface="Aileron Bold Italics"/>
              </a:rPr>
              <a:t>fazla</a:t>
            </a:r>
            <a:r>
              <a:rPr lang="en-US" u="sng" dirty="0">
                <a:solidFill>
                  <a:srgbClr val="FF0000"/>
                </a:solidFill>
                <a:latin typeface="Aileron Bold Italics"/>
              </a:rPr>
              <a:t> </a:t>
            </a:r>
            <a:r>
              <a:rPr lang="tr-TR" u="sng" dirty="0">
                <a:solidFill>
                  <a:srgbClr val="FF0000"/>
                </a:solidFill>
                <a:latin typeface="Aileron Bold"/>
              </a:rPr>
              <a:t>2</a:t>
            </a:r>
            <a:r>
              <a:rPr lang="tr-TR" dirty="0">
                <a:solidFill>
                  <a:srgbClr val="FF0000"/>
                </a:solidFill>
                <a:latin typeface="Aileron Bold"/>
              </a:rPr>
              <a:t> </a:t>
            </a:r>
            <a:r>
              <a:rPr lang="en-US" dirty="0">
                <a:solidFill>
                  <a:srgbClr val="FF0000"/>
                </a:solidFill>
                <a:latin typeface="Aileron Bold"/>
              </a:rPr>
              <a:t>(</a:t>
            </a:r>
            <a:r>
              <a:rPr lang="tr-TR" dirty="0">
                <a:solidFill>
                  <a:srgbClr val="FF0000"/>
                </a:solidFill>
                <a:latin typeface="Aileron Bold"/>
              </a:rPr>
              <a:t>iki</a:t>
            </a:r>
            <a:r>
              <a:rPr lang="en-US" dirty="0">
                <a:solidFill>
                  <a:srgbClr val="FF0000"/>
                </a:solidFill>
                <a:latin typeface="Aileron Bold"/>
              </a:rPr>
              <a:t>) </a:t>
            </a:r>
            <a:r>
              <a:rPr lang="en-US" dirty="0" err="1">
                <a:solidFill>
                  <a:srgbClr val="FF0000"/>
                </a:solidFill>
                <a:latin typeface="Aileron Bold"/>
              </a:rPr>
              <a:t>sayfad</a:t>
            </a:r>
            <a:r>
              <a:rPr lang="tr-TR" dirty="0">
                <a:solidFill>
                  <a:srgbClr val="FF0000"/>
                </a:solidFill>
                <a:latin typeface="Aileron Bold"/>
              </a:rPr>
              <a:t>a 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 </a:t>
            </a:r>
          </a:p>
          <a:p>
            <a:pPr marL="194310" lvl="1">
              <a:lnSpc>
                <a:spcPts val="2880"/>
              </a:lnSpc>
            </a:pPr>
            <a:endParaRPr lang="en-US" dirty="0">
              <a:solidFill>
                <a:srgbClr val="FF0000"/>
              </a:solidFill>
              <a:latin typeface="Aileron Bold"/>
            </a:endParaRPr>
          </a:p>
          <a:p>
            <a:pPr marL="388620" lvl="1" indent="-194310">
              <a:lnSpc>
                <a:spcPts val="2520"/>
              </a:lnSpc>
              <a:buFont typeface="Arial"/>
              <a:buChar char="•"/>
            </a:pPr>
            <a:r>
              <a:rPr lang="en-US" dirty="0" err="1">
                <a:solidFill>
                  <a:srgbClr val="FF0000"/>
                </a:solidFill>
                <a:latin typeface="Aileron Bold"/>
              </a:rPr>
              <a:t>Ürün</a:t>
            </a:r>
            <a:r>
              <a:rPr lang="en-US" dirty="0">
                <a:solidFill>
                  <a:srgbClr val="FF0000"/>
                </a:solidFill>
                <a:latin typeface="Aileron Bold"/>
              </a:rPr>
              <a:t>/</a:t>
            </a: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hakkında</a:t>
            </a:r>
            <a:r>
              <a:rPr lang="en-US" dirty="0">
                <a:solidFill>
                  <a:srgbClr val="FF0000"/>
                </a:solidFill>
                <a:latin typeface="Aileron Bold"/>
              </a:rPr>
              <a:t> </a:t>
            </a:r>
            <a:r>
              <a:rPr lang="en-US" dirty="0" err="1">
                <a:solidFill>
                  <a:srgbClr val="FF0000"/>
                </a:solidFill>
                <a:latin typeface="Aileron Bold"/>
              </a:rPr>
              <a:t>detaylı</a:t>
            </a:r>
            <a:r>
              <a:rPr lang="en-US" dirty="0">
                <a:solidFill>
                  <a:srgbClr val="FF0000"/>
                </a:solidFill>
                <a:latin typeface="Aileron Bold"/>
              </a:rPr>
              <a:t> </a:t>
            </a:r>
            <a:r>
              <a:rPr lang="en-US" dirty="0" err="1">
                <a:solidFill>
                  <a:srgbClr val="FF0000"/>
                </a:solidFill>
                <a:latin typeface="Aileron Bold"/>
              </a:rPr>
              <a:t>bilgi</a:t>
            </a:r>
            <a:r>
              <a:rPr lang="en-US" dirty="0">
                <a:solidFill>
                  <a:srgbClr val="FF0000"/>
                </a:solidFill>
                <a:latin typeface="Aileron Bold"/>
              </a:rPr>
              <a:t> </a:t>
            </a:r>
            <a:r>
              <a:rPr lang="en-US" dirty="0" err="1">
                <a:solidFill>
                  <a:srgbClr val="FF0000"/>
                </a:solidFill>
                <a:latin typeface="Aileron Bold"/>
              </a:rPr>
              <a:t>içermelidir</a:t>
            </a:r>
            <a:r>
              <a:rPr lang="en-US" dirty="0">
                <a:solidFill>
                  <a:srgbClr val="FF0000"/>
                </a:solidFill>
                <a:latin typeface="Aileron Bold"/>
              </a:rPr>
              <a:t>.</a:t>
            </a:r>
            <a:endParaRPr lang="tr-TR" dirty="0">
              <a:solidFill>
                <a:srgbClr val="FF0000"/>
              </a:solidFill>
              <a:latin typeface="Aileron Bold"/>
            </a:endParaRPr>
          </a:p>
          <a:p>
            <a:pPr marL="388620" lvl="1" indent="-194310">
              <a:lnSpc>
                <a:spcPts val="2520"/>
              </a:lnSpc>
              <a:buFont typeface="Arial"/>
              <a:buChar char="•"/>
            </a:pPr>
            <a:r>
              <a:rPr lang="en-US" dirty="0" err="1">
                <a:solidFill>
                  <a:srgbClr val="FF0000"/>
                </a:solidFill>
                <a:latin typeface="Aileron Bold"/>
              </a:rPr>
              <a:t>Ürün</a:t>
            </a:r>
            <a:r>
              <a:rPr lang="en-US" dirty="0">
                <a:solidFill>
                  <a:srgbClr val="FF0000"/>
                </a:solidFill>
                <a:latin typeface="Aileron Bold"/>
              </a:rPr>
              <a:t> </a:t>
            </a:r>
            <a:r>
              <a:rPr lang="en-US" dirty="0" err="1">
                <a:solidFill>
                  <a:srgbClr val="FF0000"/>
                </a:solidFill>
                <a:latin typeface="Aileron Bold"/>
              </a:rPr>
              <a:t>ticarileşme</a:t>
            </a:r>
            <a:r>
              <a:rPr lang="en-US" dirty="0">
                <a:solidFill>
                  <a:srgbClr val="FF0000"/>
                </a:solidFill>
                <a:latin typeface="Aileron Bold"/>
              </a:rPr>
              <a:t> </a:t>
            </a:r>
            <a:r>
              <a:rPr lang="en-US" dirty="0" err="1">
                <a:solidFill>
                  <a:srgbClr val="FF0000"/>
                </a:solidFill>
                <a:latin typeface="Aileron Bold"/>
              </a:rPr>
              <a:t>potansiyeline</a:t>
            </a:r>
            <a:r>
              <a:rPr lang="en-US" dirty="0">
                <a:solidFill>
                  <a:srgbClr val="FF0000"/>
                </a:solidFill>
                <a:latin typeface="Aileron Bold"/>
              </a:rPr>
              <a:t>, </a:t>
            </a:r>
            <a:r>
              <a:rPr lang="en-US" dirty="0" err="1">
                <a:solidFill>
                  <a:srgbClr val="FF0000"/>
                </a:solidFill>
                <a:latin typeface="Aileron Bold"/>
              </a:rPr>
              <a:t>ileri</a:t>
            </a:r>
            <a:r>
              <a:rPr lang="en-US" dirty="0">
                <a:solidFill>
                  <a:srgbClr val="FF0000"/>
                </a:solidFill>
                <a:latin typeface="Aileron Bold"/>
              </a:rPr>
              <a:t> </a:t>
            </a:r>
            <a:r>
              <a:rPr lang="en-US" dirty="0" err="1">
                <a:solidFill>
                  <a:srgbClr val="FF0000"/>
                </a:solidFill>
                <a:latin typeface="Aileron Bold"/>
              </a:rPr>
              <a:t>teknoloji</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katma</a:t>
            </a:r>
            <a:r>
              <a:rPr lang="en-US" dirty="0">
                <a:solidFill>
                  <a:srgbClr val="FF0000"/>
                </a:solidFill>
                <a:latin typeface="Aileron Bold"/>
              </a:rPr>
              <a:t> </a:t>
            </a:r>
            <a:r>
              <a:rPr lang="en-US" dirty="0" err="1">
                <a:solidFill>
                  <a:srgbClr val="FF0000"/>
                </a:solidFill>
                <a:latin typeface="Aileron Bold"/>
              </a:rPr>
              <a:t>değerine</a:t>
            </a:r>
            <a:r>
              <a:rPr lang="en-US" dirty="0">
                <a:solidFill>
                  <a:srgbClr val="FF0000"/>
                </a:solidFill>
                <a:latin typeface="Aileron Bold"/>
              </a:rPr>
              <a:t> </a:t>
            </a:r>
            <a:r>
              <a:rPr lang="en-US" dirty="0" err="1">
                <a:solidFill>
                  <a:srgbClr val="FF0000"/>
                </a:solidFill>
                <a:latin typeface="Aileron Bold"/>
              </a:rPr>
              <a:t>yer</a:t>
            </a:r>
            <a:r>
              <a:rPr lang="en-US" dirty="0">
                <a:solidFill>
                  <a:srgbClr val="FF0000"/>
                </a:solidFill>
                <a:latin typeface="Aileron Bold"/>
              </a:rPr>
              <a:t> </a:t>
            </a:r>
            <a:r>
              <a:rPr lang="en-US" dirty="0" err="1">
                <a:solidFill>
                  <a:srgbClr val="FF0000"/>
                </a:solidFill>
                <a:latin typeface="Aileron Bold"/>
              </a:rPr>
              <a:t>verilmelidir</a:t>
            </a:r>
            <a:r>
              <a:rPr lang="en-US" dirty="0">
                <a:solidFill>
                  <a:srgbClr val="FF0000"/>
                </a:solidFill>
                <a:latin typeface="Aileron Bold"/>
              </a:rPr>
              <a:t>. </a:t>
            </a:r>
            <a:r>
              <a:rPr lang="en-US" dirty="0" err="1">
                <a:solidFill>
                  <a:srgbClr val="FF0000"/>
                </a:solidFill>
                <a:latin typeface="Aileron Bold"/>
              </a:rPr>
              <a:t>Projede</a:t>
            </a:r>
            <a:r>
              <a:rPr lang="en-US" dirty="0">
                <a:solidFill>
                  <a:srgbClr val="FF0000"/>
                </a:solidFill>
                <a:latin typeface="Aileron Bold"/>
              </a:rPr>
              <a:t> </a:t>
            </a:r>
            <a:r>
              <a:rPr lang="en-US" dirty="0" err="1">
                <a:solidFill>
                  <a:srgbClr val="FF0000"/>
                </a:solidFill>
                <a:latin typeface="Aileron Bold"/>
              </a:rPr>
              <a:t>elde</a:t>
            </a:r>
            <a:r>
              <a:rPr lang="en-US" dirty="0">
                <a:solidFill>
                  <a:srgbClr val="FF0000"/>
                </a:solidFill>
                <a:latin typeface="Aileron Bold"/>
              </a:rPr>
              <a:t> </a:t>
            </a:r>
            <a:r>
              <a:rPr lang="en-US" dirty="0" err="1">
                <a:solidFill>
                  <a:srgbClr val="FF0000"/>
                </a:solidFill>
                <a:latin typeface="Aileron Bold"/>
              </a:rPr>
              <a:t>edilen</a:t>
            </a:r>
            <a:r>
              <a:rPr lang="en-US" dirty="0">
                <a:solidFill>
                  <a:srgbClr val="FF0000"/>
                </a:solidFill>
                <a:latin typeface="Aileron Bold"/>
              </a:rPr>
              <a:t> </a:t>
            </a:r>
            <a:r>
              <a:rPr lang="en-US" dirty="0" err="1">
                <a:solidFill>
                  <a:srgbClr val="FF0000"/>
                </a:solidFill>
                <a:latin typeface="Aileron Bold"/>
              </a:rPr>
              <a:t>çözüm</a:t>
            </a:r>
            <a:r>
              <a:rPr lang="en-US" dirty="0">
                <a:solidFill>
                  <a:srgbClr val="FF0000"/>
                </a:solidFill>
                <a:latin typeface="Aileron Bold"/>
              </a:rPr>
              <a:t> </a:t>
            </a:r>
            <a:r>
              <a:rPr lang="en-US" dirty="0" err="1">
                <a:solidFill>
                  <a:srgbClr val="FF0000"/>
                </a:solidFill>
                <a:latin typeface="Aileron Bold"/>
              </a:rPr>
              <a:t>mevcut</a:t>
            </a:r>
            <a:r>
              <a:rPr lang="en-US" dirty="0">
                <a:solidFill>
                  <a:srgbClr val="FF0000"/>
                </a:solidFill>
                <a:latin typeface="Aileron Bold"/>
              </a:rPr>
              <a:t> </a:t>
            </a:r>
            <a:r>
              <a:rPr lang="en-US" dirty="0" err="1">
                <a:solidFill>
                  <a:srgbClr val="FF0000"/>
                </a:solidFill>
                <a:latin typeface="Aileron Bold"/>
              </a:rPr>
              <a:t>şartlarda</a:t>
            </a:r>
            <a:r>
              <a:rPr lang="en-US" dirty="0">
                <a:solidFill>
                  <a:srgbClr val="FF0000"/>
                </a:solidFill>
                <a:latin typeface="Aileron Bold"/>
              </a:rPr>
              <a:t> </a:t>
            </a:r>
            <a:r>
              <a:rPr lang="en-US" dirty="0" err="1">
                <a:solidFill>
                  <a:srgbClr val="FF0000"/>
                </a:solidFill>
                <a:latin typeface="Aileron Bold"/>
              </a:rPr>
              <a:t>uygulanabiliyor</a:t>
            </a:r>
            <a:r>
              <a:rPr lang="en-US" dirty="0">
                <a:solidFill>
                  <a:srgbClr val="FF0000"/>
                </a:solidFill>
                <a:latin typeface="Aileron Bold"/>
              </a:rPr>
              <a:t> </a:t>
            </a:r>
            <a:r>
              <a:rPr lang="en-US" dirty="0" err="1">
                <a:solidFill>
                  <a:srgbClr val="FF0000"/>
                </a:solidFill>
                <a:latin typeface="Aileron Bold"/>
              </a:rPr>
              <a:t>olmalı</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üretilebilmelidir</a:t>
            </a:r>
            <a:r>
              <a:rPr lang="en-US" dirty="0">
                <a:solidFill>
                  <a:srgbClr val="FF0000"/>
                </a:solidFill>
                <a:latin typeface="Aileron Bold"/>
              </a:rPr>
              <a:t>. </a:t>
            </a:r>
            <a:r>
              <a:rPr lang="en-US" dirty="0" err="1">
                <a:solidFill>
                  <a:srgbClr val="FF0000"/>
                </a:solidFill>
                <a:latin typeface="Aileron Bold"/>
              </a:rPr>
              <a:t>Projenin</a:t>
            </a:r>
            <a:r>
              <a:rPr lang="en-US" dirty="0">
                <a:solidFill>
                  <a:srgbClr val="FF0000"/>
                </a:solidFill>
                <a:latin typeface="Aileron Bold"/>
              </a:rPr>
              <a:t> yeni </a:t>
            </a:r>
            <a:r>
              <a:rPr lang="en-US" dirty="0" err="1">
                <a:solidFill>
                  <a:srgbClr val="FF0000"/>
                </a:solidFill>
                <a:latin typeface="Aileron Bold"/>
              </a:rPr>
              <a:t>projeler</a:t>
            </a:r>
            <a:r>
              <a:rPr lang="en-US" dirty="0">
                <a:solidFill>
                  <a:srgbClr val="FF0000"/>
                </a:solidFill>
                <a:latin typeface="Aileron Bold"/>
              </a:rPr>
              <a:t>, </a:t>
            </a:r>
            <a:r>
              <a:rPr lang="en-US" dirty="0" err="1">
                <a:solidFill>
                  <a:srgbClr val="FF0000"/>
                </a:solidFill>
                <a:latin typeface="Aileron Bold"/>
              </a:rPr>
              <a:t>iş</a:t>
            </a:r>
            <a:r>
              <a:rPr lang="en-US" dirty="0">
                <a:solidFill>
                  <a:srgbClr val="FF0000"/>
                </a:solidFill>
                <a:latin typeface="Aileron Bold"/>
              </a:rPr>
              <a:t> </a:t>
            </a:r>
            <a:r>
              <a:rPr lang="en-US" dirty="0" err="1">
                <a:solidFill>
                  <a:srgbClr val="FF0000"/>
                </a:solidFill>
                <a:latin typeface="Aileron Bold"/>
              </a:rPr>
              <a:t>ortaklıkları</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iş</a:t>
            </a:r>
            <a:r>
              <a:rPr lang="en-US" dirty="0">
                <a:solidFill>
                  <a:srgbClr val="FF0000"/>
                </a:solidFill>
                <a:latin typeface="Aileron Bold"/>
              </a:rPr>
              <a:t> </a:t>
            </a:r>
            <a:r>
              <a:rPr lang="en-US" dirty="0" err="1">
                <a:solidFill>
                  <a:srgbClr val="FF0000"/>
                </a:solidFill>
                <a:latin typeface="Aileron Bold"/>
              </a:rPr>
              <a:t>birlikleri</a:t>
            </a:r>
            <a:r>
              <a:rPr lang="en-US" dirty="0">
                <a:solidFill>
                  <a:srgbClr val="FF0000"/>
                </a:solidFill>
                <a:latin typeface="Aileron Bold"/>
              </a:rPr>
              <a:t> </a:t>
            </a:r>
            <a:r>
              <a:rPr lang="en-US" dirty="0" err="1">
                <a:solidFill>
                  <a:srgbClr val="FF0000"/>
                </a:solidFill>
                <a:latin typeface="Aileron Bold"/>
              </a:rPr>
              <a:t>oluşturma</a:t>
            </a:r>
            <a:r>
              <a:rPr lang="en-US" dirty="0">
                <a:solidFill>
                  <a:srgbClr val="FF0000"/>
                </a:solidFill>
                <a:latin typeface="Aileron Bold"/>
              </a:rPr>
              <a:t> </a:t>
            </a:r>
            <a:r>
              <a:rPr lang="en-US" dirty="0" err="1">
                <a:solidFill>
                  <a:srgbClr val="FF0000"/>
                </a:solidFill>
                <a:latin typeface="Aileron Bold"/>
              </a:rPr>
              <a:t>potansiyeline</a:t>
            </a:r>
            <a:r>
              <a:rPr lang="en-US" dirty="0">
                <a:solidFill>
                  <a:srgbClr val="FF0000"/>
                </a:solidFill>
                <a:latin typeface="Aileron Bold"/>
              </a:rPr>
              <a:t> </a:t>
            </a:r>
            <a:r>
              <a:rPr lang="en-US" dirty="0" err="1">
                <a:solidFill>
                  <a:srgbClr val="FF0000"/>
                </a:solidFill>
                <a:latin typeface="Aileron Bold"/>
              </a:rPr>
              <a:t>sahip</a:t>
            </a:r>
            <a:r>
              <a:rPr lang="en-US" dirty="0">
                <a:solidFill>
                  <a:srgbClr val="FF0000"/>
                </a:solidFill>
                <a:latin typeface="Aileron Bold"/>
              </a:rPr>
              <a:t> </a:t>
            </a:r>
            <a:r>
              <a:rPr lang="en-US" dirty="0" err="1">
                <a:solidFill>
                  <a:srgbClr val="FF0000"/>
                </a:solidFill>
                <a:latin typeface="Aileron Bold"/>
              </a:rPr>
              <a:t>olduğu</a:t>
            </a:r>
            <a:r>
              <a:rPr lang="en-US" dirty="0">
                <a:solidFill>
                  <a:srgbClr val="FF0000"/>
                </a:solidFill>
                <a:latin typeface="Aileron Bold"/>
              </a:rPr>
              <a:t> </a:t>
            </a:r>
            <a:r>
              <a:rPr lang="en-US" dirty="0" err="1">
                <a:solidFill>
                  <a:srgbClr val="FF0000"/>
                </a:solidFill>
                <a:latin typeface="Aileron Bold"/>
              </a:rPr>
              <a:t>gösterilmelidir</a:t>
            </a:r>
            <a:r>
              <a:rPr lang="en-US" dirty="0">
                <a:solidFill>
                  <a:srgbClr val="FF0000"/>
                </a:solidFill>
                <a:latin typeface="Aileron Bold"/>
              </a:rPr>
              <a:t>. </a:t>
            </a:r>
            <a:endParaRPr lang="tr-TR" dirty="0">
              <a:solidFill>
                <a:srgbClr val="FF0000"/>
              </a:solidFill>
              <a:latin typeface="Aileron Bold"/>
            </a:endParaRPr>
          </a:p>
          <a:p>
            <a:pPr marL="388620" lvl="1" indent="-194310">
              <a:lnSpc>
                <a:spcPts val="2520"/>
              </a:lnSpc>
              <a:buFont typeface="Arial"/>
              <a:buChar char="•"/>
            </a:pPr>
            <a:r>
              <a:rPr lang="tr-TR" dirty="0">
                <a:solidFill>
                  <a:srgbClr val="FF0000"/>
                </a:solidFill>
                <a:latin typeface="Aileron Bold"/>
              </a:rPr>
              <a:t>S</a:t>
            </a:r>
            <a:r>
              <a:rPr lang="en-US" dirty="0" err="1">
                <a:solidFill>
                  <a:srgbClr val="FF0000"/>
                </a:solidFill>
                <a:latin typeface="Aileron Bold"/>
              </a:rPr>
              <a:t>ürdürülebilirlik</a:t>
            </a:r>
            <a:r>
              <a:rPr lang="en-US" dirty="0">
                <a:solidFill>
                  <a:srgbClr val="FF0000"/>
                </a:solidFill>
                <a:latin typeface="Aileron Bold"/>
              </a:rPr>
              <a:t> </a:t>
            </a:r>
            <a:r>
              <a:rPr lang="en-US" dirty="0" err="1">
                <a:solidFill>
                  <a:srgbClr val="FF0000"/>
                </a:solidFill>
                <a:latin typeface="Aileron Bold"/>
              </a:rPr>
              <a:t>başlığı</a:t>
            </a:r>
            <a:r>
              <a:rPr lang="en-US" dirty="0">
                <a:solidFill>
                  <a:srgbClr val="FF0000"/>
                </a:solidFill>
                <a:latin typeface="Aileron Bold"/>
              </a:rPr>
              <a:t> </a:t>
            </a:r>
            <a:r>
              <a:rPr lang="en-US" dirty="0" err="1">
                <a:solidFill>
                  <a:srgbClr val="FF0000"/>
                </a:solidFill>
                <a:latin typeface="Aileron Bold"/>
              </a:rPr>
              <a:t>için</a:t>
            </a:r>
            <a:r>
              <a:rPr lang="en-US" dirty="0">
                <a:solidFill>
                  <a:srgbClr val="FF0000"/>
                </a:solidFill>
                <a:latin typeface="Aileron Bold"/>
              </a:rPr>
              <a:t> </a:t>
            </a:r>
            <a:r>
              <a:rPr lang="en-US" dirty="0" err="1">
                <a:solidFill>
                  <a:srgbClr val="FF0000"/>
                </a:solidFill>
                <a:latin typeface="Aileron Bold"/>
              </a:rPr>
              <a:t>ise</a:t>
            </a:r>
            <a:r>
              <a:rPr lang="en-US" dirty="0">
                <a:solidFill>
                  <a:srgbClr val="FF0000"/>
                </a:solidFill>
                <a:latin typeface="Aileron Bold"/>
              </a:rPr>
              <a:t> </a:t>
            </a:r>
            <a:r>
              <a:rPr lang="en-US" dirty="0" err="1">
                <a:solidFill>
                  <a:srgbClr val="FF0000"/>
                </a:solidFill>
                <a:latin typeface="Aileron Bold"/>
              </a:rPr>
              <a:t>projenin</a:t>
            </a:r>
            <a:r>
              <a:rPr lang="en-US" dirty="0">
                <a:solidFill>
                  <a:srgbClr val="FF0000"/>
                </a:solidFill>
                <a:latin typeface="Aileron Bold"/>
              </a:rPr>
              <a:t> </a:t>
            </a:r>
            <a:r>
              <a:rPr lang="en-US" dirty="0" err="1">
                <a:solidFill>
                  <a:srgbClr val="FF0000"/>
                </a:solidFill>
                <a:latin typeface="Aileron Bold"/>
              </a:rPr>
              <a:t>başarıyla</a:t>
            </a:r>
            <a:r>
              <a:rPr lang="en-US" dirty="0">
                <a:solidFill>
                  <a:srgbClr val="FF0000"/>
                </a:solidFill>
                <a:latin typeface="Aileron Bold"/>
              </a:rPr>
              <a:t> </a:t>
            </a:r>
            <a:r>
              <a:rPr lang="en-US" dirty="0" err="1">
                <a:solidFill>
                  <a:srgbClr val="FF0000"/>
                </a:solidFill>
                <a:latin typeface="Aileron Bold"/>
              </a:rPr>
              <a:t>tamamlanmasının</a:t>
            </a:r>
            <a:r>
              <a:rPr lang="en-US" dirty="0">
                <a:solidFill>
                  <a:srgbClr val="FF0000"/>
                </a:solidFill>
                <a:latin typeface="Aileron Bold"/>
              </a:rPr>
              <a:t> </a:t>
            </a:r>
            <a:r>
              <a:rPr lang="en-US" dirty="0" err="1">
                <a:solidFill>
                  <a:srgbClr val="FF0000"/>
                </a:solidFill>
                <a:latin typeface="Aileron Bold"/>
              </a:rPr>
              <a:t>ardından</a:t>
            </a:r>
            <a:r>
              <a:rPr lang="en-US" dirty="0">
                <a:solidFill>
                  <a:srgbClr val="FF0000"/>
                </a:solidFill>
                <a:latin typeface="Aileron Bold"/>
              </a:rPr>
              <a:t> </a:t>
            </a:r>
            <a:r>
              <a:rPr lang="en-US" dirty="0" err="1">
                <a:solidFill>
                  <a:srgbClr val="FF0000"/>
                </a:solidFill>
                <a:latin typeface="Aileron Bold"/>
              </a:rPr>
              <a:t>uzun</a:t>
            </a:r>
            <a:r>
              <a:rPr lang="en-US" dirty="0">
                <a:solidFill>
                  <a:srgbClr val="FF0000"/>
                </a:solidFill>
                <a:latin typeface="Aileron Bold"/>
              </a:rPr>
              <a:t> </a:t>
            </a:r>
            <a:r>
              <a:rPr lang="en-US" dirty="0" err="1">
                <a:solidFill>
                  <a:srgbClr val="FF0000"/>
                </a:solidFill>
                <a:latin typeface="Aileron Bold"/>
              </a:rPr>
              <a:t>vadede</a:t>
            </a:r>
            <a:r>
              <a:rPr lang="en-US" dirty="0">
                <a:solidFill>
                  <a:srgbClr val="FF0000"/>
                </a:solidFill>
                <a:latin typeface="Aileron Bold"/>
              </a:rPr>
              <a:t> </a:t>
            </a:r>
            <a:r>
              <a:rPr lang="en-US" dirty="0" err="1">
                <a:solidFill>
                  <a:srgbClr val="FF0000"/>
                </a:solidFill>
                <a:latin typeface="Aileron Bold"/>
              </a:rPr>
              <a:t>devamlılığının</a:t>
            </a:r>
            <a:r>
              <a:rPr lang="en-US" dirty="0">
                <a:solidFill>
                  <a:srgbClr val="FF0000"/>
                </a:solidFill>
                <a:latin typeface="Aileron Bold"/>
              </a:rPr>
              <a:t> </a:t>
            </a:r>
            <a:r>
              <a:rPr lang="en-US" dirty="0" err="1">
                <a:solidFill>
                  <a:srgbClr val="FF0000"/>
                </a:solidFill>
                <a:latin typeface="Aileron Bold"/>
              </a:rPr>
              <a:t>nasıl</a:t>
            </a:r>
            <a:r>
              <a:rPr lang="en-US" dirty="0">
                <a:solidFill>
                  <a:srgbClr val="FF0000"/>
                </a:solidFill>
                <a:latin typeface="Aileron Bold"/>
              </a:rPr>
              <a:t> </a:t>
            </a:r>
            <a:r>
              <a:rPr lang="en-US" dirty="0" err="1">
                <a:solidFill>
                  <a:srgbClr val="FF0000"/>
                </a:solidFill>
                <a:latin typeface="Aileron Bold"/>
              </a:rPr>
              <a:t>sağlanacağı</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endParaRPr lang="tr-TR" dirty="0">
              <a:solidFill>
                <a:srgbClr val="FF0000"/>
              </a:solidFill>
              <a:latin typeface="Aileron Bold"/>
            </a:endParaRPr>
          </a:p>
          <a:p>
            <a:pPr marL="194310" lvl="1">
              <a:lnSpc>
                <a:spcPts val="2520"/>
              </a:lnSpc>
            </a:pPr>
            <a:endParaRPr lang="en-US" dirty="0">
              <a:solidFill>
                <a:srgbClr val="FF0000"/>
              </a:solidFill>
              <a:latin typeface="Aileron Bold"/>
            </a:endParaRPr>
          </a:p>
          <a:p>
            <a:pPr marL="194310"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24" name="TextBox 8">
            <a:extLst>
              <a:ext uri="{FF2B5EF4-FFF2-40B4-BE49-F238E27FC236}">
                <a16:creationId xmlns:a16="http://schemas.microsoft.com/office/drawing/2014/main" id="{C548A043-98F1-88E7-A5AC-2E573D2DCACA}"/>
              </a:ext>
            </a:extLst>
          </p:cNvPr>
          <p:cNvSpPr txBox="1">
            <a:spLocks/>
          </p:cNvSpPr>
          <p:nvPr/>
        </p:nvSpPr>
        <p:spPr>
          <a:xfrm>
            <a:off x="1819091" y="283213"/>
            <a:ext cx="14649817" cy="697627"/>
          </a:xfrm>
          <a:prstGeom prst="rect">
            <a:avLst/>
          </a:prstGeom>
        </p:spPr>
        <p:txBody>
          <a:bodyPr wrap="square" lIns="0" tIns="0" rIns="0" bIns="0" rtlCol="0" anchor="t">
            <a:spAutoFit/>
          </a:bodyPr>
          <a:lstStyle/>
          <a:p>
            <a:pPr algn="ctr">
              <a:lnSpc>
                <a:spcPts val="6399"/>
              </a:lnSpc>
              <a:spcBef>
                <a:spcPct val="0"/>
              </a:spcBef>
            </a:pPr>
            <a:r>
              <a:rPr lang="tr-TR" sz="4800" dirty="0">
                <a:solidFill>
                  <a:srgbClr val="1A426A"/>
                </a:solidFill>
                <a:latin typeface="Active Heart"/>
              </a:rPr>
              <a:t>TİCARİLEŞME POTANSİYELİ VE SÜRDÜRÜLEBİLİRLİK</a:t>
            </a:r>
            <a:endParaRPr lang="en-US" sz="4800" dirty="0">
              <a:solidFill>
                <a:srgbClr val="1A426A"/>
              </a:solidFill>
              <a:latin typeface="Active Heart"/>
            </a:endParaRPr>
          </a:p>
        </p:txBody>
      </p:sp>
      <p:sp>
        <p:nvSpPr>
          <p:cNvPr id="4" name="AutoShape 20">
            <a:extLst>
              <a:ext uri="{FF2B5EF4-FFF2-40B4-BE49-F238E27FC236}">
                <a16:creationId xmlns:a16="http://schemas.microsoft.com/office/drawing/2014/main" id="{A726BFC3-24C4-F911-0C60-D5F4BCF75831}"/>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3C7DA488-CA02-699B-DDAA-A73A55249111}"/>
              </a:ext>
            </a:extLst>
          </p:cNvPr>
          <p:cNvSpPr txBox="1"/>
          <p:nvPr/>
        </p:nvSpPr>
        <p:spPr>
          <a:xfrm>
            <a:off x="15343980" y="47564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70206A5A-3C70-4D9A-B206-B34BFA02EB92}"/>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1E7C4695-FFE7-53D9-7841-0168C99E3EEE}"/>
              </a:ext>
            </a:extLst>
          </p:cNvPr>
          <p:cNvSpPr txBox="1"/>
          <p:nvPr/>
        </p:nvSpPr>
        <p:spPr>
          <a:xfrm>
            <a:off x="15986302" y="8010385"/>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90E0988A-62F9-4134-E587-E6A9D608943D}"/>
              </a:ext>
            </a:extLst>
          </p:cNvPr>
          <p:cNvSpPr txBox="1"/>
          <p:nvPr/>
        </p:nvSpPr>
        <p:spPr>
          <a:xfrm>
            <a:off x="15233043" y="5555213"/>
            <a:ext cx="2198106" cy="82157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TİCARİLEŞTİRME POTANSİYELİ VE SÜRDÜRÜLEBİLİRLİK</a:t>
            </a:r>
            <a:endParaRPr lang="en-US" sz="1550" dirty="0">
              <a:solidFill>
                <a:srgbClr val="1C4C61"/>
              </a:solidFill>
              <a:latin typeface="Aileron Bold"/>
            </a:endParaRPr>
          </a:p>
        </p:txBody>
      </p:sp>
      <p:sp>
        <p:nvSpPr>
          <p:cNvPr id="10" name="TextBox 38">
            <a:extLst>
              <a:ext uri="{FF2B5EF4-FFF2-40B4-BE49-F238E27FC236}">
                <a16:creationId xmlns:a16="http://schemas.microsoft.com/office/drawing/2014/main" id="{7B8D669C-7D1E-BAD9-5E63-AF8104C336DC}"/>
              </a:ext>
            </a:extLst>
          </p:cNvPr>
          <p:cNvSpPr txBox="1"/>
          <p:nvPr/>
        </p:nvSpPr>
        <p:spPr>
          <a:xfrm>
            <a:off x="15745664" y="73245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PROJE TAKVİMİ</a:t>
            </a:r>
          </a:p>
        </p:txBody>
      </p:sp>
      <p:sp>
        <p:nvSpPr>
          <p:cNvPr id="11" name="TextBox 40">
            <a:extLst>
              <a:ext uri="{FF2B5EF4-FFF2-40B4-BE49-F238E27FC236}">
                <a16:creationId xmlns:a16="http://schemas.microsoft.com/office/drawing/2014/main" id="{A5113626-5F96-48D4-DA93-969C61FF15A5}"/>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12" name="Freeform 21">
            <a:extLst>
              <a:ext uri="{FF2B5EF4-FFF2-40B4-BE49-F238E27FC236}">
                <a16:creationId xmlns:a16="http://schemas.microsoft.com/office/drawing/2014/main" id="{5A12EF3A-9FEB-A1C7-8B7F-E8C656A6A765}"/>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39F15150-EA3A-9170-4B6E-5F402FEFF7D6}"/>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464D971A-7155-7CA5-F51C-E50C39C326CB}"/>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9F700D98-B1E8-CBC0-89B7-1153B411AF64}"/>
              </a:ext>
            </a:extLst>
          </p:cNvPr>
          <p:cNvSpPr/>
          <p:nvPr/>
        </p:nvSpPr>
        <p:spPr>
          <a:xfrm>
            <a:off x="17537349" y="4857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F8A97F5B-A0C8-46C7-3449-C99FB4DF7C4A}"/>
              </a:ext>
            </a:extLst>
          </p:cNvPr>
          <p:cNvSpPr/>
          <p:nvPr/>
        </p:nvSpPr>
        <p:spPr>
          <a:xfrm>
            <a:off x="17531608" y="5695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1AFE5323-C3F5-B8ED-1E12-65F6BE27A850}"/>
              </a:ext>
            </a:extLst>
          </p:cNvPr>
          <p:cNvSpPr/>
          <p:nvPr/>
        </p:nvSpPr>
        <p:spPr>
          <a:xfrm>
            <a:off x="17516247" y="7295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AD236D1E-D79F-D43B-5005-08A3E13F8D65}"/>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7218AEE7-DEE8-BEF1-C0E9-7E7A70C2F724}"/>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5E55BA35-D1AF-26B5-E0B2-EB7BA9EE0C83}"/>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2E52C1D1-88A3-2B51-A729-BE3CFE20686B}"/>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11ECE1DD-F013-1162-17F0-654A3D107721}"/>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45A97E96-7187-FA3B-FF0F-0D4CD00113D9}"/>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5" name="TextBox 38">
            <a:extLst>
              <a:ext uri="{FF2B5EF4-FFF2-40B4-BE49-F238E27FC236}">
                <a16:creationId xmlns:a16="http://schemas.microsoft.com/office/drawing/2014/main" id="{D3AEC10C-AD0C-5C20-188C-FA3ED27D4897}"/>
              </a:ext>
            </a:extLst>
          </p:cNvPr>
          <p:cNvSpPr txBox="1"/>
          <p:nvPr/>
        </p:nvSpPr>
        <p:spPr>
          <a:xfrm>
            <a:off x="15754072" y="66387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HEDEF KİTLE</a:t>
            </a:r>
          </a:p>
        </p:txBody>
      </p:sp>
      <p:sp>
        <p:nvSpPr>
          <p:cNvPr id="26" name="Freeform 21">
            <a:extLst>
              <a:ext uri="{FF2B5EF4-FFF2-40B4-BE49-F238E27FC236}">
                <a16:creationId xmlns:a16="http://schemas.microsoft.com/office/drawing/2014/main" id="{9F7A2154-3A9E-B817-EA89-25D917505936}"/>
              </a:ext>
            </a:extLst>
          </p:cNvPr>
          <p:cNvSpPr/>
          <p:nvPr/>
        </p:nvSpPr>
        <p:spPr>
          <a:xfrm>
            <a:off x="17537349" y="66101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 name="TextBox 114">
            <a:extLst>
              <a:ext uri="{FF2B5EF4-FFF2-40B4-BE49-F238E27FC236}">
                <a16:creationId xmlns:a16="http://schemas.microsoft.com/office/drawing/2014/main" id="{FD89F861-DB3F-36C0-68B1-091C686CC0CA}"/>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extLst>
      <p:ext uri="{BB962C8B-B14F-4D97-AF65-F5344CB8AC3E}">
        <p14:creationId xmlns:p14="http://schemas.microsoft.com/office/powerpoint/2010/main" val="3341681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a:spLocks noGrp="1" noRot="1" noMove="1" noResize="1" noEditPoints="1" noAdjustHandles="1" noChangeArrowheads="1" noChangeShapeType="1"/>
          </p:cNvSpPr>
          <p:nvPr/>
        </p:nvSpPr>
        <p:spPr>
          <a:xfrm>
            <a:off x="6642960" y="364176"/>
            <a:ext cx="4445214"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HEDEF KİTLE</a:t>
            </a:r>
          </a:p>
        </p:txBody>
      </p:sp>
      <p:sp>
        <p:nvSpPr>
          <p:cNvPr id="52" name="TextBox 9"/>
          <p:cNvSpPr txBox="1"/>
          <p:nvPr/>
        </p:nvSpPr>
        <p:spPr>
          <a:xfrm>
            <a:off x="1389673" y="2066656"/>
            <a:ext cx="13990038" cy="2810256"/>
          </a:xfrm>
          <a:prstGeom prst="rect">
            <a:avLst/>
          </a:prstGeom>
        </p:spPr>
        <p:txBody>
          <a:bodyPr lIns="0" tIns="0" rIns="0" bIns="0" rtlCol="0" anchor="t">
            <a:spAutoFit/>
          </a:bodyPr>
          <a:lstStyle/>
          <a:p>
            <a:pPr marL="388620" lvl="1" indent="-194310" algn="l">
              <a:lnSpc>
                <a:spcPts val="2520"/>
              </a:lnSpc>
              <a:buFont typeface="Arial"/>
              <a:buChar char="•"/>
            </a:pPr>
            <a:r>
              <a:rPr lang="en-US" sz="1800" dirty="0" err="1">
                <a:solidFill>
                  <a:srgbClr val="FF0000"/>
                </a:solidFill>
                <a:latin typeface="Aileron Bold"/>
              </a:rPr>
              <a:t>Hedef</a:t>
            </a:r>
            <a:r>
              <a:rPr lang="en-US" sz="1800" dirty="0">
                <a:solidFill>
                  <a:srgbClr val="FF0000"/>
                </a:solidFill>
                <a:latin typeface="Aileron Bold"/>
              </a:rPr>
              <a:t> </a:t>
            </a:r>
            <a:r>
              <a:rPr lang="en-US" sz="1800" dirty="0" err="1">
                <a:solidFill>
                  <a:srgbClr val="FF0000"/>
                </a:solidFill>
                <a:latin typeface="Aileron Bold"/>
              </a:rPr>
              <a:t>kitlenin</a:t>
            </a:r>
            <a:r>
              <a:rPr lang="en-US" sz="1800" dirty="0">
                <a:solidFill>
                  <a:srgbClr val="FF0000"/>
                </a:solidFill>
                <a:latin typeface="Aileron Bold"/>
              </a:rPr>
              <a:t> </a:t>
            </a:r>
            <a:r>
              <a:rPr lang="en-US" sz="1800" dirty="0" err="1">
                <a:solidFill>
                  <a:srgbClr val="FF0000"/>
                </a:solidFill>
                <a:latin typeface="Aileron Bold"/>
              </a:rPr>
              <a:t>açıklandığı</a:t>
            </a:r>
            <a:r>
              <a:rPr lang="en-US" sz="1800" dirty="0">
                <a:solidFill>
                  <a:srgbClr val="FF0000"/>
                </a:solidFill>
                <a:latin typeface="Aileron Bold"/>
              </a:rPr>
              <a:t> </a:t>
            </a:r>
            <a:r>
              <a:rPr lang="en-US" sz="1800" dirty="0" err="1">
                <a:solidFill>
                  <a:srgbClr val="FF0000"/>
                </a:solidFill>
                <a:latin typeface="Aileron Bold"/>
              </a:rPr>
              <a:t>sayfadır</a:t>
            </a:r>
            <a:r>
              <a:rPr lang="en-US" sz="1800" dirty="0">
                <a:solidFill>
                  <a:srgbClr val="FF0000"/>
                </a:solidFill>
                <a:latin typeface="Aileron Bold"/>
              </a:rPr>
              <a:t>.</a:t>
            </a:r>
          </a:p>
          <a:p>
            <a:pPr marL="388620" lvl="1" indent="-194310" algn="l">
              <a:lnSpc>
                <a:spcPts val="2520"/>
              </a:lnSpc>
              <a:buFont typeface="Arial"/>
              <a:buChar char="•"/>
            </a:pPr>
            <a:r>
              <a:rPr lang="en-US" sz="1800" dirty="0" err="1">
                <a:solidFill>
                  <a:srgbClr val="FF0000"/>
                </a:solidFill>
                <a:latin typeface="Aileron Bold"/>
              </a:rPr>
              <a:t>Hedef</a:t>
            </a:r>
            <a:r>
              <a:rPr lang="en-US" sz="1800" dirty="0">
                <a:solidFill>
                  <a:srgbClr val="FF0000"/>
                </a:solidFill>
                <a:latin typeface="Aileron Bold"/>
              </a:rPr>
              <a:t> </a:t>
            </a:r>
            <a:r>
              <a:rPr lang="en-US" sz="1800" dirty="0" err="1">
                <a:solidFill>
                  <a:srgbClr val="FF0000"/>
                </a:solidFill>
                <a:latin typeface="Aileron Bold"/>
              </a:rPr>
              <a:t>kitle</a:t>
            </a:r>
            <a:r>
              <a:rPr lang="en-US" sz="1800" dirty="0">
                <a:solidFill>
                  <a:srgbClr val="FF0000"/>
                </a:solidFill>
                <a:latin typeface="Aileron Bold"/>
              </a:rPr>
              <a:t>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u="sng" dirty="0">
                <a:solidFill>
                  <a:srgbClr val="FF0000"/>
                </a:solidFill>
                <a:latin typeface="Aileron Bold Italics"/>
              </a:rPr>
              <a:t> </a:t>
            </a:r>
            <a:r>
              <a:rPr lang="en-US" sz="1800" dirty="0">
                <a:solidFill>
                  <a:srgbClr val="FF0000"/>
                </a:solidFill>
                <a:latin typeface="Aileron Bold"/>
              </a:rPr>
              <a:t>1 (</a:t>
            </a:r>
            <a:r>
              <a:rPr lang="en-US" sz="1800" dirty="0" err="1">
                <a:solidFill>
                  <a:srgbClr val="FF0000"/>
                </a:solidFill>
                <a:latin typeface="Aileron Bold"/>
              </a:rPr>
              <a:t>bir</a:t>
            </a:r>
            <a:r>
              <a:rPr lang="en-US" sz="1800" dirty="0">
                <a:solidFill>
                  <a:srgbClr val="FF0000"/>
                </a:solidFill>
                <a:latin typeface="Aileron Bold"/>
              </a:rPr>
              <a:t>) </a:t>
            </a:r>
            <a:r>
              <a:rPr lang="en-US" sz="1800" dirty="0" err="1">
                <a:solidFill>
                  <a:srgbClr val="FF0000"/>
                </a:solidFill>
                <a:latin typeface="Aileron Bold"/>
              </a:rPr>
              <a:t>sayfad</a:t>
            </a:r>
            <a:r>
              <a:rPr lang="tr-TR" sz="1800" dirty="0">
                <a:solidFill>
                  <a:srgbClr val="FF0000"/>
                </a:solidFill>
                <a:latin typeface="Aileron Bold"/>
              </a:rPr>
              <a:t>a açıklanmalıdır</a:t>
            </a:r>
            <a:r>
              <a:rPr lang="en-US" sz="1800" dirty="0">
                <a:solidFill>
                  <a:srgbClr val="FF0000"/>
                </a:solidFill>
                <a:latin typeface="Aileron Bold"/>
              </a:rPr>
              <a:t>. </a:t>
            </a:r>
            <a:r>
              <a:rPr lang="en-US" sz="1800" u="sng" dirty="0" err="1">
                <a:solidFill>
                  <a:srgbClr val="FF0000"/>
                </a:solidFill>
                <a:latin typeface="Aileron Bold"/>
              </a:rPr>
              <a:t>Sayfa</a:t>
            </a:r>
            <a:r>
              <a:rPr lang="en-US" sz="1800" u="sng" dirty="0">
                <a:solidFill>
                  <a:srgbClr val="FF0000"/>
                </a:solidFill>
                <a:latin typeface="Aileron Bold"/>
              </a:rPr>
              <a:t> </a:t>
            </a:r>
            <a:r>
              <a:rPr lang="en-US" sz="1800" u="sng" dirty="0" err="1">
                <a:solidFill>
                  <a:srgbClr val="FF0000"/>
                </a:solidFill>
                <a:latin typeface="Aileron Bold"/>
              </a:rPr>
              <a:t>sınırı</a:t>
            </a:r>
            <a:r>
              <a:rPr lang="en-US" sz="1800" u="sng"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p>
          <a:p>
            <a:pPr marL="388620" lvl="1" indent="-194310" algn="l">
              <a:lnSpc>
                <a:spcPts val="2520"/>
              </a:lnSpc>
              <a:buFont typeface="Arial"/>
              <a:buChar char="•"/>
            </a:pPr>
            <a:r>
              <a:rPr lang="en-US" sz="1800" dirty="0" err="1">
                <a:solidFill>
                  <a:srgbClr val="FF0000"/>
                </a:solidFill>
                <a:latin typeface="Aileron Bold"/>
              </a:rPr>
              <a:t>Hedef</a:t>
            </a:r>
            <a:r>
              <a:rPr lang="en-US" sz="1800" dirty="0">
                <a:solidFill>
                  <a:srgbClr val="FF0000"/>
                </a:solidFill>
                <a:latin typeface="Aileron Bold"/>
              </a:rPr>
              <a:t> </a:t>
            </a:r>
            <a:r>
              <a:rPr lang="en-US" sz="1800" dirty="0" err="1">
                <a:solidFill>
                  <a:srgbClr val="FF0000"/>
                </a:solidFill>
                <a:latin typeface="Aileron Bold"/>
              </a:rPr>
              <a:t>kitle</a:t>
            </a:r>
            <a:r>
              <a:rPr lang="en-US" sz="1800" dirty="0">
                <a:solidFill>
                  <a:srgbClr val="FF0000"/>
                </a:solidFill>
                <a:latin typeface="Aileron Bold"/>
              </a:rPr>
              <a:t> </a:t>
            </a:r>
            <a:r>
              <a:rPr lang="en-US" sz="1800" dirty="0" err="1">
                <a:solidFill>
                  <a:srgbClr val="FF0000"/>
                </a:solidFill>
                <a:latin typeface="Aileron Bold"/>
              </a:rPr>
              <a:t>geliştirilen</a:t>
            </a:r>
            <a:r>
              <a:rPr lang="en-US" sz="1800" dirty="0">
                <a:solidFill>
                  <a:srgbClr val="FF0000"/>
                </a:solidFill>
                <a:latin typeface="Aileron Bold"/>
              </a:rPr>
              <a:t> </a:t>
            </a:r>
            <a:r>
              <a:rPr lang="en-US" sz="1800" dirty="0" err="1">
                <a:solidFill>
                  <a:srgbClr val="FF0000"/>
                </a:solidFill>
                <a:latin typeface="Aileron Bold"/>
              </a:rPr>
              <a:t>projeye</a:t>
            </a:r>
            <a:r>
              <a:rPr lang="en-US" sz="1800" dirty="0">
                <a:solidFill>
                  <a:srgbClr val="FF0000"/>
                </a:solidFill>
                <a:latin typeface="Aileron Bold"/>
              </a:rPr>
              <a:t>/</a:t>
            </a:r>
            <a:r>
              <a:rPr lang="en-US" sz="1800" dirty="0" err="1">
                <a:solidFill>
                  <a:srgbClr val="FF0000"/>
                </a:solidFill>
                <a:latin typeface="Aileron Bold"/>
              </a:rPr>
              <a:t>fikre</a:t>
            </a:r>
            <a:r>
              <a:rPr lang="en-US" sz="1800" dirty="0">
                <a:solidFill>
                  <a:srgbClr val="FF0000"/>
                </a:solidFill>
                <a:latin typeface="Aileron Bold"/>
              </a:rPr>
              <a:t> </a:t>
            </a:r>
            <a:r>
              <a:rPr lang="en-US" sz="1800" dirty="0" err="1">
                <a:solidFill>
                  <a:srgbClr val="FF0000"/>
                </a:solidFill>
                <a:latin typeface="Aileron Bold"/>
              </a:rPr>
              <a:t>ve</a:t>
            </a:r>
            <a:r>
              <a:rPr lang="en-US" sz="1800" dirty="0">
                <a:solidFill>
                  <a:srgbClr val="FF0000"/>
                </a:solidFill>
                <a:latin typeface="Aileron Bold"/>
              </a:rPr>
              <a:t> </a:t>
            </a:r>
            <a:r>
              <a:rPr lang="en-US" sz="1800" dirty="0" err="1">
                <a:solidFill>
                  <a:srgbClr val="FF0000"/>
                </a:solidFill>
                <a:latin typeface="Aileron Bold"/>
              </a:rPr>
              <a:t>yarışma</a:t>
            </a:r>
            <a:r>
              <a:rPr lang="en-US" sz="1800" dirty="0">
                <a:solidFill>
                  <a:srgbClr val="FF0000"/>
                </a:solidFill>
                <a:latin typeface="Aileron Bold"/>
              </a:rPr>
              <a:t> </a:t>
            </a:r>
            <a:r>
              <a:rPr lang="en-US" sz="1800" dirty="0" err="1">
                <a:solidFill>
                  <a:srgbClr val="FF0000"/>
                </a:solidFill>
                <a:latin typeface="Aileron Bold"/>
              </a:rPr>
              <a:t>kategorisinin</a:t>
            </a:r>
            <a:r>
              <a:rPr lang="en-US" sz="1800" dirty="0">
                <a:solidFill>
                  <a:srgbClr val="FF0000"/>
                </a:solidFill>
                <a:latin typeface="Aileron Bold"/>
              </a:rPr>
              <a:t> </a:t>
            </a:r>
            <a:r>
              <a:rPr lang="en-US" sz="1800" dirty="0" err="1">
                <a:solidFill>
                  <a:srgbClr val="FF0000"/>
                </a:solidFill>
                <a:latin typeface="Aileron Bold"/>
              </a:rPr>
              <a:t>konu</a:t>
            </a:r>
            <a:r>
              <a:rPr lang="en-US" sz="1800" dirty="0">
                <a:solidFill>
                  <a:srgbClr val="FF0000"/>
                </a:solidFill>
                <a:latin typeface="Aileron Bold"/>
              </a:rPr>
              <a:t> </a:t>
            </a:r>
            <a:r>
              <a:rPr lang="en-US" sz="1800" dirty="0" err="1">
                <a:solidFill>
                  <a:srgbClr val="FF0000"/>
                </a:solidFill>
                <a:latin typeface="Aileron Bold"/>
              </a:rPr>
              <a:t>kapsamına</a:t>
            </a:r>
            <a:r>
              <a:rPr lang="en-US" sz="1800" dirty="0">
                <a:solidFill>
                  <a:srgbClr val="FF0000"/>
                </a:solidFill>
                <a:latin typeface="Aileron Bold"/>
              </a:rPr>
              <a:t> </a:t>
            </a:r>
            <a:r>
              <a:rPr lang="en-US" sz="1800" dirty="0" err="1">
                <a:solidFill>
                  <a:srgbClr val="FF0000"/>
                </a:solidFill>
                <a:latin typeface="Aileron Bold"/>
              </a:rPr>
              <a:t>uygun</a:t>
            </a:r>
            <a:r>
              <a:rPr lang="en-US" sz="1800" dirty="0">
                <a:solidFill>
                  <a:srgbClr val="FF0000"/>
                </a:solidFill>
                <a:latin typeface="Aileron Bold"/>
              </a:rPr>
              <a:t> </a:t>
            </a:r>
            <a:r>
              <a:rPr lang="en-US" sz="1800" dirty="0" err="1">
                <a:solidFill>
                  <a:srgbClr val="FF0000"/>
                </a:solidFill>
                <a:latin typeface="Aileron Bold"/>
              </a:rPr>
              <a:t>olmalıdır</a:t>
            </a:r>
            <a:r>
              <a:rPr lang="en-US" sz="1800" dirty="0">
                <a:solidFill>
                  <a:srgbClr val="FF0000"/>
                </a:solidFill>
                <a:latin typeface="Aileron Bold"/>
              </a:rPr>
              <a:t>.</a:t>
            </a:r>
          </a:p>
          <a:p>
            <a:pPr marL="388620" lvl="1" indent="-194310" algn="l">
              <a:lnSpc>
                <a:spcPts val="2520"/>
              </a:lnSpc>
              <a:buFont typeface="Arial"/>
              <a:buChar char="•"/>
            </a:pPr>
            <a:r>
              <a:rPr lang="en-US" sz="1800" dirty="0" err="1">
                <a:solidFill>
                  <a:srgbClr val="FF0000"/>
                </a:solidFill>
                <a:latin typeface="Aileron Bold"/>
              </a:rPr>
              <a:t>Hedef</a:t>
            </a:r>
            <a:r>
              <a:rPr lang="en-US" sz="1800" dirty="0">
                <a:solidFill>
                  <a:srgbClr val="FF0000"/>
                </a:solidFill>
                <a:latin typeface="Aileron Bold"/>
              </a:rPr>
              <a:t> </a:t>
            </a:r>
            <a:r>
              <a:rPr lang="en-US" sz="1800" dirty="0" err="1">
                <a:solidFill>
                  <a:srgbClr val="FF0000"/>
                </a:solidFill>
                <a:latin typeface="Aileron Bold"/>
              </a:rPr>
              <a:t>kitle</a:t>
            </a:r>
            <a:r>
              <a:rPr lang="en-US" sz="1800" dirty="0">
                <a:solidFill>
                  <a:srgbClr val="FF0000"/>
                </a:solidFill>
                <a:latin typeface="Aileron Bold"/>
              </a:rPr>
              <a:t> </a:t>
            </a:r>
            <a:r>
              <a:rPr lang="en-US" sz="1800" dirty="0" err="1">
                <a:solidFill>
                  <a:srgbClr val="FF0000"/>
                </a:solidFill>
                <a:latin typeface="Aileron Bold"/>
              </a:rPr>
              <a:t>özelleştirilmelidir</a:t>
            </a:r>
            <a:r>
              <a:rPr lang="en-US" sz="1800" dirty="0">
                <a:solidFill>
                  <a:srgbClr val="FF0000"/>
                </a:solidFill>
                <a:latin typeface="Aileron Bold"/>
              </a:rPr>
              <a:t>. </a:t>
            </a:r>
            <a:r>
              <a:rPr lang="en-US" sz="1800" dirty="0" err="1">
                <a:solidFill>
                  <a:srgbClr val="FF0000"/>
                </a:solidFill>
                <a:latin typeface="Aileron Bold"/>
              </a:rPr>
              <a:t>Genel</a:t>
            </a:r>
            <a:r>
              <a:rPr lang="en-US" sz="1800" dirty="0">
                <a:solidFill>
                  <a:srgbClr val="FF0000"/>
                </a:solidFill>
                <a:latin typeface="Aileron Bold"/>
              </a:rPr>
              <a:t> </a:t>
            </a:r>
            <a:r>
              <a:rPr lang="en-US" sz="1800" dirty="0" err="1">
                <a:solidFill>
                  <a:srgbClr val="FF0000"/>
                </a:solidFill>
                <a:latin typeface="Aileron Bold"/>
              </a:rPr>
              <a:t>ifadelere</a:t>
            </a:r>
            <a:r>
              <a:rPr lang="en-US" sz="1800" dirty="0">
                <a:solidFill>
                  <a:srgbClr val="FF0000"/>
                </a:solidFill>
                <a:latin typeface="Aileron Bold"/>
              </a:rPr>
              <a:t> </a:t>
            </a:r>
            <a:r>
              <a:rPr lang="en-US" sz="1800" dirty="0" err="1">
                <a:solidFill>
                  <a:srgbClr val="FF0000"/>
                </a:solidFill>
                <a:latin typeface="Aileron Bold"/>
              </a:rPr>
              <a:t>yer</a:t>
            </a:r>
            <a:r>
              <a:rPr lang="en-US" sz="1800" dirty="0">
                <a:solidFill>
                  <a:srgbClr val="FF0000"/>
                </a:solidFill>
                <a:latin typeface="Aileron Bold"/>
              </a:rPr>
              <a:t> </a:t>
            </a:r>
            <a:r>
              <a:rPr lang="en-US" sz="1800" dirty="0" err="1">
                <a:solidFill>
                  <a:srgbClr val="FF0000"/>
                </a:solidFill>
                <a:latin typeface="Aileron Bold"/>
              </a:rPr>
              <a:t>verilmemelidir</a:t>
            </a:r>
            <a:r>
              <a:rPr lang="en-US" sz="1800" dirty="0">
                <a:solidFill>
                  <a:srgbClr val="FF0000"/>
                </a:solidFill>
                <a:latin typeface="Aileron Bold"/>
              </a:rPr>
              <a:t>. (</a:t>
            </a:r>
            <a:r>
              <a:rPr lang="en-US" sz="1800" dirty="0" err="1">
                <a:solidFill>
                  <a:srgbClr val="FF0000"/>
                </a:solidFill>
                <a:latin typeface="Aileron Bold"/>
              </a:rPr>
              <a:t>Örn</a:t>
            </a:r>
            <a:r>
              <a:rPr lang="en-US" sz="1800" dirty="0">
                <a:solidFill>
                  <a:srgbClr val="FF0000"/>
                </a:solidFill>
                <a:latin typeface="Aileron Bold"/>
              </a:rPr>
              <a:t>: </a:t>
            </a:r>
            <a:r>
              <a:rPr lang="en-US" sz="1800" dirty="0" err="1">
                <a:solidFill>
                  <a:srgbClr val="FF0000"/>
                </a:solidFill>
                <a:latin typeface="Aileron Bold"/>
              </a:rPr>
              <a:t>Herkes</a:t>
            </a:r>
            <a:r>
              <a:rPr lang="en-US" sz="1800" dirty="0">
                <a:solidFill>
                  <a:srgbClr val="FF0000"/>
                </a:solidFill>
                <a:latin typeface="Aileron Bold"/>
              </a:rPr>
              <a:t>, </a:t>
            </a:r>
            <a:r>
              <a:rPr lang="en-US" sz="1800" dirty="0" err="1">
                <a:solidFill>
                  <a:srgbClr val="FF0000"/>
                </a:solidFill>
                <a:latin typeface="Aileron Bold"/>
              </a:rPr>
              <a:t>tüm</a:t>
            </a:r>
            <a:r>
              <a:rPr lang="en-US" sz="1800" dirty="0">
                <a:solidFill>
                  <a:srgbClr val="FF0000"/>
                </a:solidFill>
                <a:latin typeface="Aileron Bold"/>
              </a:rPr>
              <a:t> </a:t>
            </a:r>
            <a:r>
              <a:rPr lang="en-US" sz="1800" dirty="0" err="1">
                <a:solidFill>
                  <a:srgbClr val="FF0000"/>
                </a:solidFill>
                <a:latin typeface="Aileron Bold"/>
              </a:rPr>
              <a:t>insanlık</a:t>
            </a:r>
            <a:r>
              <a:rPr lang="en-US" sz="1800" dirty="0">
                <a:solidFill>
                  <a:srgbClr val="FF0000"/>
                </a:solidFill>
                <a:latin typeface="Aileron Bold"/>
              </a:rPr>
              <a:t>.. )</a:t>
            </a:r>
            <a:endParaRPr lang="tr-TR" sz="1800" dirty="0">
              <a:solidFill>
                <a:srgbClr val="FF0000"/>
              </a:solidFill>
              <a:latin typeface="Aileron Bold"/>
            </a:endParaRPr>
          </a:p>
          <a:p>
            <a:pPr marL="388620" lvl="1" indent="-194310" algn="l">
              <a:lnSpc>
                <a:spcPts val="2520"/>
              </a:lnSpc>
              <a:buFont typeface="Arial"/>
              <a:buChar char="•"/>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Sayfada görsellerden (tablolar, akış diyagramı , infografik vb.) yararlanabilirsiniz.</a:t>
            </a:r>
            <a:endParaRPr lang="en-US" sz="1800" dirty="0">
              <a:solidFill>
                <a:srgbClr val="FF0000"/>
              </a:solidFill>
              <a:latin typeface="Aileron Bold"/>
            </a:endParaRPr>
          </a:p>
          <a:p>
            <a:pPr marL="194310" lvl="1" algn="l">
              <a:lnSpc>
                <a:spcPts val="2520"/>
              </a:lnSpc>
            </a:pPr>
            <a:endParaRPr lang="en-US" sz="1800" dirty="0">
              <a:solidFill>
                <a:srgbClr val="DE2223"/>
              </a:solidFill>
              <a:latin typeface="Aileron Bold"/>
            </a:endParaRPr>
          </a:p>
          <a:p>
            <a:pPr algn="l">
              <a:lnSpc>
                <a:spcPts val="4759"/>
              </a:lnSpc>
            </a:pPr>
            <a:endParaRPr lang="en-US" sz="1800" dirty="0">
              <a:solidFill>
                <a:srgbClr val="DE2223"/>
              </a:solidFill>
              <a:latin typeface="Aileron Bold"/>
            </a:endParaRPr>
          </a:p>
        </p:txBody>
      </p:sp>
      <p:sp>
        <p:nvSpPr>
          <p:cNvPr id="13" name="AutoShape 20">
            <a:extLst>
              <a:ext uri="{FF2B5EF4-FFF2-40B4-BE49-F238E27FC236}">
                <a16:creationId xmlns:a16="http://schemas.microsoft.com/office/drawing/2014/main" id="{5B762910-C8D6-63E9-FDE9-5C2492EFFC4D}"/>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63" name="TextBox 34">
            <a:extLst>
              <a:ext uri="{FF2B5EF4-FFF2-40B4-BE49-F238E27FC236}">
                <a16:creationId xmlns:a16="http://schemas.microsoft.com/office/drawing/2014/main" id="{4F6569E2-4A61-DC7E-681B-836136031893}"/>
              </a:ext>
            </a:extLst>
          </p:cNvPr>
          <p:cNvSpPr txBox="1"/>
          <p:nvPr/>
        </p:nvSpPr>
        <p:spPr>
          <a:xfrm>
            <a:off x="15343980" y="47564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64" name="TextBox 35">
            <a:extLst>
              <a:ext uri="{FF2B5EF4-FFF2-40B4-BE49-F238E27FC236}">
                <a16:creationId xmlns:a16="http://schemas.microsoft.com/office/drawing/2014/main" id="{7BE170DC-88B7-E1F1-78F7-66B8394FEE02}"/>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65" name="TextBox 38">
            <a:extLst>
              <a:ext uri="{FF2B5EF4-FFF2-40B4-BE49-F238E27FC236}">
                <a16:creationId xmlns:a16="http://schemas.microsoft.com/office/drawing/2014/main" id="{E786B188-D095-C022-D6D2-AE7F5FDDA370}"/>
              </a:ext>
            </a:extLst>
          </p:cNvPr>
          <p:cNvSpPr txBox="1"/>
          <p:nvPr/>
        </p:nvSpPr>
        <p:spPr>
          <a:xfrm>
            <a:off x="15986302" y="8010385"/>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66" name="TextBox 39">
            <a:extLst>
              <a:ext uri="{FF2B5EF4-FFF2-40B4-BE49-F238E27FC236}">
                <a16:creationId xmlns:a16="http://schemas.microsoft.com/office/drawing/2014/main" id="{28E91FC3-6C63-6262-5BA9-911C3FCF86BE}"/>
              </a:ext>
            </a:extLst>
          </p:cNvPr>
          <p:cNvSpPr txBox="1"/>
          <p:nvPr/>
        </p:nvSpPr>
        <p:spPr>
          <a:xfrm>
            <a:off x="15233043" y="5555213"/>
            <a:ext cx="2198106"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TİCARİLEŞTİRME POTANSİYELİ VE SÜRDÜRÜLEBİLİRLİK</a:t>
            </a:r>
            <a:endParaRPr lang="en-US" sz="1550" dirty="0">
              <a:solidFill>
                <a:srgbClr val="1C4C61"/>
              </a:solidFill>
              <a:latin typeface="Aileron Bold"/>
            </a:endParaRPr>
          </a:p>
        </p:txBody>
      </p:sp>
      <p:sp>
        <p:nvSpPr>
          <p:cNvPr id="67" name="TextBox 38">
            <a:extLst>
              <a:ext uri="{FF2B5EF4-FFF2-40B4-BE49-F238E27FC236}">
                <a16:creationId xmlns:a16="http://schemas.microsoft.com/office/drawing/2014/main" id="{FEBD365B-793E-82B3-4A20-F9F4AB791BD6}"/>
              </a:ext>
            </a:extLst>
          </p:cNvPr>
          <p:cNvSpPr txBox="1"/>
          <p:nvPr/>
        </p:nvSpPr>
        <p:spPr>
          <a:xfrm>
            <a:off x="15745664" y="73245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PROJE TAKVİMİ</a:t>
            </a:r>
          </a:p>
        </p:txBody>
      </p:sp>
      <p:sp>
        <p:nvSpPr>
          <p:cNvPr id="68" name="TextBox 40">
            <a:extLst>
              <a:ext uri="{FF2B5EF4-FFF2-40B4-BE49-F238E27FC236}">
                <a16:creationId xmlns:a16="http://schemas.microsoft.com/office/drawing/2014/main" id="{7A516E17-3C38-7A0C-ECD7-A05B1ECC294D}"/>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69" name="Freeform 21">
            <a:extLst>
              <a:ext uri="{FF2B5EF4-FFF2-40B4-BE49-F238E27FC236}">
                <a16:creationId xmlns:a16="http://schemas.microsoft.com/office/drawing/2014/main" id="{7B727698-8472-04D0-D3D6-3DD073952560}"/>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0" name="Freeform 21">
            <a:extLst>
              <a:ext uri="{FF2B5EF4-FFF2-40B4-BE49-F238E27FC236}">
                <a16:creationId xmlns:a16="http://schemas.microsoft.com/office/drawing/2014/main" id="{A7011E5D-02E3-B3C5-0494-8870DE69BF2D}"/>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1" name="Freeform 21">
            <a:extLst>
              <a:ext uri="{FF2B5EF4-FFF2-40B4-BE49-F238E27FC236}">
                <a16:creationId xmlns:a16="http://schemas.microsoft.com/office/drawing/2014/main" id="{D583CBDD-43CB-45D5-79CC-94CE7D193046}"/>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2" name="Freeform 21">
            <a:extLst>
              <a:ext uri="{FF2B5EF4-FFF2-40B4-BE49-F238E27FC236}">
                <a16:creationId xmlns:a16="http://schemas.microsoft.com/office/drawing/2014/main" id="{A024E128-F6BB-3ED5-FB33-325BE75FBD2A}"/>
              </a:ext>
            </a:extLst>
          </p:cNvPr>
          <p:cNvSpPr/>
          <p:nvPr/>
        </p:nvSpPr>
        <p:spPr>
          <a:xfrm>
            <a:off x="17537349" y="4857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3" name="Freeform 21">
            <a:extLst>
              <a:ext uri="{FF2B5EF4-FFF2-40B4-BE49-F238E27FC236}">
                <a16:creationId xmlns:a16="http://schemas.microsoft.com/office/drawing/2014/main" id="{71BC1139-9161-3243-02AB-C25EB3DA743A}"/>
              </a:ext>
            </a:extLst>
          </p:cNvPr>
          <p:cNvSpPr/>
          <p:nvPr/>
        </p:nvSpPr>
        <p:spPr>
          <a:xfrm>
            <a:off x="17531608" y="5695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4" name="Freeform 21">
            <a:extLst>
              <a:ext uri="{FF2B5EF4-FFF2-40B4-BE49-F238E27FC236}">
                <a16:creationId xmlns:a16="http://schemas.microsoft.com/office/drawing/2014/main" id="{46A9B15A-1DCF-0440-F696-ECA1DE78CEE1}"/>
              </a:ext>
            </a:extLst>
          </p:cNvPr>
          <p:cNvSpPr/>
          <p:nvPr/>
        </p:nvSpPr>
        <p:spPr>
          <a:xfrm>
            <a:off x="17516247" y="7295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5" name="Freeform 21">
            <a:extLst>
              <a:ext uri="{FF2B5EF4-FFF2-40B4-BE49-F238E27FC236}">
                <a16:creationId xmlns:a16="http://schemas.microsoft.com/office/drawing/2014/main" id="{9643D682-3AD9-3061-187D-4A1B5B74A1E1}"/>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6" name="TextBox 34">
            <a:extLst>
              <a:ext uri="{FF2B5EF4-FFF2-40B4-BE49-F238E27FC236}">
                <a16:creationId xmlns:a16="http://schemas.microsoft.com/office/drawing/2014/main" id="{AF59890D-E7D3-C105-09D7-1E44A036B6ED}"/>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77" name="Freeform 97">
            <a:extLst>
              <a:ext uri="{FF2B5EF4-FFF2-40B4-BE49-F238E27FC236}">
                <a16:creationId xmlns:a16="http://schemas.microsoft.com/office/drawing/2014/main" id="{A10E28F8-AB77-CF58-E2C2-100C107D8FA8}"/>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8" name="Freeform 21">
            <a:extLst>
              <a:ext uri="{FF2B5EF4-FFF2-40B4-BE49-F238E27FC236}">
                <a16:creationId xmlns:a16="http://schemas.microsoft.com/office/drawing/2014/main" id="{2B78D18D-BD9C-BB07-7421-F985F6608416}"/>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9" name="TextBox 40">
            <a:extLst>
              <a:ext uri="{FF2B5EF4-FFF2-40B4-BE49-F238E27FC236}">
                <a16:creationId xmlns:a16="http://schemas.microsoft.com/office/drawing/2014/main" id="{0794814D-536C-E87C-6CB6-D5AA043BBAF6}"/>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80" name="Freeform 97">
            <a:extLst>
              <a:ext uri="{FF2B5EF4-FFF2-40B4-BE49-F238E27FC236}">
                <a16:creationId xmlns:a16="http://schemas.microsoft.com/office/drawing/2014/main" id="{BC1C6C58-5CF0-3DB0-4F17-699880B21132}"/>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83" name="TextBox 38">
            <a:extLst>
              <a:ext uri="{FF2B5EF4-FFF2-40B4-BE49-F238E27FC236}">
                <a16:creationId xmlns:a16="http://schemas.microsoft.com/office/drawing/2014/main" id="{EFDDCD83-206A-3930-AE40-562E62BE0FFE}"/>
              </a:ext>
            </a:extLst>
          </p:cNvPr>
          <p:cNvSpPr txBox="1"/>
          <p:nvPr/>
        </p:nvSpPr>
        <p:spPr>
          <a:xfrm>
            <a:off x="15754072" y="6638785"/>
            <a:ext cx="1693723"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en-US" sz="1550" dirty="0">
                <a:solidFill>
                  <a:srgbClr val="1C4C61"/>
                </a:solidFill>
                <a:latin typeface="Aileron Bold"/>
              </a:rPr>
              <a:t>HEDEF KİTLE</a:t>
            </a:r>
          </a:p>
        </p:txBody>
      </p:sp>
      <p:sp>
        <p:nvSpPr>
          <p:cNvPr id="84" name="Freeform 21">
            <a:extLst>
              <a:ext uri="{FF2B5EF4-FFF2-40B4-BE49-F238E27FC236}">
                <a16:creationId xmlns:a16="http://schemas.microsoft.com/office/drawing/2014/main" id="{1C946175-714B-CE33-87BD-374C80F0B475}"/>
              </a:ext>
            </a:extLst>
          </p:cNvPr>
          <p:cNvSpPr/>
          <p:nvPr/>
        </p:nvSpPr>
        <p:spPr>
          <a:xfrm>
            <a:off x="17537349" y="66101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 name="TextBox 114">
            <a:extLst>
              <a:ext uri="{FF2B5EF4-FFF2-40B4-BE49-F238E27FC236}">
                <a16:creationId xmlns:a16="http://schemas.microsoft.com/office/drawing/2014/main" id="{AC6A30CC-E10B-E9F0-F1D1-027D4AF16676}"/>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DF2B1-00AC-2B9B-4BEA-5136ACA4440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F523B62-9630-2191-4042-855E790C2C70}"/>
              </a:ext>
            </a:extLst>
          </p:cNvPr>
          <p:cNvSpPr txBox="1">
            <a:spLocks/>
          </p:cNvSpPr>
          <p:nvPr/>
        </p:nvSpPr>
        <p:spPr>
          <a:xfrm>
            <a:off x="2670313" y="251629"/>
            <a:ext cx="12458770"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PROJE TAKVİMİ</a:t>
            </a:r>
            <a:endParaRPr lang="en-US" sz="6399" dirty="0">
              <a:solidFill>
                <a:srgbClr val="1A426A"/>
              </a:solidFill>
              <a:latin typeface="Active Heart"/>
            </a:endParaRPr>
          </a:p>
        </p:txBody>
      </p:sp>
      <p:graphicFrame>
        <p:nvGraphicFramePr>
          <p:cNvPr id="2" name="Tablo 1">
            <a:extLst>
              <a:ext uri="{FF2B5EF4-FFF2-40B4-BE49-F238E27FC236}">
                <a16:creationId xmlns:a16="http://schemas.microsoft.com/office/drawing/2014/main" id="{3A55117C-9F53-93C9-5A96-83A2898FF161}"/>
              </a:ext>
            </a:extLst>
          </p:cNvPr>
          <p:cNvGraphicFramePr>
            <a:graphicFrameLocks noGrp="1"/>
          </p:cNvGraphicFramePr>
          <p:nvPr>
            <p:extLst>
              <p:ext uri="{D42A27DB-BD31-4B8C-83A1-F6EECF244321}">
                <p14:modId xmlns:p14="http://schemas.microsoft.com/office/powerpoint/2010/main" val="3670759993"/>
              </p:ext>
            </p:extLst>
          </p:nvPr>
        </p:nvGraphicFramePr>
        <p:xfrm>
          <a:off x="1903779" y="1740851"/>
          <a:ext cx="13194263" cy="3450290"/>
        </p:xfrm>
        <a:graphic>
          <a:graphicData uri="http://schemas.openxmlformats.org/drawingml/2006/table">
            <a:tbl>
              <a:tblPr firstRow="1" firstCol="1" bandRow="1">
                <a:tableStyleId>{5C22544A-7EE6-4342-B048-85BDC9FD1C3A}</a:tableStyleId>
              </a:tblPr>
              <a:tblGrid>
                <a:gridCol w="1419904">
                  <a:extLst>
                    <a:ext uri="{9D8B030D-6E8A-4147-A177-3AD203B41FA5}">
                      <a16:colId xmlns:a16="http://schemas.microsoft.com/office/drawing/2014/main" val="3651232533"/>
                    </a:ext>
                  </a:extLst>
                </a:gridCol>
                <a:gridCol w="3480614">
                  <a:extLst>
                    <a:ext uri="{9D8B030D-6E8A-4147-A177-3AD203B41FA5}">
                      <a16:colId xmlns:a16="http://schemas.microsoft.com/office/drawing/2014/main" val="286275402"/>
                    </a:ext>
                  </a:extLst>
                </a:gridCol>
                <a:gridCol w="3451480">
                  <a:extLst>
                    <a:ext uri="{9D8B030D-6E8A-4147-A177-3AD203B41FA5}">
                      <a16:colId xmlns:a16="http://schemas.microsoft.com/office/drawing/2014/main" val="1308968788"/>
                    </a:ext>
                  </a:extLst>
                </a:gridCol>
                <a:gridCol w="2392734">
                  <a:extLst>
                    <a:ext uri="{9D8B030D-6E8A-4147-A177-3AD203B41FA5}">
                      <a16:colId xmlns:a16="http://schemas.microsoft.com/office/drawing/2014/main" val="3301012220"/>
                    </a:ext>
                  </a:extLst>
                </a:gridCol>
                <a:gridCol w="2449531">
                  <a:extLst>
                    <a:ext uri="{9D8B030D-6E8A-4147-A177-3AD203B41FA5}">
                      <a16:colId xmlns:a16="http://schemas.microsoft.com/office/drawing/2014/main" val="642288747"/>
                    </a:ext>
                  </a:extLst>
                </a:gridCol>
              </a:tblGrid>
              <a:tr h="819116">
                <a:tc>
                  <a:txBody>
                    <a:bodyPr/>
                    <a:lstStyle/>
                    <a:p>
                      <a:pPr algn="ctr">
                        <a:lnSpc>
                          <a:spcPct val="107000"/>
                        </a:lnSpc>
                        <a:spcAft>
                          <a:spcPts val="800"/>
                        </a:spcAft>
                      </a:pPr>
                      <a:r>
                        <a:rPr lang="tr-TR" sz="1800" kern="100" dirty="0">
                          <a:effectLst/>
                        </a:rPr>
                        <a:t>İş Paketi No</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İŞ PAKETİ ADI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ALT FAALİYETLER</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BAŞLANGIÇ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BİTİŞ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extLst>
                  <a:ext uri="{0D108BD9-81ED-4DB2-BD59-A6C34878D82A}">
                    <a16:rowId xmlns:a16="http://schemas.microsoft.com/office/drawing/2014/main" val="40059261"/>
                  </a:ext>
                </a:extLst>
              </a:tr>
              <a:tr h="375882">
                <a:tc>
                  <a:txBody>
                    <a:bodyPr/>
                    <a:lstStyle/>
                    <a:p>
                      <a:pPr algn="ctr">
                        <a:lnSpc>
                          <a:spcPct val="107000"/>
                        </a:lnSpc>
                        <a:spcAft>
                          <a:spcPts val="800"/>
                        </a:spcAft>
                      </a:pPr>
                      <a:r>
                        <a:rPr lang="tr-TR" sz="1800" kern="100" dirty="0">
                          <a:effectLst/>
                        </a:rPr>
                        <a:t>1</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3403083039"/>
                  </a:ext>
                </a:extLst>
              </a:tr>
              <a:tr h="375882">
                <a:tc>
                  <a:txBody>
                    <a:bodyPr/>
                    <a:lstStyle/>
                    <a:p>
                      <a:pPr algn="ctr">
                        <a:lnSpc>
                          <a:spcPct val="107000"/>
                        </a:lnSpc>
                        <a:spcAft>
                          <a:spcPts val="800"/>
                        </a:spcAft>
                      </a:pPr>
                      <a:r>
                        <a:rPr lang="tr-TR" sz="1800" kern="100" dirty="0">
                          <a:effectLst/>
                        </a:rPr>
                        <a:t>2</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08245559"/>
                  </a:ext>
                </a:extLst>
              </a:tr>
              <a:tr h="375882">
                <a:tc>
                  <a:txBody>
                    <a:bodyPr/>
                    <a:lstStyle/>
                    <a:p>
                      <a:pPr algn="ctr">
                        <a:lnSpc>
                          <a:spcPct val="107000"/>
                        </a:lnSpc>
                        <a:spcAft>
                          <a:spcPts val="800"/>
                        </a:spcAft>
                      </a:pPr>
                      <a:r>
                        <a:rPr lang="tr-TR" sz="1800" kern="100" dirty="0">
                          <a:effectLst/>
                        </a:rPr>
                        <a:t>3</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889250296"/>
                  </a:ext>
                </a:extLst>
              </a:tr>
              <a:tr h="375882">
                <a:tc>
                  <a:txBody>
                    <a:bodyPr/>
                    <a:lstStyle/>
                    <a:p>
                      <a:pPr algn="ctr">
                        <a:lnSpc>
                          <a:spcPct val="107000"/>
                        </a:lnSpc>
                        <a:spcAft>
                          <a:spcPts val="800"/>
                        </a:spcAft>
                      </a:pPr>
                      <a:r>
                        <a:rPr lang="tr-TR" sz="1800" kern="100" dirty="0">
                          <a:effectLst/>
                        </a:rPr>
                        <a:t>4</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2101133"/>
                  </a:ext>
                </a:extLst>
              </a:tr>
              <a:tr h="375882">
                <a:tc>
                  <a:txBody>
                    <a:bodyPr/>
                    <a:lstStyle/>
                    <a:p>
                      <a:pPr algn="ctr">
                        <a:lnSpc>
                          <a:spcPct val="107000"/>
                        </a:lnSpc>
                        <a:spcAft>
                          <a:spcPts val="800"/>
                        </a:spcAft>
                      </a:pPr>
                      <a:r>
                        <a:rPr lang="tr-TR" sz="1800" kern="100" dirty="0">
                          <a:effectLst/>
                        </a:rPr>
                        <a:t>5</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159154711"/>
                  </a:ext>
                </a:extLst>
              </a:tr>
              <a:tr h="375882">
                <a:tc>
                  <a:txBody>
                    <a:bodyPr/>
                    <a:lstStyle/>
                    <a:p>
                      <a:pPr algn="ctr">
                        <a:lnSpc>
                          <a:spcPct val="107000"/>
                        </a:lnSpc>
                        <a:spcAft>
                          <a:spcPts val="800"/>
                        </a:spcAft>
                      </a:pPr>
                      <a:r>
                        <a:rPr lang="tr-TR" sz="1800" kern="100" dirty="0">
                          <a:effectLst/>
                        </a:rPr>
                        <a:t>6</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9381981"/>
                  </a:ext>
                </a:extLst>
              </a:tr>
              <a:tr h="375882">
                <a:tc>
                  <a:txBody>
                    <a:bodyPr/>
                    <a:lstStyle/>
                    <a:p>
                      <a:pPr algn="ctr">
                        <a:lnSpc>
                          <a:spcPct val="107000"/>
                        </a:lnSpc>
                        <a:spcAft>
                          <a:spcPts val="800"/>
                        </a:spcAft>
                      </a:pPr>
                      <a:r>
                        <a:rPr lang="tr-TR" sz="1800" kern="100" dirty="0">
                          <a:effectLst/>
                        </a:rPr>
                        <a:t>7</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1602613127"/>
                  </a:ext>
                </a:extLst>
              </a:tr>
            </a:tbl>
          </a:graphicData>
        </a:graphic>
      </p:graphicFrame>
      <p:sp>
        <p:nvSpPr>
          <p:cNvPr id="3" name="Metin kutusu 2">
            <a:extLst>
              <a:ext uri="{FF2B5EF4-FFF2-40B4-BE49-F238E27FC236}">
                <a16:creationId xmlns:a16="http://schemas.microsoft.com/office/drawing/2014/main" id="{BF6B0DCC-A007-45D8-663A-A1D498CB3377}"/>
              </a:ext>
            </a:extLst>
          </p:cNvPr>
          <p:cNvSpPr txBox="1"/>
          <p:nvPr/>
        </p:nvSpPr>
        <p:spPr>
          <a:xfrm>
            <a:off x="1509729" y="5820370"/>
            <a:ext cx="12886166" cy="923330"/>
          </a:xfrm>
          <a:prstGeom prst="rect">
            <a:avLst/>
          </a:prstGeom>
          <a:noFill/>
        </p:spPr>
        <p:txBody>
          <a:bodyPr wrap="square">
            <a:spAutoFit/>
          </a:bodyPr>
          <a:lstStyle/>
          <a:p>
            <a:r>
              <a:rPr lang="tr-TR" sz="1800" dirty="0">
                <a:solidFill>
                  <a:srgbClr val="EE0000"/>
                </a:solidFill>
                <a:effectLst/>
                <a:latin typeface="Arial" panose="020B0604020202020204" pitchFamily="34" charset="0"/>
                <a:ea typeface="Aptos" panose="020B0004020202020204" pitchFamily="34" charset="0"/>
              </a:rPr>
              <a:t>Proje kapsamında iş paketleri alt faaliyetleri ile birlikte detaylı, açık belirlenmiş ve gerçekçi olmalıdır. Görsel açıdan anlaşılır ve düzenli bir tablo kullanılmalıdır, örnek tablo yukarıda yer almaktadır. Paylaşılacak bilgiler yalnızca iş paketi detaylarına ve proje içeriğine odaklanmalı ve gerçekçi olmalıdır. </a:t>
            </a:r>
            <a:endParaRPr lang="tr-TR" dirty="0">
              <a:solidFill>
                <a:srgbClr val="EE0000"/>
              </a:solidFill>
            </a:endParaRPr>
          </a:p>
        </p:txBody>
      </p:sp>
      <p:sp>
        <p:nvSpPr>
          <p:cNvPr id="4" name="Metin kutusu 3">
            <a:extLst>
              <a:ext uri="{FF2B5EF4-FFF2-40B4-BE49-F238E27FC236}">
                <a16:creationId xmlns:a16="http://schemas.microsoft.com/office/drawing/2014/main" id="{AD2D56BF-FB7D-5941-C02C-497AB3C6CB30}"/>
              </a:ext>
            </a:extLst>
          </p:cNvPr>
          <p:cNvSpPr txBox="1"/>
          <p:nvPr/>
        </p:nvSpPr>
        <p:spPr>
          <a:xfrm>
            <a:off x="1471059" y="6812851"/>
            <a:ext cx="12886166" cy="1766702"/>
          </a:xfrm>
          <a:prstGeom prst="rect">
            <a:avLst/>
          </a:prstGeom>
          <a:noFill/>
        </p:spPr>
        <p:txBody>
          <a:bodyPr wrap="square">
            <a:spAutoFit/>
          </a:bodyPr>
          <a:lstStyle/>
          <a:p>
            <a:pPr algn="just">
              <a:lnSpc>
                <a:spcPct val="107000"/>
              </a:lnSpc>
              <a:spcAft>
                <a:spcPts val="800"/>
              </a:spcAft>
            </a:pP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Tabloda yer alan </a:t>
            </a: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iş paketi</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ve </a:t>
            </a: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alt faaliyetlerin </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tanımı;</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İş Paketi:</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Bir projede belirli bir hedefe ulaşmak için yapılan, tamamlandığında net bir sonuç ortaya koyan ve genellikle belirli bir zaman, bütçe ve kaynakla sınırlı olan bağımsız bir görevler grubudur.</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Alt Faaliyet:</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İş paketine bağlı daha küçük, daha detaylı görevler veya aktiviteler olarak tanımlanır. Alt faaliyetler, iş paketini tamamlamak için gereken adımların alt kırılımlarıdır ve genellikle daha kısa süreli ve daha spesifik görevlerdir.</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Metin kutusu 4">
            <a:extLst>
              <a:ext uri="{FF2B5EF4-FFF2-40B4-BE49-F238E27FC236}">
                <a16:creationId xmlns:a16="http://schemas.microsoft.com/office/drawing/2014/main" id="{AA2D619B-C5D8-E82E-AD33-72CCFBF61F41}"/>
              </a:ext>
            </a:extLst>
          </p:cNvPr>
          <p:cNvSpPr txBox="1"/>
          <p:nvPr/>
        </p:nvSpPr>
        <p:spPr>
          <a:xfrm>
            <a:off x="1461091" y="5357628"/>
            <a:ext cx="9198590" cy="385875"/>
          </a:xfrm>
          <a:prstGeom prst="rect">
            <a:avLst/>
          </a:prstGeom>
          <a:noFill/>
        </p:spPr>
        <p:txBody>
          <a:bodyPr wrap="square">
            <a:spAutoFit/>
          </a:bodyPr>
          <a:lstStyle/>
          <a:p>
            <a:pPr marL="388620" lvl="1" indent="-194310" algn="l">
              <a:lnSpc>
                <a:spcPts val="2520"/>
              </a:lnSpc>
              <a:buFont typeface="Arial"/>
              <a:buChar char="•"/>
            </a:pPr>
            <a:r>
              <a:rPr lang="tr-TR" sz="1800" dirty="0">
                <a:solidFill>
                  <a:srgbClr val="FF0000"/>
                </a:solidFill>
                <a:latin typeface="Aileron Bold Italics"/>
              </a:rPr>
              <a:t>Proje Takvimi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u="sng" dirty="0">
                <a:solidFill>
                  <a:srgbClr val="FF0000"/>
                </a:solidFill>
                <a:latin typeface="Aileron Bold Italics"/>
              </a:rPr>
              <a:t> </a:t>
            </a:r>
            <a:r>
              <a:rPr lang="tr-TR" u="sng" dirty="0">
                <a:solidFill>
                  <a:srgbClr val="FF0000"/>
                </a:solidFill>
                <a:latin typeface="Aileron Bold"/>
              </a:rPr>
              <a:t>1</a:t>
            </a:r>
            <a:r>
              <a:rPr lang="tr-TR" sz="1800" dirty="0">
                <a:solidFill>
                  <a:srgbClr val="FF0000"/>
                </a:solidFill>
                <a:latin typeface="Aileron Bold"/>
              </a:rPr>
              <a:t> </a:t>
            </a:r>
            <a:r>
              <a:rPr lang="en-US" sz="1800" dirty="0">
                <a:solidFill>
                  <a:srgbClr val="FF0000"/>
                </a:solidFill>
                <a:latin typeface="Aileron Bold"/>
              </a:rPr>
              <a:t>(</a:t>
            </a:r>
            <a:r>
              <a:rPr lang="tr-TR" sz="1800" dirty="0">
                <a:solidFill>
                  <a:srgbClr val="FF0000"/>
                </a:solidFill>
                <a:latin typeface="Aileron Bold"/>
              </a:rPr>
              <a:t>bir</a:t>
            </a:r>
            <a:r>
              <a:rPr lang="en-US" sz="1800" dirty="0">
                <a:solidFill>
                  <a:srgbClr val="FF0000"/>
                </a:solidFill>
                <a:latin typeface="Aileron Bold"/>
              </a:rPr>
              <a:t>) </a:t>
            </a:r>
            <a:r>
              <a:rPr lang="en-US" sz="1800" dirty="0" err="1">
                <a:solidFill>
                  <a:srgbClr val="FF0000"/>
                </a:solidFill>
                <a:latin typeface="Aileron Bold"/>
              </a:rPr>
              <a:t>sayfad</a:t>
            </a:r>
            <a:r>
              <a:rPr lang="tr-TR" sz="1800" dirty="0">
                <a:solidFill>
                  <a:srgbClr val="FF0000"/>
                </a:solidFill>
                <a:latin typeface="Aileron Bold"/>
              </a:rPr>
              <a:t>a açıklanmalıdır</a:t>
            </a:r>
            <a:r>
              <a:rPr lang="en-US" sz="1800" dirty="0">
                <a:solidFill>
                  <a:srgbClr val="FF0000"/>
                </a:solidFill>
                <a:latin typeface="Aileron Bold"/>
              </a:rPr>
              <a:t>. </a:t>
            </a:r>
            <a:r>
              <a:rPr lang="en-US" sz="1800" u="sng" dirty="0" err="1">
                <a:solidFill>
                  <a:srgbClr val="FF0000"/>
                </a:solidFill>
                <a:latin typeface="Aileron Bold"/>
              </a:rPr>
              <a:t>Sayfa</a:t>
            </a:r>
            <a:r>
              <a:rPr lang="en-US" sz="1800" u="sng" dirty="0">
                <a:solidFill>
                  <a:srgbClr val="FF0000"/>
                </a:solidFill>
                <a:latin typeface="Aileron Bold"/>
              </a:rPr>
              <a:t> </a:t>
            </a:r>
            <a:r>
              <a:rPr lang="en-US" sz="1800" u="sng" dirty="0" err="1">
                <a:solidFill>
                  <a:srgbClr val="FF0000"/>
                </a:solidFill>
                <a:latin typeface="Aileron Bold"/>
              </a:rPr>
              <a:t>sınırı</a:t>
            </a:r>
            <a:r>
              <a:rPr lang="en-US" sz="1800" u="sng"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p>
        </p:txBody>
      </p:sp>
      <p:sp>
        <p:nvSpPr>
          <p:cNvPr id="8" name="AutoShape 20">
            <a:extLst>
              <a:ext uri="{FF2B5EF4-FFF2-40B4-BE49-F238E27FC236}">
                <a16:creationId xmlns:a16="http://schemas.microsoft.com/office/drawing/2014/main" id="{185CDCA3-E95A-6CEA-D89F-BB5462CD51F4}"/>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10" name="TextBox 34">
            <a:extLst>
              <a:ext uri="{FF2B5EF4-FFF2-40B4-BE49-F238E27FC236}">
                <a16:creationId xmlns:a16="http://schemas.microsoft.com/office/drawing/2014/main" id="{FDD5B2AC-72D8-167F-BB4F-2D0F1E1373A4}"/>
              </a:ext>
            </a:extLst>
          </p:cNvPr>
          <p:cNvSpPr txBox="1"/>
          <p:nvPr/>
        </p:nvSpPr>
        <p:spPr>
          <a:xfrm>
            <a:off x="15343980" y="47564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11" name="TextBox 35">
            <a:extLst>
              <a:ext uri="{FF2B5EF4-FFF2-40B4-BE49-F238E27FC236}">
                <a16:creationId xmlns:a16="http://schemas.microsoft.com/office/drawing/2014/main" id="{3EF1EDA7-AF9A-807C-4D1F-0B425EB38506}"/>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12" name="TextBox 38">
            <a:extLst>
              <a:ext uri="{FF2B5EF4-FFF2-40B4-BE49-F238E27FC236}">
                <a16:creationId xmlns:a16="http://schemas.microsoft.com/office/drawing/2014/main" id="{55D707AA-C5D5-932F-157B-A440EEEA08BD}"/>
              </a:ext>
            </a:extLst>
          </p:cNvPr>
          <p:cNvSpPr txBox="1"/>
          <p:nvPr/>
        </p:nvSpPr>
        <p:spPr>
          <a:xfrm>
            <a:off x="15986302" y="8010385"/>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13" name="TextBox 39">
            <a:extLst>
              <a:ext uri="{FF2B5EF4-FFF2-40B4-BE49-F238E27FC236}">
                <a16:creationId xmlns:a16="http://schemas.microsoft.com/office/drawing/2014/main" id="{AED8D871-DEF6-6F29-3468-F4311FD0F00A}"/>
              </a:ext>
            </a:extLst>
          </p:cNvPr>
          <p:cNvSpPr txBox="1"/>
          <p:nvPr/>
        </p:nvSpPr>
        <p:spPr>
          <a:xfrm>
            <a:off x="15233043" y="5555213"/>
            <a:ext cx="2198106"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TİCARİLEŞTİRME POTANSİYELİ VE SÜRDÜRÜLEBİLİRLİK</a:t>
            </a:r>
            <a:endParaRPr lang="en-US" sz="1550" dirty="0">
              <a:solidFill>
                <a:srgbClr val="1C4C61"/>
              </a:solidFill>
              <a:latin typeface="Aileron Bold"/>
            </a:endParaRPr>
          </a:p>
        </p:txBody>
      </p:sp>
      <p:sp>
        <p:nvSpPr>
          <p:cNvPr id="14" name="TextBox 38">
            <a:extLst>
              <a:ext uri="{FF2B5EF4-FFF2-40B4-BE49-F238E27FC236}">
                <a16:creationId xmlns:a16="http://schemas.microsoft.com/office/drawing/2014/main" id="{98A262E2-D245-F8AB-8526-3EAD68249EBE}"/>
              </a:ext>
            </a:extLst>
          </p:cNvPr>
          <p:cNvSpPr txBox="1"/>
          <p:nvPr/>
        </p:nvSpPr>
        <p:spPr>
          <a:xfrm>
            <a:off x="15745664" y="7324585"/>
            <a:ext cx="1693723"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en-US" sz="1550" dirty="0">
                <a:solidFill>
                  <a:srgbClr val="1C4C61"/>
                </a:solidFill>
                <a:latin typeface="Aileron Bold"/>
              </a:rPr>
              <a:t>PROJE TAKVİMİ</a:t>
            </a:r>
          </a:p>
        </p:txBody>
      </p:sp>
      <p:sp>
        <p:nvSpPr>
          <p:cNvPr id="15" name="TextBox 40">
            <a:extLst>
              <a:ext uri="{FF2B5EF4-FFF2-40B4-BE49-F238E27FC236}">
                <a16:creationId xmlns:a16="http://schemas.microsoft.com/office/drawing/2014/main" id="{98DD0C68-49BA-ADAC-3A4F-3406C9131052}"/>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16" name="Freeform 21">
            <a:extLst>
              <a:ext uri="{FF2B5EF4-FFF2-40B4-BE49-F238E27FC236}">
                <a16:creationId xmlns:a16="http://schemas.microsoft.com/office/drawing/2014/main" id="{537B69DA-0A68-C617-560D-7282EF715E8F}"/>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4103795F-7D80-B0D6-E96D-E23693500611}"/>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E7BAA15D-9834-52A7-8E23-03DDC127EB5D}"/>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9" name="Freeform 21">
            <a:extLst>
              <a:ext uri="{FF2B5EF4-FFF2-40B4-BE49-F238E27FC236}">
                <a16:creationId xmlns:a16="http://schemas.microsoft.com/office/drawing/2014/main" id="{9D52A9DD-5248-30B7-1A82-9DA9E6F81FEA}"/>
              </a:ext>
            </a:extLst>
          </p:cNvPr>
          <p:cNvSpPr/>
          <p:nvPr/>
        </p:nvSpPr>
        <p:spPr>
          <a:xfrm>
            <a:off x="17537349" y="4857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0" name="Freeform 21">
            <a:extLst>
              <a:ext uri="{FF2B5EF4-FFF2-40B4-BE49-F238E27FC236}">
                <a16:creationId xmlns:a16="http://schemas.microsoft.com/office/drawing/2014/main" id="{662477E0-669C-2F99-0788-DCDE684C89E9}"/>
              </a:ext>
            </a:extLst>
          </p:cNvPr>
          <p:cNvSpPr/>
          <p:nvPr/>
        </p:nvSpPr>
        <p:spPr>
          <a:xfrm>
            <a:off x="17531608" y="5695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5FE38CFE-184E-FE18-EC87-990BEFB01AB4}"/>
              </a:ext>
            </a:extLst>
          </p:cNvPr>
          <p:cNvSpPr/>
          <p:nvPr/>
        </p:nvSpPr>
        <p:spPr>
          <a:xfrm>
            <a:off x="17516247" y="7295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2" name="Freeform 21">
            <a:extLst>
              <a:ext uri="{FF2B5EF4-FFF2-40B4-BE49-F238E27FC236}">
                <a16:creationId xmlns:a16="http://schemas.microsoft.com/office/drawing/2014/main" id="{A15E8EF2-8653-0638-0109-47A1AEA7C829}"/>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3" name="TextBox 34">
            <a:extLst>
              <a:ext uri="{FF2B5EF4-FFF2-40B4-BE49-F238E27FC236}">
                <a16:creationId xmlns:a16="http://schemas.microsoft.com/office/drawing/2014/main" id="{2535FE15-89B7-0F5E-EFE5-B6A4B646348B}"/>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24" name="Freeform 97">
            <a:extLst>
              <a:ext uri="{FF2B5EF4-FFF2-40B4-BE49-F238E27FC236}">
                <a16:creationId xmlns:a16="http://schemas.microsoft.com/office/drawing/2014/main" id="{6B146C83-D628-1F63-1362-D2DFC48C0773}"/>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5" name="Freeform 21">
            <a:extLst>
              <a:ext uri="{FF2B5EF4-FFF2-40B4-BE49-F238E27FC236}">
                <a16:creationId xmlns:a16="http://schemas.microsoft.com/office/drawing/2014/main" id="{97119BB4-8436-4A8A-4379-FD461F63B76F}"/>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6" name="TextBox 40">
            <a:extLst>
              <a:ext uri="{FF2B5EF4-FFF2-40B4-BE49-F238E27FC236}">
                <a16:creationId xmlns:a16="http://schemas.microsoft.com/office/drawing/2014/main" id="{4C462496-A122-4B6F-C295-3A6EE2EAE95E}"/>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7" name="Freeform 97">
            <a:extLst>
              <a:ext uri="{FF2B5EF4-FFF2-40B4-BE49-F238E27FC236}">
                <a16:creationId xmlns:a16="http://schemas.microsoft.com/office/drawing/2014/main" id="{FCB34455-8143-5FED-66A3-DCE8C3E82057}"/>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8" name="TextBox 38">
            <a:extLst>
              <a:ext uri="{FF2B5EF4-FFF2-40B4-BE49-F238E27FC236}">
                <a16:creationId xmlns:a16="http://schemas.microsoft.com/office/drawing/2014/main" id="{B68E1C14-3818-51F4-6DA2-AC53AE1DAD79}"/>
              </a:ext>
            </a:extLst>
          </p:cNvPr>
          <p:cNvSpPr txBox="1"/>
          <p:nvPr/>
        </p:nvSpPr>
        <p:spPr>
          <a:xfrm>
            <a:off x="15754072" y="66387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HEDEF KİTLE</a:t>
            </a:r>
          </a:p>
        </p:txBody>
      </p:sp>
      <p:sp>
        <p:nvSpPr>
          <p:cNvPr id="29" name="Freeform 21">
            <a:extLst>
              <a:ext uri="{FF2B5EF4-FFF2-40B4-BE49-F238E27FC236}">
                <a16:creationId xmlns:a16="http://schemas.microsoft.com/office/drawing/2014/main" id="{9DCCED95-324F-1031-13E3-CB5A14771CB7}"/>
              </a:ext>
            </a:extLst>
          </p:cNvPr>
          <p:cNvSpPr/>
          <p:nvPr/>
        </p:nvSpPr>
        <p:spPr>
          <a:xfrm>
            <a:off x="17537349" y="66101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 name="TextBox 114">
            <a:extLst>
              <a:ext uri="{FF2B5EF4-FFF2-40B4-BE49-F238E27FC236}">
                <a16:creationId xmlns:a16="http://schemas.microsoft.com/office/drawing/2014/main" id="{87551216-7492-BCBC-D90A-3C09A53929CE}"/>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extLst>
      <p:ext uri="{BB962C8B-B14F-4D97-AF65-F5344CB8AC3E}">
        <p14:creationId xmlns:p14="http://schemas.microsoft.com/office/powerpoint/2010/main" val="3098565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F82E6-0B8D-35DD-3465-B6529A6A996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E42B2E2-5E1B-401F-D88F-A60E5ACA5266}"/>
              </a:ext>
            </a:extLst>
          </p:cNvPr>
          <p:cNvSpPr txBox="1">
            <a:spLocks/>
          </p:cNvSpPr>
          <p:nvPr/>
        </p:nvSpPr>
        <p:spPr>
          <a:xfrm>
            <a:off x="2670313" y="251629"/>
            <a:ext cx="12458770"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SWOT ANALİZİ</a:t>
            </a:r>
            <a:endParaRPr lang="en-US" sz="6399" dirty="0">
              <a:solidFill>
                <a:srgbClr val="1A426A"/>
              </a:solidFill>
              <a:latin typeface="Active Heart"/>
            </a:endParaRPr>
          </a:p>
        </p:txBody>
      </p:sp>
      <p:graphicFrame>
        <p:nvGraphicFramePr>
          <p:cNvPr id="6" name="Table 19">
            <a:extLst>
              <a:ext uri="{FF2B5EF4-FFF2-40B4-BE49-F238E27FC236}">
                <a16:creationId xmlns:a16="http://schemas.microsoft.com/office/drawing/2014/main" id="{AC04B66D-DE74-2BA4-15BC-7ECE21D72EC8}"/>
              </a:ext>
            </a:extLst>
          </p:cNvPr>
          <p:cNvGraphicFramePr>
            <a:graphicFrameLocks/>
          </p:cNvGraphicFramePr>
          <p:nvPr>
            <p:extLst>
              <p:ext uri="{D42A27DB-BD31-4B8C-83A1-F6EECF244321}">
                <p14:modId xmlns:p14="http://schemas.microsoft.com/office/powerpoint/2010/main" val="3587116474"/>
              </p:ext>
            </p:extLst>
          </p:nvPr>
        </p:nvGraphicFramePr>
        <p:xfrm>
          <a:off x="1670308" y="3422784"/>
          <a:ext cx="12122832" cy="5378316"/>
        </p:xfrm>
        <a:graphic>
          <a:graphicData uri="http://schemas.openxmlformats.org/drawingml/2006/table">
            <a:tbl>
              <a:tblPr/>
              <a:tblGrid>
                <a:gridCol w="3030708">
                  <a:extLst>
                    <a:ext uri="{9D8B030D-6E8A-4147-A177-3AD203B41FA5}">
                      <a16:colId xmlns:a16="http://schemas.microsoft.com/office/drawing/2014/main" val="20000"/>
                    </a:ext>
                  </a:extLst>
                </a:gridCol>
                <a:gridCol w="3030708">
                  <a:extLst>
                    <a:ext uri="{9D8B030D-6E8A-4147-A177-3AD203B41FA5}">
                      <a16:colId xmlns:a16="http://schemas.microsoft.com/office/drawing/2014/main" val="20001"/>
                    </a:ext>
                  </a:extLst>
                </a:gridCol>
                <a:gridCol w="3030708">
                  <a:extLst>
                    <a:ext uri="{9D8B030D-6E8A-4147-A177-3AD203B41FA5}">
                      <a16:colId xmlns:a16="http://schemas.microsoft.com/office/drawing/2014/main" val="20002"/>
                    </a:ext>
                  </a:extLst>
                </a:gridCol>
                <a:gridCol w="3030708">
                  <a:extLst>
                    <a:ext uri="{9D8B030D-6E8A-4147-A177-3AD203B41FA5}">
                      <a16:colId xmlns:a16="http://schemas.microsoft.com/office/drawing/2014/main" val="20003"/>
                    </a:ext>
                  </a:extLst>
                </a:gridCol>
              </a:tblGrid>
              <a:tr h="1467395">
                <a:tc>
                  <a:txBody>
                    <a:bodyPr/>
                    <a:lstStyle/>
                    <a:p>
                      <a:pPr algn="ctr">
                        <a:lnSpc>
                          <a:spcPts val="3348"/>
                        </a:lnSpc>
                        <a:defRPr/>
                      </a:pPr>
                      <a:endParaRPr lang="en-US" sz="1100" dirty="0"/>
                    </a:p>
                    <a:p>
                      <a:pPr algn="ctr">
                        <a:lnSpc>
                          <a:spcPts val="3348"/>
                        </a:lnSpc>
                      </a:pPr>
                      <a:endParaRPr lang="en-US" sz="1100" dirty="0"/>
                    </a:p>
                    <a:p>
                      <a:pPr algn="ctr">
                        <a:lnSpc>
                          <a:spcPts val="3348"/>
                        </a:lnSpc>
                      </a:pPr>
                      <a:r>
                        <a:rPr lang="en-US" sz="2391" dirty="0">
                          <a:solidFill>
                            <a:srgbClr val="FFFFFF"/>
                          </a:solidFill>
                          <a:latin typeface="Aileron Bold"/>
                        </a:rPr>
                        <a:t>Güçlü </a:t>
                      </a:r>
                      <a:r>
                        <a:rPr lang="en-US" sz="2391" dirty="0" err="1">
                          <a:solidFill>
                            <a:srgbClr val="FFFFFF"/>
                          </a:solidFill>
                          <a:latin typeface="Aileron Bold"/>
                        </a:rPr>
                        <a:t>Yönler</a:t>
                      </a:r>
                      <a:endParaRPr lang="en-US" sz="2391" dirty="0">
                        <a:solidFill>
                          <a:srgbClr val="FFFFFF"/>
                        </a:solidFill>
                        <a:latin typeface="Aileron Bold"/>
                      </a:endParaRP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FFBD59"/>
                    </a:solidFill>
                  </a:tcPr>
                </a:tc>
                <a:tc>
                  <a:txBody>
                    <a:bodyPr/>
                    <a:lstStyle/>
                    <a:p>
                      <a:pPr algn="ctr">
                        <a:lnSpc>
                          <a:spcPts val="3348"/>
                        </a:lnSpc>
                        <a:defRPr/>
                      </a:pPr>
                      <a:endParaRPr lang="en-US" sz="1100" dirty="0"/>
                    </a:p>
                    <a:p>
                      <a:pPr algn="ctr">
                        <a:lnSpc>
                          <a:spcPts val="3348"/>
                        </a:lnSpc>
                      </a:pPr>
                      <a:endParaRPr lang="en-US" sz="1100" dirty="0"/>
                    </a:p>
                    <a:p>
                      <a:pPr algn="ctr">
                        <a:lnSpc>
                          <a:spcPts val="3348"/>
                        </a:lnSpc>
                      </a:pPr>
                      <a:r>
                        <a:rPr lang="en-US" sz="2391" dirty="0" err="1">
                          <a:solidFill>
                            <a:srgbClr val="FFFFFF"/>
                          </a:solidFill>
                          <a:latin typeface="Aileron"/>
                        </a:rPr>
                        <a:t>Zayıf</a:t>
                      </a:r>
                      <a:r>
                        <a:rPr lang="en-US" sz="2391" dirty="0">
                          <a:solidFill>
                            <a:srgbClr val="FFFFFF"/>
                          </a:solidFill>
                          <a:latin typeface="Aileron"/>
                        </a:rPr>
                        <a:t> </a:t>
                      </a:r>
                      <a:r>
                        <a:rPr lang="en-US" sz="2391" dirty="0" err="1">
                          <a:solidFill>
                            <a:srgbClr val="FFFFFF"/>
                          </a:solidFill>
                          <a:latin typeface="Aileron"/>
                        </a:rPr>
                        <a:t>Yönler</a:t>
                      </a:r>
                      <a:endParaRPr lang="en-US" sz="2391" dirty="0">
                        <a:solidFill>
                          <a:srgbClr val="FFFFFF"/>
                        </a:solidFill>
                        <a:latin typeface="Aileron"/>
                      </a:endParaRP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FF914D"/>
                    </a:solidFill>
                  </a:tcPr>
                </a:tc>
                <a:tc>
                  <a:txBody>
                    <a:bodyPr/>
                    <a:lstStyle/>
                    <a:p>
                      <a:pPr algn="ctr">
                        <a:lnSpc>
                          <a:spcPts val="3348"/>
                        </a:lnSpc>
                        <a:defRPr/>
                      </a:pPr>
                      <a:endParaRPr lang="en-US" sz="1100"/>
                    </a:p>
                    <a:p>
                      <a:pPr algn="ctr">
                        <a:lnSpc>
                          <a:spcPts val="3348"/>
                        </a:lnSpc>
                      </a:pPr>
                      <a:endParaRPr lang="en-US" sz="1100"/>
                    </a:p>
                    <a:p>
                      <a:pPr algn="ctr">
                        <a:lnSpc>
                          <a:spcPts val="3348"/>
                        </a:lnSpc>
                      </a:pPr>
                      <a:r>
                        <a:rPr lang="en-US" sz="2391">
                          <a:solidFill>
                            <a:srgbClr val="FFFFFF"/>
                          </a:solidFill>
                          <a:latin typeface="Aileron"/>
                        </a:rPr>
                        <a:t>Fırsatlar</a:t>
                      </a: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4F93A6"/>
                    </a:solidFill>
                  </a:tcPr>
                </a:tc>
                <a:tc>
                  <a:txBody>
                    <a:bodyPr/>
                    <a:lstStyle/>
                    <a:p>
                      <a:pPr algn="ctr">
                        <a:lnSpc>
                          <a:spcPts val="3348"/>
                        </a:lnSpc>
                        <a:defRPr/>
                      </a:pPr>
                      <a:endParaRPr lang="en-US" sz="1100" dirty="0"/>
                    </a:p>
                    <a:p>
                      <a:pPr algn="ctr">
                        <a:lnSpc>
                          <a:spcPts val="3348"/>
                        </a:lnSpc>
                      </a:pPr>
                      <a:endParaRPr lang="en-US" sz="1100" dirty="0"/>
                    </a:p>
                    <a:p>
                      <a:pPr algn="ctr">
                        <a:lnSpc>
                          <a:spcPts val="3348"/>
                        </a:lnSpc>
                      </a:pPr>
                      <a:r>
                        <a:rPr lang="en-US" sz="2391" dirty="0" err="1">
                          <a:solidFill>
                            <a:srgbClr val="FFFFFF"/>
                          </a:solidFill>
                          <a:latin typeface="Aileron Bold"/>
                        </a:rPr>
                        <a:t>Tehditler</a:t>
                      </a:r>
                      <a:endParaRPr lang="en-US" sz="2391" dirty="0">
                        <a:solidFill>
                          <a:srgbClr val="FFFFFF"/>
                        </a:solidFill>
                        <a:latin typeface="Aileron Bold"/>
                      </a:endParaRP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1C4C61"/>
                    </a:solidFill>
                  </a:tcPr>
                </a:tc>
                <a:extLst>
                  <a:ext uri="{0D108BD9-81ED-4DB2-BD59-A6C34878D82A}">
                    <a16:rowId xmlns:a16="http://schemas.microsoft.com/office/drawing/2014/main" val="10000"/>
                  </a:ext>
                </a:extLst>
              </a:tr>
              <a:tr h="3852189">
                <a:tc>
                  <a:txBody>
                    <a:bodyPr/>
                    <a:lstStyle/>
                    <a:p>
                      <a:pPr algn="ctr">
                        <a:lnSpc>
                          <a:spcPts val="2455"/>
                        </a:lnSpc>
                        <a:defRPr/>
                      </a:pPr>
                      <a:r>
                        <a:rPr lang="tr-TR" sz="1600" dirty="0">
                          <a:solidFill>
                            <a:srgbClr val="EE0000"/>
                          </a:solidFill>
                        </a:rPr>
                        <a:t>Projenizin en iyi yönleri nelerdir? Projeyi başarılı kılan şeyler neler? Hangi özellikleriniz sizi diğerlerinden farklı kılıyor?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tc>
                  <a:txBody>
                    <a:bodyPr/>
                    <a:lstStyle/>
                    <a:p>
                      <a:pPr algn="ctr">
                        <a:lnSpc>
                          <a:spcPts val="2455"/>
                        </a:lnSpc>
                        <a:defRPr/>
                      </a:pPr>
                      <a:r>
                        <a:rPr lang="tr-TR" sz="1600" dirty="0">
                          <a:solidFill>
                            <a:srgbClr val="EE0000"/>
                          </a:solidFill>
                        </a:rPr>
                        <a:t>Projemizin daha iyi olabilmesi için hangi yönlerini geliştirmemiz gerekiyor? Eksik veya çalışmayan noktalar neler? Projemiz hangi konularda yetersiz kalıyor?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tc>
                  <a:txBody>
                    <a:bodyPr/>
                    <a:lstStyle/>
                    <a:p>
                      <a:pPr algn="ctr">
                        <a:lnSpc>
                          <a:spcPts val="2455"/>
                        </a:lnSpc>
                        <a:defRPr/>
                      </a:pPr>
                      <a:r>
                        <a:rPr lang="tr-TR" sz="1600" dirty="0">
                          <a:solidFill>
                            <a:srgbClr val="EE0000"/>
                          </a:solidFill>
                        </a:rPr>
                        <a:t>Projemizi büyütmek, geliştirmek ve daha iyi hale getirmek için hangi fırsatlar var? Hangi yeni teknolojiler, destekler veya projeyi daha ileriye taşıyacak imkanlar var?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tc>
                  <a:txBody>
                    <a:bodyPr/>
                    <a:lstStyle/>
                    <a:p>
                      <a:pPr algn="ctr">
                        <a:lnSpc>
                          <a:spcPts val="2455"/>
                        </a:lnSpc>
                        <a:defRPr/>
                      </a:pPr>
                      <a:r>
                        <a:rPr lang="tr-TR" sz="1600" dirty="0">
                          <a:solidFill>
                            <a:srgbClr val="EE0000"/>
                          </a:solidFill>
                        </a:rPr>
                        <a:t>Projemizi zorlayabilecek veya başarısını engelleyebilecek dış etkenler neler?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7" name="Group 20">
            <a:extLst>
              <a:ext uri="{FF2B5EF4-FFF2-40B4-BE49-F238E27FC236}">
                <a16:creationId xmlns:a16="http://schemas.microsoft.com/office/drawing/2014/main" id="{2E970AA3-5BAF-9CC2-0A0E-4EDFA938A796}"/>
              </a:ext>
            </a:extLst>
          </p:cNvPr>
          <p:cNvGrpSpPr>
            <a:grpSpLocks/>
          </p:cNvGrpSpPr>
          <p:nvPr/>
        </p:nvGrpSpPr>
        <p:grpSpPr>
          <a:xfrm>
            <a:off x="2209050" y="2384957"/>
            <a:ext cx="1859000" cy="1909168"/>
            <a:chOff x="0" y="0"/>
            <a:chExt cx="812800" cy="834735"/>
          </a:xfrm>
        </p:grpSpPr>
        <p:sp>
          <p:nvSpPr>
            <p:cNvPr id="8" name="Freeform 21">
              <a:extLst>
                <a:ext uri="{FF2B5EF4-FFF2-40B4-BE49-F238E27FC236}">
                  <a16:creationId xmlns:a16="http://schemas.microsoft.com/office/drawing/2014/main" id="{572A8E30-F069-2027-AA61-BDEE024DB9CF}"/>
                </a:ext>
              </a:extLst>
            </p:cNvPr>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FFBD59"/>
              </a:solidFill>
              <a:prstDash val="solid"/>
              <a:miter/>
            </a:ln>
          </p:spPr>
          <p:txBody>
            <a:bodyPr/>
            <a:lstStyle/>
            <a:p>
              <a:endParaRPr lang="tr-TR"/>
            </a:p>
          </p:txBody>
        </p:sp>
        <p:sp>
          <p:nvSpPr>
            <p:cNvPr id="10" name="TextBox 22">
              <a:extLst>
                <a:ext uri="{FF2B5EF4-FFF2-40B4-BE49-F238E27FC236}">
                  <a16:creationId xmlns:a16="http://schemas.microsoft.com/office/drawing/2014/main" id="{D1165F9E-EC2C-4C37-A876-B7E2FEBED493}"/>
                </a:ext>
              </a:extLst>
            </p:cNvPr>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dirty="0">
                  <a:solidFill>
                    <a:srgbClr val="FFBD59"/>
                  </a:solidFill>
                  <a:latin typeface="Aileron Ultra-Bold"/>
                </a:rPr>
                <a:t>S</a:t>
              </a:r>
            </a:p>
          </p:txBody>
        </p:sp>
      </p:grpSp>
      <p:grpSp>
        <p:nvGrpSpPr>
          <p:cNvPr id="11" name="Group 23">
            <a:extLst>
              <a:ext uri="{FF2B5EF4-FFF2-40B4-BE49-F238E27FC236}">
                <a16:creationId xmlns:a16="http://schemas.microsoft.com/office/drawing/2014/main" id="{A9CEEC16-0AFF-B51D-5D15-B10E748B8170}"/>
              </a:ext>
            </a:extLst>
          </p:cNvPr>
          <p:cNvGrpSpPr>
            <a:grpSpLocks/>
          </p:cNvGrpSpPr>
          <p:nvPr/>
        </p:nvGrpSpPr>
        <p:grpSpPr>
          <a:xfrm>
            <a:off x="5427701" y="2384957"/>
            <a:ext cx="1859000" cy="1909168"/>
            <a:chOff x="0" y="0"/>
            <a:chExt cx="812800" cy="834735"/>
          </a:xfrm>
        </p:grpSpPr>
        <p:sp>
          <p:nvSpPr>
            <p:cNvPr id="12" name="Freeform 24">
              <a:extLst>
                <a:ext uri="{FF2B5EF4-FFF2-40B4-BE49-F238E27FC236}">
                  <a16:creationId xmlns:a16="http://schemas.microsoft.com/office/drawing/2014/main" id="{D9053C76-02BD-23F8-3177-ECCAB95D7E4A}"/>
                </a:ext>
              </a:extLst>
            </p:cNvPr>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FF914D"/>
              </a:solidFill>
              <a:prstDash val="solid"/>
              <a:miter/>
            </a:ln>
          </p:spPr>
          <p:txBody>
            <a:bodyPr/>
            <a:lstStyle/>
            <a:p>
              <a:endParaRPr lang="tr-TR"/>
            </a:p>
          </p:txBody>
        </p:sp>
        <p:sp>
          <p:nvSpPr>
            <p:cNvPr id="13" name="TextBox 25">
              <a:extLst>
                <a:ext uri="{FF2B5EF4-FFF2-40B4-BE49-F238E27FC236}">
                  <a16:creationId xmlns:a16="http://schemas.microsoft.com/office/drawing/2014/main" id="{7B8D71A8-983A-0285-675E-F035A58DF079}"/>
                </a:ext>
              </a:extLst>
            </p:cNvPr>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a:solidFill>
                    <a:srgbClr val="FF914D"/>
                  </a:solidFill>
                  <a:latin typeface="Aileron Ultra-Bold"/>
                </a:rPr>
                <a:t>W</a:t>
              </a:r>
            </a:p>
          </p:txBody>
        </p:sp>
      </p:grpSp>
      <p:grpSp>
        <p:nvGrpSpPr>
          <p:cNvPr id="14" name="Group 26">
            <a:extLst>
              <a:ext uri="{FF2B5EF4-FFF2-40B4-BE49-F238E27FC236}">
                <a16:creationId xmlns:a16="http://schemas.microsoft.com/office/drawing/2014/main" id="{B42BDC37-E131-63A1-C878-4E5574F25B04}"/>
              </a:ext>
            </a:extLst>
          </p:cNvPr>
          <p:cNvGrpSpPr>
            <a:grpSpLocks/>
          </p:cNvGrpSpPr>
          <p:nvPr/>
        </p:nvGrpSpPr>
        <p:grpSpPr>
          <a:xfrm>
            <a:off x="8296847" y="2384957"/>
            <a:ext cx="1859000" cy="1909168"/>
            <a:chOff x="0" y="0"/>
            <a:chExt cx="812800" cy="834735"/>
          </a:xfrm>
        </p:grpSpPr>
        <p:sp>
          <p:nvSpPr>
            <p:cNvPr id="15" name="Freeform 27">
              <a:extLst>
                <a:ext uri="{FF2B5EF4-FFF2-40B4-BE49-F238E27FC236}">
                  <a16:creationId xmlns:a16="http://schemas.microsoft.com/office/drawing/2014/main" id="{C4C02EFC-0B8E-43C1-6CE6-9C93CF95CEDA}"/>
                </a:ext>
              </a:extLst>
            </p:cNvPr>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4F93A6"/>
              </a:solidFill>
              <a:prstDash val="solid"/>
              <a:miter/>
            </a:ln>
          </p:spPr>
          <p:txBody>
            <a:bodyPr/>
            <a:lstStyle/>
            <a:p>
              <a:endParaRPr lang="tr-TR"/>
            </a:p>
          </p:txBody>
        </p:sp>
        <p:sp>
          <p:nvSpPr>
            <p:cNvPr id="16" name="TextBox 28">
              <a:extLst>
                <a:ext uri="{FF2B5EF4-FFF2-40B4-BE49-F238E27FC236}">
                  <a16:creationId xmlns:a16="http://schemas.microsoft.com/office/drawing/2014/main" id="{0EBC3FB6-29E5-7EE8-0776-5F2E6F093E5D}"/>
                </a:ext>
              </a:extLst>
            </p:cNvPr>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a:solidFill>
                    <a:srgbClr val="4F93A6"/>
                  </a:solidFill>
                  <a:latin typeface="Aileron Ultra-Bold"/>
                </a:rPr>
                <a:t>O</a:t>
              </a:r>
            </a:p>
          </p:txBody>
        </p:sp>
      </p:grpSp>
      <p:grpSp>
        <p:nvGrpSpPr>
          <p:cNvPr id="17" name="Group 29">
            <a:extLst>
              <a:ext uri="{FF2B5EF4-FFF2-40B4-BE49-F238E27FC236}">
                <a16:creationId xmlns:a16="http://schemas.microsoft.com/office/drawing/2014/main" id="{CA80D3A7-4937-4C61-E0A9-63AE16030438}"/>
              </a:ext>
            </a:extLst>
          </p:cNvPr>
          <p:cNvGrpSpPr>
            <a:grpSpLocks/>
          </p:cNvGrpSpPr>
          <p:nvPr/>
        </p:nvGrpSpPr>
        <p:grpSpPr>
          <a:xfrm>
            <a:off x="11355104" y="2384957"/>
            <a:ext cx="1859000" cy="1909168"/>
            <a:chOff x="0" y="0"/>
            <a:chExt cx="812800" cy="834735"/>
          </a:xfrm>
        </p:grpSpPr>
        <p:sp>
          <p:nvSpPr>
            <p:cNvPr id="18" name="Freeform 30">
              <a:extLst>
                <a:ext uri="{FF2B5EF4-FFF2-40B4-BE49-F238E27FC236}">
                  <a16:creationId xmlns:a16="http://schemas.microsoft.com/office/drawing/2014/main" id="{3FE95741-CEF4-A439-C66D-582CDD15DD93}"/>
                </a:ext>
              </a:extLst>
            </p:cNvPr>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1C4C61"/>
              </a:solidFill>
              <a:prstDash val="solid"/>
              <a:miter/>
            </a:ln>
          </p:spPr>
          <p:txBody>
            <a:bodyPr/>
            <a:lstStyle/>
            <a:p>
              <a:endParaRPr lang="tr-TR"/>
            </a:p>
          </p:txBody>
        </p:sp>
        <p:sp>
          <p:nvSpPr>
            <p:cNvPr id="19" name="TextBox 31">
              <a:extLst>
                <a:ext uri="{FF2B5EF4-FFF2-40B4-BE49-F238E27FC236}">
                  <a16:creationId xmlns:a16="http://schemas.microsoft.com/office/drawing/2014/main" id="{06715F28-5DD0-5602-C09D-FB0F3D742058}"/>
                </a:ext>
              </a:extLst>
            </p:cNvPr>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a:solidFill>
                    <a:srgbClr val="1C4C61"/>
                  </a:solidFill>
                  <a:latin typeface="Aileron Ultra-Bold"/>
                </a:rPr>
                <a:t>T</a:t>
              </a:r>
            </a:p>
          </p:txBody>
        </p:sp>
      </p:grpSp>
      <p:sp>
        <p:nvSpPr>
          <p:cNvPr id="20" name="TextBox 9">
            <a:extLst>
              <a:ext uri="{FF2B5EF4-FFF2-40B4-BE49-F238E27FC236}">
                <a16:creationId xmlns:a16="http://schemas.microsoft.com/office/drawing/2014/main" id="{3735BF61-6423-8FB1-F62F-F2FF8B3D72FD}"/>
              </a:ext>
            </a:extLst>
          </p:cNvPr>
          <p:cNvSpPr txBox="1"/>
          <p:nvPr/>
        </p:nvSpPr>
        <p:spPr>
          <a:xfrm>
            <a:off x="860241" y="1483727"/>
            <a:ext cx="13990038" cy="935355"/>
          </a:xfrm>
          <a:prstGeom prst="rect">
            <a:avLst/>
          </a:prstGeom>
        </p:spPr>
        <p:txBody>
          <a:bodyPr lIns="0" tIns="0" rIns="0" bIns="0" rtlCol="0" anchor="t">
            <a:spAutoFit/>
          </a:bodyPr>
          <a:lstStyle/>
          <a:p>
            <a:pPr marL="388620" lvl="1" indent="-194310" algn="l">
              <a:lnSpc>
                <a:spcPts val="2520"/>
              </a:lnSpc>
              <a:buFont typeface="Arial"/>
              <a:buChar char="•"/>
            </a:pPr>
            <a:r>
              <a:rPr lang="en-US" sz="1800" dirty="0">
                <a:solidFill>
                  <a:srgbClr val="FF0000"/>
                </a:solidFill>
                <a:latin typeface="Aileron Bold"/>
              </a:rPr>
              <a:t>Bu </a:t>
            </a:r>
            <a:r>
              <a:rPr lang="en-US" sz="1800" dirty="0" err="1">
                <a:solidFill>
                  <a:srgbClr val="FF0000"/>
                </a:solidFill>
                <a:latin typeface="Aileron Bold"/>
              </a:rPr>
              <a:t>sayfada</a:t>
            </a:r>
            <a:r>
              <a:rPr lang="en-US" sz="1800" dirty="0">
                <a:solidFill>
                  <a:srgbClr val="FF0000"/>
                </a:solidFill>
                <a:latin typeface="Aileron Bold"/>
              </a:rPr>
              <a:t> swot </a:t>
            </a:r>
            <a:r>
              <a:rPr lang="en-US" sz="1800" dirty="0" err="1">
                <a:solidFill>
                  <a:srgbClr val="FF0000"/>
                </a:solidFill>
                <a:latin typeface="Aileron Bold"/>
              </a:rPr>
              <a:t>analizi</a:t>
            </a:r>
            <a:r>
              <a:rPr lang="en-US" sz="1800" dirty="0">
                <a:solidFill>
                  <a:srgbClr val="FF0000"/>
                </a:solidFill>
                <a:latin typeface="Aileron Bold"/>
              </a:rPr>
              <a:t> </a:t>
            </a:r>
            <a:r>
              <a:rPr lang="en-US" sz="1800" dirty="0" err="1">
                <a:solidFill>
                  <a:srgbClr val="FF0000"/>
                </a:solidFill>
                <a:latin typeface="Aileron Bold"/>
              </a:rPr>
              <a:t>yapılmalıdır</a:t>
            </a:r>
            <a:r>
              <a:rPr lang="en-US" sz="1800" dirty="0">
                <a:solidFill>
                  <a:srgbClr val="FF0000"/>
                </a:solidFill>
                <a:latin typeface="Aileron Bold"/>
              </a:rPr>
              <a:t>. Swot </a:t>
            </a:r>
            <a:r>
              <a:rPr lang="en-US" sz="1800" dirty="0" err="1">
                <a:solidFill>
                  <a:srgbClr val="FF0000"/>
                </a:solidFill>
                <a:latin typeface="Aileron Bold"/>
              </a:rPr>
              <a:t>analizi</a:t>
            </a:r>
            <a:r>
              <a:rPr lang="en-US" sz="1800" dirty="0">
                <a:solidFill>
                  <a:srgbClr val="FF0000"/>
                </a:solidFill>
                <a:latin typeface="Aileron Bold"/>
              </a:rPr>
              <a:t>; </a:t>
            </a:r>
            <a:r>
              <a:rPr lang="en-US" sz="1800" dirty="0" err="1">
                <a:solidFill>
                  <a:srgbClr val="FF0000"/>
                </a:solidFill>
                <a:latin typeface="Aileron Bold"/>
              </a:rPr>
              <a:t>Projenin</a:t>
            </a:r>
            <a:r>
              <a:rPr lang="en-US" sz="1800" dirty="0">
                <a:solidFill>
                  <a:srgbClr val="FF0000"/>
                </a:solidFill>
                <a:latin typeface="Aileron Bold"/>
              </a:rPr>
              <a:t> </a:t>
            </a:r>
            <a:r>
              <a:rPr lang="en-US" sz="1800" dirty="0" err="1">
                <a:solidFill>
                  <a:srgbClr val="FF0000"/>
                </a:solidFill>
                <a:latin typeface="Aileron Bold"/>
              </a:rPr>
              <a:t>güçlü</a:t>
            </a:r>
            <a:r>
              <a:rPr lang="en-US" sz="1800" dirty="0">
                <a:solidFill>
                  <a:srgbClr val="FF0000"/>
                </a:solidFill>
                <a:latin typeface="Aileron Bold"/>
              </a:rPr>
              <a:t> </a:t>
            </a:r>
            <a:r>
              <a:rPr lang="en-US" sz="1800" dirty="0" err="1">
                <a:solidFill>
                  <a:srgbClr val="FF0000"/>
                </a:solidFill>
                <a:latin typeface="Aileron Bold"/>
              </a:rPr>
              <a:t>yönlerinin</a:t>
            </a:r>
            <a:r>
              <a:rPr lang="en-US" sz="1800" dirty="0">
                <a:solidFill>
                  <a:srgbClr val="FF0000"/>
                </a:solidFill>
                <a:latin typeface="Aileron Bold"/>
              </a:rPr>
              <a:t>, </a:t>
            </a:r>
            <a:r>
              <a:rPr lang="en-US" sz="1800" dirty="0" err="1">
                <a:solidFill>
                  <a:srgbClr val="FF0000"/>
                </a:solidFill>
                <a:latin typeface="Aileron Bold"/>
              </a:rPr>
              <a:t>zayıf</a:t>
            </a:r>
            <a:r>
              <a:rPr lang="en-US" sz="1800" dirty="0">
                <a:solidFill>
                  <a:srgbClr val="FF0000"/>
                </a:solidFill>
                <a:latin typeface="Aileron Bold"/>
              </a:rPr>
              <a:t> </a:t>
            </a:r>
            <a:r>
              <a:rPr lang="en-US" sz="1800" dirty="0" err="1">
                <a:solidFill>
                  <a:srgbClr val="FF0000"/>
                </a:solidFill>
                <a:latin typeface="Aileron Bold"/>
              </a:rPr>
              <a:t>yönlerinin</a:t>
            </a:r>
            <a:r>
              <a:rPr lang="en-US" sz="1800" dirty="0">
                <a:solidFill>
                  <a:srgbClr val="FF0000"/>
                </a:solidFill>
                <a:latin typeface="Aileron Bold"/>
              </a:rPr>
              <a:t>, </a:t>
            </a:r>
            <a:r>
              <a:rPr lang="en-US" sz="1800" dirty="0" err="1">
                <a:solidFill>
                  <a:srgbClr val="FF0000"/>
                </a:solidFill>
                <a:latin typeface="Aileron Bold"/>
              </a:rPr>
              <a:t>fırsatların</a:t>
            </a:r>
            <a:r>
              <a:rPr lang="en-US" sz="1800" dirty="0">
                <a:solidFill>
                  <a:srgbClr val="FF0000"/>
                </a:solidFill>
                <a:latin typeface="Aileron Bold"/>
              </a:rPr>
              <a:t> </a:t>
            </a:r>
            <a:r>
              <a:rPr lang="en-US" sz="1800" dirty="0" err="1">
                <a:solidFill>
                  <a:srgbClr val="FF0000"/>
                </a:solidFill>
                <a:latin typeface="Aileron Bold"/>
              </a:rPr>
              <a:t>ve</a:t>
            </a:r>
            <a:r>
              <a:rPr lang="en-US" sz="1800" dirty="0">
                <a:solidFill>
                  <a:srgbClr val="FF0000"/>
                </a:solidFill>
                <a:latin typeface="Aileron Bold"/>
              </a:rPr>
              <a:t> </a:t>
            </a:r>
            <a:r>
              <a:rPr lang="en-US" sz="1800" dirty="0" err="1">
                <a:solidFill>
                  <a:srgbClr val="FF0000"/>
                </a:solidFill>
                <a:latin typeface="Aileron Bold"/>
              </a:rPr>
              <a:t>tehditlerin</a:t>
            </a:r>
            <a:r>
              <a:rPr lang="en-US" sz="1800" dirty="0">
                <a:solidFill>
                  <a:srgbClr val="FF0000"/>
                </a:solidFill>
                <a:latin typeface="Aileron Bold"/>
              </a:rPr>
              <a:t> </a:t>
            </a:r>
            <a:r>
              <a:rPr lang="en-US" sz="1800" dirty="0" err="1">
                <a:solidFill>
                  <a:srgbClr val="FF0000"/>
                </a:solidFill>
                <a:latin typeface="Aileron Bold"/>
              </a:rPr>
              <a:t>anlatıldığı</a:t>
            </a:r>
            <a:r>
              <a:rPr lang="en-US" sz="1800" dirty="0">
                <a:solidFill>
                  <a:srgbClr val="FF0000"/>
                </a:solidFill>
                <a:latin typeface="Aileron Bold"/>
              </a:rPr>
              <a:t> </a:t>
            </a:r>
            <a:r>
              <a:rPr lang="en-US" sz="1800" dirty="0" err="1">
                <a:solidFill>
                  <a:srgbClr val="FF0000"/>
                </a:solidFill>
                <a:latin typeface="Aileron Bold"/>
              </a:rPr>
              <a:t>kısımdır</a:t>
            </a:r>
            <a:r>
              <a:rPr lang="en-US" sz="1800" dirty="0">
                <a:solidFill>
                  <a:srgbClr val="FF0000"/>
                </a:solidFill>
                <a:latin typeface="Aileron Bold"/>
              </a:rPr>
              <a:t>. Tablo </a:t>
            </a:r>
            <a:r>
              <a:rPr lang="en-US" sz="1800" dirty="0" err="1">
                <a:solidFill>
                  <a:srgbClr val="FF0000"/>
                </a:solidFill>
                <a:latin typeface="Aileron Bold"/>
              </a:rPr>
              <a:t>aynen</a:t>
            </a:r>
            <a:r>
              <a:rPr lang="en-US" sz="1800" dirty="0">
                <a:solidFill>
                  <a:srgbClr val="FF0000"/>
                </a:solidFill>
                <a:latin typeface="Aileron Bold"/>
              </a:rPr>
              <a:t> </a:t>
            </a:r>
            <a:r>
              <a:rPr lang="en-US" sz="1800" dirty="0" err="1">
                <a:solidFill>
                  <a:srgbClr val="FF0000"/>
                </a:solidFill>
                <a:latin typeface="Aileron Bold"/>
              </a:rPr>
              <a:t>kullanılmalıdır</a:t>
            </a:r>
            <a:r>
              <a:rPr lang="en-US" sz="1800" dirty="0">
                <a:solidFill>
                  <a:srgbClr val="FF0000"/>
                </a:solidFill>
                <a:latin typeface="Aileron Bold"/>
              </a:rPr>
              <a:t>. Swot </a:t>
            </a:r>
            <a:r>
              <a:rPr lang="en-US" sz="1800" dirty="0" err="1">
                <a:solidFill>
                  <a:srgbClr val="FF0000"/>
                </a:solidFill>
                <a:latin typeface="Aileron Bold"/>
              </a:rPr>
              <a:t>analizi</a:t>
            </a:r>
            <a:r>
              <a:rPr lang="en-US" sz="1800" dirty="0">
                <a:solidFill>
                  <a:srgbClr val="FF0000"/>
                </a:solidFill>
                <a:latin typeface="Aileron Bold"/>
              </a:rPr>
              <a:t>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dirty="0">
                <a:solidFill>
                  <a:srgbClr val="FF0000"/>
                </a:solidFill>
                <a:latin typeface="Aileron Bold"/>
              </a:rPr>
              <a:t> 1 (</a:t>
            </a:r>
            <a:r>
              <a:rPr lang="en-US" sz="1800" dirty="0" err="1">
                <a:solidFill>
                  <a:srgbClr val="FF0000"/>
                </a:solidFill>
                <a:latin typeface="Aileron Bold"/>
              </a:rPr>
              <a:t>bir</a:t>
            </a:r>
            <a:r>
              <a:rPr lang="en-US" sz="1800" dirty="0">
                <a:solidFill>
                  <a:srgbClr val="FF0000"/>
                </a:solidFill>
                <a:latin typeface="Aileron Bold"/>
              </a:rPr>
              <a:t>) </a:t>
            </a:r>
            <a:r>
              <a:rPr lang="en-US" sz="1800" dirty="0" err="1">
                <a:solidFill>
                  <a:srgbClr val="FF0000"/>
                </a:solidFill>
                <a:latin typeface="Aileron Bold"/>
              </a:rPr>
              <a:t>sayfad</a:t>
            </a:r>
            <a:r>
              <a:rPr lang="tr-TR" sz="1800" dirty="0">
                <a:solidFill>
                  <a:srgbClr val="FF0000"/>
                </a:solidFill>
                <a:latin typeface="Aileron Bold"/>
              </a:rPr>
              <a:t>a açıklanmalıdır</a:t>
            </a:r>
            <a:r>
              <a:rPr lang="en-US" sz="1800" dirty="0">
                <a:solidFill>
                  <a:srgbClr val="FF0000"/>
                </a:solidFill>
                <a:latin typeface="Aileron Bold"/>
              </a:rPr>
              <a:t>. </a:t>
            </a:r>
            <a:r>
              <a:rPr lang="en-US" sz="1800" dirty="0" err="1">
                <a:solidFill>
                  <a:srgbClr val="FF0000"/>
                </a:solidFill>
                <a:latin typeface="Aileron Bold"/>
              </a:rPr>
              <a:t>Sayfa</a:t>
            </a:r>
            <a:r>
              <a:rPr lang="en-US" sz="1800" dirty="0">
                <a:solidFill>
                  <a:srgbClr val="FF0000"/>
                </a:solidFill>
                <a:latin typeface="Aileron Bold"/>
              </a:rPr>
              <a:t> </a:t>
            </a:r>
            <a:r>
              <a:rPr lang="en-US" sz="1800" dirty="0" err="1">
                <a:solidFill>
                  <a:srgbClr val="FF0000"/>
                </a:solidFill>
                <a:latin typeface="Aileron Bold"/>
              </a:rPr>
              <a:t>sınırı</a:t>
            </a:r>
            <a:r>
              <a:rPr lang="en-US" sz="1800"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p>
          <a:p>
            <a:pPr algn="l">
              <a:lnSpc>
                <a:spcPts val="2520"/>
              </a:lnSpc>
            </a:pPr>
            <a:endParaRPr lang="en-US" sz="1800" dirty="0">
              <a:solidFill>
                <a:srgbClr val="FF0000"/>
              </a:solidFill>
              <a:latin typeface="Aileron Bold"/>
            </a:endParaRPr>
          </a:p>
        </p:txBody>
      </p:sp>
      <p:sp>
        <p:nvSpPr>
          <p:cNvPr id="5" name="AutoShape 20">
            <a:extLst>
              <a:ext uri="{FF2B5EF4-FFF2-40B4-BE49-F238E27FC236}">
                <a16:creationId xmlns:a16="http://schemas.microsoft.com/office/drawing/2014/main" id="{A76A1FF4-4748-B8E4-2C82-B34261BBAACB}"/>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21" name="TextBox 34">
            <a:extLst>
              <a:ext uri="{FF2B5EF4-FFF2-40B4-BE49-F238E27FC236}">
                <a16:creationId xmlns:a16="http://schemas.microsoft.com/office/drawing/2014/main" id="{3EFCFE8B-AE93-2E4A-4038-0C0618BF357D}"/>
              </a:ext>
            </a:extLst>
          </p:cNvPr>
          <p:cNvSpPr txBox="1"/>
          <p:nvPr/>
        </p:nvSpPr>
        <p:spPr>
          <a:xfrm>
            <a:off x="15343980" y="4756457"/>
            <a:ext cx="208066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TASARIM VE İŞLEYİŞİ</a:t>
            </a:r>
            <a:endParaRPr lang="en-US" sz="1550" dirty="0">
              <a:solidFill>
                <a:srgbClr val="1C4C61"/>
              </a:solidFill>
              <a:latin typeface="Aileron Bold"/>
            </a:endParaRPr>
          </a:p>
        </p:txBody>
      </p:sp>
      <p:sp>
        <p:nvSpPr>
          <p:cNvPr id="22" name="TextBox 35">
            <a:extLst>
              <a:ext uri="{FF2B5EF4-FFF2-40B4-BE49-F238E27FC236}">
                <a16:creationId xmlns:a16="http://schemas.microsoft.com/office/drawing/2014/main" id="{43BDD368-3865-B8E3-C5AC-BB8A62684CF9}"/>
              </a:ext>
            </a:extLst>
          </p:cNvPr>
          <p:cNvSpPr txBox="1"/>
          <p:nvPr/>
        </p:nvSpPr>
        <p:spPr>
          <a:xfrm>
            <a:off x="15745664" y="4124185"/>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23" name="TextBox 38">
            <a:extLst>
              <a:ext uri="{FF2B5EF4-FFF2-40B4-BE49-F238E27FC236}">
                <a16:creationId xmlns:a16="http://schemas.microsoft.com/office/drawing/2014/main" id="{F398363B-75F0-ECBF-EA0B-D1C82F83DB1A}"/>
              </a:ext>
            </a:extLst>
          </p:cNvPr>
          <p:cNvSpPr txBox="1"/>
          <p:nvPr/>
        </p:nvSpPr>
        <p:spPr>
          <a:xfrm>
            <a:off x="15986302" y="8010385"/>
            <a:ext cx="1436949"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24" name="TextBox 39">
            <a:extLst>
              <a:ext uri="{FF2B5EF4-FFF2-40B4-BE49-F238E27FC236}">
                <a16:creationId xmlns:a16="http://schemas.microsoft.com/office/drawing/2014/main" id="{FA19443F-B7DC-698A-D2CF-3B55DD608C00}"/>
              </a:ext>
            </a:extLst>
          </p:cNvPr>
          <p:cNvSpPr txBox="1"/>
          <p:nvPr/>
        </p:nvSpPr>
        <p:spPr>
          <a:xfrm>
            <a:off x="15233043" y="5555213"/>
            <a:ext cx="2198106" cy="821572"/>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TİCARİLEŞTİRME POTANSİYELİ VE SÜRDÜRÜLEBİLİRLİK</a:t>
            </a:r>
            <a:endParaRPr lang="en-US" sz="1550" dirty="0">
              <a:solidFill>
                <a:srgbClr val="1C4C61"/>
              </a:solidFill>
              <a:latin typeface="Aileron Bold"/>
            </a:endParaRPr>
          </a:p>
        </p:txBody>
      </p:sp>
      <p:sp>
        <p:nvSpPr>
          <p:cNvPr id="25" name="TextBox 38">
            <a:extLst>
              <a:ext uri="{FF2B5EF4-FFF2-40B4-BE49-F238E27FC236}">
                <a16:creationId xmlns:a16="http://schemas.microsoft.com/office/drawing/2014/main" id="{76C67F78-16F4-AEE6-52ED-3920BB1619B3}"/>
              </a:ext>
            </a:extLst>
          </p:cNvPr>
          <p:cNvSpPr txBox="1"/>
          <p:nvPr/>
        </p:nvSpPr>
        <p:spPr>
          <a:xfrm>
            <a:off x="15745664" y="73245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PROJE TAKVİMİ</a:t>
            </a:r>
          </a:p>
        </p:txBody>
      </p:sp>
      <p:sp>
        <p:nvSpPr>
          <p:cNvPr id="26" name="TextBox 40">
            <a:extLst>
              <a:ext uri="{FF2B5EF4-FFF2-40B4-BE49-F238E27FC236}">
                <a16:creationId xmlns:a16="http://schemas.microsoft.com/office/drawing/2014/main" id="{8EE60692-A4E0-7F49-47EC-D926B1A4CAB4}"/>
              </a:ext>
            </a:extLst>
          </p:cNvPr>
          <p:cNvSpPr txBox="1"/>
          <p:nvPr/>
        </p:nvSpPr>
        <p:spPr>
          <a:xfrm>
            <a:off x="15562818" y="2546657"/>
            <a:ext cx="188698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AMACI VE TOPLUMSAL KATKI</a:t>
            </a:r>
            <a:endParaRPr lang="en-US" sz="1550" dirty="0">
              <a:solidFill>
                <a:srgbClr val="1C4C61"/>
              </a:solidFill>
              <a:latin typeface="Aileron Bold"/>
            </a:endParaRPr>
          </a:p>
        </p:txBody>
      </p:sp>
      <p:sp>
        <p:nvSpPr>
          <p:cNvPr id="27" name="Freeform 21">
            <a:extLst>
              <a:ext uri="{FF2B5EF4-FFF2-40B4-BE49-F238E27FC236}">
                <a16:creationId xmlns:a16="http://schemas.microsoft.com/office/drawing/2014/main" id="{7A84E4B9-D61B-60EF-3D5E-F580BEA6C970}"/>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8" name="Freeform 21">
            <a:extLst>
              <a:ext uri="{FF2B5EF4-FFF2-40B4-BE49-F238E27FC236}">
                <a16:creationId xmlns:a16="http://schemas.microsoft.com/office/drawing/2014/main" id="{A55D8568-2FF1-0888-C273-3DDE7B050BC8}"/>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9" name="Freeform 21">
            <a:extLst>
              <a:ext uri="{FF2B5EF4-FFF2-40B4-BE49-F238E27FC236}">
                <a16:creationId xmlns:a16="http://schemas.microsoft.com/office/drawing/2014/main" id="{D3F2CCDB-86B8-CB21-6810-0DBEC6F52A9F}"/>
              </a:ext>
            </a:extLst>
          </p:cNvPr>
          <p:cNvSpPr/>
          <p:nvPr/>
        </p:nvSpPr>
        <p:spPr>
          <a:xfrm>
            <a:off x="17528868" y="409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1" name="Freeform 21">
            <a:extLst>
              <a:ext uri="{FF2B5EF4-FFF2-40B4-BE49-F238E27FC236}">
                <a16:creationId xmlns:a16="http://schemas.microsoft.com/office/drawing/2014/main" id="{C0BCD6E7-460B-2F0D-AEE0-11B43E072DF3}"/>
              </a:ext>
            </a:extLst>
          </p:cNvPr>
          <p:cNvSpPr/>
          <p:nvPr/>
        </p:nvSpPr>
        <p:spPr>
          <a:xfrm>
            <a:off x="17537349" y="4857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3" name="Freeform 21">
            <a:extLst>
              <a:ext uri="{FF2B5EF4-FFF2-40B4-BE49-F238E27FC236}">
                <a16:creationId xmlns:a16="http://schemas.microsoft.com/office/drawing/2014/main" id="{9029EDFF-7601-E8E5-F93C-CAEE64E23C38}"/>
              </a:ext>
            </a:extLst>
          </p:cNvPr>
          <p:cNvSpPr/>
          <p:nvPr/>
        </p:nvSpPr>
        <p:spPr>
          <a:xfrm>
            <a:off x="17531608" y="5695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5" name="Freeform 21">
            <a:extLst>
              <a:ext uri="{FF2B5EF4-FFF2-40B4-BE49-F238E27FC236}">
                <a16:creationId xmlns:a16="http://schemas.microsoft.com/office/drawing/2014/main" id="{01A3FD0F-F445-2A51-7366-96161E4EF1D0}"/>
              </a:ext>
            </a:extLst>
          </p:cNvPr>
          <p:cNvSpPr/>
          <p:nvPr/>
        </p:nvSpPr>
        <p:spPr>
          <a:xfrm>
            <a:off x="17516247" y="7295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7" name="Freeform 21">
            <a:extLst>
              <a:ext uri="{FF2B5EF4-FFF2-40B4-BE49-F238E27FC236}">
                <a16:creationId xmlns:a16="http://schemas.microsoft.com/office/drawing/2014/main" id="{D232D7AD-F525-621F-7C8D-0DE50CB00EF5}"/>
              </a:ext>
            </a:extLst>
          </p:cNvPr>
          <p:cNvSpPr/>
          <p:nvPr/>
        </p:nvSpPr>
        <p:spPr>
          <a:xfrm>
            <a:off x="17530931" y="7905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9" name="TextBox 34">
            <a:extLst>
              <a:ext uri="{FF2B5EF4-FFF2-40B4-BE49-F238E27FC236}">
                <a16:creationId xmlns:a16="http://schemas.microsoft.com/office/drawing/2014/main" id="{F5C9AA39-D8F0-74FD-DB83-70335818E83C}"/>
              </a:ext>
            </a:extLst>
          </p:cNvPr>
          <p:cNvSpPr txBox="1"/>
          <p:nvPr/>
        </p:nvSpPr>
        <p:spPr>
          <a:xfrm>
            <a:off x="15562818" y="3308657"/>
            <a:ext cx="192832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VE ÖNEMİ</a:t>
            </a:r>
            <a:endParaRPr lang="en-US" sz="1550" dirty="0">
              <a:solidFill>
                <a:srgbClr val="1C4C61"/>
              </a:solidFill>
              <a:latin typeface="Aileron Bold"/>
            </a:endParaRPr>
          </a:p>
        </p:txBody>
      </p:sp>
      <p:sp>
        <p:nvSpPr>
          <p:cNvPr id="41" name="Freeform 97">
            <a:extLst>
              <a:ext uri="{FF2B5EF4-FFF2-40B4-BE49-F238E27FC236}">
                <a16:creationId xmlns:a16="http://schemas.microsoft.com/office/drawing/2014/main" id="{945106E6-D20F-6773-12F1-BED6DBF24B22}"/>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4" name="Freeform 21">
            <a:extLst>
              <a:ext uri="{FF2B5EF4-FFF2-40B4-BE49-F238E27FC236}">
                <a16:creationId xmlns:a16="http://schemas.microsoft.com/office/drawing/2014/main" id="{A8588A83-BE23-4FE4-C011-96D07E79B042}"/>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45" name="TextBox 40">
            <a:extLst>
              <a:ext uri="{FF2B5EF4-FFF2-40B4-BE49-F238E27FC236}">
                <a16:creationId xmlns:a16="http://schemas.microsoft.com/office/drawing/2014/main" id="{9D739DBD-CB1D-0294-EC66-B4FE38F1AEC2}"/>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48" name="Freeform 97">
            <a:extLst>
              <a:ext uri="{FF2B5EF4-FFF2-40B4-BE49-F238E27FC236}">
                <a16:creationId xmlns:a16="http://schemas.microsoft.com/office/drawing/2014/main" id="{E0D5664E-429F-06A7-ACD5-EC72223732FA}"/>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1" name="TextBox 38">
            <a:extLst>
              <a:ext uri="{FF2B5EF4-FFF2-40B4-BE49-F238E27FC236}">
                <a16:creationId xmlns:a16="http://schemas.microsoft.com/office/drawing/2014/main" id="{709F3D4A-E771-0CFE-CB46-F6945C5972D2}"/>
              </a:ext>
            </a:extLst>
          </p:cNvPr>
          <p:cNvSpPr txBox="1"/>
          <p:nvPr/>
        </p:nvSpPr>
        <p:spPr>
          <a:xfrm>
            <a:off x="15754072" y="6638785"/>
            <a:ext cx="1693723" cy="257315"/>
          </a:xfrm>
          <a:prstGeom prst="rect">
            <a:avLst/>
          </a:prstGeom>
        </p:spPr>
        <p:txBody>
          <a:bodyPr wrap="square" lIns="0" tIns="0" rIns="0" bIns="0" rtlCol="0" anchor="t">
            <a:spAutoFit/>
          </a:bodyPr>
          <a:lstStyle/>
          <a:p>
            <a:pPr algn="r">
              <a:lnSpc>
                <a:spcPts val="2232"/>
              </a:lnSpc>
            </a:pPr>
            <a:r>
              <a:rPr lang="en-US" sz="1550" dirty="0">
                <a:solidFill>
                  <a:srgbClr val="1C4C61"/>
                </a:solidFill>
                <a:latin typeface="Aileron Bold"/>
              </a:rPr>
              <a:t>HEDEF KİTLE</a:t>
            </a:r>
          </a:p>
        </p:txBody>
      </p:sp>
      <p:sp>
        <p:nvSpPr>
          <p:cNvPr id="52" name="Freeform 21">
            <a:extLst>
              <a:ext uri="{FF2B5EF4-FFF2-40B4-BE49-F238E27FC236}">
                <a16:creationId xmlns:a16="http://schemas.microsoft.com/office/drawing/2014/main" id="{2C91481F-C665-FA76-DC97-E1009F821B10}"/>
              </a:ext>
            </a:extLst>
          </p:cNvPr>
          <p:cNvSpPr/>
          <p:nvPr/>
        </p:nvSpPr>
        <p:spPr>
          <a:xfrm>
            <a:off x="17537349" y="66101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2" name="TextBox 114">
            <a:extLst>
              <a:ext uri="{FF2B5EF4-FFF2-40B4-BE49-F238E27FC236}">
                <a16:creationId xmlns:a16="http://schemas.microsoft.com/office/drawing/2014/main" id="{510EEEA8-C968-4060-8C86-F776E060AE86}"/>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extLst>
      <p:ext uri="{BB962C8B-B14F-4D97-AF65-F5344CB8AC3E}">
        <p14:creationId xmlns:p14="http://schemas.microsoft.com/office/powerpoint/2010/main" val="2779499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B3464-CBBD-1F8A-CDCD-F65D9F96CD6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78F037F-A6B5-1529-0575-32A8184E296C}"/>
              </a:ext>
            </a:extLst>
          </p:cNvPr>
          <p:cNvSpPr txBox="1">
            <a:spLocks/>
          </p:cNvSpPr>
          <p:nvPr/>
        </p:nvSpPr>
        <p:spPr>
          <a:xfrm>
            <a:off x="2670313" y="251629"/>
            <a:ext cx="12458770"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TEŞEKKÜRLER</a:t>
            </a:r>
            <a:endParaRPr lang="en-US" sz="6399" dirty="0">
              <a:solidFill>
                <a:srgbClr val="1A426A"/>
              </a:solidFill>
              <a:latin typeface="Active Heart"/>
            </a:endParaRPr>
          </a:p>
        </p:txBody>
      </p:sp>
      <p:sp>
        <p:nvSpPr>
          <p:cNvPr id="30" name="Freeform 19">
            <a:extLst>
              <a:ext uri="{FF2B5EF4-FFF2-40B4-BE49-F238E27FC236}">
                <a16:creationId xmlns:a16="http://schemas.microsoft.com/office/drawing/2014/main" id="{CBA6081A-1B05-E7FA-D9C3-F1F5A109E4DD}"/>
              </a:ext>
            </a:extLst>
          </p:cNvPr>
          <p:cNvSpPr>
            <a:spLocks/>
          </p:cNvSpPr>
          <p:nvPr/>
        </p:nvSpPr>
        <p:spPr>
          <a:xfrm>
            <a:off x="6553200" y="1737434"/>
            <a:ext cx="10885957" cy="4564842"/>
          </a:xfrm>
          <a:custGeom>
            <a:avLst/>
            <a:gdLst/>
            <a:ahLst/>
            <a:cxnLst/>
            <a:rect l="l" t="t" r="r" b="b"/>
            <a:pathLst>
              <a:path w="9516598" h="6399912">
                <a:moveTo>
                  <a:pt x="0" y="0"/>
                </a:moveTo>
                <a:lnTo>
                  <a:pt x="9516597" y="0"/>
                </a:lnTo>
                <a:lnTo>
                  <a:pt x="9516597" y="6399912"/>
                </a:lnTo>
                <a:lnTo>
                  <a:pt x="0" y="63999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2" name="TextBox 20">
            <a:extLst>
              <a:ext uri="{FF2B5EF4-FFF2-40B4-BE49-F238E27FC236}">
                <a16:creationId xmlns:a16="http://schemas.microsoft.com/office/drawing/2014/main" id="{01E4A448-B91D-C8E8-AE4B-68CE86D4805E}"/>
              </a:ext>
            </a:extLst>
          </p:cNvPr>
          <p:cNvSpPr txBox="1"/>
          <p:nvPr/>
        </p:nvSpPr>
        <p:spPr>
          <a:xfrm>
            <a:off x="8817598" y="3313877"/>
            <a:ext cx="7192425"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dirty="0">
                <a:solidFill>
                  <a:srgbClr val="DE2223"/>
                </a:solidFill>
                <a:latin typeface="Aileron Bold"/>
              </a:rPr>
              <a:t>Bu </a:t>
            </a:r>
            <a:r>
              <a:rPr lang="en-US" sz="1800" dirty="0" err="1">
                <a:solidFill>
                  <a:srgbClr val="DE2223"/>
                </a:solidFill>
                <a:latin typeface="Aileron Bold"/>
              </a:rPr>
              <a:t>sayfada</a:t>
            </a:r>
            <a:r>
              <a:rPr lang="en-US" sz="1800" dirty="0">
                <a:solidFill>
                  <a:srgbClr val="DE2223"/>
                </a:solidFill>
                <a:latin typeface="Aileron Bold"/>
              </a:rPr>
              <a:t> </a:t>
            </a:r>
            <a:r>
              <a:rPr lang="en-US" sz="1800" dirty="0" err="1">
                <a:solidFill>
                  <a:srgbClr val="DE2223"/>
                </a:solidFill>
                <a:latin typeface="Aileron Bold"/>
              </a:rPr>
              <a:t>proje</a:t>
            </a:r>
            <a:r>
              <a:rPr lang="en-US" sz="1800" dirty="0">
                <a:solidFill>
                  <a:srgbClr val="DE2223"/>
                </a:solidFill>
                <a:latin typeface="Aileron Bold"/>
              </a:rPr>
              <a:t>/</a:t>
            </a:r>
            <a:r>
              <a:rPr lang="en-US" sz="1800" dirty="0" err="1">
                <a:solidFill>
                  <a:srgbClr val="DE2223"/>
                </a:solidFill>
                <a:latin typeface="Aileron Bold"/>
              </a:rPr>
              <a:t>fikre</a:t>
            </a:r>
            <a:r>
              <a:rPr lang="en-US" sz="1800" dirty="0">
                <a:solidFill>
                  <a:srgbClr val="DE2223"/>
                </a:solidFill>
                <a:latin typeface="Aileron Bold"/>
              </a:rPr>
              <a:t> </a:t>
            </a:r>
            <a:r>
              <a:rPr lang="en-US" sz="1800" dirty="0" err="1">
                <a:solidFill>
                  <a:srgbClr val="DE2223"/>
                </a:solidFill>
                <a:latin typeface="Aileron Bold"/>
              </a:rPr>
              <a:t>ait</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 </a:t>
            </a:r>
            <a:r>
              <a:rPr lang="en-US" sz="1800" dirty="0" err="1">
                <a:solidFill>
                  <a:srgbClr val="DE2223"/>
                </a:solidFill>
                <a:latin typeface="Aileron Bold"/>
              </a:rPr>
              <a:t>sloganla</a:t>
            </a:r>
            <a:r>
              <a:rPr lang="en-US" sz="1800" dirty="0">
                <a:solidFill>
                  <a:srgbClr val="DE2223"/>
                </a:solidFill>
                <a:latin typeface="Aileron Bold"/>
              </a:rPr>
              <a:t> </a:t>
            </a:r>
            <a:r>
              <a:rPr lang="en-US" sz="1800" dirty="0" err="1">
                <a:solidFill>
                  <a:srgbClr val="DE2223"/>
                </a:solidFill>
                <a:latin typeface="Aileron Bold"/>
              </a:rPr>
              <a:t>kapanış</a:t>
            </a:r>
            <a:r>
              <a:rPr lang="en-US" sz="1800" dirty="0">
                <a:solidFill>
                  <a:srgbClr val="DE2223"/>
                </a:solidFill>
                <a:latin typeface="Aileron Bold"/>
              </a:rPr>
              <a:t> </a:t>
            </a:r>
            <a:r>
              <a:rPr lang="en-US" sz="1800" dirty="0" err="1">
                <a:solidFill>
                  <a:srgbClr val="DE2223"/>
                </a:solidFill>
                <a:latin typeface="Aileron Bold"/>
              </a:rPr>
              <a:t>yapılmalıdır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Sayfa</a:t>
            </a:r>
            <a:r>
              <a:rPr lang="en-US" sz="1800" dirty="0">
                <a:solidFill>
                  <a:srgbClr val="DE2223"/>
                </a:solidFill>
                <a:latin typeface="Aileron Bold"/>
              </a:rPr>
              <a:t> </a:t>
            </a:r>
            <a:r>
              <a:rPr lang="en-US" sz="1800" dirty="0" err="1">
                <a:solidFill>
                  <a:srgbClr val="DE2223"/>
                </a:solidFill>
                <a:latin typeface="Aileron Bold"/>
              </a:rPr>
              <a:t>aynen</a:t>
            </a:r>
            <a:r>
              <a:rPr lang="en-US" sz="1800" dirty="0">
                <a:solidFill>
                  <a:srgbClr val="DE2223"/>
                </a:solidFill>
                <a:latin typeface="Aileron Bold"/>
              </a:rPr>
              <a:t> </a:t>
            </a:r>
            <a:r>
              <a:rPr lang="en-US" sz="1800" dirty="0" err="1">
                <a:solidFill>
                  <a:srgbClr val="DE2223"/>
                </a:solidFill>
                <a:latin typeface="Aileron Bold"/>
              </a:rPr>
              <a:t>kullanılmalı</a:t>
            </a:r>
            <a:r>
              <a:rPr lang="en-US" sz="1800" dirty="0">
                <a:solidFill>
                  <a:srgbClr val="DE2223"/>
                </a:solidFill>
                <a:latin typeface="Aileron Bold"/>
              </a:rPr>
              <a:t> </a:t>
            </a:r>
            <a:r>
              <a:rPr lang="en-US" sz="1800" dirty="0" err="1">
                <a:solidFill>
                  <a:srgbClr val="DE2223"/>
                </a:solidFill>
                <a:latin typeface="Aileron Bold"/>
              </a:rPr>
              <a:t>sadece</a:t>
            </a:r>
            <a:r>
              <a:rPr lang="en-US" sz="1800" dirty="0">
                <a:solidFill>
                  <a:srgbClr val="DE2223"/>
                </a:solidFill>
                <a:latin typeface="Aileron Bold"/>
              </a:rPr>
              <a:t> slogan </a:t>
            </a:r>
            <a:r>
              <a:rPr lang="en-US" sz="1800" dirty="0" err="1">
                <a:solidFill>
                  <a:srgbClr val="DE2223"/>
                </a:solidFill>
                <a:latin typeface="Aileron Bold"/>
              </a:rPr>
              <a:t>eklenmelidir</a:t>
            </a:r>
            <a:r>
              <a:rPr lang="en-US" sz="1800" dirty="0">
                <a:solidFill>
                  <a:srgbClr val="DE2223"/>
                </a:solidFill>
                <a:latin typeface="Aileron Bold"/>
              </a:rPr>
              <a:t>. </a:t>
            </a:r>
          </a:p>
        </p:txBody>
      </p:sp>
      <p:pic>
        <p:nvPicPr>
          <p:cNvPr id="34" name="Resim 33" descr="oyuncak, çizgi film, otomat, robot içeren bir resim&#10;&#10;Yapay zeka tarafından oluşturulmuş içerik yanlış olabilir.">
            <a:extLst>
              <a:ext uri="{FF2B5EF4-FFF2-40B4-BE49-F238E27FC236}">
                <a16:creationId xmlns:a16="http://schemas.microsoft.com/office/drawing/2014/main" id="{689BB882-BD44-460A-44EE-CB29574135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800" y="2935223"/>
            <a:ext cx="5735161" cy="5576363"/>
          </a:xfrm>
          <a:prstGeom prst="rect">
            <a:avLst/>
          </a:prstGeom>
        </p:spPr>
      </p:pic>
      <p:sp>
        <p:nvSpPr>
          <p:cNvPr id="2" name="TextBox 114">
            <a:extLst>
              <a:ext uri="{FF2B5EF4-FFF2-40B4-BE49-F238E27FC236}">
                <a16:creationId xmlns:a16="http://schemas.microsoft.com/office/drawing/2014/main" id="{9F7C7973-38C4-4904-4B4F-7BF86079F019}"/>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İNSANLIK YARARINA TEKNOLOJİLER YARIŞMASI </a:t>
            </a:r>
          </a:p>
          <a:p>
            <a:pPr algn="ctr">
              <a:lnSpc>
                <a:spcPts val="2000"/>
              </a:lnSpc>
              <a:spcBef>
                <a:spcPct val="0"/>
              </a:spcBef>
            </a:pPr>
            <a:r>
              <a:rPr lang="en-US" dirty="0">
                <a:solidFill>
                  <a:srgbClr val="1A426A"/>
                </a:solidFill>
                <a:latin typeface="Active Heart"/>
              </a:rPr>
              <a:t>LİSE SEVİYESİ PROJE SUNUMU</a:t>
            </a:r>
          </a:p>
        </p:txBody>
      </p:sp>
    </p:spTree>
    <p:extLst>
      <p:ext uri="{BB962C8B-B14F-4D97-AF65-F5344CB8AC3E}">
        <p14:creationId xmlns:p14="http://schemas.microsoft.com/office/powerpoint/2010/main" val="3542203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149968" y="61270"/>
            <a:ext cx="11988064" cy="590162"/>
          </a:xfrm>
          <a:prstGeom prst="rect">
            <a:avLst/>
          </a:prstGeom>
        </p:spPr>
        <p:txBody>
          <a:bodyPr lIns="0" tIns="0" rIns="0" bIns="0" rtlCol="0" anchor="t">
            <a:spAutoFit/>
          </a:bodyPr>
          <a:lstStyle/>
          <a:p>
            <a:pPr marL="0" lvl="0" indent="0" algn="ctr">
              <a:lnSpc>
                <a:spcPts val="5370"/>
              </a:lnSpc>
              <a:spcBef>
                <a:spcPct val="0"/>
              </a:spcBef>
            </a:pPr>
            <a:r>
              <a:rPr lang="en-US" sz="2400" u="sng" spc="122" dirty="0">
                <a:solidFill>
                  <a:srgbClr val="1C4C61"/>
                </a:solidFill>
                <a:latin typeface="Aileron Bold"/>
              </a:rPr>
              <a:t>SUNUM HAZIRLAMA KURALLARI</a:t>
            </a:r>
          </a:p>
        </p:txBody>
      </p:sp>
      <p:sp>
        <p:nvSpPr>
          <p:cNvPr id="4" name="TextBox 4"/>
          <p:cNvSpPr txBox="1"/>
          <p:nvPr/>
        </p:nvSpPr>
        <p:spPr>
          <a:xfrm>
            <a:off x="0" y="578105"/>
            <a:ext cx="18288000" cy="532453"/>
          </a:xfrm>
          <a:prstGeom prst="rect">
            <a:avLst/>
          </a:prstGeom>
        </p:spPr>
        <p:txBody>
          <a:bodyPr wrap="square" lIns="0" tIns="0" rIns="0" bIns="0" rtlCol="0" anchor="t">
            <a:spAutoFit/>
          </a:bodyPr>
          <a:lstStyle/>
          <a:p>
            <a:pPr algn="ctr">
              <a:lnSpc>
                <a:spcPts val="4759"/>
              </a:lnSpc>
            </a:pPr>
            <a:r>
              <a:rPr lang="en-US" sz="2000" b="1" u="sng" dirty="0">
                <a:solidFill>
                  <a:srgbClr val="FF0000"/>
                </a:solidFill>
                <a:latin typeface="Aileron Bold"/>
              </a:rPr>
              <a:t>SUNUMDA BU SAYFAYA YER VERİLMEYECEKTİR!!!</a:t>
            </a:r>
            <a:r>
              <a:rPr lang="tr-TR" sz="2000" b="1" u="sng" dirty="0">
                <a:solidFill>
                  <a:srgbClr val="FF0000"/>
                </a:solidFill>
                <a:latin typeface="Aileron Bold"/>
              </a:rPr>
              <a:t> </a:t>
            </a:r>
            <a:r>
              <a:rPr lang="en-US" sz="2000" b="1" u="sng" dirty="0">
                <a:solidFill>
                  <a:srgbClr val="FF0000"/>
                </a:solidFill>
                <a:latin typeface="Aileron Bold"/>
              </a:rPr>
              <a:t>(KURALLARA GÖRE HAZIRLANDIKTAN SONRA SİLİNMELİDİR.)</a:t>
            </a:r>
          </a:p>
        </p:txBody>
      </p:sp>
      <p:grpSp>
        <p:nvGrpSpPr>
          <p:cNvPr id="6" name="Grup 5">
            <a:extLst>
              <a:ext uri="{FF2B5EF4-FFF2-40B4-BE49-F238E27FC236}">
                <a16:creationId xmlns:a16="http://schemas.microsoft.com/office/drawing/2014/main" id="{319AAB48-69C2-E99E-8DC7-5C2E959A8457}"/>
              </a:ext>
            </a:extLst>
          </p:cNvPr>
          <p:cNvGrpSpPr/>
          <p:nvPr/>
        </p:nvGrpSpPr>
        <p:grpSpPr>
          <a:xfrm>
            <a:off x="0" y="1562100"/>
            <a:ext cx="18288000" cy="8915400"/>
            <a:chOff x="0" y="1562100"/>
            <a:chExt cx="18288000" cy="8915400"/>
          </a:xfrm>
        </p:grpSpPr>
        <p:sp>
          <p:nvSpPr>
            <p:cNvPr id="5" name="Dikdörtgen 4">
              <a:extLst>
                <a:ext uri="{FF2B5EF4-FFF2-40B4-BE49-F238E27FC236}">
                  <a16:creationId xmlns:a16="http://schemas.microsoft.com/office/drawing/2014/main" id="{D6A2E313-E6FB-BA78-6D75-F606554B63C1}"/>
                </a:ext>
              </a:extLst>
            </p:cNvPr>
            <p:cNvSpPr>
              <a:spLocks/>
            </p:cNvSpPr>
            <p:nvPr/>
          </p:nvSpPr>
          <p:spPr>
            <a:xfrm>
              <a:off x="0" y="9182100"/>
              <a:ext cx="18288000" cy="1295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n>
                  <a:solidFill>
                    <a:schemeClr val="bg1"/>
                  </a:solidFill>
                </a:ln>
              </a:endParaRPr>
            </a:p>
          </p:txBody>
        </p:sp>
        <p:sp>
          <p:nvSpPr>
            <p:cNvPr id="2" name="TextBox 2"/>
            <p:cNvSpPr txBox="1">
              <a:spLocks/>
            </p:cNvSpPr>
            <p:nvPr/>
          </p:nvSpPr>
          <p:spPr>
            <a:xfrm>
              <a:off x="838196" y="1562100"/>
              <a:ext cx="17041027" cy="8479244"/>
            </a:xfrm>
            <a:prstGeom prst="rect">
              <a:avLst/>
            </a:prstGeom>
          </p:spPr>
          <p:txBody>
            <a:bodyPr wrap="square" lIns="0" tIns="0" rIns="0" bIns="0" rtlCol="0" anchor="t">
              <a:spAutoFit/>
            </a:bodyPr>
            <a:lstStyle/>
            <a:p>
              <a:r>
                <a:rPr lang="tr-TR" sz="1900" b="1" dirty="0">
                  <a:solidFill>
                    <a:srgbClr val="FF0000"/>
                  </a:solidFill>
                </a:rPr>
                <a:t>Aşağıda belirtilen kurallar, proje sunum dosyalarının hazırlanması, yüklenmesi ve sunum aşamasıyla ilgili gereklilikleri içermektedir. Takımların, belirlenen kurallara tam uyum sağlaması beklenmektedir.</a:t>
              </a:r>
            </a:p>
            <a:p>
              <a:endParaRPr lang="tr-TR" sz="1900" dirty="0"/>
            </a:p>
            <a:p>
              <a:r>
                <a:rPr lang="tr-TR" sz="1900" b="1" u="sng" dirty="0"/>
                <a:t>1. Genel Şablon Kullanımı</a:t>
              </a:r>
            </a:p>
            <a:p>
              <a:pPr>
                <a:buFont typeface="Arial" panose="020B0604020202020204" pitchFamily="34" charset="0"/>
                <a:buChar char="•"/>
              </a:pPr>
              <a:r>
                <a:rPr lang="tr-TR" sz="1900" dirty="0"/>
                <a:t> Sunum için sağlanan </a:t>
              </a:r>
              <a:r>
                <a:rPr lang="tr-TR" sz="1900" b="1" dirty="0"/>
                <a:t>şablon aynen kullanılmalı</a:t>
              </a:r>
              <a:r>
                <a:rPr lang="tr-TR" sz="1900" dirty="0"/>
                <a:t>, herhangi bir format veya sayfa düzeni değişikliği yapılmamalıdır.</a:t>
              </a:r>
            </a:p>
            <a:p>
              <a:pPr>
                <a:buFont typeface="Arial" panose="020B0604020202020204" pitchFamily="34" charset="0"/>
                <a:buChar char="•"/>
              </a:pPr>
              <a:r>
                <a:rPr lang="tr-TR" sz="1900" b="1" dirty="0"/>
                <a:t> Konu başlıkları altındaki kırmızı açıklamalar kaldırılmalı</a:t>
              </a:r>
              <a:r>
                <a:rPr lang="tr-TR" sz="1900" dirty="0"/>
                <a:t> ve yerine takımlar kendi açıklamalarını, görsellerini veya içeriklerini eklemelidir.</a:t>
              </a:r>
            </a:p>
            <a:p>
              <a:pPr>
                <a:buFont typeface="Arial" panose="020B0604020202020204" pitchFamily="34" charset="0"/>
                <a:buChar char="•"/>
              </a:pPr>
              <a:r>
                <a:rPr lang="tr-TR" sz="1900" dirty="0"/>
                <a:t> Font tipi ve boyutu </a:t>
              </a:r>
              <a:r>
                <a:rPr lang="tr-TR" sz="1900" b="1" dirty="0"/>
                <a:t>serbesttir</a:t>
              </a:r>
              <a:r>
                <a:rPr lang="tr-TR" sz="1900" dirty="0"/>
                <a:t>, ancak toplam sayfa sayısı sınırları aşılmamalıdır.</a:t>
              </a:r>
            </a:p>
            <a:p>
              <a:endParaRPr lang="tr-TR" sz="1900" dirty="0"/>
            </a:p>
            <a:p>
              <a:r>
                <a:rPr lang="tr-TR" sz="1900" b="1" u="sng" dirty="0"/>
                <a:t>2. Sayfa Düzeni ve İçerik Kuralları</a:t>
              </a:r>
            </a:p>
            <a:p>
              <a:pPr>
                <a:buFont typeface="Arial" panose="020B0604020202020204" pitchFamily="34" charset="0"/>
                <a:buChar char="•"/>
              </a:pPr>
              <a:r>
                <a:rPr lang="tr-TR" sz="1900" b="1" dirty="0"/>
                <a:t> Sayfa alt kısmında</a:t>
              </a:r>
              <a:r>
                <a:rPr lang="tr-TR" sz="1900" dirty="0"/>
                <a:t> yer alan </a:t>
              </a:r>
              <a:r>
                <a:rPr lang="tr-TR" sz="1900" b="1" dirty="0"/>
                <a:t>TAKIM ADI – TAKIM ID – BAŞVURU ID  – YARIŞMA SEVİYESİ</a:t>
              </a:r>
              <a:r>
                <a:rPr lang="tr-TR" sz="1900" dirty="0"/>
                <a:t> bilgileri </a:t>
              </a:r>
              <a:r>
                <a:rPr lang="tr-TR" sz="1900" b="1" dirty="0"/>
                <a:t>tüm sayfalarda aynı pozisyonda ve formatta</a:t>
              </a:r>
              <a:r>
                <a:rPr lang="tr-TR" sz="1900" dirty="0"/>
                <a:t> olmalıdır.</a:t>
              </a:r>
            </a:p>
            <a:p>
              <a:pPr>
                <a:buFont typeface="Arial" panose="020B0604020202020204" pitchFamily="34" charset="0"/>
                <a:buChar char="•"/>
              </a:pPr>
              <a:r>
                <a:rPr lang="tr-TR" sz="1900" dirty="0"/>
                <a:t> Her başlık altında </a:t>
              </a:r>
              <a:r>
                <a:rPr lang="tr-TR" sz="1900" b="1" dirty="0"/>
                <a:t>yalnızca ilgili konu anlatılmalıdır</a:t>
              </a:r>
              <a:r>
                <a:rPr lang="tr-TR" sz="1900" dirty="0"/>
                <a:t>; farklı bir başlığa yönelik içerik eklenmemelidir.</a:t>
              </a:r>
            </a:p>
            <a:p>
              <a:pPr>
                <a:buFont typeface="Arial" panose="020B0604020202020204" pitchFamily="34" charset="0"/>
                <a:buChar char="•"/>
              </a:pPr>
              <a:r>
                <a:rPr lang="tr-TR" sz="1900" dirty="0"/>
                <a:t> Sunum içeriğinde </a:t>
              </a:r>
              <a:r>
                <a:rPr lang="tr-TR" sz="1900" b="1" dirty="0"/>
                <a:t>tekrarlayan veya birbirinin aynısı olan ifadeler </a:t>
              </a:r>
              <a:r>
                <a:rPr lang="tr-TR" sz="1900" b="1" u="sng" dirty="0"/>
                <a:t>bulunmamalıdır</a:t>
              </a:r>
              <a:r>
                <a:rPr lang="tr-TR" sz="1900" dirty="0"/>
                <a:t>. Metinler, açık ve anlaşılır bir dille yazılmalıdır.</a:t>
              </a:r>
            </a:p>
            <a:p>
              <a:pPr>
                <a:buFont typeface="Arial" panose="020B0604020202020204" pitchFamily="34" charset="0"/>
                <a:buChar char="•"/>
              </a:pPr>
              <a:r>
                <a:rPr lang="tr-TR" sz="1900" b="1" dirty="0"/>
                <a:t> Proje takımı ve görev paylaşımı sayfasında</a:t>
              </a:r>
              <a:r>
                <a:rPr lang="tr-TR" sz="1900" dirty="0"/>
                <a:t>, takım üyelerinin fotoğrafları isteğe bağlı olarak eklenebilir.</a:t>
              </a:r>
            </a:p>
            <a:p>
              <a:pPr>
                <a:buFont typeface="Arial" panose="020B0604020202020204" pitchFamily="34" charset="0"/>
                <a:buChar char="•"/>
              </a:pPr>
              <a:r>
                <a:rPr lang="tr-TR" sz="1900" dirty="0"/>
                <a:t> Metin ve görsel tasarımı, </a:t>
              </a:r>
              <a:r>
                <a:rPr lang="tr-TR" sz="1900" b="1" dirty="0"/>
                <a:t>kapak sayfası, proje takımı ve görev paylaşımı sayfası ve teşekkür sayfası hariç</a:t>
              </a:r>
              <a:r>
                <a:rPr lang="tr-TR" sz="1900" dirty="0"/>
                <a:t> takımların inisiyatifindedir.</a:t>
              </a:r>
            </a:p>
            <a:p>
              <a:pPr>
                <a:buFont typeface="Arial" panose="020B0604020202020204" pitchFamily="34" charset="0"/>
                <a:buChar char="•"/>
              </a:pPr>
              <a:r>
                <a:rPr lang="tr-TR" sz="1900" b="1" dirty="0"/>
                <a:t> Ek görseller</a:t>
              </a:r>
              <a:r>
                <a:rPr lang="tr-TR" sz="1900" dirty="0"/>
                <a:t> eklenecekse, şablonun düzeni bozulmadan ve sayfa sınırı kurallarına uygun şekilde yerleştirilmelidir.</a:t>
              </a:r>
            </a:p>
            <a:p>
              <a:endParaRPr lang="tr-TR" sz="1900" dirty="0"/>
            </a:p>
            <a:p>
              <a:r>
                <a:rPr lang="tr-TR" sz="1900" b="1" u="sng" dirty="0"/>
                <a:t>3. Sayfa ve Dosya Sınırlandırmaları</a:t>
              </a:r>
            </a:p>
            <a:p>
              <a:pPr>
                <a:buFont typeface="Arial" panose="020B0604020202020204" pitchFamily="34" charset="0"/>
                <a:buChar char="•"/>
              </a:pPr>
              <a:r>
                <a:rPr lang="tr-TR" sz="1900" dirty="0"/>
                <a:t> Sunum dosyası, Kapak sayfası dahil </a:t>
              </a:r>
              <a:r>
                <a:rPr lang="tr-TR" sz="1900" b="1" dirty="0"/>
                <a:t>toplamda 16 sayfayı geçmemelidir</a:t>
              </a:r>
              <a:r>
                <a:rPr lang="tr-TR" sz="1900" dirty="0"/>
                <a:t>.</a:t>
              </a:r>
            </a:p>
            <a:p>
              <a:pPr>
                <a:buFont typeface="Arial" panose="020B0604020202020204" pitchFamily="34" charset="0"/>
                <a:buChar char="•"/>
              </a:pPr>
              <a:r>
                <a:rPr lang="tr-TR" sz="1900" b="1" dirty="0"/>
                <a:t> Her sayfada belirtilen sayfa sınırı </a:t>
              </a:r>
              <a:r>
                <a:rPr lang="tr-TR" sz="1900" b="1" u="sng" dirty="0"/>
                <a:t>aşılmamalıdır</a:t>
              </a:r>
              <a:r>
                <a:rPr lang="tr-TR" sz="1900" b="1" dirty="0"/>
                <a:t>.</a:t>
              </a:r>
              <a:r>
                <a:rPr lang="tr-TR" sz="1900" dirty="0"/>
                <a:t> </a:t>
              </a:r>
            </a:p>
            <a:p>
              <a:pPr>
                <a:buFont typeface="Arial" panose="020B0604020202020204" pitchFamily="34" charset="0"/>
                <a:buChar char="•"/>
              </a:pPr>
              <a:r>
                <a:rPr lang="tr-TR" sz="1900" dirty="0"/>
                <a:t>Toplam sayfa sınırı aşıldığında, </a:t>
              </a:r>
              <a:r>
                <a:rPr lang="tr-TR" sz="1900" b="1" dirty="0"/>
                <a:t>sistem dosya yüklemesini kabul etmeyecektir.</a:t>
              </a:r>
            </a:p>
            <a:p>
              <a:pPr>
                <a:buFont typeface="Arial" panose="020B0604020202020204" pitchFamily="34" charset="0"/>
                <a:buChar char="•"/>
              </a:pPr>
              <a:r>
                <a:rPr lang="tr-TR" sz="1900" dirty="0"/>
                <a:t> Sunum dosyası, </a:t>
              </a:r>
              <a:r>
                <a:rPr lang="tr-TR" sz="1900" b="1" dirty="0"/>
                <a:t>PDF formatında ve maksimum 75 MB boyutunda</a:t>
              </a:r>
              <a:r>
                <a:rPr lang="tr-TR" sz="1900" dirty="0"/>
                <a:t> olmalıdır. Aksi takdirde sistem yükleme işlemini gerçekleştirmeyecektir.</a:t>
              </a:r>
            </a:p>
            <a:p>
              <a:endParaRPr lang="tr-TR" sz="1900" dirty="0"/>
            </a:p>
            <a:p>
              <a:r>
                <a:rPr lang="tr-TR" sz="1900" b="1" u="sng" dirty="0"/>
                <a:t>4. Sunum Süreci ve Yükleme Kuralları</a:t>
              </a:r>
            </a:p>
            <a:p>
              <a:pPr>
                <a:buFont typeface="Arial" panose="020B0604020202020204" pitchFamily="34" charset="0"/>
                <a:buChar char="•"/>
              </a:pPr>
              <a:r>
                <a:rPr lang="tr-TR" sz="1900" b="1" dirty="0"/>
                <a:t> Sisteme yüklenen sunum üzerinden çevrim içi sunum aşaması gerçekleştirilecektir.</a:t>
              </a:r>
              <a:endParaRPr lang="tr-TR" sz="1900" dirty="0"/>
            </a:p>
            <a:p>
              <a:pPr>
                <a:buFont typeface="Arial" panose="020B0604020202020204" pitchFamily="34" charset="0"/>
                <a:buChar char="•"/>
              </a:pPr>
              <a:r>
                <a:rPr lang="tr-TR" sz="1900" dirty="0"/>
                <a:t> Belirtilen son yükleme tarihinden sonra sunumda herhangi bir </a:t>
              </a:r>
              <a:r>
                <a:rPr lang="tr-TR" sz="1900" b="1" dirty="0"/>
                <a:t>güncelleme yapılamayacaktır</a:t>
              </a:r>
              <a:r>
                <a:rPr lang="tr-TR" sz="1900" dirty="0"/>
                <a:t>.</a:t>
              </a:r>
            </a:p>
            <a:p>
              <a:pPr>
                <a:buFont typeface="Arial" panose="020B0604020202020204" pitchFamily="34" charset="0"/>
                <a:buChar char="•"/>
              </a:pPr>
              <a:r>
                <a:rPr lang="tr-TR" sz="1900" b="1"/>
                <a:t>Proje </a:t>
              </a:r>
              <a:r>
                <a:rPr lang="tr-TR" sz="1900" b="1" dirty="0"/>
                <a:t>sunumu yalnızca takım üyeleri tarafından gerçekleştirilecektir</a:t>
              </a:r>
              <a:r>
                <a:rPr lang="tr-TR" sz="1900" dirty="0"/>
                <a:t>. </a:t>
              </a:r>
            </a:p>
            <a:p>
              <a:pPr>
                <a:buFont typeface="Arial" panose="020B0604020202020204" pitchFamily="34" charset="0"/>
                <a:buChar char="•"/>
              </a:pPr>
              <a:r>
                <a:rPr lang="tr-TR" sz="1900" dirty="0"/>
                <a:t> Sunuma </a:t>
              </a:r>
              <a:r>
                <a:rPr lang="tr-TR" sz="1900" b="1" dirty="0"/>
                <a:t>en az bir takım üyesinin katılımı zorunludur</a:t>
              </a:r>
              <a:r>
                <a:rPr lang="tr-TR" sz="1900" dirty="0"/>
                <a:t>. </a:t>
              </a:r>
            </a:p>
            <a:p>
              <a:pPr>
                <a:buFont typeface="Arial" panose="020B0604020202020204" pitchFamily="34" charset="0"/>
                <a:buChar char="•"/>
              </a:pPr>
              <a:r>
                <a:rPr lang="tr-TR" sz="1900" b="1" dirty="0"/>
                <a:t> Sunumlarını KYS sistemi üzerinden belirtilen süre içinde yüklemeyen takımlara randevu planlaması yapılmayacak ve sunum hakkı kaybedilecektir.</a:t>
              </a:r>
              <a:endParaRPr lang="tr-TR" sz="1900"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1204</TotalTime>
  <Words>2047</Words>
  <Application>Microsoft Office PowerPoint</Application>
  <PresentationFormat>Özel</PresentationFormat>
  <Paragraphs>312</Paragraphs>
  <Slides>13</Slides>
  <Notes>5</Notes>
  <HiddenSlides>0</HiddenSlides>
  <MMClips>0</MMClips>
  <ScaleCrop>false</ScaleCrop>
  <HeadingPairs>
    <vt:vector size="6" baseType="variant">
      <vt:variant>
        <vt:lpstr>Kullanılan Yazı Tipleri</vt:lpstr>
      </vt:variant>
      <vt:variant>
        <vt:i4>11</vt:i4>
      </vt:variant>
      <vt:variant>
        <vt:lpstr>Tema</vt:lpstr>
      </vt:variant>
      <vt:variant>
        <vt:i4>1</vt:i4>
      </vt:variant>
      <vt:variant>
        <vt:lpstr>Slayt Başlıkları</vt:lpstr>
      </vt:variant>
      <vt:variant>
        <vt:i4>13</vt:i4>
      </vt:variant>
    </vt:vector>
  </HeadingPairs>
  <TitlesOfParts>
    <vt:vector size="25" baseType="lpstr">
      <vt:lpstr>Aileron Ultra-Bold</vt:lpstr>
      <vt:lpstr>Active Heart</vt:lpstr>
      <vt:lpstr>Calibri</vt:lpstr>
      <vt:lpstr>Aileron Bold</vt:lpstr>
      <vt:lpstr>Times New Roman</vt:lpstr>
      <vt:lpstr>Arial Black</vt:lpstr>
      <vt:lpstr>Aileron Bold Italics</vt:lpstr>
      <vt:lpstr>Symbol</vt:lpstr>
      <vt:lpstr>Aptos</vt:lpstr>
      <vt:lpstr>Aileron</vt:lpstr>
      <vt:lpstr>Arial</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SUNUM ŞABLONU</dc:title>
  <dc:creator>TEKNOFEST</dc:creator>
  <cp:lastModifiedBy>T3 Vakfı</cp:lastModifiedBy>
  <cp:revision>57</cp:revision>
  <dcterms:created xsi:type="dcterms:W3CDTF">2006-08-16T00:00:00Z</dcterms:created>
  <dcterms:modified xsi:type="dcterms:W3CDTF">2026-06-09T09:56:45Z</dcterms:modified>
  <dc:identifier>DAGDnxWSptA</dc:identifier>
</cp:coreProperties>
</file>