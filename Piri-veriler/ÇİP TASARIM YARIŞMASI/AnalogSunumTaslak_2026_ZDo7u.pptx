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0" r:id="rId7"/>
    <p:sldId id="261" r:id="rId8"/>
    <p:sldId id="262" r:id="rId9"/>
    <p:sldId id="259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27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4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0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2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62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72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72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8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0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1415E-FB19-4839-837D-9D118AED976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37C94-4F92-46F8-BC6F-F28FD044B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4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98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">
            <a:extLst>
              <a:ext uri="{FF2B5EF4-FFF2-40B4-BE49-F238E27FC236}">
                <a16:creationId xmlns:a16="http://schemas.microsoft.com/office/drawing/2014/main" id="{ECAB49AB-2631-18CB-A800-CA4D0FC3F7AB}"/>
              </a:ext>
            </a:extLst>
          </p:cNvPr>
          <p:cNvSpPr txBox="1"/>
          <p:nvPr/>
        </p:nvSpPr>
        <p:spPr>
          <a:xfrm>
            <a:off x="3215999" y="4200709"/>
            <a:ext cx="5760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dirty="0" smtClean="0"/>
              <a:t>…</a:t>
            </a:r>
            <a:r>
              <a:rPr lang="tr-TR" dirty="0"/>
              <a:t>TAKIM </a:t>
            </a:r>
            <a:r>
              <a:rPr lang="tr-TR" dirty="0" smtClean="0"/>
              <a:t>ADI</a:t>
            </a:r>
            <a:r>
              <a:rPr lang="tr-TR" dirty="0"/>
              <a:t>…</a:t>
            </a:r>
          </a:p>
          <a:p>
            <a:pPr algn="ctr"/>
            <a:r>
              <a:rPr lang="tr-TR" dirty="0"/>
              <a:t>…BAŞVURU NUMARASI...</a:t>
            </a:r>
          </a:p>
        </p:txBody>
      </p:sp>
    </p:spTree>
    <p:extLst>
      <p:ext uri="{BB962C8B-B14F-4D97-AF65-F5344CB8AC3E}">
        <p14:creationId xmlns:p14="http://schemas.microsoft.com/office/powerpoint/2010/main" val="193416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2">
            <a:extLst>
              <a:ext uri="{FF2B5EF4-FFF2-40B4-BE49-F238E27FC236}">
                <a16:creationId xmlns:a16="http://schemas.microsoft.com/office/drawing/2014/main" id="{1722A72A-CACB-EE45-66FF-2F2600AF8ECD}"/>
              </a:ext>
            </a:extLst>
          </p:cNvPr>
          <p:cNvSpPr txBox="1">
            <a:spLocks/>
          </p:cNvSpPr>
          <p:nvPr/>
        </p:nvSpPr>
        <p:spPr>
          <a:xfrm>
            <a:off x="994900" y="1916378"/>
            <a:ext cx="9811645" cy="41294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tr-TR" sz="3200" dirty="0">
                <a:latin typeface="Times New Roman"/>
                <a:cs typeface="Times New Roman"/>
              </a:rPr>
              <a:t>T</a:t>
            </a:r>
            <a:r>
              <a:rPr lang="tr-TR" sz="3200" dirty="0" smtClean="0">
                <a:latin typeface="Times New Roman"/>
                <a:cs typeface="Times New Roman"/>
              </a:rPr>
              <a:t>anıtım içeriği</a:t>
            </a:r>
            <a:endParaRPr lang="tr-TR" sz="3200" dirty="0">
              <a:latin typeface="Times New Roman"/>
              <a:cs typeface="Times New Roman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17C7DFB-D54B-2156-C085-0A74E4405DFE}"/>
              </a:ext>
            </a:extLst>
          </p:cNvPr>
          <p:cNvSpPr txBox="1">
            <a:spLocks/>
          </p:cNvSpPr>
          <p:nvPr/>
        </p:nvSpPr>
        <p:spPr>
          <a:xfrm>
            <a:off x="994900" y="1039090"/>
            <a:ext cx="10152467" cy="87382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>
                <a:latin typeface="Times New Roman"/>
              </a:rPr>
              <a:t>Takım Tanıtımı</a:t>
            </a:r>
          </a:p>
        </p:txBody>
      </p:sp>
    </p:spTree>
    <p:extLst>
      <p:ext uri="{BB962C8B-B14F-4D97-AF65-F5344CB8AC3E}">
        <p14:creationId xmlns:p14="http://schemas.microsoft.com/office/powerpoint/2010/main" val="45438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2">
            <a:extLst>
              <a:ext uri="{FF2B5EF4-FFF2-40B4-BE49-F238E27FC236}">
                <a16:creationId xmlns:a16="http://schemas.microsoft.com/office/drawing/2014/main" id="{1722A72A-CACB-EE45-66FF-2F2600AF8ECD}"/>
              </a:ext>
            </a:extLst>
          </p:cNvPr>
          <p:cNvSpPr txBox="1">
            <a:spLocks/>
          </p:cNvSpPr>
          <p:nvPr/>
        </p:nvSpPr>
        <p:spPr>
          <a:xfrm>
            <a:off x="994901" y="1916378"/>
            <a:ext cx="9836584" cy="41294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tr-TR" sz="3000" dirty="0">
                <a:solidFill>
                  <a:prstClr val="black"/>
                </a:solidFill>
                <a:latin typeface="Times New Roman"/>
                <a:ea typeface="DejaVu Sans"/>
                <a:cs typeface="Times New Roman"/>
              </a:rPr>
              <a:t>Sistem Mimarisi</a:t>
            </a:r>
            <a:endParaRPr lang="tr-TR" sz="3000" dirty="0">
              <a:solidFill>
                <a:prstClr val="black"/>
              </a:solidFill>
              <a:latin typeface="Times New Roman"/>
              <a:ea typeface="+mj-lt"/>
              <a:cs typeface="Arial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tr-TR" sz="3000" dirty="0">
                <a:solidFill>
                  <a:prstClr val="black"/>
                </a:solidFill>
                <a:latin typeface="Times New Roman"/>
                <a:ea typeface="+mj-lt"/>
                <a:cs typeface="Arial"/>
              </a:rPr>
              <a:t>Bant Aralığı Referans </a:t>
            </a:r>
            <a:r>
              <a:rPr lang="tr-TR" sz="3000" dirty="0" smtClean="0">
                <a:solidFill>
                  <a:prstClr val="black"/>
                </a:solidFill>
                <a:latin typeface="Times New Roman"/>
                <a:ea typeface="+mj-lt"/>
                <a:cs typeface="Arial"/>
              </a:rPr>
              <a:t>Gerilim (BGR) </a:t>
            </a:r>
            <a:r>
              <a:rPr lang="tr-TR" sz="3000" dirty="0">
                <a:solidFill>
                  <a:prstClr val="black"/>
                </a:solidFill>
                <a:latin typeface="Times New Roman"/>
                <a:ea typeface="+mj-lt"/>
                <a:cs typeface="Arial"/>
              </a:rPr>
              <a:t>Devresi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tr-TR" sz="3000" dirty="0" smtClean="0">
                <a:solidFill>
                  <a:prstClr val="black"/>
                </a:solidFill>
                <a:latin typeface="Times New Roman"/>
                <a:ea typeface="+mj-lt"/>
                <a:cs typeface="Arial"/>
              </a:rPr>
              <a:t>AFE Devresi</a:t>
            </a:r>
            <a:endParaRPr lang="tr-TR" sz="3000" dirty="0">
              <a:solidFill>
                <a:prstClr val="black"/>
              </a:solidFill>
              <a:latin typeface="Times New Roman"/>
              <a:ea typeface="+mj-lt"/>
              <a:cs typeface="Arial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tr-TR" sz="3000" dirty="0" smtClean="0">
                <a:solidFill>
                  <a:prstClr val="black"/>
                </a:solidFill>
                <a:latin typeface="Times New Roman"/>
                <a:ea typeface="+mj-lt"/>
                <a:cs typeface="Arial"/>
              </a:rPr>
              <a:t>BGR ile kutuplanmış AFE Serim Sonrası Simülasyon Sonuçları</a:t>
            </a:r>
            <a:endParaRPr lang="tr-TR" sz="3000" dirty="0">
              <a:solidFill>
                <a:prstClr val="black"/>
              </a:solidFill>
              <a:latin typeface="Times New Roman"/>
              <a:ea typeface="+mj-lt"/>
              <a:cs typeface="Arial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tr-TR" sz="3000" dirty="0">
                <a:solidFill>
                  <a:prstClr val="black"/>
                </a:solidFill>
                <a:latin typeface="Times New Roman"/>
                <a:ea typeface="DejaVu Sans"/>
                <a:cs typeface="Times New Roman"/>
              </a:rPr>
              <a:t>Çip Tasarım Akışı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17C7DFB-D54B-2156-C085-0A74E4405DFE}"/>
              </a:ext>
            </a:extLst>
          </p:cNvPr>
          <p:cNvSpPr txBox="1">
            <a:spLocks/>
          </p:cNvSpPr>
          <p:nvPr/>
        </p:nvSpPr>
        <p:spPr>
          <a:xfrm>
            <a:off x="994900" y="1039090"/>
            <a:ext cx="10152467" cy="87382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smtClean="0">
                <a:latin typeface="Times New Roman"/>
              </a:rPr>
              <a:t>İçindekiler </a:t>
            </a:r>
            <a:r>
              <a:rPr lang="tr-TR" dirty="0" smtClean="0">
                <a:solidFill>
                  <a:srgbClr val="FF0000"/>
                </a:solidFill>
                <a:latin typeface="Times New Roman"/>
              </a:rPr>
              <a:t>(Örnek)</a:t>
            </a:r>
            <a:endParaRPr lang="tr-TR" dirty="0">
              <a:solidFill>
                <a:srgbClr val="FF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208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2">
            <a:extLst>
              <a:ext uri="{FF2B5EF4-FFF2-40B4-BE49-F238E27FC236}">
                <a16:creationId xmlns:a16="http://schemas.microsoft.com/office/drawing/2014/main" id="{1722A72A-CACB-EE45-66FF-2F2600AF8ECD}"/>
              </a:ext>
            </a:extLst>
          </p:cNvPr>
          <p:cNvSpPr txBox="1">
            <a:spLocks/>
          </p:cNvSpPr>
          <p:nvPr/>
        </p:nvSpPr>
        <p:spPr>
          <a:xfrm>
            <a:off x="994901" y="1916378"/>
            <a:ext cx="9836584" cy="412944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r>
              <a:rPr lang="tr-TR" sz="1600" dirty="0">
                <a:solidFill>
                  <a:prstClr val="black"/>
                </a:solidFill>
                <a:latin typeface="Times New Roman"/>
                <a:ea typeface="DejaVu Sans"/>
                <a:cs typeface="Times New Roman"/>
              </a:rPr>
              <a:t>Öneriler &amp; Uyulması Gereken Kurallar</a:t>
            </a:r>
            <a:endParaRPr lang="tr-TR" sz="1600" dirty="0">
              <a:solidFill>
                <a:prstClr val="black"/>
              </a:solidFill>
              <a:latin typeface="Times New Roman"/>
              <a:ea typeface="+mj-lt"/>
              <a:cs typeface="Arial"/>
            </a:endParaRP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  <a:buFont typeface="Calibri"/>
              <a:buChar char="-"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Sunumda yarışmanın minimum isterlerinin nasıl karşılandığına değinilmeli ve gösterilmelidir, minimum isterlerde belirtilen şartlardan eksiklikler mevcutsa değinilmelidir.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  <a:buFont typeface="Calibri"/>
              <a:buChar char="-"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Tasarlanan devrelerde performans artırımı için kullanılmış yöntemler, alınan tasarım kararları ve serim teknikleri varsa bahsedilmelidir.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  <a:buFont typeface="Calibri"/>
              <a:buChar char="-"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Yapılan çalışmada özgün olmayan, açık kaynaklı platformlardan elde edilen donanım parçaları mevcut ise referans verilerek detaylarına değinilmelidir. 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  <a:buFont typeface="Calibri"/>
              <a:buChar char="-"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Tasarımda eksikler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 </a:t>
            </a: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zorlanılan problemler, problemlerin nasıl çözümlendiği gibi detaylara değinilebilir.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  <a:buFont typeface="Calibri"/>
              <a:buChar char="-"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Her bir bloğun şematik, serim ve test ortamı verilmeli, boyutlar serim üstünde olmalı ve alan hesaplanmalıdır. 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  <a:buFont typeface="Calibri"/>
              <a:buChar char="-"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Blokların güç tüketimleri sunulmalıdır.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  <a:buFont typeface="Calibri"/>
              <a:buChar char="-"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Çip tasarım akışı sunulmalı ve raporların temiz olduğu gösterilmelidir.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tr-TR" sz="1600" dirty="0">
                <a:solidFill>
                  <a:prstClr val="black"/>
                </a:solidFill>
                <a:latin typeface="Times New Roman"/>
                <a:ea typeface="DejaVu Sans"/>
                <a:cs typeface="Times New Roman"/>
              </a:rPr>
              <a:t>Sunum süreleri soru-cevaplar dahil 30 dakikayı aşmamalıdır.</a:t>
            </a:r>
            <a:endParaRPr lang="tr-TR" sz="1600" dirty="0">
              <a:solidFill>
                <a:prstClr val="black"/>
              </a:solidFill>
              <a:latin typeface="Times New Roman"/>
              <a:ea typeface="+mj-lt"/>
              <a:cs typeface="Arial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tr-TR" sz="1600" dirty="0">
                <a:solidFill>
                  <a:prstClr val="black"/>
                </a:solidFill>
                <a:latin typeface="Times New Roman"/>
                <a:ea typeface="DejaVu Sans"/>
                <a:cs typeface="Times New Roman"/>
              </a:rPr>
              <a:t>Kullanılan görseller kolayca görülebilecek büyüklükte ve çözünürlükte seçilmelidir.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tr-TR" sz="1600" dirty="0">
                <a:solidFill>
                  <a:prstClr val="black"/>
                </a:solidFill>
                <a:latin typeface="Times New Roman"/>
                <a:ea typeface="DejaVu Sans"/>
                <a:cs typeface="Times New Roman"/>
              </a:rPr>
              <a:t>Sunum yazıları okunabilir boyutta olmalıdır.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tr-TR" sz="1600" dirty="0">
                <a:solidFill>
                  <a:prstClr val="black"/>
                </a:solidFill>
                <a:latin typeface="Times New Roman"/>
                <a:ea typeface="DejaVu Sans"/>
                <a:cs typeface="Times New Roman"/>
              </a:rPr>
              <a:t>Alıntı yapıldığı taktirde kaynakça belirtilmelidir</a:t>
            </a:r>
            <a:r>
              <a:rPr lang="tr-TR" sz="1600" dirty="0" smtClean="0">
                <a:solidFill>
                  <a:prstClr val="black"/>
                </a:solidFill>
                <a:latin typeface="Times New Roman"/>
                <a:ea typeface="DejaVu Sans"/>
                <a:cs typeface="Times New Roman"/>
              </a:rPr>
              <a:t>.</a:t>
            </a:r>
            <a:endParaRPr lang="en-US" sz="1600" dirty="0">
              <a:solidFill>
                <a:prstClr val="black"/>
              </a:solidFill>
              <a:latin typeface="Times New Roman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13036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95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CAB617599A2ED1418F6F051EDCC11C60" ma:contentTypeVersion="14" ma:contentTypeDescription="Yeni belge oluşturun." ma:contentTypeScope="" ma:versionID="7702774dd939901cd8897e88e34f1332">
  <xsd:schema xmlns:xsd="http://www.w3.org/2001/XMLSchema" xmlns:xs="http://www.w3.org/2001/XMLSchema" xmlns:p="http://schemas.microsoft.com/office/2006/metadata/properties" xmlns:ns2="6b525543-fbc4-4fc9-8ff3-da996fd29f1d" xmlns:ns3="e90ba900-fc86-41b0-acff-16cffa2a8ac9" targetNamespace="http://schemas.microsoft.com/office/2006/metadata/properties" ma:root="true" ma:fieldsID="8b21250e88b70352f112872659b102fa" ns2:_="" ns3:_="">
    <xsd:import namespace="6b525543-fbc4-4fc9-8ff3-da996fd29f1d"/>
    <xsd:import namespace="e90ba900-fc86-41b0-acff-16cffa2a8a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525543-fbc4-4fc9-8ff3-da996fd29f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Resim Etiketleri" ma:readOnly="false" ma:fieldId="{5cf76f15-5ced-4ddc-b409-7134ff3c332f}" ma:taxonomyMulti="true" ma:sspId="f99f0912-3188-4d5c-b56b-5f6fc77e9d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0ba900-fc86-41b0-acff-16cffa2a8ac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e161861-c392-4fe2-9344-67f5e1927e67}" ma:internalName="TaxCatchAll" ma:showField="CatchAllData" ma:web="e90ba900-fc86-41b0-acff-16cffa2a8a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0ba900-fc86-41b0-acff-16cffa2a8ac9" xsi:nil="true"/>
    <lcf76f155ced4ddcb4097134ff3c332f xmlns="6b525543-fbc4-4fc9-8ff3-da996fd29f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33FD136-4AF0-4F4B-BF17-5657DDB25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525543-fbc4-4fc9-8ff3-da996fd29f1d"/>
    <ds:schemaRef ds:uri="e90ba900-fc86-41b0-acff-16cffa2a8a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3B5A7F-50D9-4014-B0D6-922BA6674D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880894-5722-4802-931C-358E30470E1C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6b525543-fbc4-4fc9-8ff3-da996fd29f1d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90ba900-fc86-41b0-acff-16cffa2a8ac9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174</Words>
  <Application>Microsoft Office PowerPoint</Application>
  <PresentationFormat>Geniş ekran</PresentationFormat>
  <Paragraphs>22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DejaVu Sans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ÇİP TASARIM YARIŞMASI</dc:title>
  <dc:creator/>
  <cp:lastModifiedBy>Emre Ulusoy</cp:lastModifiedBy>
  <cp:revision>20</cp:revision>
  <dcterms:created xsi:type="dcterms:W3CDTF">2025-08-20T13:29:25Z</dcterms:created>
  <dcterms:modified xsi:type="dcterms:W3CDTF">2026-07-28T11:53:03Z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0x010100CAB617599A2ED1418F6F051EDCC11C60</vt:lpwstr>
  </property>
</Properties>
</file>