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Lst>
  <p:notesMasterIdLst>
    <p:notesMasterId r:id="rId25"/>
  </p:notesMasterIdLst>
  <p:handoutMasterIdLst>
    <p:handoutMasterId r:id="rId26"/>
  </p:handoutMasterIdLst>
  <p:sldIdLst>
    <p:sldId id="370" r:id="rId6"/>
    <p:sldId id="354" r:id="rId7"/>
    <p:sldId id="268" r:id="rId8"/>
    <p:sldId id="355" r:id="rId9"/>
    <p:sldId id="284" r:id="rId10"/>
    <p:sldId id="293" r:id="rId11"/>
    <p:sldId id="372" r:id="rId12"/>
    <p:sldId id="378" r:id="rId13"/>
    <p:sldId id="379" r:id="rId14"/>
    <p:sldId id="375" r:id="rId15"/>
    <p:sldId id="356" r:id="rId16"/>
    <p:sldId id="297" r:id="rId17"/>
    <p:sldId id="380" r:id="rId18"/>
    <p:sldId id="365" r:id="rId19"/>
    <p:sldId id="340" r:id="rId20"/>
    <p:sldId id="376" r:id="rId21"/>
    <p:sldId id="329" r:id="rId22"/>
    <p:sldId id="330" r:id="rId23"/>
    <p:sldId id="334" r:id="rId24"/>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Şule Şahin" initials="ŞŞ" lastIdx="0" clrIdx="0">
    <p:extLst>
      <p:ext uri="{19B8F6BF-5375-455C-9EA6-DF929625EA0E}">
        <p15:presenceInfo xmlns:p15="http://schemas.microsoft.com/office/powerpoint/2012/main" userId="S-1-5-21-1567453505-1909566795-288842301-18144" providerId="AD"/>
      </p:ext>
    </p:extLst>
  </p:cmAuthor>
  <p:cmAuthor id="2" name="Seda Çalık" initials="SÇ" lastIdx="1" clrIdx="1">
    <p:extLst>
      <p:ext uri="{19B8F6BF-5375-455C-9EA6-DF929625EA0E}">
        <p15:presenceInfo xmlns:p15="http://schemas.microsoft.com/office/powerpoint/2012/main" userId="S-1-5-21-1567453505-1909566795-288842301-183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D8"/>
    <a:srgbClr val="448A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autoAdjust="0"/>
    <p:restoredTop sz="95868" autoAdjust="0"/>
  </p:normalViewPr>
  <p:slideViewPr>
    <p:cSldViewPr snapToGrid="0">
      <p:cViewPr>
        <p:scale>
          <a:sx n="60" d="100"/>
          <a:sy n="60" d="100"/>
        </p:scale>
        <p:origin x="78" y="1044"/>
      </p:cViewPr>
      <p:guideLst>
        <p:guide orient="horz" pos="2160"/>
        <p:guide pos="2880"/>
      </p:guideLst>
    </p:cSldViewPr>
  </p:slideViewPr>
  <p:outlineViewPr>
    <p:cViewPr>
      <p:scale>
        <a:sx n="33" d="100"/>
        <a:sy n="33" d="100"/>
      </p:scale>
      <p:origin x="0" y="-4668"/>
    </p:cViewPr>
  </p:outlineViewPr>
  <p:notesTextViewPr>
    <p:cViewPr>
      <p:scale>
        <a:sx n="1" d="1"/>
        <a:sy n="1" d="1"/>
      </p:scale>
      <p:origin x="0" y="0"/>
    </p:cViewPr>
  </p:notesTextViewPr>
  <p:sorterViewPr>
    <p:cViewPr>
      <p:scale>
        <a:sx n="110" d="100"/>
        <a:sy n="110" d="100"/>
      </p:scale>
      <p:origin x="0" y="-28428"/>
    </p:cViewPr>
  </p:sorterViewPr>
  <p:notesViewPr>
    <p:cSldViewPr snapToGrid="0">
      <p:cViewPr varScale="1">
        <p:scale>
          <a:sx n="86" d="100"/>
          <a:sy n="86" d="100"/>
        </p:scale>
        <p:origin x="392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B1D02C-F902-4089-B3CD-5386B6413274}" type="datetimeFigureOut">
              <a:rPr lang="tr-TR" smtClean="0"/>
              <a:pPr/>
              <a:t>22.06.2026</a:t>
            </a:fld>
            <a:endParaRPr lang="tr-T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BCEA48-2031-49A8-B11B-F61382B82126}" type="slidenum">
              <a:rPr lang="tr-TR" smtClean="0"/>
              <a:pPr/>
              <a:t>‹#›</a:t>
            </a:fld>
            <a:endParaRPr lang="tr-TR"/>
          </a:p>
        </p:txBody>
      </p:sp>
    </p:spTree>
    <p:extLst>
      <p:ext uri="{BB962C8B-B14F-4D97-AF65-F5344CB8AC3E}">
        <p14:creationId xmlns:p14="http://schemas.microsoft.com/office/powerpoint/2010/main" val="1974935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944DC-7797-4018-98B2-A3F91D4C3D05}" type="datetimeFigureOut">
              <a:rPr lang="tr-TR" smtClean="0"/>
              <a:pPr/>
              <a:t>22.06.2026</a:t>
            </a:fld>
            <a:endParaRPr lang="tr-T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CEA3A-C9C4-45FD-B6F4-2B45A0EA7880}" type="slidenum">
              <a:rPr lang="tr-TR" smtClean="0"/>
              <a:pPr/>
              <a:t>‹#›</a:t>
            </a:fld>
            <a:endParaRPr lang="tr-TR"/>
          </a:p>
        </p:txBody>
      </p:sp>
    </p:spTree>
    <p:extLst>
      <p:ext uri="{BB962C8B-B14F-4D97-AF65-F5344CB8AC3E}">
        <p14:creationId xmlns:p14="http://schemas.microsoft.com/office/powerpoint/2010/main" val="844616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2</a:t>
            </a:fld>
            <a:endParaRPr lang="tr-TR" dirty="0"/>
          </a:p>
        </p:txBody>
      </p:sp>
    </p:spTree>
    <p:extLst>
      <p:ext uri="{BB962C8B-B14F-4D97-AF65-F5344CB8AC3E}">
        <p14:creationId xmlns:p14="http://schemas.microsoft.com/office/powerpoint/2010/main" val="353869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4</a:t>
            </a:fld>
            <a:endParaRPr lang="tr-TR" dirty="0"/>
          </a:p>
        </p:txBody>
      </p:sp>
    </p:spTree>
    <p:extLst>
      <p:ext uri="{BB962C8B-B14F-4D97-AF65-F5344CB8AC3E}">
        <p14:creationId xmlns:p14="http://schemas.microsoft.com/office/powerpoint/2010/main" val="2445917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6</a:t>
            </a:fld>
            <a:endParaRPr lang="tr-TR" dirty="0"/>
          </a:p>
        </p:txBody>
      </p:sp>
    </p:spTree>
    <p:extLst>
      <p:ext uri="{BB962C8B-B14F-4D97-AF65-F5344CB8AC3E}">
        <p14:creationId xmlns:p14="http://schemas.microsoft.com/office/powerpoint/2010/main" val="175795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11</a:t>
            </a:fld>
            <a:endParaRPr lang="tr-TR" dirty="0"/>
          </a:p>
        </p:txBody>
      </p:sp>
    </p:spTree>
    <p:extLst>
      <p:ext uri="{BB962C8B-B14F-4D97-AF65-F5344CB8AC3E}">
        <p14:creationId xmlns:p14="http://schemas.microsoft.com/office/powerpoint/2010/main" val="2287484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14</a:t>
            </a:fld>
            <a:endParaRPr lang="tr-TR" dirty="0"/>
          </a:p>
        </p:txBody>
      </p:sp>
    </p:spTree>
    <p:extLst>
      <p:ext uri="{BB962C8B-B14F-4D97-AF65-F5344CB8AC3E}">
        <p14:creationId xmlns:p14="http://schemas.microsoft.com/office/powerpoint/2010/main" val="3067965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pPr rtl="0"/>
            <a:fld id="{8530193B-564F-4854-8A52-728F3FB19C85}" type="slidenum">
              <a:rPr lang="tr-TR" smtClean="0"/>
              <a:t>16</a:t>
            </a:fld>
            <a:endParaRPr lang="tr-TR" dirty="0"/>
          </a:p>
        </p:txBody>
      </p:sp>
    </p:spTree>
    <p:extLst>
      <p:ext uri="{BB962C8B-B14F-4D97-AF65-F5344CB8AC3E}">
        <p14:creationId xmlns:p14="http://schemas.microsoft.com/office/powerpoint/2010/main" val="2609036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99" y="1729228"/>
            <a:ext cx="7315200" cy="1745899"/>
          </a:xfrm>
        </p:spPr>
        <p:txBody>
          <a:bodyPr anchor="b">
            <a:normAutofit/>
          </a:bodyPr>
          <a:lstStyle>
            <a:lvl1pPr algn="ctr">
              <a:defRPr sz="3200">
                <a:solidFill>
                  <a:srgbClr val="0070C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143000" y="4075611"/>
            <a:ext cx="6858000" cy="1512652"/>
          </a:xfrm>
        </p:spPr>
        <p:txBody>
          <a:bodyPr/>
          <a:lstStyle>
            <a:lvl1pPr marL="0" indent="0" algn="ctr">
              <a:buNone/>
              <a:defRPr sz="24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6" name="Slide Number Placeholder 25"/>
          <p:cNvSpPr>
            <a:spLocks noGrp="1"/>
          </p:cNvSpPr>
          <p:nvPr>
            <p:ph type="sldNum" sz="quarter" idx="13"/>
          </p:nvPr>
        </p:nvSpPr>
        <p:spPr/>
        <p:txBody>
          <a:bodyPr/>
          <a:lstStyle>
            <a:lvl1pPr>
              <a:defRPr>
                <a:latin typeface="Arial" panose="020B0604020202020204" pitchFamily="34" charset="0"/>
                <a:cs typeface="Arial" panose="020B0604020202020204" pitchFamily="34" charset="0"/>
              </a:defRPr>
            </a:lvl1pPr>
          </a:lstStyle>
          <a:p>
            <a:fld id="{BA433DDD-27A3-4D57-BF79-3C63943A44E8}" type="slidenum">
              <a:rPr lang="tr-TR" smtClean="0"/>
              <a:pPr/>
              <a:t>‹#›</a:t>
            </a:fld>
            <a:endParaRPr lang="tr-TR"/>
          </a:p>
        </p:txBody>
      </p:sp>
      <p:sp>
        <p:nvSpPr>
          <p:cNvPr id="27" name="Date Placeholder 26"/>
          <p:cNvSpPr>
            <a:spLocks noGrp="1"/>
          </p:cNvSpPr>
          <p:nvPr>
            <p:ph type="dt" sz="half" idx="15"/>
          </p:nvPr>
        </p:nvSpPr>
        <p:spPr>
          <a:xfrm>
            <a:off x="113484" y="6486228"/>
            <a:ext cx="2059032" cy="304211"/>
          </a:xfrm>
        </p:spPr>
        <p:txBody>
          <a:bodyPr/>
          <a:lstStyle>
            <a:lvl1pPr>
              <a:defRPr sz="1100">
                <a:latin typeface="Arial" panose="020B0604020202020204" pitchFamily="34" charset="0"/>
                <a:cs typeface="Arial" panose="020B0604020202020204" pitchFamily="34" charset="0"/>
              </a:defRPr>
            </a:lvl1pPr>
          </a:lstStyle>
          <a:p>
            <a:r>
              <a:rPr lang="tr-TR" dirty="0"/>
              <a:t>Hazırlayan: </a:t>
            </a:r>
          </a:p>
        </p:txBody>
      </p:sp>
    </p:spTree>
    <p:extLst>
      <p:ext uri="{BB962C8B-B14F-4D97-AF65-F5344CB8AC3E}">
        <p14:creationId xmlns:p14="http://schemas.microsoft.com/office/powerpoint/2010/main" val="16592578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33005" y="365126"/>
            <a:ext cx="4857497" cy="304799"/>
          </a:xfrm>
        </p:spPr>
        <p:txBody>
          <a:bodyPr/>
          <a:lstStyle>
            <a:lvl1pPr>
              <a:defRPr sz="2200">
                <a:solidFill>
                  <a:srgbClr val="0070C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hasCustomPrompt="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a:t>
            </a:r>
            <a:r>
              <a:rPr lang="tr-TR" dirty="0"/>
              <a:t>l</a:t>
            </a:r>
            <a:endParaRPr lang="en-US" dirty="0"/>
          </a:p>
        </p:txBody>
      </p:sp>
      <p:sp>
        <p:nvSpPr>
          <p:cNvPr id="4" name="Date Placeholder 3"/>
          <p:cNvSpPr>
            <a:spLocks noGrp="1"/>
          </p:cNvSpPr>
          <p:nvPr>
            <p:ph type="dt" sz="half" idx="10"/>
          </p:nvPr>
        </p:nvSpPr>
        <p:spPr>
          <a:xfrm>
            <a:off x="132261" y="6426024"/>
            <a:ext cx="1696539" cy="431976"/>
          </a:xfrm>
        </p:spPr>
        <p:txBody>
          <a:bodyPr/>
          <a:lstStyle>
            <a:lvl1pPr>
              <a:defRPr>
                <a:latin typeface="Arial" panose="020B0604020202020204" pitchFamily="34" charset="0"/>
                <a:cs typeface="Arial" panose="020B0604020202020204" pitchFamily="34" charset="0"/>
              </a:defRPr>
            </a:lvl1pPr>
          </a:lstStyle>
          <a:p>
            <a:r>
              <a:rPr lang="tr-TR" dirty="0"/>
              <a:t>Hazırlayan: </a:t>
            </a:r>
          </a:p>
        </p:txBody>
      </p:sp>
      <p:sp>
        <p:nvSpPr>
          <p:cNvPr id="6" name="Slide Number Placeholder 5"/>
          <p:cNvSpPr>
            <a:spLocks noGrp="1"/>
          </p:cNvSpPr>
          <p:nvPr>
            <p:ph type="sldNum" sz="quarter" idx="12"/>
          </p:nvPr>
        </p:nvSpPr>
        <p:spPr>
          <a:xfrm>
            <a:off x="8281854" y="6425314"/>
            <a:ext cx="694509" cy="365125"/>
          </a:xfrm>
        </p:spPr>
        <p:txBody>
          <a:bodyPr/>
          <a:lstStyle>
            <a:lvl1pPr>
              <a:defRPr>
                <a:latin typeface="Arial" panose="020B0604020202020204" pitchFamily="34" charset="0"/>
                <a:cs typeface="Arial" panose="020B0604020202020204" pitchFamily="34" charset="0"/>
              </a:defRPr>
            </a:lvl1pPr>
          </a:lstStyle>
          <a:p>
            <a:fld id="{BA433DDD-27A3-4D57-BF79-3C63943A44E8}" type="slidenum">
              <a:rPr lang="tr-TR" smtClean="0"/>
              <a:pPr/>
              <a:t>‹#›</a:t>
            </a:fld>
            <a:endParaRPr lang="tr-TR" dirty="0"/>
          </a:p>
        </p:txBody>
      </p:sp>
    </p:spTree>
    <p:extLst>
      <p:ext uri="{BB962C8B-B14F-4D97-AF65-F5344CB8AC3E}">
        <p14:creationId xmlns:p14="http://schemas.microsoft.com/office/powerpoint/2010/main" val="404483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solidFill>
                  <a:srgbClr val="0070C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429605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r>
              <a:rPr lang="tr-TR" dirty="0"/>
              <a:t>Hazırlayan: </a:t>
            </a:r>
          </a:p>
        </p:txBody>
      </p:sp>
      <p:sp>
        <p:nvSpPr>
          <p:cNvPr id="6" name="Footer Placeholder 5"/>
          <p:cNvSpPr>
            <a:spLocks noGrp="1"/>
          </p:cNvSpPr>
          <p:nvPr>
            <p:ph type="ftr" sz="quarter" idx="11"/>
          </p:nvPr>
        </p:nvSpPr>
        <p:spPr>
          <a:xfrm>
            <a:off x="2601277" y="6442075"/>
            <a:ext cx="3941445"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tr-TR"/>
          </a:p>
        </p:txBody>
      </p:sp>
      <p:sp>
        <p:nvSpPr>
          <p:cNvPr id="7" name="Slide Number Placeholder 6"/>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BA433DDD-27A3-4D57-BF79-3C63943A44E8}" type="slidenum">
              <a:rPr lang="tr-TR" smtClean="0"/>
              <a:pPr/>
              <a:t>‹#›</a:t>
            </a:fld>
            <a:endParaRPr lang="tr-TR"/>
          </a:p>
        </p:txBody>
      </p:sp>
    </p:spTree>
    <p:extLst>
      <p:ext uri="{BB962C8B-B14F-4D97-AF65-F5344CB8AC3E}">
        <p14:creationId xmlns:p14="http://schemas.microsoft.com/office/powerpoint/2010/main" val="291723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681163"/>
            <a:ext cx="3868340"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r>
              <a:rPr lang="tr-TR" dirty="0"/>
              <a:t>Hazırlayan: </a:t>
            </a:r>
          </a:p>
        </p:txBody>
      </p:sp>
      <p:sp>
        <p:nvSpPr>
          <p:cNvPr id="8" name="Footer Placeholder 7"/>
          <p:cNvSpPr>
            <a:spLocks noGrp="1"/>
          </p:cNvSpPr>
          <p:nvPr>
            <p:ph type="ftr" sz="quarter" idx="11"/>
          </p:nvPr>
        </p:nvSpPr>
        <p:spPr>
          <a:xfrm>
            <a:off x="2601277" y="6442075"/>
            <a:ext cx="3941445"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tr-TR"/>
          </a:p>
        </p:txBody>
      </p:sp>
      <p:sp>
        <p:nvSpPr>
          <p:cNvPr id="9" name="Slide Number Placeholder 8"/>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BA433DDD-27A3-4D57-BF79-3C63943A44E8}" type="slidenum">
              <a:rPr lang="tr-TR" smtClean="0"/>
              <a:pPr/>
              <a:t>‹#›</a:t>
            </a:fld>
            <a:endParaRPr lang="tr-TR"/>
          </a:p>
        </p:txBody>
      </p:sp>
      <p:sp>
        <p:nvSpPr>
          <p:cNvPr id="10" name="Title 1"/>
          <p:cNvSpPr txBox="1">
            <a:spLocks/>
          </p:cNvSpPr>
          <p:nvPr userDrawn="1"/>
        </p:nvSpPr>
        <p:spPr>
          <a:xfrm>
            <a:off x="1733005" y="365126"/>
            <a:ext cx="4857497" cy="3047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1" kern="1200">
                <a:solidFill>
                  <a:schemeClr val="tx2">
                    <a:lumMod val="60000"/>
                    <a:lumOff val="40000"/>
                  </a:schemeClr>
                </a:solidFill>
                <a:latin typeface="Arial" panose="020B0604020202020204" pitchFamily="34" charset="0"/>
                <a:ea typeface="+mj-ea"/>
                <a:cs typeface="Arial" panose="020B0604020202020204" pitchFamily="34" charset="0"/>
              </a:defRPr>
            </a:lvl1pPr>
          </a:lstStyle>
          <a:p>
            <a:r>
              <a:rPr lang="en-US" dirty="0">
                <a:solidFill>
                  <a:srgbClr val="0070C0"/>
                </a:solidFill>
                <a:latin typeface="Arial" panose="020B0604020202020204" pitchFamily="34" charset="0"/>
                <a:cs typeface="Arial" panose="020B0604020202020204" pitchFamily="34" charset="0"/>
              </a:rPr>
              <a:t>Click to edit Master title style</a:t>
            </a:r>
          </a:p>
        </p:txBody>
      </p:sp>
    </p:spTree>
    <p:extLst>
      <p:ext uri="{BB962C8B-B14F-4D97-AF65-F5344CB8AC3E}">
        <p14:creationId xmlns:p14="http://schemas.microsoft.com/office/powerpoint/2010/main" val="142714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tr-TR" dirty="0"/>
              <a:t>Hazırlayan: </a:t>
            </a:r>
          </a:p>
        </p:txBody>
      </p:sp>
      <p:sp>
        <p:nvSpPr>
          <p:cNvPr id="4" name="Footer Placeholder 3"/>
          <p:cNvSpPr>
            <a:spLocks noGrp="1"/>
          </p:cNvSpPr>
          <p:nvPr>
            <p:ph type="ftr" sz="quarter" idx="11"/>
          </p:nvPr>
        </p:nvSpPr>
        <p:spPr>
          <a:xfrm>
            <a:off x="2601277" y="6442075"/>
            <a:ext cx="3941445" cy="365125"/>
          </a:xfrm>
          <a:prstGeom prst="rect">
            <a:avLst/>
          </a:prstGeom>
        </p:spPr>
        <p:txBody>
          <a:bodyPr/>
          <a:lstStyle/>
          <a:p>
            <a:endParaRPr lang="tr-TR"/>
          </a:p>
        </p:txBody>
      </p:sp>
      <p:sp>
        <p:nvSpPr>
          <p:cNvPr id="5" name="Slide Number Placeholder 4"/>
          <p:cNvSpPr>
            <a:spLocks noGrp="1"/>
          </p:cNvSpPr>
          <p:nvPr>
            <p:ph type="sldNum" sz="quarter" idx="12"/>
          </p:nvPr>
        </p:nvSpPr>
        <p:spPr/>
        <p:txBody>
          <a:bodyPr/>
          <a:lstStyle/>
          <a:p>
            <a:fld id="{BA433DDD-27A3-4D57-BF79-3C63943A44E8}" type="slidenum">
              <a:rPr lang="tr-TR" smtClean="0"/>
              <a:pPr/>
              <a:t>‹#›</a:t>
            </a:fld>
            <a:endParaRPr lang="tr-TR"/>
          </a:p>
        </p:txBody>
      </p:sp>
    </p:spTree>
    <p:extLst>
      <p:ext uri="{BB962C8B-B14F-4D97-AF65-F5344CB8AC3E}">
        <p14:creationId xmlns:p14="http://schemas.microsoft.com/office/powerpoint/2010/main" val="148824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tr-TR" dirty="0"/>
              <a:t>Hazırlayan: </a:t>
            </a:r>
          </a:p>
        </p:txBody>
      </p:sp>
      <p:sp>
        <p:nvSpPr>
          <p:cNvPr id="3" name="Footer Placeholder 2"/>
          <p:cNvSpPr>
            <a:spLocks noGrp="1"/>
          </p:cNvSpPr>
          <p:nvPr>
            <p:ph type="ftr" sz="quarter" idx="11"/>
          </p:nvPr>
        </p:nvSpPr>
        <p:spPr>
          <a:xfrm>
            <a:off x="2601277" y="6442075"/>
            <a:ext cx="3941445" cy="365125"/>
          </a:xfrm>
          <a:prstGeom prst="rect">
            <a:avLst/>
          </a:prstGeom>
        </p:spPr>
        <p:txBody>
          <a:bodyPr/>
          <a:lstStyle/>
          <a:p>
            <a:endParaRPr lang="tr-TR"/>
          </a:p>
        </p:txBody>
      </p:sp>
      <p:sp>
        <p:nvSpPr>
          <p:cNvPr id="4" name="Slide Number Placeholder 3"/>
          <p:cNvSpPr>
            <a:spLocks noGrp="1"/>
          </p:cNvSpPr>
          <p:nvPr>
            <p:ph type="sldNum" sz="quarter" idx="12"/>
          </p:nvPr>
        </p:nvSpPr>
        <p:spPr/>
        <p:txBody>
          <a:bodyPr/>
          <a:lstStyle/>
          <a:p>
            <a:fld id="{BA433DDD-27A3-4D57-BF79-3C63943A44E8}" type="slidenum">
              <a:rPr lang="tr-TR" smtClean="0"/>
              <a:pPr/>
              <a:t>‹#›</a:t>
            </a:fld>
            <a:endParaRPr lang="tr-TR"/>
          </a:p>
        </p:txBody>
      </p:sp>
    </p:spTree>
    <p:extLst>
      <p:ext uri="{BB962C8B-B14F-4D97-AF65-F5344CB8AC3E}">
        <p14:creationId xmlns:p14="http://schemas.microsoft.com/office/powerpoint/2010/main" val="603652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Ayırma Slaydı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Resim Yer Tutucusu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1808559" y="1"/>
            <a:ext cx="7335441" cy="6371351"/>
          </a:xfrm>
          <a:solidFill>
            <a:schemeClr val="bg1">
              <a:lumMod val="85000"/>
            </a:schemeClr>
          </a:solidFill>
        </p:spPr>
        <p:txBody>
          <a:bodyPr rtlCol="0" anchor="ctr"/>
          <a:lstStyle>
            <a:lvl1pPr marL="0" indent="0" algn="ctr">
              <a:buNone/>
              <a:defRPr sz="900" i="1">
                <a:latin typeface="Times New Roman" panose="02020603050405020304" pitchFamily="18" charset="0"/>
                <a:cs typeface="Times New Roman" panose="02020603050405020304" pitchFamily="18" charset="0"/>
              </a:defRPr>
            </a:lvl1pPr>
          </a:lstStyle>
          <a:p>
            <a:pPr rtl="0"/>
            <a:r>
              <a:rPr lang="tr-TR" dirty="0"/>
              <a:t>Fotoğrafınızı Buraya Ekleyin veya </a:t>
            </a:r>
            <a:br>
              <a:rPr lang="tr-TR" dirty="0"/>
            </a:br>
            <a:r>
              <a:rPr lang="tr-TR" dirty="0"/>
              <a:t>Sürükleyip Bırakın</a:t>
            </a:r>
          </a:p>
        </p:txBody>
      </p:sp>
      <p:sp>
        <p:nvSpPr>
          <p:cNvPr id="3" name="Başlık 1">
            <a:extLst>
              <a:ext uri="{FF2B5EF4-FFF2-40B4-BE49-F238E27FC236}">
                <a16:creationId xmlns:a16="http://schemas.microsoft.com/office/drawing/2014/main" id="{E473AB13-DFF9-4538-9907-E261659E0E01}"/>
              </a:ext>
            </a:extLst>
          </p:cNvPr>
          <p:cNvSpPr>
            <a:spLocks noGrp="1"/>
          </p:cNvSpPr>
          <p:nvPr>
            <p:ph type="title" hasCustomPrompt="1"/>
          </p:nvPr>
        </p:nvSpPr>
        <p:spPr>
          <a:xfrm>
            <a:off x="-1275" y="2156226"/>
            <a:ext cx="4468500" cy="1958400"/>
          </a:xfrm>
          <a:solidFill>
            <a:schemeClr val="bg1"/>
          </a:solidFill>
        </p:spPr>
        <p:txBody>
          <a:bodyPr lIns="252000" tIns="180000" rIns="180000" bIns="180000" rtlCol="0"/>
          <a:lstStyle>
            <a:lvl1pPr>
              <a:defRPr sz="3600" b="1" spc="-225">
                <a:solidFill>
                  <a:schemeClr val="tx1">
                    <a:lumMod val="75000"/>
                    <a:lumOff val="25000"/>
                  </a:schemeClr>
                </a:solidFill>
                <a:latin typeface="+mj-lt"/>
              </a:defRPr>
            </a:lvl1pPr>
          </a:lstStyle>
          <a:p>
            <a:pPr rtl="0"/>
            <a:r>
              <a:rPr lang="tr-TR" dirty="0"/>
              <a:t>Bölüm ayırıcıyı düzenlemek için tıklayın</a:t>
            </a:r>
          </a:p>
        </p:txBody>
      </p:sp>
      <p:sp>
        <p:nvSpPr>
          <p:cNvPr id="7" name="Alt Başlık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1"/>
            <a:ext cx="4467225" cy="1100565"/>
          </a:xfrm>
          <a:solidFill>
            <a:schemeClr val="tx1">
              <a:alpha val="80000"/>
            </a:schemeClr>
          </a:solidFill>
        </p:spPr>
        <p:txBody>
          <a:bodyPr lIns="252000" tIns="180000" rIns="180000" bIns="180000" rtlCol="0"/>
          <a:lstStyle>
            <a:lvl1pPr marL="0" indent="0" algn="l">
              <a:buNone/>
              <a:defRPr sz="1350">
                <a:solidFill>
                  <a:schemeClr val="bg1"/>
                </a:solidFill>
              </a:defRPr>
            </a:lvl1pPr>
            <a:lvl2pPr marL="200025" indent="0" algn="r">
              <a:buNone/>
              <a:defRPr sz="1350">
                <a:solidFill>
                  <a:schemeClr val="bg1"/>
                </a:solidFill>
              </a:defRPr>
            </a:lvl2pPr>
            <a:lvl3pPr marL="407194" indent="0" algn="r">
              <a:buNone/>
              <a:defRPr sz="1350">
                <a:solidFill>
                  <a:schemeClr val="bg1"/>
                </a:solidFill>
              </a:defRPr>
            </a:lvl3pPr>
            <a:lvl4pPr marL="607219" indent="0" algn="r">
              <a:buNone/>
              <a:defRPr sz="1350">
                <a:solidFill>
                  <a:schemeClr val="bg1"/>
                </a:solidFill>
              </a:defRPr>
            </a:lvl4pPr>
            <a:lvl5pPr marL="807244" indent="0" algn="r">
              <a:buNone/>
              <a:defRPr sz="1350">
                <a:solidFill>
                  <a:schemeClr val="bg1"/>
                </a:solidFill>
              </a:defRPr>
            </a:lvl5pPr>
          </a:lstStyle>
          <a:p>
            <a:pPr lvl="0" rtl="0"/>
            <a:r>
              <a:rPr lang="tr-TR" dirty="0"/>
              <a:t>Asıl alt başlık stilini düzenlemek için tıklatın</a:t>
            </a:r>
          </a:p>
        </p:txBody>
      </p:sp>
      <p:sp>
        <p:nvSpPr>
          <p:cNvPr id="4" name="Alt Bilgi Yer Tutucusu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tr-TR" dirty="0"/>
              <a:t>Alt bilgi ekleme</a:t>
            </a:r>
          </a:p>
        </p:txBody>
      </p:sp>
      <p:sp>
        <p:nvSpPr>
          <p:cNvPr id="13" name="Dikdörtgen 12">
            <a:extLst>
              <a:ext uri="{FF2B5EF4-FFF2-40B4-BE49-F238E27FC236}">
                <a16:creationId xmlns:a16="http://schemas.microsoft.com/office/drawing/2014/main" id="{EC0FBB1B-4F0E-4365-BF27-3150FC6C3B90}"/>
              </a:ext>
            </a:extLst>
          </p:cNvPr>
          <p:cNvSpPr/>
          <p:nvPr userDrawn="1"/>
        </p:nvSpPr>
        <p:spPr>
          <a:xfrm>
            <a:off x="7335078" y="6803351"/>
            <a:ext cx="1484923"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14" name="Dikdörtgen 13">
            <a:extLst>
              <a:ext uri="{FF2B5EF4-FFF2-40B4-BE49-F238E27FC236}">
                <a16:creationId xmlns:a16="http://schemas.microsoft.com/office/drawing/2014/main" id="{7A13D8A8-6C3D-4527-959D-41C3213F7F02}"/>
              </a:ext>
            </a:extLst>
          </p:cNvPr>
          <p:cNvSpPr/>
          <p:nvPr userDrawn="1"/>
        </p:nvSpPr>
        <p:spPr>
          <a:xfrm>
            <a:off x="0" y="6803351"/>
            <a:ext cx="7335078"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15" name="Dikdörtgen 14">
            <a:extLst>
              <a:ext uri="{FF2B5EF4-FFF2-40B4-BE49-F238E27FC236}">
                <a16:creationId xmlns:a16="http://schemas.microsoft.com/office/drawing/2014/main" id="{9504A767-1C0B-484E-BF7D-CD42D30A52EE}"/>
              </a:ext>
            </a:extLst>
          </p:cNvPr>
          <p:cNvSpPr/>
          <p:nvPr userDrawn="1"/>
        </p:nvSpPr>
        <p:spPr>
          <a:xfrm>
            <a:off x="8820000" y="6803351"/>
            <a:ext cx="324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5" name="Slayt Numarası Yer Tutucusu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tr-TR" smtClean="0"/>
              <a:pPr/>
              <a:t>‹#›</a:t>
            </a:fld>
            <a:endParaRPr lang="tr-TR" dirty="0"/>
          </a:p>
        </p:txBody>
      </p:sp>
    </p:spTree>
    <p:extLst>
      <p:ext uri="{BB962C8B-B14F-4D97-AF65-F5344CB8AC3E}">
        <p14:creationId xmlns:p14="http://schemas.microsoft.com/office/powerpoint/2010/main" val="45796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Ayırıcı Slayt 1">
    <p:bg>
      <p:bgPr>
        <a:solidFill>
          <a:schemeClr val="bg1">
            <a:lumMod val="95000"/>
          </a:schemeClr>
        </a:solidFill>
        <a:effectLst/>
      </p:bgPr>
    </p:bg>
    <p:spTree>
      <p:nvGrpSpPr>
        <p:cNvPr id="1" name=""/>
        <p:cNvGrpSpPr/>
        <p:nvPr/>
      </p:nvGrpSpPr>
      <p:grpSpPr>
        <a:xfrm>
          <a:off x="0" y="0"/>
          <a:ext cx="0" cy="0"/>
          <a:chOff x="0" y="0"/>
          <a:chExt cx="0" cy="0"/>
        </a:xfrm>
      </p:grpSpPr>
      <p:sp>
        <p:nvSpPr>
          <p:cNvPr id="41" name="Resim Yer Tutucusu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1"/>
            <a:ext cx="7335441" cy="6371351"/>
          </a:xfrm>
          <a:solidFill>
            <a:schemeClr val="bg1">
              <a:lumMod val="85000"/>
            </a:schemeClr>
          </a:solidFill>
        </p:spPr>
        <p:txBody>
          <a:bodyPr rtlCol="0" anchor="ctr"/>
          <a:lstStyle>
            <a:lvl1pPr marL="0" indent="0" algn="ctr">
              <a:buNone/>
              <a:defRPr sz="900" i="1">
                <a:latin typeface="Times New Roman" panose="02020603050405020304" pitchFamily="18" charset="0"/>
                <a:cs typeface="Times New Roman" panose="02020603050405020304" pitchFamily="18" charset="0"/>
              </a:defRPr>
            </a:lvl1pPr>
          </a:lstStyle>
          <a:p>
            <a:pPr rtl="0"/>
            <a:r>
              <a:rPr lang="tr-TR" dirty="0"/>
              <a:t>Fotoğrafınızı Buraya Ekleyin veya </a:t>
            </a:r>
            <a:br>
              <a:rPr lang="tr-TR" dirty="0"/>
            </a:br>
            <a:r>
              <a:rPr lang="tr-TR" dirty="0"/>
              <a:t>Sürükleyip Bırakın</a:t>
            </a:r>
          </a:p>
        </p:txBody>
      </p:sp>
      <p:sp>
        <p:nvSpPr>
          <p:cNvPr id="2" name="Başlık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4676775" y="2204792"/>
            <a:ext cx="4467225" cy="1944000"/>
          </a:xfrm>
          <a:solidFill>
            <a:schemeClr val="bg1"/>
          </a:solidFill>
        </p:spPr>
        <p:txBody>
          <a:bodyPr vert="horz" lIns="180000" tIns="324000" rIns="252000" bIns="180000" rtlCol="0" anchor="t">
            <a:noAutofit/>
          </a:bodyPr>
          <a:lstStyle>
            <a:lvl1pPr algn="r">
              <a:defRPr lang="en-ZA" sz="3600" b="1" spc="-225" dirty="0"/>
            </a:lvl1pPr>
          </a:lstStyle>
          <a:p>
            <a:pPr lvl="0" algn="r" rtl="0"/>
            <a:r>
              <a:rPr lang="tr-TR" dirty="0"/>
              <a:t>Bölüm ayırıcıyı düzenlemek için tıklayın</a:t>
            </a:r>
          </a:p>
        </p:txBody>
      </p:sp>
      <p:sp>
        <p:nvSpPr>
          <p:cNvPr id="7" name="Alt Başlık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4676775" y="4148861"/>
            <a:ext cx="4467225" cy="1100565"/>
          </a:xfrm>
          <a:solidFill>
            <a:schemeClr val="tx1">
              <a:alpha val="80000"/>
            </a:schemeClr>
          </a:solidFill>
        </p:spPr>
        <p:txBody>
          <a:bodyPr lIns="180000" tIns="180000" rIns="252000" bIns="180000" rtlCol="0"/>
          <a:lstStyle>
            <a:lvl1pPr marL="0" indent="0" algn="r">
              <a:buNone/>
              <a:defRPr sz="1350">
                <a:solidFill>
                  <a:schemeClr val="bg1"/>
                </a:solidFill>
              </a:defRPr>
            </a:lvl1pPr>
            <a:lvl2pPr marL="200025" indent="0" algn="r">
              <a:buNone/>
              <a:defRPr sz="1350">
                <a:solidFill>
                  <a:schemeClr val="bg1"/>
                </a:solidFill>
              </a:defRPr>
            </a:lvl2pPr>
            <a:lvl3pPr marL="407194" indent="0" algn="r">
              <a:buNone/>
              <a:defRPr sz="1350">
                <a:solidFill>
                  <a:schemeClr val="bg1"/>
                </a:solidFill>
              </a:defRPr>
            </a:lvl3pPr>
            <a:lvl4pPr marL="607219" indent="0" algn="r">
              <a:buNone/>
              <a:defRPr sz="1350">
                <a:solidFill>
                  <a:schemeClr val="bg1"/>
                </a:solidFill>
              </a:defRPr>
            </a:lvl4pPr>
            <a:lvl5pPr marL="807244" indent="0" algn="r">
              <a:buNone/>
              <a:defRPr sz="1350">
                <a:solidFill>
                  <a:schemeClr val="bg1"/>
                </a:solidFill>
              </a:defRPr>
            </a:lvl5pPr>
          </a:lstStyle>
          <a:p>
            <a:pPr lvl="0" rtl="0"/>
            <a:r>
              <a:rPr lang="tr-TR" dirty="0"/>
              <a:t>Asıl alt başlık stilini düzenlemek için tıklatın</a:t>
            </a:r>
          </a:p>
        </p:txBody>
      </p:sp>
      <p:sp>
        <p:nvSpPr>
          <p:cNvPr id="4" name="Alt Bilgi Yer Tutucusu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tr-TR" dirty="0"/>
              <a:t>Alt bilgi ekleme</a:t>
            </a:r>
          </a:p>
        </p:txBody>
      </p:sp>
      <p:sp>
        <p:nvSpPr>
          <p:cNvPr id="13" name="Dikdörtgen 12">
            <a:extLst>
              <a:ext uri="{FF2B5EF4-FFF2-40B4-BE49-F238E27FC236}">
                <a16:creationId xmlns:a16="http://schemas.microsoft.com/office/drawing/2014/main" id="{EC0FBB1B-4F0E-4365-BF27-3150FC6C3B90}"/>
              </a:ext>
            </a:extLst>
          </p:cNvPr>
          <p:cNvSpPr/>
          <p:nvPr userDrawn="1"/>
        </p:nvSpPr>
        <p:spPr>
          <a:xfrm>
            <a:off x="7335078" y="6803351"/>
            <a:ext cx="1484923"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14" name="Dikdörtgen 13">
            <a:extLst>
              <a:ext uri="{FF2B5EF4-FFF2-40B4-BE49-F238E27FC236}">
                <a16:creationId xmlns:a16="http://schemas.microsoft.com/office/drawing/2014/main" id="{7A13D8A8-6C3D-4527-959D-41C3213F7F02}"/>
              </a:ext>
            </a:extLst>
          </p:cNvPr>
          <p:cNvSpPr/>
          <p:nvPr userDrawn="1"/>
        </p:nvSpPr>
        <p:spPr>
          <a:xfrm>
            <a:off x="0" y="6803351"/>
            <a:ext cx="7335078"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15" name="Dikdörtgen 14">
            <a:extLst>
              <a:ext uri="{FF2B5EF4-FFF2-40B4-BE49-F238E27FC236}">
                <a16:creationId xmlns:a16="http://schemas.microsoft.com/office/drawing/2014/main" id="{9504A767-1C0B-484E-BF7D-CD42D30A52EE}"/>
              </a:ext>
            </a:extLst>
          </p:cNvPr>
          <p:cNvSpPr/>
          <p:nvPr userDrawn="1"/>
        </p:nvSpPr>
        <p:spPr>
          <a:xfrm>
            <a:off x="8820000" y="6803351"/>
            <a:ext cx="324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sz="1350" dirty="0"/>
          </a:p>
        </p:txBody>
      </p:sp>
      <p:sp>
        <p:nvSpPr>
          <p:cNvPr id="5" name="Slayt Numarası Yer Tutucusu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tr-TR" smtClean="0"/>
              <a:pPr/>
              <a:t>‹#›</a:t>
            </a:fld>
            <a:endParaRPr lang="tr-TR" dirty="0"/>
          </a:p>
        </p:txBody>
      </p:sp>
    </p:spTree>
    <p:extLst>
      <p:ext uri="{BB962C8B-B14F-4D97-AF65-F5344CB8AC3E}">
        <p14:creationId xmlns:p14="http://schemas.microsoft.com/office/powerpoint/2010/main" val="3528565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tr-TR"/>
              <a:t>Asıl başlık stilini düzenlemek için tıklayın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EDB2B57A-85FF-0142-B423-95E0DCAA3807}" type="datetimeFigureOut">
              <a:rPr lang="tr-TR" smtClean="0"/>
              <a:t>22.06.2026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D32F888D-2DC9-0C47-A5FF-E2B5335146B5}" type="slidenum">
              <a:rPr lang="tr-TR" smtClean="0"/>
              <a:t>‹#›</a:t>
            </a:fld>
            <a:endParaRPr lang="tr-TR"/>
          </a:p>
        </p:txBody>
      </p:sp>
    </p:spTree>
    <p:extLst>
      <p:ext uri="{BB962C8B-B14F-4D97-AF65-F5344CB8AC3E}">
        <p14:creationId xmlns:p14="http://schemas.microsoft.com/office/powerpoint/2010/main" val="4177343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143000" y="1122363"/>
            <a:ext cx="6858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EE6B9265-E89E-4864-B591-291AE8D07266}" type="datetimeFigureOut">
              <a:rPr lang="tr-TR" smtClean="0"/>
              <a:t>22.06.2026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2741105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E6B9265-E89E-4864-B591-291AE8D07266}" type="datetimeFigureOut">
              <a:rPr lang="tr-TR" smtClean="0"/>
              <a:t>22.06.2026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103793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623888" y="1709738"/>
            <a:ext cx="78867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EE6B9265-E89E-4864-B591-291AE8D07266}" type="datetimeFigureOut">
              <a:rPr lang="tr-TR" smtClean="0"/>
              <a:t>22.06.2026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3291482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628650" y="1825625"/>
            <a:ext cx="386715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825625"/>
            <a:ext cx="386715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E6B9265-E89E-4864-B591-291AE8D07266}" type="datetimeFigureOut">
              <a:rPr lang="tr-TR" smtClean="0"/>
              <a:t>22.06.2026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263894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630238" y="365125"/>
            <a:ext cx="7886700" cy="1325563"/>
          </a:xfrm>
        </p:spPr>
        <p:txBody>
          <a:bodyPr/>
          <a:lstStyle/>
          <a:p>
            <a:r>
              <a:rPr lang="tr-TR"/>
              <a:t>Asıl başlık stili için tıklatın</a:t>
            </a:r>
          </a:p>
        </p:txBody>
      </p:sp>
      <p:sp>
        <p:nvSpPr>
          <p:cNvPr id="3" name="Metin Yer Tutucusu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630238" y="2505075"/>
            <a:ext cx="386873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4629150" y="2505075"/>
            <a:ext cx="38877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E6B9265-E89E-4864-B591-291AE8D07266}" type="datetimeFigureOut">
              <a:rPr lang="tr-TR" smtClean="0"/>
              <a:t>22.06.2026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3368691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E6B9265-E89E-4864-B591-291AE8D07266}" type="datetimeFigureOut">
              <a:rPr lang="tr-TR" smtClean="0"/>
              <a:t>22.06.2026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3526317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E6B9265-E89E-4864-B591-291AE8D07266}" type="datetimeFigureOut">
              <a:rPr lang="tr-TR" smtClean="0"/>
              <a:t>22.06.2026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3632161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630238" y="457200"/>
            <a:ext cx="2949575"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EE6B9265-E89E-4864-B591-291AE8D07266}" type="datetimeFigureOut">
              <a:rPr lang="tr-TR" smtClean="0"/>
              <a:t>22.06.2026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2427679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630238" y="457200"/>
            <a:ext cx="2949575"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EE6B9265-E89E-4864-B591-291AE8D07266}" type="datetimeFigureOut">
              <a:rPr lang="tr-TR" smtClean="0"/>
              <a:t>22.06.2026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899970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E6B9265-E89E-4864-B591-291AE8D07266}" type="datetimeFigureOut">
              <a:rPr lang="tr-TR" smtClean="0"/>
              <a:t>22.06.2026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422366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543675" y="365125"/>
            <a:ext cx="1971675"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628650" y="365125"/>
            <a:ext cx="57626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E6B9265-E89E-4864-B591-291AE8D07266}" type="datetimeFigureOut">
              <a:rPr lang="tr-TR" smtClean="0"/>
              <a:t>22.06.2026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862F39B6-6E8B-4C0B-B080-1A1221932ABD}" type="slidenum">
              <a:rPr lang="tr-TR" smtClean="0"/>
              <a:t>‹#›</a:t>
            </a:fld>
            <a:endParaRPr lang="tr-TR"/>
          </a:p>
        </p:txBody>
      </p:sp>
    </p:spTree>
    <p:extLst>
      <p:ext uri="{BB962C8B-B14F-4D97-AF65-F5344CB8AC3E}">
        <p14:creationId xmlns:p14="http://schemas.microsoft.com/office/powerpoint/2010/main" val="187106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58867" y="365126"/>
            <a:ext cx="4915744" cy="304799"/>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11232" y="1532288"/>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2261" y="6426024"/>
            <a:ext cx="2122667" cy="364416"/>
          </a:xfrm>
          <a:prstGeom prst="rect">
            <a:avLst/>
          </a:prstGeom>
        </p:spPr>
        <p:txBody>
          <a:bodyPr vert="horz" lIns="91440" tIns="45720" rIns="91440" bIns="45720" rtlCol="0" anchor="ctr"/>
          <a:lstStyle>
            <a:lvl1pPr algn="l">
              <a:defRPr sz="1000">
                <a:solidFill>
                  <a:schemeClr val="tx1">
                    <a:tint val="75000"/>
                  </a:schemeClr>
                </a:solidFill>
                <a:latin typeface="Arial" panose="020B0604020202020204" pitchFamily="34" charset="0"/>
                <a:cs typeface="Arial" panose="020B0604020202020204" pitchFamily="34" charset="0"/>
              </a:defRPr>
            </a:lvl1pPr>
          </a:lstStyle>
          <a:p>
            <a:r>
              <a:rPr lang="tr-TR" dirty="0"/>
              <a:t>Hazırlayan: </a:t>
            </a:r>
          </a:p>
        </p:txBody>
      </p:sp>
      <p:sp>
        <p:nvSpPr>
          <p:cNvPr id="6" name="Slide Number Placeholder 5"/>
          <p:cNvSpPr>
            <a:spLocks noGrp="1"/>
          </p:cNvSpPr>
          <p:nvPr>
            <p:ph type="sldNum" sz="quarter" idx="4"/>
          </p:nvPr>
        </p:nvSpPr>
        <p:spPr>
          <a:xfrm>
            <a:off x="8220891" y="6425314"/>
            <a:ext cx="694509"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55AA2C35-F30A-4167-A3BF-343FE84AF40A}" type="slidenum">
              <a:rPr lang="tr-TR" smtClean="0"/>
              <a:pPr/>
              <a:t>‹#›</a:t>
            </a:fld>
            <a:endParaRPr lang="en-US" dirty="0"/>
          </a:p>
        </p:txBody>
      </p:sp>
      <p:sp>
        <p:nvSpPr>
          <p:cNvPr id="15" name="Picture Placeholder 7"/>
          <p:cNvSpPr txBox="1">
            <a:spLocks/>
          </p:cNvSpPr>
          <p:nvPr userDrawn="1"/>
        </p:nvSpPr>
        <p:spPr>
          <a:xfrm>
            <a:off x="228600" y="82270"/>
            <a:ext cx="1430267" cy="856520"/>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050" dirty="0">
              <a:latin typeface="Arial" panose="020B0604020202020204" pitchFamily="34" charset="0"/>
              <a:cs typeface="Arial" panose="020B0604020202020204" pitchFamily="34" charset="0"/>
            </a:endParaRPr>
          </a:p>
          <a:p>
            <a:r>
              <a:rPr lang="en-US" sz="1050" dirty="0" err="1">
                <a:latin typeface="Arial" panose="020B0604020202020204" pitchFamily="34" charset="0"/>
                <a:cs typeface="Arial" panose="020B0604020202020204" pitchFamily="34" charset="0"/>
              </a:rPr>
              <a:t>Takim</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Logosu</a:t>
            </a:r>
            <a:endParaRPr lang="en-US" sz="1050" dirty="0">
              <a:latin typeface="Arial" panose="020B0604020202020204" pitchFamily="34" charset="0"/>
              <a:cs typeface="Arial" panose="020B0604020202020204" pitchFamily="34" charset="0"/>
            </a:endParaRPr>
          </a:p>
          <a:p>
            <a:endParaRPr lang="tr-TR" sz="1050" dirty="0">
              <a:latin typeface="Arial" panose="020B0604020202020204" pitchFamily="34" charset="0"/>
              <a:cs typeface="Arial" panose="020B0604020202020204" pitchFamily="34" charset="0"/>
            </a:endParaRPr>
          </a:p>
        </p:txBody>
      </p:sp>
      <p:sp>
        <p:nvSpPr>
          <p:cNvPr id="16" name="Line 8"/>
          <p:cNvSpPr>
            <a:spLocks noChangeShapeType="1"/>
          </p:cNvSpPr>
          <p:nvPr userDrawn="1"/>
        </p:nvSpPr>
        <p:spPr bwMode="auto">
          <a:xfrm>
            <a:off x="228600" y="990600"/>
            <a:ext cx="8686800"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Arial" panose="020B0604020202020204" pitchFamily="34" charset="0"/>
              <a:cs typeface="Arial" panose="020B0604020202020204" pitchFamily="34" charset="0"/>
            </a:endParaRPr>
          </a:p>
        </p:txBody>
      </p:sp>
      <p:sp>
        <p:nvSpPr>
          <p:cNvPr id="17" name="Line 7"/>
          <p:cNvSpPr>
            <a:spLocks noChangeShapeType="1"/>
          </p:cNvSpPr>
          <p:nvPr userDrawn="1"/>
        </p:nvSpPr>
        <p:spPr bwMode="auto">
          <a:xfrm>
            <a:off x="211182" y="6400800"/>
            <a:ext cx="8686800"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Arial" panose="020B0604020202020204" pitchFamily="34" charset="0"/>
              <a:cs typeface="Arial" panose="020B0604020202020204" pitchFamily="34" charset="0"/>
            </a:endParaRPr>
          </a:p>
        </p:txBody>
      </p:sp>
      <p:sp>
        <p:nvSpPr>
          <p:cNvPr id="25" name="Content Placeholder 18"/>
          <p:cNvSpPr txBox="1">
            <a:spLocks/>
          </p:cNvSpPr>
          <p:nvPr userDrawn="1"/>
        </p:nvSpPr>
        <p:spPr>
          <a:xfrm>
            <a:off x="1101535" y="6492874"/>
            <a:ext cx="6906094" cy="278978"/>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0" dirty="0">
                <a:latin typeface="Arial" panose="020B0604020202020204" pitchFamily="34" charset="0"/>
                <a:cs typeface="Arial" panose="020B0604020202020204" pitchFamily="34" charset="0"/>
              </a:rPr>
              <a:t>1</a:t>
            </a:r>
            <a:r>
              <a:rPr lang="tr-TR" b="0" dirty="0">
                <a:latin typeface="Arial" panose="020B0604020202020204" pitchFamily="34" charset="0"/>
                <a:cs typeface="Arial" panose="020B0604020202020204" pitchFamily="34" charset="0"/>
              </a:rPr>
              <a:t>1</a:t>
            </a:r>
            <a:r>
              <a:rPr lang="en-US" b="0" dirty="0">
                <a:latin typeface="Arial" panose="020B0604020202020204" pitchFamily="34" charset="0"/>
                <a:cs typeface="Arial" panose="020B0604020202020204" pitchFamily="34" charset="0"/>
              </a:rPr>
              <a:t>.T</a:t>
            </a:r>
            <a:r>
              <a:rPr lang="tr-TR" b="0" dirty="0">
                <a:latin typeface="Arial" panose="020B0604020202020204" pitchFamily="34" charset="0"/>
                <a:cs typeface="Arial" panose="020B0604020202020204" pitchFamily="34" charset="0"/>
              </a:rPr>
              <a:t>ÜRKSAT Model Uydu Yarışması</a:t>
            </a:r>
            <a:r>
              <a:rPr lang="en-US" b="0" dirty="0">
                <a:latin typeface="Arial" panose="020B0604020202020204" pitchFamily="34" charset="0"/>
                <a:cs typeface="Arial" panose="020B0604020202020204" pitchFamily="34" charset="0"/>
              </a:rPr>
              <a:t> 20</a:t>
            </a:r>
            <a:r>
              <a:rPr lang="tr-TR" b="0" dirty="0">
                <a:latin typeface="Arial" panose="020B0604020202020204" pitchFamily="34" charset="0"/>
                <a:cs typeface="Arial" panose="020B0604020202020204" pitchFamily="34" charset="0"/>
              </a:rPr>
              <a:t>26</a:t>
            </a:r>
            <a:r>
              <a:rPr lang="en-US" b="0" dirty="0">
                <a:latin typeface="Arial" panose="020B0604020202020204" pitchFamily="34" charset="0"/>
                <a:cs typeface="Arial" panose="020B0604020202020204" pitchFamily="34" charset="0"/>
              </a:rPr>
              <a:t> CDR:</a:t>
            </a:r>
            <a:r>
              <a:rPr lang="tr-TR" b="0" dirty="0">
                <a:latin typeface="Arial" panose="020B0604020202020204" pitchFamily="34" charset="0"/>
                <a:cs typeface="Arial" panose="020B0604020202020204" pitchFamily="34" charset="0"/>
              </a:rPr>
              <a:t>Başvuru ID:####### </a:t>
            </a:r>
            <a:r>
              <a:rPr lang="en-US" b="0" dirty="0">
                <a:latin typeface="Arial" panose="020B0604020202020204" pitchFamily="34" charset="0"/>
                <a:cs typeface="Arial" panose="020B0604020202020204" pitchFamily="34" charset="0"/>
              </a:rPr>
              <a:t>&lt;</a:t>
            </a:r>
            <a:r>
              <a:rPr lang="en-US" b="0" dirty="0" err="1">
                <a:latin typeface="Arial" panose="020B0604020202020204" pitchFamily="34" charset="0"/>
                <a:cs typeface="Arial" panose="020B0604020202020204" pitchFamily="34" charset="0"/>
              </a:rPr>
              <a:t>Tak</a:t>
            </a:r>
            <a:r>
              <a:rPr lang="tr-TR" b="0" dirty="0">
                <a:latin typeface="Arial" panose="020B0604020202020204" pitchFamily="34" charset="0"/>
                <a:cs typeface="Arial" panose="020B0604020202020204" pitchFamily="34" charset="0"/>
              </a:rPr>
              <a:t>ı</a:t>
            </a:r>
            <a:r>
              <a:rPr lang="en-US" b="0" dirty="0">
                <a:latin typeface="Arial" panose="020B0604020202020204" pitchFamily="34" charset="0"/>
                <a:cs typeface="Arial" panose="020B0604020202020204" pitchFamily="34" charset="0"/>
              </a:rPr>
              <a:t>m </a:t>
            </a:r>
            <a:r>
              <a:rPr lang="tr-TR" b="0" dirty="0">
                <a:latin typeface="Arial" panose="020B0604020202020204" pitchFamily="34" charset="0"/>
                <a:cs typeface="Arial" panose="020B0604020202020204" pitchFamily="34" charset="0"/>
              </a:rPr>
              <a:t>İ</a:t>
            </a:r>
            <a:r>
              <a:rPr lang="en-US" b="0" dirty="0" err="1">
                <a:latin typeface="Arial" panose="020B0604020202020204" pitchFamily="34" charset="0"/>
                <a:cs typeface="Arial" panose="020B0604020202020204" pitchFamily="34" charset="0"/>
              </a:rPr>
              <a:t>smi</a:t>
            </a:r>
            <a:r>
              <a:rPr lang="en-US" b="0" dirty="0">
                <a:latin typeface="Arial" panose="020B0604020202020204" pitchFamily="34" charset="0"/>
                <a:cs typeface="Arial" panose="020B0604020202020204" pitchFamily="34" charset="0"/>
              </a:rPr>
              <a:t>&gt;</a:t>
            </a:r>
            <a:r>
              <a:rPr lang="tr-TR" b="0" dirty="0">
                <a:latin typeface="Arial" panose="020B0604020202020204" pitchFamily="34" charset="0"/>
                <a:cs typeface="Arial" panose="020B0604020202020204" pitchFamily="34" charset="0"/>
              </a:rPr>
              <a:t>Takım ID: </a:t>
            </a:r>
            <a:r>
              <a:rPr lang="en-US" b="0" dirty="0">
                <a:latin typeface="Arial" panose="020B0604020202020204" pitchFamily="34" charset="0"/>
                <a:cs typeface="Arial" panose="020B0604020202020204" pitchFamily="34" charset="0"/>
              </a:rPr>
              <a:t>##</a:t>
            </a:r>
            <a:r>
              <a:rPr lang="tr-TR" b="0" dirty="0">
                <a:latin typeface="Arial" panose="020B0604020202020204" pitchFamily="34" charset="0"/>
                <a:cs typeface="Arial" panose="020B0604020202020204" pitchFamily="34" charset="0"/>
              </a:rPr>
              <a:t>#</a:t>
            </a:r>
            <a:r>
              <a:rPr lang="en-US" b="0" dirty="0">
                <a:latin typeface="Arial" panose="020B0604020202020204" pitchFamily="34" charset="0"/>
                <a:cs typeface="Arial" panose="020B0604020202020204" pitchFamily="34" charset="0"/>
              </a:rPr>
              <a:t>##</a:t>
            </a:r>
            <a:r>
              <a:rPr lang="tr-TR" b="0" dirty="0">
                <a:latin typeface="Arial" panose="020B0604020202020204" pitchFamily="34" charset="0"/>
                <a:cs typeface="Arial" panose="020B0604020202020204" pitchFamily="34" charset="0"/>
              </a:rPr>
              <a:t>#</a:t>
            </a:r>
            <a:endParaRPr lang="en-US" b="0" dirty="0">
              <a:latin typeface="Arial" panose="020B0604020202020204" pitchFamily="34" charset="0"/>
              <a:cs typeface="Arial" panose="020B0604020202020204" pitchFamily="34" charset="0"/>
            </a:endParaRPr>
          </a:p>
        </p:txBody>
      </p:sp>
      <p:pic>
        <p:nvPicPr>
          <p:cNvPr id="19" name="Resim 18">
            <a:extLst>
              <a:ext uri="{FF2B5EF4-FFF2-40B4-BE49-F238E27FC236}">
                <a16:creationId xmlns:a16="http://schemas.microsoft.com/office/drawing/2014/main" id="{92ED425F-0316-7C40-A1E9-7E7ED753DB7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789453" y="300954"/>
            <a:ext cx="2108530" cy="383369"/>
          </a:xfrm>
          <a:prstGeom prst="rect">
            <a:avLst/>
          </a:prstGeom>
        </p:spPr>
      </p:pic>
      <p:sp>
        <p:nvSpPr>
          <p:cNvPr id="22" name="Metin kutusu 21">
            <a:extLst>
              <a:ext uri="{FF2B5EF4-FFF2-40B4-BE49-F238E27FC236}">
                <a16:creationId xmlns:a16="http://schemas.microsoft.com/office/drawing/2014/main" id="{3A0B1074-DE0F-3745-AB2D-E69F8555B511}"/>
              </a:ext>
            </a:extLst>
          </p:cNvPr>
          <p:cNvSpPr txBox="1"/>
          <p:nvPr userDrawn="1"/>
        </p:nvSpPr>
        <p:spPr>
          <a:xfrm>
            <a:off x="7141029" y="1251857"/>
            <a:ext cx="184731" cy="369332"/>
          </a:xfrm>
          <a:prstGeom prst="rect">
            <a:avLst/>
          </a:prstGeom>
          <a:noFill/>
        </p:spPr>
        <p:txBody>
          <a:bodyPr wrap="none" rtlCol="0">
            <a:spAutoFit/>
          </a:bodyPr>
          <a:lstStyle/>
          <a:p>
            <a:endParaRPr lang="tr-TR" dirty="0"/>
          </a:p>
        </p:txBody>
      </p:sp>
      <p:sp>
        <p:nvSpPr>
          <p:cNvPr id="5" name="Metin kutusu 4">
            <a:extLst>
              <a:ext uri="{FF2B5EF4-FFF2-40B4-BE49-F238E27FC236}">
                <a16:creationId xmlns:a16="http://schemas.microsoft.com/office/drawing/2014/main" id="{CE880426-344F-9B4F-BDEC-4B04E21A32A9}"/>
              </a:ext>
            </a:extLst>
          </p:cNvPr>
          <p:cNvSpPr txBox="1"/>
          <p:nvPr userDrawn="1"/>
        </p:nvSpPr>
        <p:spPr>
          <a:xfrm>
            <a:off x="3497580" y="811530"/>
            <a:ext cx="184731" cy="369332"/>
          </a:xfrm>
          <a:prstGeom prst="rect">
            <a:avLst/>
          </a:prstGeom>
          <a:noFill/>
        </p:spPr>
        <p:txBody>
          <a:bodyPr wrap="none" rtlCol="0">
            <a:spAutoFit/>
          </a:bodyPr>
          <a:lstStyle/>
          <a:p>
            <a:endParaRPr lang="tr-TR" dirty="0"/>
          </a:p>
        </p:txBody>
      </p:sp>
    </p:spTree>
    <p:extLst>
      <p:ext uri="{BB962C8B-B14F-4D97-AF65-F5344CB8AC3E}">
        <p14:creationId xmlns:p14="http://schemas.microsoft.com/office/powerpoint/2010/main" val="1644131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80" r:id="rId8"/>
    <p:sldLayoutId id="2147483681" r:id="rId9"/>
    <p:sldLayoutId id="2147483682" r:id="rId10"/>
  </p:sldLayoutIdLst>
  <p:hf hdr="0" ftr="0"/>
  <p:txStyles>
    <p:titleStyle>
      <a:lvl1pPr algn="l" defTabSz="914400" rtl="0" eaLnBrk="1" latinLnBrk="0" hangingPunct="1">
        <a:lnSpc>
          <a:spcPct val="90000"/>
        </a:lnSpc>
        <a:spcBef>
          <a:spcPct val="0"/>
        </a:spcBef>
        <a:buNone/>
        <a:defRPr sz="2000" b="1" kern="1200">
          <a:solidFill>
            <a:srgbClr val="0070C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6B9265-E89E-4864-B591-291AE8D07266}" type="datetimeFigureOut">
              <a:rPr lang="tr-TR" smtClean="0"/>
              <a:t>22.06.2026</a:t>
            </a:fld>
            <a:endParaRPr lang="tr-TR"/>
          </a:p>
        </p:txBody>
      </p:sp>
      <p:sp>
        <p:nvSpPr>
          <p:cNvPr id="5" name="Altbilgi Yer Tutucusu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2F39B6-6E8B-4C0B-B080-1A1221932ABD}" type="slidenum">
              <a:rPr lang="tr-TR" smtClean="0"/>
              <a:t>‹#›</a:t>
            </a:fld>
            <a:endParaRPr lang="tr-TR"/>
          </a:p>
        </p:txBody>
      </p:sp>
    </p:spTree>
    <p:extLst>
      <p:ext uri="{BB962C8B-B14F-4D97-AF65-F5344CB8AC3E}">
        <p14:creationId xmlns:p14="http://schemas.microsoft.com/office/powerpoint/2010/main" val="40485372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A86B8E72-0801-3F4B-8155-ECC94E5CFDF7}"/>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l="7226" t="5291" r="3693" b="43820"/>
          <a:stretch/>
        </p:blipFill>
        <p:spPr>
          <a:xfrm>
            <a:off x="0" y="0"/>
            <a:ext cx="9144000" cy="6858000"/>
          </a:xfrm>
          <a:prstGeom prst="rect">
            <a:avLst/>
          </a:prstGeom>
        </p:spPr>
      </p:pic>
      <p:pic>
        <p:nvPicPr>
          <p:cNvPr id="5" name="Resim 4">
            <a:extLst>
              <a:ext uri="{FF2B5EF4-FFF2-40B4-BE49-F238E27FC236}">
                <a16:creationId xmlns:a16="http://schemas.microsoft.com/office/drawing/2014/main" id="{45AB9F91-2D58-F94C-B78E-A5DD9A4D9D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926" y="225845"/>
            <a:ext cx="2698474" cy="322040"/>
          </a:xfrm>
          <a:prstGeom prst="rect">
            <a:avLst/>
          </a:prstGeom>
        </p:spPr>
      </p:pic>
      <p:sp>
        <p:nvSpPr>
          <p:cNvPr id="6" name="TextBox 6">
            <a:extLst>
              <a:ext uri="{FF2B5EF4-FFF2-40B4-BE49-F238E27FC236}">
                <a16:creationId xmlns:a16="http://schemas.microsoft.com/office/drawing/2014/main" id="{EFC903CE-CE47-E74E-B4DF-07A38B9F9DB6}"/>
              </a:ext>
            </a:extLst>
          </p:cNvPr>
          <p:cNvSpPr txBox="1"/>
          <p:nvPr/>
        </p:nvSpPr>
        <p:spPr>
          <a:xfrm>
            <a:off x="5886426" y="1495606"/>
            <a:ext cx="3028974" cy="584775"/>
          </a:xfrm>
          <a:prstGeom prst="rect">
            <a:avLst/>
          </a:prstGeom>
          <a:noFill/>
        </p:spPr>
        <p:txBody>
          <a:bodyPr wrap="square" rtlCol="0">
            <a:spAutoFit/>
          </a:bodyPr>
          <a:lstStyle/>
          <a:p>
            <a:pPr algn="ctr"/>
            <a:r>
              <a:rPr lang="en-US" sz="3200" dirty="0">
                <a:solidFill>
                  <a:schemeClr val="bg1"/>
                </a:solidFill>
                <a:latin typeface="Arial" panose="020B0604020202020204" pitchFamily="34" charset="0"/>
                <a:cs typeface="Arial" panose="020B0604020202020204" pitchFamily="34" charset="0"/>
              </a:rPr>
              <a:t>&lt;</a:t>
            </a:r>
            <a:r>
              <a:rPr lang="tr-TR" sz="3200" dirty="0">
                <a:solidFill>
                  <a:schemeClr val="bg1"/>
                </a:solidFill>
                <a:latin typeface="Arial" panose="020B0604020202020204" pitchFamily="34" charset="0"/>
                <a:cs typeface="Arial" panose="020B0604020202020204" pitchFamily="34" charset="0"/>
              </a:rPr>
              <a:t>OKUL İSMİ</a:t>
            </a:r>
            <a:r>
              <a:rPr lang="en-US" sz="3200" dirty="0">
                <a:solidFill>
                  <a:schemeClr val="bg1"/>
                </a:solidFill>
                <a:latin typeface="Arial" panose="020B0604020202020204" pitchFamily="34" charset="0"/>
                <a:cs typeface="Arial" panose="020B0604020202020204" pitchFamily="34" charset="0"/>
              </a:rPr>
              <a:t>&gt;</a:t>
            </a:r>
            <a:endParaRPr lang="tr-TR" sz="3200" dirty="0">
              <a:solidFill>
                <a:schemeClr val="bg1"/>
              </a:solidFill>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907913C4-3ACC-1341-9A4B-40DDCBDD61F3}"/>
              </a:ext>
            </a:extLst>
          </p:cNvPr>
          <p:cNvSpPr txBox="1">
            <a:spLocks/>
          </p:cNvSpPr>
          <p:nvPr/>
        </p:nvSpPr>
        <p:spPr>
          <a:xfrm>
            <a:off x="0" y="2080381"/>
            <a:ext cx="4234070" cy="384644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a:solidFill>
                  <a:srgbClr val="0070C0"/>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11.TÜRKSAT</a:t>
            </a:r>
            <a:br>
              <a:rPr kumimoji="0" lang="tr-TR" sz="3200" b="1" i="0" u="none" strike="noStrike" kern="1200" cap="none" spc="0" normalizeH="0" baseline="0" noProof="0" dirty="0">
                <a:ln>
                  <a:noFill/>
                </a:ln>
                <a:solidFill>
                  <a:srgbClr val="0096D8"/>
                </a:solidFill>
                <a:effectLst/>
                <a:uLnTx/>
                <a:uFillTx/>
                <a:latin typeface="Arial" panose="020B0604020202020204" pitchFamily="34" charset="0"/>
                <a:ea typeface="+mj-ea"/>
                <a:cs typeface="Arial" panose="020B0604020202020204" pitchFamily="34" charset="0"/>
              </a:rPr>
            </a:br>
            <a:r>
              <a:rPr kumimoji="0" lang="en-US"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Model </a:t>
            </a:r>
            <a:r>
              <a:rPr kumimoji="0" lang="en-US" sz="3200" b="1" i="0" u="none" strike="noStrike" kern="1200" cap="none" spc="0" normalizeH="0" baseline="0" noProof="0" dirty="0" err="1">
                <a:ln>
                  <a:noFill/>
                </a:ln>
                <a:solidFill>
                  <a:sysClr val="window" lastClr="FFFFFF"/>
                </a:solidFill>
                <a:effectLst/>
                <a:uLnTx/>
                <a:uFillTx/>
                <a:latin typeface="Arial" panose="020B0604020202020204" pitchFamily="34" charset="0"/>
                <a:ea typeface="+mj-ea"/>
                <a:cs typeface="Arial" panose="020B0604020202020204" pitchFamily="34" charset="0"/>
              </a:rPr>
              <a:t>Uydu</a:t>
            </a:r>
            <a:r>
              <a:rPr kumimoji="0" lang="en-US"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 Yar</a:t>
            </a:r>
            <a:r>
              <a:rPr kumimoji="0" lang="tr-TR" sz="3200" b="1" i="0" u="none" strike="noStrike" kern="1200" cap="none" spc="0" normalizeH="0" baseline="0" noProof="0" dirty="0" err="1">
                <a:ln>
                  <a:noFill/>
                </a:ln>
                <a:solidFill>
                  <a:sysClr val="window" lastClr="FFFFFF"/>
                </a:solidFill>
                <a:effectLst/>
                <a:uLnTx/>
                <a:uFillTx/>
                <a:latin typeface="Arial" panose="020B0604020202020204" pitchFamily="34" charset="0"/>
                <a:ea typeface="+mj-ea"/>
                <a:cs typeface="Arial" panose="020B0604020202020204" pitchFamily="34" charset="0"/>
              </a:rPr>
              <a:t>ışması</a:t>
            </a:r>
            <a:r>
              <a:rPr kumimoji="0" lang="en-US"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 20</a:t>
            </a:r>
            <a: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26</a:t>
            </a:r>
            <a:b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br>
            <a:br>
              <a:rPr kumimoji="0" lang="en-US"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br>
            <a:r>
              <a:rPr lang="en-US" dirty="0" err="1">
                <a:solidFill>
                  <a:sysClr val="window" lastClr="FFFFFF"/>
                </a:solidFill>
              </a:rPr>
              <a:t>Kritik</a:t>
            </a:r>
            <a:r>
              <a:rPr kumimoji="0" lang="en-US"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 </a:t>
            </a:r>
            <a:r>
              <a:rPr kumimoji="0" lang="tr-TR" sz="28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Tasarım Gözden Geçirme Raporu</a:t>
            </a:r>
            <a:b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br>
            <a:r>
              <a:rPr kumimoji="0" lang="tr-TR" sz="1800" b="0"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Critical</a:t>
            </a:r>
            <a:r>
              <a:rPr lang="tr-TR" sz="1800" b="0" dirty="0">
                <a:solidFill>
                  <a:sysClr val="window" lastClr="FFFFFF"/>
                </a:solidFill>
              </a:rPr>
              <a:t> </a:t>
            </a:r>
            <a:r>
              <a:rPr kumimoji="0" lang="en-US" sz="1800" b="0"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Design Review (</a:t>
            </a:r>
            <a:r>
              <a:rPr lang="en-US" sz="1800" b="0" dirty="0">
                <a:solidFill>
                  <a:sysClr val="window" lastClr="FFFFFF"/>
                </a:solidFill>
              </a:rPr>
              <a:t>C</a:t>
            </a:r>
            <a:r>
              <a:rPr kumimoji="0" lang="en-US" sz="1800" b="0"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DR) </a:t>
            </a:r>
            <a:b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br>
            <a:br>
              <a:rPr kumimoji="0" lang="tr-TR" sz="3200" b="1" i="0"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br>
            <a:r>
              <a:rPr kumimoji="0" lang="tr-TR" sz="2400" b="1" i="1"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Versiyon </a:t>
            </a:r>
            <a:r>
              <a:rPr lang="tr-TR" sz="2400" i="1" dirty="0">
                <a:solidFill>
                  <a:sysClr val="window" lastClr="FFFFFF"/>
                </a:solidFill>
              </a:rPr>
              <a:t>3</a:t>
            </a:r>
            <a:r>
              <a:rPr kumimoji="0" lang="tr-TR" sz="2400" b="1" i="1"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rPr>
              <a:t>.2</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tr-TR" sz="2400" b="1" i="1"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tr-TR" sz="2400" b="1" i="1" u="none" strike="noStrike" kern="1200" cap="none" spc="0" normalizeH="0" baseline="0" noProof="0" dirty="0">
              <a:ln>
                <a:noFill/>
              </a:ln>
              <a:solidFill>
                <a:sysClr val="window" lastClr="FFFFFF"/>
              </a:solidFill>
              <a:effectLst/>
              <a:uLnTx/>
              <a:uFillTx/>
              <a:latin typeface="Arial" panose="020B0604020202020204" pitchFamily="34" charset="0"/>
              <a:ea typeface="+mj-ea"/>
              <a:cs typeface="Arial" panose="020B0604020202020204" pitchFamily="34" charset="0"/>
            </a:endParaRPr>
          </a:p>
        </p:txBody>
      </p:sp>
      <p:sp>
        <p:nvSpPr>
          <p:cNvPr id="12" name="Subtitle 2">
            <a:extLst>
              <a:ext uri="{FF2B5EF4-FFF2-40B4-BE49-F238E27FC236}">
                <a16:creationId xmlns:a16="http://schemas.microsoft.com/office/drawing/2014/main" id="{ED7734F1-2F06-DD4B-B719-04978EE49CA4}"/>
              </a:ext>
            </a:extLst>
          </p:cNvPr>
          <p:cNvSpPr>
            <a:spLocks noGrp="1"/>
          </p:cNvSpPr>
          <p:nvPr>
            <p:ph type="subTitle" idx="1"/>
          </p:nvPr>
        </p:nvSpPr>
        <p:spPr>
          <a:xfrm>
            <a:off x="5444182" y="5790443"/>
            <a:ext cx="3630244" cy="1027612"/>
          </a:xfrm>
        </p:spPr>
        <p:txBody>
          <a:bodyPr>
            <a:normAutofit fontScale="85000" lnSpcReduction="20000"/>
          </a:bodyPr>
          <a:lstStyle/>
          <a:p>
            <a:r>
              <a:rPr lang="en-US" b="1" dirty="0">
                <a:solidFill>
                  <a:schemeClr val="bg1"/>
                </a:solidFill>
                <a:latin typeface="Arial" panose="020B0604020202020204" pitchFamily="34" charset="0"/>
                <a:cs typeface="Arial" panose="020B0604020202020204" pitchFamily="34" charset="0"/>
              </a:rPr>
              <a:t>&lt;</a:t>
            </a:r>
            <a:r>
              <a:rPr lang="tr-TR" b="1" dirty="0">
                <a:solidFill>
                  <a:schemeClr val="bg1"/>
                </a:solidFill>
                <a:latin typeface="Arial" panose="020B0604020202020204" pitchFamily="34" charset="0"/>
                <a:cs typeface="Arial" panose="020B0604020202020204" pitchFamily="34" charset="0"/>
              </a:rPr>
              <a:t>Takım ID #</a:t>
            </a:r>
            <a:r>
              <a:rPr lang="en-US" b="1" dirty="0">
                <a:solidFill>
                  <a:schemeClr val="bg1"/>
                </a:solidFill>
                <a:latin typeface="Arial" panose="020B0604020202020204" pitchFamily="34" charset="0"/>
                <a:cs typeface="Arial" panose="020B0604020202020204" pitchFamily="34" charset="0"/>
              </a:rPr>
              <a:t>&gt;</a:t>
            </a:r>
            <a:endParaRPr lang="tr-TR" b="1" dirty="0">
              <a:solidFill>
                <a:schemeClr val="bg1"/>
              </a:solidFill>
              <a:latin typeface="Arial" panose="020B0604020202020204" pitchFamily="34" charset="0"/>
              <a:cs typeface="Arial" panose="020B0604020202020204" pitchFamily="34" charset="0"/>
            </a:endParaRPr>
          </a:p>
          <a:p>
            <a:r>
              <a:rPr lang="tr-TR" b="1" dirty="0">
                <a:solidFill>
                  <a:schemeClr val="bg1"/>
                </a:solidFill>
                <a:latin typeface="Arial" panose="020B0604020202020204" pitchFamily="34" charset="0"/>
                <a:cs typeface="Arial" panose="020B0604020202020204" pitchFamily="34" charset="0"/>
              </a:rPr>
              <a:t>&lt;Başvuru ID #&gt;</a:t>
            </a:r>
          </a:p>
          <a:p>
            <a:r>
              <a:rPr lang="en-US" b="1" dirty="0">
                <a:solidFill>
                  <a:schemeClr val="bg1"/>
                </a:solidFill>
                <a:latin typeface="Arial" panose="020B0604020202020204" pitchFamily="34" charset="0"/>
                <a:cs typeface="Arial" panose="020B0604020202020204" pitchFamily="34" charset="0"/>
              </a:rPr>
              <a:t>Tak</a:t>
            </a:r>
            <a:r>
              <a:rPr lang="tr-TR" b="1" dirty="0" err="1">
                <a:solidFill>
                  <a:schemeClr val="bg1"/>
                </a:solidFill>
                <a:latin typeface="Arial" panose="020B0604020202020204" pitchFamily="34" charset="0"/>
                <a:cs typeface="Arial" panose="020B0604020202020204" pitchFamily="34" charset="0"/>
              </a:rPr>
              <a:t>ım</a:t>
            </a:r>
            <a:r>
              <a:rPr lang="tr-TR" b="1" dirty="0">
                <a:solidFill>
                  <a:schemeClr val="bg1"/>
                </a:solidFill>
                <a:latin typeface="Arial" panose="020B0604020202020204" pitchFamily="34" charset="0"/>
                <a:cs typeface="Arial" panose="020B0604020202020204" pitchFamily="34" charset="0"/>
              </a:rPr>
              <a:t> İsmi</a:t>
            </a:r>
          </a:p>
        </p:txBody>
      </p:sp>
    </p:spTree>
    <p:extLst>
      <p:ext uri="{BB962C8B-B14F-4D97-AF65-F5344CB8AC3E}">
        <p14:creationId xmlns:p14="http://schemas.microsoft.com/office/powerpoint/2010/main" val="164545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Yer Tutucusu 6">
            <a:extLst>
              <a:ext uri="{FF2B5EF4-FFF2-40B4-BE49-F238E27FC236}">
                <a16:creationId xmlns:a16="http://schemas.microsoft.com/office/drawing/2014/main" id="{BB4E1FB7-3513-E947-98B2-C5C86815866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57" r="357"/>
          <a:stretch>
            <a:fillRect/>
          </a:stretch>
        </p:blipFill>
        <p:spPr/>
      </p:pic>
      <p:sp>
        <p:nvSpPr>
          <p:cNvPr id="3" name="Başlık 2">
            <a:extLst>
              <a:ext uri="{FF2B5EF4-FFF2-40B4-BE49-F238E27FC236}">
                <a16:creationId xmlns:a16="http://schemas.microsoft.com/office/drawing/2014/main" id="{200B3D2B-613A-41BE-987D-E6A1324B456D}"/>
              </a:ext>
            </a:extLst>
          </p:cNvPr>
          <p:cNvSpPr>
            <a:spLocks noGrp="1"/>
          </p:cNvSpPr>
          <p:nvPr>
            <p:ph type="ctrTitle"/>
          </p:nvPr>
        </p:nvSpPr>
        <p:spPr>
          <a:xfrm>
            <a:off x="2963333" y="4212447"/>
            <a:ext cx="6180667" cy="1019953"/>
          </a:xfrm>
        </p:spPr>
        <p:txBody>
          <a:bodyPr vert="horz" lIns="180000" tIns="135000" rIns="252000" bIns="180000" rtlCol="0" anchor="ctr">
            <a:noAutofit/>
          </a:bodyPr>
          <a:lstStyle/>
          <a:p>
            <a:pPr algn="ctr"/>
            <a:r>
              <a:rPr lang="tr-TR" spc="0" dirty="0"/>
              <a:t>Tasarım Gözden Geçirme</a:t>
            </a:r>
            <a:endParaRPr lang="tr-TR" dirty="0"/>
          </a:p>
        </p:txBody>
      </p:sp>
      <p:sp>
        <p:nvSpPr>
          <p:cNvPr id="14" name="Metin Yer Tutucusu 13">
            <a:extLst>
              <a:ext uri="{FF2B5EF4-FFF2-40B4-BE49-F238E27FC236}">
                <a16:creationId xmlns:a16="http://schemas.microsoft.com/office/drawing/2014/main" id="{F278402B-CA7D-4F5B-B3FA-ED74AB3CFB6C}"/>
              </a:ext>
            </a:extLst>
          </p:cNvPr>
          <p:cNvSpPr>
            <a:spLocks noGrp="1"/>
          </p:cNvSpPr>
          <p:nvPr>
            <p:ph type="body" sz="quarter" idx="13"/>
          </p:nvPr>
        </p:nvSpPr>
        <p:spPr>
          <a:xfrm>
            <a:off x="4677390" y="5733683"/>
            <a:ext cx="4467225" cy="637669"/>
          </a:xfrm>
        </p:spPr>
        <p:txBody>
          <a:bodyPr rtlCol="0"/>
          <a:lstStyle/>
          <a:p>
            <a:r>
              <a:rPr lang="en-US" dirty="0"/>
              <a:t>&lt;</a:t>
            </a:r>
            <a:r>
              <a:rPr lang="tr-TR" dirty="0"/>
              <a:t>Hazırlayan Kişinin İsmi</a:t>
            </a:r>
            <a:r>
              <a:rPr lang="en-US" dirty="0"/>
              <a:t>&gt;</a:t>
            </a:r>
            <a:endParaRPr lang="tr-TR" dirty="0"/>
          </a:p>
          <a:p>
            <a:pPr rtl="0"/>
            <a:endParaRPr lang="tr-TR" dirty="0"/>
          </a:p>
        </p:txBody>
      </p:sp>
      <p:sp>
        <p:nvSpPr>
          <p:cNvPr id="5" name="Slayt Numarası Yer Tutucusu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tr-TR" smtClean="0"/>
              <a:pPr rtl="0"/>
              <a:t>2</a:t>
            </a:fld>
            <a:endParaRPr lang="tr-TR" dirty="0"/>
          </a:p>
        </p:txBody>
      </p:sp>
    </p:spTree>
    <p:extLst>
      <p:ext uri="{BB962C8B-B14F-4D97-AF65-F5344CB8AC3E}">
        <p14:creationId xmlns:p14="http://schemas.microsoft.com/office/powerpoint/2010/main" val="409167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8335" y="278436"/>
            <a:ext cx="5409981" cy="518850"/>
          </a:xfrm>
        </p:spPr>
        <p:txBody>
          <a:bodyPr/>
          <a:lstStyle/>
          <a:p>
            <a:r>
              <a:rPr lang="tr-TR" dirty="0" err="1"/>
              <a:t>PDR’dan</a:t>
            </a:r>
            <a:r>
              <a:rPr lang="tr-TR" dirty="0"/>
              <a:t> Sonra Yapılan Değişiklikler</a:t>
            </a:r>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3</a:t>
            </a:fld>
            <a:endParaRPr lang="tr-TR"/>
          </a:p>
        </p:txBody>
      </p:sp>
      <p:sp>
        <p:nvSpPr>
          <p:cNvPr id="7" name="İçerik Yer Tutucusu 6">
            <a:extLst>
              <a:ext uri="{FF2B5EF4-FFF2-40B4-BE49-F238E27FC236}">
                <a16:creationId xmlns:a16="http://schemas.microsoft.com/office/drawing/2014/main" id="{4F7B5549-9579-6E35-3CFD-DBC5FEA825F0}"/>
              </a:ext>
            </a:extLst>
          </p:cNvPr>
          <p:cNvSpPr>
            <a:spLocks noGrp="1"/>
          </p:cNvSpPr>
          <p:nvPr>
            <p:ph idx="1"/>
          </p:nvPr>
        </p:nvSpPr>
        <p:spPr>
          <a:xfrm>
            <a:off x="628650" y="1229360"/>
            <a:ext cx="7886700" cy="4351338"/>
          </a:xfrm>
        </p:spPr>
        <p:txBody>
          <a:bodyPr/>
          <a:lstStyle/>
          <a:p>
            <a:r>
              <a:rPr lang="tr-TR" dirty="0" err="1"/>
              <a:t>PDR’dan</a:t>
            </a:r>
            <a:r>
              <a:rPr lang="tr-TR" dirty="0"/>
              <a:t> sonra yapılan tüm değişiklikler sebepleri ile birlikte tablo halinde belirtilmelidir. (fiziksel, alt sistem </a:t>
            </a:r>
            <a:r>
              <a:rPr lang="tr-TR" dirty="0" err="1"/>
              <a:t>komponentleri</a:t>
            </a:r>
            <a:r>
              <a:rPr lang="tr-TR" dirty="0"/>
              <a:t>, </a:t>
            </a:r>
            <a:r>
              <a:rPr lang="tr-TR" dirty="0" err="1"/>
              <a:t>sensörler</a:t>
            </a:r>
            <a:r>
              <a:rPr lang="tr-TR" dirty="0"/>
              <a:t>, </a:t>
            </a:r>
            <a:r>
              <a:rPr lang="tr-TR" dirty="0" err="1"/>
              <a:t>yazılımsal</a:t>
            </a:r>
            <a:r>
              <a:rPr lang="tr-TR" dirty="0"/>
              <a:t> vb.)</a:t>
            </a:r>
          </a:p>
          <a:p>
            <a:endParaRPr lang="tr-TR" dirty="0"/>
          </a:p>
          <a:p>
            <a:endParaRPr lang="tr-TR" dirty="0"/>
          </a:p>
        </p:txBody>
      </p:sp>
      <p:graphicFrame>
        <p:nvGraphicFramePr>
          <p:cNvPr id="9" name="Tablo 8">
            <a:extLst>
              <a:ext uri="{FF2B5EF4-FFF2-40B4-BE49-F238E27FC236}">
                <a16:creationId xmlns:a16="http://schemas.microsoft.com/office/drawing/2014/main" id="{7AA2DDA1-833D-EAF4-5F32-3A31383BE1D3}"/>
              </a:ext>
            </a:extLst>
          </p:cNvPr>
          <p:cNvGraphicFramePr>
            <a:graphicFrameLocks noGrp="1"/>
          </p:cNvGraphicFramePr>
          <p:nvPr>
            <p:extLst>
              <p:ext uri="{D42A27DB-BD31-4B8C-83A1-F6EECF244321}">
                <p14:modId xmlns:p14="http://schemas.microsoft.com/office/powerpoint/2010/main" val="3426361439"/>
              </p:ext>
            </p:extLst>
          </p:nvPr>
        </p:nvGraphicFramePr>
        <p:xfrm>
          <a:off x="1202941" y="2947737"/>
          <a:ext cx="6738117" cy="2199640"/>
        </p:xfrm>
        <a:graphic>
          <a:graphicData uri="http://schemas.openxmlformats.org/drawingml/2006/table">
            <a:tbl>
              <a:tblPr firstRow="1" bandRow="1">
                <a:tableStyleId>{5C22544A-7EE6-4342-B048-85BDC9FD1C3A}</a:tableStyleId>
              </a:tblPr>
              <a:tblGrid>
                <a:gridCol w="2197985">
                  <a:extLst>
                    <a:ext uri="{9D8B030D-6E8A-4147-A177-3AD203B41FA5}">
                      <a16:colId xmlns:a16="http://schemas.microsoft.com/office/drawing/2014/main" val="3402546205"/>
                    </a:ext>
                  </a:extLst>
                </a:gridCol>
                <a:gridCol w="2454442">
                  <a:extLst>
                    <a:ext uri="{9D8B030D-6E8A-4147-A177-3AD203B41FA5}">
                      <a16:colId xmlns:a16="http://schemas.microsoft.com/office/drawing/2014/main" val="1775742619"/>
                    </a:ext>
                  </a:extLst>
                </a:gridCol>
                <a:gridCol w="2085690">
                  <a:extLst>
                    <a:ext uri="{9D8B030D-6E8A-4147-A177-3AD203B41FA5}">
                      <a16:colId xmlns:a16="http://schemas.microsoft.com/office/drawing/2014/main" val="4183524709"/>
                    </a:ext>
                  </a:extLst>
                </a:gridCol>
              </a:tblGrid>
              <a:tr h="370840">
                <a:tc>
                  <a:txBody>
                    <a:bodyPr/>
                    <a:lstStyle/>
                    <a:p>
                      <a:pPr algn="ctr"/>
                      <a:r>
                        <a:rPr lang="tr-TR" dirty="0"/>
                        <a:t>Yapılan Değişiklik</a:t>
                      </a:r>
                    </a:p>
                  </a:txBody>
                  <a:tcPr/>
                </a:tc>
                <a:tc>
                  <a:txBody>
                    <a:bodyPr/>
                    <a:lstStyle/>
                    <a:p>
                      <a:pPr algn="ctr"/>
                      <a:r>
                        <a:rPr lang="tr-TR" dirty="0"/>
                        <a:t>İlgili </a:t>
                      </a:r>
                      <a:r>
                        <a:rPr lang="tr-TR" dirty="0" err="1"/>
                        <a:t>Altsistem</a:t>
                      </a:r>
                      <a:r>
                        <a:rPr lang="tr-TR" dirty="0"/>
                        <a:t> &amp; </a:t>
                      </a:r>
                      <a:r>
                        <a:rPr lang="tr-TR" dirty="0" err="1"/>
                        <a:t>Sensör</a:t>
                      </a:r>
                      <a:endParaRPr lang="tr-TR" dirty="0"/>
                    </a:p>
                  </a:txBody>
                  <a:tcPr/>
                </a:tc>
                <a:tc>
                  <a:txBody>
                    <a:bodyPr/>
                    <a:lstStyle/>
                    <a:p>
                      <a:pPr algn="ctr"/>
                      <a:r>
                        <a:rPr lang="tr-TR" dirty="0"/>
                        <a:t>Gerekçe</a:t>
                      </a:r>
                    </a:p>
                  </a:txBody>
                  <a:tcPr/>
                </a:tc>
                <a:extLst>
                  <a:ext uri="{0D108BD9-81ED-4DB2-BD59-A6C34878D82A}">
                    <a16:rowId xmlns:a16="http://schemas.microsoft.com/office/drawing/2014/main" val="3007416364"/>
                  </a:ext>
                </a:extLst>
              </a:tr>
              <a:tr h="370840">
                <a:tc>
                  <a:txBody>
                    <a:bodyPr/>
                    <a:lstStyle/>
                    <a:p>
                      <a:r>
                        <a:rPr lang="tr-TR" dirty="0"/>
                        <a:t>.</a:t>
                      </a:r>
                    </a:p>
                    <a:p>
                      <a:r>
                        <a:rPr lang="tr-TR" dirty="0"/>
                        <a:t>.</a:t>
                      </a:r>
                    </a:p>
                    <a:p>
                      <a:r>
                        <a:rPr lang="tr-TR" dirty="0"/>
                        <a:t>.</a:t>
                      </a:r>
                    </a:p>
                  </a:txBody>
                  <a:tcPr/>
                </a:tc>
                <a:tc>
                  <a:txBody>
                    <a:bodyPr/>
                    <a:lstStyle/>
                    <a:p>
                      <a:r>
                        <a:rPr lang="tr-TR" dirty="0"/>
                        <a:t>.</a:t>
                      </a:r>
                    </a:p>
                    <a:p>
                      <a:r>
                        <a:rPr lang="tr-TR" dirty="0"/>
                        <a:t>.</a:t>
                      </a:r>
                    </a:p>
                    <a:p>
                      <a:r>
                        <a:rPr lang="tr-TR" dirty="0"/>
                        <a:t>.</a:t>
                      </a:r>
                    </a:p>
                  </a:txBody>
                  <a:tcPr/>
                </a:tc>
                <a:tc>
                  <a:txBody>
                    <a:bodyPr/>
                    <a:lstStyle/>
                    <a:p>
                      <a:r>
                        <a:rPr lang="tr-TR" dirty="0"/>
                        <a:t>.</a:t>
                      </a:r>
                    </a:p>
                    <a:p>
                      <a:r>
                        <a:rPr lang="tr-TR" dirty="0"/>
                        <a:t>.</a:t>
                      </a:r>
                    </a:p>
                    <a:p>
                      <a:r>
                        <a:rPr lang="tr-TR" dirty="0"/>
                        <a:t>.</a:t>
                      </a:r>
                    </a:p>
                  </a:txBody>
                  <a:tcPr/>
                </a:tc>
                <a:extLst>
                  <a:ext uri="{0D108BD9-81ED-4DB2-BD59-A6C34878D82A}">
                    <a16:rowId xmlns:a16="http://schemas.microsoft.com/office/drawing/2014/main" val="3521256162"/>
                  </a:ext>
                </a:extLst>
              </a:tr>
              <a:tr h="370840">
                <a:tc>
                  <a:txBody>
                    <a:bodyPr/>
                    <a:lstStyle/>
                    <a:p>
                      <a:r>
                        <a:rPr lang="tr-TR" dirty="0"/>
                        <a:t>.</a:t>
                      </a:r>
                    </a:p>
                    <a:p>
                      <a:r>
                        <a:rPr lang="tr-TR" dirty="0"/>
                        <a:t>.</a:t>
                      </a:r>
                    </a:p>
                    <a:p>
                      <a:r>
                        <a:rPr lang="tr-TR" dirty="0"/>
                        <a:t>.</a:t>
                      </a:r>
                    </a:p>
                  </a:txBody>
                  <a:tcPr/>
                </a:tc>
                <a:tc>
                  <a:txBody>
                    <a:bodyPr/>
                    <a:lstStyle/>
                    <a:p>
                      <a:r>
                        <a:rPr lang="tr-TR" dirty="0"/>
                        <a:t>.</a:t>
                      </a:r>
                    </a:p>
                    <a:p>
                      <a:r>
                        <a:rPr lang="tr-TR" dirty="0"/>
                        <a:t>.</a:t>
                      </a:r>
                    </a:p>
                    <a:p>
                      <a:r>
                        <a:rPr lang="tr-TR" dirty="0"/>
                        <a:t>.</a:t>
                      </a:r>
                    </a:p>
                  </a:txBody>
                  <a:tcPr/>
                </a:tc>
                <a:tc>
                  <a:txBody>
                    <a:bodyPr/>
                    <a:lstStyle/>
                    <a:p>
                      <a:r>
                        <a:rPr lang="tr-TR" dirty="0"/>
                        <a:t>.</a:t>
                      </a:r>
                    </a:p>
                    <a:p>
                      <a:r>
                        <a:rPr lang="tr-TR" dirty="0"/>
                        <a:t>.</a:t>
                      </a:r>
                    </a:p>
                    <a:p>
                      <a:r>
                        <a:rPr lang="tr-TR" dirty="0"/>
                        <a:t>.</a:t>
                      </a:r>
                    </a:p>
                  </a:txBody>
                  <a:tcPr/>
                </a:tc>
                <a:extLst>
                  <a:ext uri="{0D108BD9-81ED-4DB2-BD59-A6C34878D82A}">
                    <a16:rowId xmlns:a16="http://schemas.microsoft.com/office/drawing/2014/main" val="2653603847"/>
                  </a:ext>
                </a:extLst>
              </a:tr>
            </a:tbl>
          </a:graphicData>
        </a:graphic>
      </p:graphicFrame>
    </p:spTree>
    <p:extLst>
      <p:ext uri="{BB962C8B-B14F-4D97-AF65-F5344CB8AC3E}">
        <p14:creationId xmlns:p14="http://schemas.microsoft.com/office/powerpoint/2010/main" val="166117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Yer Tutucusu 6">
            <a:extLst>
              <a:ext uri="{FF2B5EF4-FFF2-40B4-BE49-F238E27FC236}">
                <a16:creationId xmlns:a16="http://schemas.microsoft.com/office/drawing/2014/main" id="{108DB3B9-1AF8-C244-A7AA-FF40C1E07E8F}"/>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16542" r="16542"/>
          <a:stretch>
            <a:fillRect/>
          </a:stretch>
        </p:blipFill>
        <p:spPr/>
      </p:pic>
      <p:sp>
        <p:nvSpPr>
          <p:cNvPr id="5" name="Slayt Numarası Yer Tutucusu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tr-TR" smtClean="0"/>
              <a:pPr rtl="0"/>
              <a:t>4</a:t>
            </a:fld>
            <a:endParaRPr lang="tr-TR" dirty="0"/>
          </a:p>
        </p:txBody>
      </p:sp>
      <p:sp>
        <p:nvSpPr>
          <p:cNvPr id="10" name="Başlık 2">
            <a:extLst>
              <a:ext uri="{FF2B5EF4-FFF2-40B4-BE49-F238E27FC236}">
                <a16:creationId xmlns:a16="http://schemas.microsoft.com/office/drawing/2014/main" id="{0B7F0907-D289-C04F-B6DB-2850860A5611}"/>
              </a:ext>
            </a:extLst>
          </p:cNvPr>
          <p:cNvSpPr txBox="1">
            <a:spLocks/>
          </p:cNvSpPr>
          <p:nvPr/>
        </p:nvSpPr>
        <p:spPr>
          <a:xfrm>
            <a:off x="4929446" y="3686698"/>
            <a:ext cx="4214553" cy="1175819"/>
          </a:xfrm>
          <a:prstGeom prst="rect">
            <a:avLst/>
          </a:prstGeom>
          <a:solidFill>
            <a:schemeClr val="bg1"/>
          </a:solidFill>
        </p:spPr>
        <p:txBody>
          <a:bodyPr vert="horz" lIns="180000" tIns="135000" rIns="252000" bIns="180000" rtlCol="0" anchor="t">
            <a:noAutofit/>
          </a:bodyPr>
          <a:lstStyle>
            <a:lvl1pPr algn="r" defTabSz="914400" rtl="0" eaLnBrk="1" latinLnBrk="0" hangingPunct="1">
              <a:lnSpc>
                <a:spcPct val="90000"/>
              </a:lnSpc>
              <a:spcBef>
                <a:spcPct val="0"/>
              </a:spcBef>
              <a:buNone/>
              <a:defRPr lang="en-ZA" sz="3600" b="1" kern="1200" spc="-225" dirty="0">
                <a:solidFill>
                  <a:srgbClr val="0070C0"/>
                </a:solidFill>
                <a:latin typeface="Arial" panose="020B0604020202020204" pitchFamily="34" charset="0"/>
                <a:ea typeface="+mj-ea"/>
                <a:cs typeface="Arial" panose="020B0604020202020204" pitchFamily="34" charset="0"/>
              </a:defRPr>
            </a:lvl1pPr>
          </a:lstStyle>
          <a:p>
            <a:r>
              <a:rPr lang="en-US" dirty="0" err="1">
                <a:sym typeface="Arial"/>
              </a:rPr>
              <a:t>Mekanik</a:t>
            </a:r>
            <a:r>
              <a:rPr lang="en-US" dirty="0">
                <a:sym typeface="Arial"/>
              </a:rPr>
              <a:t> Alt </a:t>
            </a:r>
            <a:r>
              <a:rPr lang="en-US" dirty="0" err="1">
                <a:sym typeface="Arial"/>
              </a:rPr>
              <a:t>Sistem</a:t>
            </a:r>
            <a:r>
              <a:rPr lang="en-US" dirty="0">
                <a:sym typeface="Arial"/>
              </a:rPr>
              <a:t> </a:t>
            </a:r>
            <a:r>
              <a:rPr lang="en-US" dirty="0" err="1">
                <a:sym typeface="Arial"/>
              </a:rPr>
              <a:t>Gözden</a:t>
            </a:r>
            <a:r>
              <a:rPr lang="en-US" dirty="0">
                <a:sym typeface="Arial"/>
              </a:rPr>
              <a:t> </a:t>
            </a:r>
            <a:r>
              <a:rPr lang="en-US" dirty="0" err="1">
                <a:sym typeface="Arial"/>
              </a:rPr>
              <a:t>Geçirme</a:t>
            </a:r>
            <a:endParaRPr lang="tr-TR" dirty="0"/>
          </a:p>
        </p:txBody>
      </p:sp>
      <p:sp>
        <p:nvSpPr>
          <p:cNvPr id="11" name="Metin Yer Tutucusu 13">
            <a:extLst>
              <a:ext uri="{FF2B5EF4-FFF2-40B4-BE49-F238E27FC236}">
                <a16:creationId xmlns:a16="http://schemas.microsoft.com/office/drawing/2014/main" id="{07D9EFDA-D243-054C-BEE7-3AFB4ED27247}"/>
              </a:ext>
            </a:extLst>
          </p:cNvPr>
          <p:cNvSpPr txBox="1">
            <a:spLocks/>
          </p:cNvSpPr>
          <p:nvPr/>
        </p:nvSpPr>
        <p:spPr>
          <a:xfrm>
            <a:off x="5527964" y="4869455"/>
            <a:ext cx="3616036" cy="637669"/>
          </a:xfrm>
          <a:prstGeom prst="rect">
            <a:avLst/>
          </a:prstGeom>
          <a:solidFill>
            <a:schemeClr val="tx1">
              <a:alpha val="80000"/>
            </a:schemeClr>
          </a:solidFill>
        </p:spPr>
        <p:txBody>
          <a:bodyPr vert="horz" lIns="180000" tIns="180000" rIns="252000" bIns="180000" rtlCol="0">
            <a:normAutofit/>
          </a:bodyPr>
          <a:lstStyle>
            <a:lvl1pPr marL="0" indent="0" algn="r" defTabSz="914400" rtl="0" eaLnBrk="1" latinLnBrk="0" hangingPunct="1">
              <a:lnSpc>
                <a:spcPct val="90000"/>
              </a:lnSpc>
              <a:spcBef>
                <a:spcPts val="1000"/>
              </a:spcBef>
              <a:buFont typeface="Arial" panose="020B0604020202020204" pitchFamily="34" charset="0"/>
              <a:buNone/>
              <a:defRPr sz="1350" kern="1200">
                <a:solidFill>
                  <a:schemeClr val="bg1"/>
                </a:solidFill>
                <a:latin typeface="Arial" panose="020B0604020202020204" pitchFamily="34" charset="0"/>
                <a:ea typeface="+mn-ea"/>
                <a:cs typeface="Arial" panose="020B0604020202020204" pitchFamily="34" charset="0"/>
              </a:defRPr>
            </a:lvl1pPr>
            <a:lvl2pPr marL="200025" indent="0" algn="r" defTabSz="914400" rtl="0" eaLnBrk="1" latinLnBrk="0" hangingPunct="1">
              <a:lnSpc>
                <a:spcPct val="90000"/>
              </a:lnSpc>
              <a:spcBef>
                <a:spcPts val="500"/>
              </a:spcBef>
              <a:buFont typeface="Arial" panose="020B0604020202020204" pitchFamily="34" charset="0"/>
              <a:buNone/>
              <a:defRPr sz="1350" kern="1200">
                <a:solidFill>
                  <a:schemeClr val="bg1"/>
                </a:solidFill>
                <a:latin typeface="Arial" panose="020B0604020202020204" pitchFamily="34" charset="0"/>
                <a:ea typeface="+mn-ea"/>
                <a:cs typeface="Arial" panose="020B0604020202020204" pitchFamily="34" charset="0"/>
              </a:defRPr>
            </a:lvl2pPr>
            <a:lvl3pPr marL="407194" indent="0" algn="r" defTabSz="914400" rtl="0" eaLnBrk="1" latinLnBrk="0" hangingPunct="1">
              <a:lnSpc>
                <a:spcPct val="90000"/>
              </a:lnSpc>
              <a:spcBef>
                <a:spcPts val="500"/>
              </a:spcBef>
              <a:buFont typeface="Arial" panose="020B0604020202020204" pitchFamily="34" charset="0"/>
              <a:buNone/>
              <a:defRPr sz="1350" kern="1200">
                <a:solidFill>
                  <a:schemeClr val="bg1"/>
                </a:solidFill>
                <a:latin typeface="Arial" panose="020B0604020202020204" pitchFamily="34" charset="0"/>
                <a:ea typeface="+mn-ea"/>
                <a:cs typeface="Arial" panose="020B0604020202020204" pitchFamily="34" charset="0"/>
              </a:defRPr>
            </a:lvl3pPr>
            <a:lvl4pPr marL="607219" indent="0" algn="r" defTabSz="914400" rtl="0" eaLnBrk="1" latinLnBrk="0" hangingPunct="1">
              <a:lnSpc>
                <a:spcPct val="90000"/>
              </a:lnSpc>
              <a:spcBef>
                <a:spcPts val="500"/>
              </a:spcBef>
              <a:buFont typeface="Arial" panose="020B0604020202020204" pitchFamily="34" charset="0"/>
              <a:buNone/>
              <a:defRPr sz="1350" kern="1200">
                <a:solidFill>
                  <a:schemeClr val="bg1"/>
                </a:solidFill>
                <a:latin typeface="Arial" panose="020B0604020202020204" pitchFamily="34" charset="0"/>
                <a:ea typeface="+mn-ea"/>
                <a:cs typeface="Arial" panose="020B0604020202020204" pitchFamily="34" charset="0"/>
              </a:defRPr>
            </a:lvl4pPr>
            <a:lvl5pPr marL="807244" indent="0" algn="r" defTabSz="914400" rtl="0" eaLnBrk="1" latinLnBrk="0" hangingPunct="1">
              <a:lnSpc>
                <a:spcPct val="90000"/>
              </a:lnSpc>
              <a:spcBef>
                <a:spcPts val="500"/>
              </a:spcBef>
              <a:buFont typeface="Arial" panose="020B0604020202020204" pitchFamily="34" charset="0"/>
              <a:buNone/>
              <a:defRPr sz="135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&lt;</a:t>
            </a:r>
            <a:r>
              <a:rPr lang="tr-TR" dirty="0"/>
              <a:t>Hazırlayan Kişinin İsmi</a:t>
            </a:r>
            <a:r>
              <a:rPr lang="en-US" dirty="0"/>
              <a:t>&gt;</a:t>
            </a:r>
            <a:endParaRPr lang="tr-TR" dirty="0"/>
          </a:p>
          <a:p>
            <a:endParaRPr lang="tr-TR" dirty="0"/>
          </a:p>
        </p:txBody>
      </p:sp>
    </p:spTree>
    <p:extLst>
      <p:ext uri="{BB962C8B-B14F-4D97-AF65-F5344CB8AC3E}">
        <p14:creationId xmlns:p14="http://schemas.microsoft.com/office/powerpoint/2010/main" val="664746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Mekanik Alt Sistem Gözden Geçirme</a:t>
            </a:r>
          </a:p>
        </p:txBody>
      </p:sp>
      <p:sp>
        <p:nvSpPr>
          <p:cNvPr id="3" name="Content Placeholder 2"/>
          <p:cNvSpPr>
            <a:spLocks noGrp="1"/>
          </p:cNvSpPr>
          <p:nvPr>
            <p:ph idx="1"/>
          </p:nvPr>
        </p:nvSpPr>
        <p:spPr/>
        <p:txBody>
          <a:bodyPr>
            <a:normAutofit lnSpcReduction="10000"/>
          </a:bodyPr>
          <a:lstStyle/>
          <a:p>
            <a:pPr lvl="1" algn="just">
              <a:lnSpc>
                <a:spcPct val="114000"/>
              </a:lnSpc>
            </a:pPr>
            <a:r>
              <a:rPr lang="tr-TR" dirty="0"/>
              <a:t>Tasarımsal değişiklikler çizimleri ile birlikte detaylı bir şekilde sunulmalıdır. (Taşıyıcı, Görev Yükü, </a:t>
            </a:r>
            <a:r>
              <a:rPr lang="tr-TR" dirty="0" err="1"/>
              <a:t>Sigma</a:t>
            </a:r>
            <a:r>
              <a:rPr lang="tr-TR" dirty="0"/>
              <a:t>, </a:t>
            </a:r>
            <a:r>
              <a:rPr lang="tr-TR" dirty="0" err="1"/>
              <a:t>Apam</a:t>
            </a:r>
            <a:r>
              <a:rPr lang="tr-TR" dirty="0"/>
              <a:t> ve Ayrılma Mekanizması)</a:t>
            </a:r>
          </a:p>
          <a:p>
            <a:pPr lvl="1" algn="just">
              <a:lnSpc>
                <a:spcPct val="114000"/>
              </a:lnSpc>
            </a:pPr>
            <a:r>
              <a:rPr lang="tr-TR" dirty="0"/>
              <a:t>Mekanik alt sistemde kullanılacak materyallerin tasarım üzerindeki etkisi yorumlanmalıdır. (Mukavemet; çekme, burulma, kopma, basma vb. mekanik üzerindeki gerilimler.)</a:t>
            </a:r>
          </a:p>
          <a:p>
            <a:pPr lvl="1" algn="just">
              <a:lnSpc>
                <a:spcPct val="114000"/>
              </a:lnSpc>
            </a:pPr>
            <a:r>
              <a:rPr lang="tr-TR" dirty="0"/>
              <a:t>Mekanik alt sistem üzerine etki edecek yüklerin oluşturacağı öngörülen riskler değerlendirilmeli ve alınacak önlemler belirtilmelidir.</a:t>
            </a:r>
            <a:endParaRPr lang="tr-TR" sz="2400" dirty="0">
              <a:highlight>
                <a:srgbClr val="00FF00"/>
              </a:highlight>
            </a:endParaRPr>
          </a:p>
          <a:p>
            <a:pPr marL="457200" lvl="1" indent="0" algn="just">
              <a:lnSpc>
                <a:spcPct val="114000"/>
              </a:lnSpc>
              <a:buNone/>
            </a:pPr>
            <a:endParaRPr lang="tr-TR" dirty="0">
              <a:highlight>
                <a:srgbClr val="FF0000"/>
              </a:highlight>
            </a:endParaRPr>
          </a:p>
          <a:p>
            <a:pPr marL="457200" lvl="1" indent="0" algn="just">
              <a:lnSpc>
                <a:spcPct val="114000"/>
              </a:lnSpc>
              <a:buNone/>
            </a:pPr>
            <a:endParaRPr lang="tr-TR" dirty="0">
              <a:highlight>
                <a:srgbClr val="FF0000"/>
              </a:highlight>
            </a:endParaRPr>
          </a:p>
          <a:p>
            <a:pPr marL="457200" lvl="1" indent="0" algn="just">
              <a:lnSpc>
                <a:spcPct val="114000"/>
              </a:lnSpc>
              <a:buNone/>
            </a:pPr>
            <a:endParaRPr lang="tr-TR" dirty="0">
              <a:highlight>
                <a:srgbClr val="FF0000"/>
              </a:highlight>
            </a:endParaRPr>
          </a:p>
          <a:p>
            <a:pPr lvl="1">
              <a:lnSpc>
                <a:spcPct val="114000"/>
              </a:lnSpc>
            </a:pPr>
            <a:endParaRPr lang="tr-TR" dirty="0"/>
          </a:p>
          <a:p>
            <a:pPr lvl="1">
              <a:lnSpc>
                <a:spcPct val="114000"/>
              </a:lnSpc>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5</a:t>
            </a:fld>
            <a:endParaRPr lang="tr-TR"/>
          </a:p>
        </p:txBody>
      </p:sp>
    </p:spTree>
    <p:extLst>
      <p:ext uri="{BB962C8B-B14F-4D97-AF65-F5344CB8AC3E}">
        <p14:creationId xmlns:p14="http://schemas.microsoft.com/office/powerpoint/2010/main" val="119684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Yer Tutucusu 6">
            <a:extLst>
              <a:ext uri="{FF2B5EF4-FFF2-40B4-BE49-F238E27FC236}">
                <a16:creationId xmlns:a16="http://schemas.microsoft.com/office/drawing/2014/main" id="{C2E1B8A8-A196-4346-ACAC-76C38D0883A7}"/>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t="1261" b="1261"/>
          <a:stretch>
            <a:fillRect/>
          </a:stretch>
        </p:blipFill>
        <p:spPr>
          <a:xfrm>
            <a:off x="1808559" y="243324"/>
            <a:ext cx="7335441" cy="6371351"/>
          </a:xfrm>
          <a:blipFill>
            <a:blip r:embed="rId4"/>
            <a:tile tx="0" ty="0" sx="100000" sy="100000" flip="none" algn="tl"/>
          </a:blipFill>
          <a:ln>
            <a:noFill/>
          </a:ln>
        </p:spPr>
      </p:pic>
      <p:sp>
        <p:nvSpPr>
          <p:cNvPr id="3" name="Başlık 2">
            <a:extLst>
              <a:ext uri="{FF2B5EF4-FFF2-40B4-BE49-F238E27FC236}">
                <a16:creationId xmlns:a16="http://schemas.microsoft.com/office/drawing/2014/main" id="{200B3D2B-613A-41BE-987D-E6A1324B456D}"/>
              </a:ext>
            </a:extLst>
          </p:cNvPr>
          <p:cNvSpPr>
            <a:spLocks noGrp="1"/>
          </p:cNvSpPr>
          <p:nvPr>
            <p:ph type="title"/>
          </p:nvPr>
        </p:nvSpPr>
        <p:spPr>
          <a:xfrm>
            <a:off x="-1276" y="2474420"/>
            <a:ext cx="4424189" cy="1468800"/>
          </a:xfrm>
        </p:spPr>
        <p:txBody>
          <a:bodyPr rtlCol="0"/>
          <a:lstStyle/>
          <a:p>
            <a:r>
              <a:rPr lang="tr-TR" dirty="0">
                <a:solidFill>
                  <a:srgbClr val="0070C0"/>
                </a:solidFill>
                <a:latin typeface="Arial" panose="020B0604020202020204" pitchFamily="34" charset="0"/>
              </a:rPr>
              <a:t>Görev Araştırmaları</a:t>
            </a:r>
          </a:p>
        </p:txBody>
      </p:sp>
      <p:sp>
        <p:nvSpPr>
          <p:cNvPr id="10" name="Metin Yer Tutucusu 9">
            <a:extLst>
              <a:ext uri="{FF2B5EF4-FFF2-40B4-BE49-F238E27FC236}">
                <a16:creationId xmlns:a16="http://schemas.microsoft.com/office/drawing/2014/main" id="{2972F17A-D965-40B9-8ABB-C634072DBCC0}"/>
              </a:ext>
            </a:extLst>
          </p:cNvPr>
          <p:cNvSpPr>
            <a:spLocks noGrp="1"/>
          </p:cNvSpPr>
          <p:nvPr>
            <p:ph type="body" sz="quarter" idx="13"/>
          </p:nvPr>
        </p:nvSpPr>
        <p:spPr>
          <a:xfrm>
            <a:off x="0" y="3940320"/>
            <a:ext cx="3676650" cy="825424"/>
          </a:xfrm>
        </p:spPr>
        <p:txBody>
          <a:bodyPr rtlCol="0"/>
          <a:lstStyle/>
          <a:p>
            <a:r>
              <a:rPr lang="en-US" dirty="0"/>
              <a:t>&lt;</a:t>
            </a:r>
            <a:r>
              <a:rPr lang="tr-TR" dirty="0"/>
              <a:t>Hazırlayan Kişinin İsmi</a:t>
            </a:r>
            <a:r>
              <a:rPr lang="en-US" dirty="0"/>
              <a:t>&gt;</a:t>
            </a:r>
            <a:endParaRPr lang="tr-TR" dirty="0"/>
          </a:p>
          <a:p>
            <a:pPr rtl="0"/>
            <a:endParaRPr lang="tr-TR" dirty="0"/>
          </a:p>
        </p:txBody>
      </p:sp>
      <p:sp>
        <p:nvSpPr>
          <p:cNvPr id="5" name="Slayt Numarası Yer Tutucusu 4">
            <a:extLst>
              <a:ext uri="{FF2B5EF4-FFF2-40B4-BE49-F238E27FC236}">
                <a16:creationId xmlns:a16="http://schemas.microsoft.com/office/drawing/2014/main" id="{F6964141-6F81-4947-A236-746D94ED3F6F}"/>
              </a:ext>
            </a:extLst>
          </p:cNvPr>
          <p:cNvSpPr>
            <a:spLocks noGrp="1"/>
          </p:cNvSpPr>
          <p:nvPr>
            <p:ph type="sldNum" sz="quarter" idx="12"/>
          </p:nvPr>
        </p:nvSpPr>
        <p:spPr/>
        <p:txBody>
          <a:bodyPr rtlCol="0"/>
          <a:lstStyle/>
          <a:p>
            <a:pPr rtl="0"/>
            <a:fld id="{19B51A1E-902D-48AF-9020-955120F399B6}" type="slidenum">
              <a:rPr lang="tr-TR" smtClean="0"/>
              <a:pPr rtl="0"/>
              <a:t>6</a:t>
            </a:fld>
            <a:endParaRPr lang="tr-TR" dirty="0"/>
          </a:p>
        </p:txBody>
      </p:sp>
    </p:spTree>
    <p:extLst>
      <p:ext uri="{BB962C8B-B14F-4D97-AF65-F5344CB8AC3E}">
        <p14:creationId xmlns:p14="http://schemas.microsoft.com/office/powerpoint/2010/main" val="2117695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878" y="365125"/>
            <a:ext cx="5383187" cy="304799"/>
          </a:xfrm>
        </p:spPr>
        <p:txBody>
          <a:bodyPr/>
          <a:lstStyle/>
          <a:p>
            <a:r>
              <a:rPr lang="tr-TR" dirty="0"/>
              <a:t>Görev Araştırması - 1 </a:t>
            </a:r>
            <a:br>
              <a:rPr lang="tr-TR" dirty="0"/>
            </a:br>
            <a:r>
              <a:rPr lang="tr-TR" dirty="0"/>
              <a:t>Stabil İniş Güdümlü Mekanik </a:t>
            </a:r>
            <a:r>
              <a:rPr lang="tr-TR" dirty="0" err="1"/>
              <a:t>Aktüatör</a:t>
            </a:r>
            <a:r>
              <a:rPr lang="tr-TR" dirty="0"/>
              <a:t> (SİGMA) (1/3)</a:t>
            </a:r>
          </a:p>
        </p:txBody>
      </p:sp>
      <p:sp>
        <p:nvSpPr>
          <p:cNvPr id="3" name="Content Placeholder 2"/>
          <p:cNvSpPr>
            <a:spLocks noGrp="1"/>
          </p:cNvSpPr>
          <p:nvPr>
            <p:ph idx="1"/>
          </p:nvPr>
        </p:nvSpPr>
        <p:spPr>
          <a:xfrm>
            <a:off x="544324" y="1108542"/>
            <a:ext cx="7886700" cy="4351338"/>
          </a:xfrm>
        </p:spPr>
        <p:txBody>
          <a:bodyPr>
            <a:normAutofit fontScale="70000" lnSpcReduction="20000"/>
          </a:bodyPr>
          <a:lstStyle/>
          <a:p>
            <a:pPr marL="457200" lvl="1" indent="0" algn="just">
              <a:lnSpc>
                <a:spcPct val="114000"/>
              </a:lnSpc>
              <a:buNone/>
            </a:pPr>
            <a:endParaRPr lang="tr-TR" dirty="0"/>
          </a:p>
          <a:p>
            <a:pPr lvl="1" algn="just">
              <a:lnSpc>
                <a:spcPct val="114000"/>
              </a:lnSpc>
              <a:spcAft>
                <a:spcPts val="800"/>
              </a:spcAft>
            </a:pPr>
            <a:r>
              <a:rPr lang="tr-TR" b="1" dirty="0"/>
              <a:t>Görev  Benzerliği Analizi: </a:t>
            </a:r>
            <a:r>
              <a:rPr lang="tr-TR" dirty="0"/>
              <a:t>Geliştirilen aktif iniş sisteminin gerçek uzay görevlerinde kullanılan hangi alt sistemleri temsil ettiği belirlenmeli ve seçilen benzerlikler teknik gerekçeleriyle açıklanmalıdır.</a:t>
            </a:r>
          </a:p>
          <a:p>
            <a:pPr lvl="1" algn="just">
              <a:lnSpc>
                <a:spcPct val="114000"/>
              </a:lnSpc>
              <a:spcAft>
                <a:spcPts val="800"/>
              </a:spcAft>
            </a:pPr>
            <a:r>
              <a:rPr lang="tr-TR" b="1" dirty="0"/>
              <a:t>Görev Genişletme ve </a:t>
            </a:r>
            <a:r>
              <a:rPr lang="tr-TR" b="1" dirty="0" err="1"/>
              <a:t>Uyarlanabilirlik</a:t>
            </a:r>
            <a:r>
              <a:rPr lang="tr-TR" b="1" dirty="0"/>
              <a:t> Analizi : </a:t>
            </a:r>
            <a:r>
              <a:rPr lang="tr-TR" dirty="0"/>
              <a:t>SİGMA görevini bir sonraki gelişim seviyesine taşıyacak (yörünge yönelim ve kontrolü) özgün bir aktif iniş konsepti önerilmeli ve bu konseptin model uydu yarışması kapsamında uygulanabilirliği teknik gerekçelerle açıklanmalıdır. Bu kapsamda yapılacak önerinin özet olarak bir tabloda aşağıdaki etkileri değerlendirilmelidir. </a:t>
            </a:r>
          </a:p>
          <a:p>
            <a:pPr lvl="1" algn="just">
              <a:lnSpc>
                <a:spcPct val="114000"/>
              </a:lnSpc>
              <a:spcAft>
                <a:spcPts val="800"/>
              </a:spcAft>
              <a:buFontTx/>
              <a:buChar char="-"/>
            </a:pPr>
            <a:r>
              <a:rPr lang="tr-TR" dirty="0"/>
              <a:t>Teknik Uygulanabilirlik (</a:t>
            </a:r>
            <a:r>
              <a:rPr lang="tr-TR" dirty="0" err="1"/>
              <a:t>Sensör</a:t>
            </a:r>
            <a:r>
              <a:rPr lang="tr-TR" dirty="0"/>
              <a:t>, </a:t>
            </a:r>
            <a:r>
              <a:rPr lang="tr-TR" dirty="0" err="1"/>
              <a:t>aktüatör</a:t>
            </a:r>
            <a:r>
              <a:rPr lang="tr-TR" dirty="0"/>
              <a:t>, yazılım </a:t>
            </a:r>
            <a:r>
              <a:rPr lang="tr-TR" dirty="0" err="1"/>
              <a:t>vb</a:t>
            </a:r>
            <a:r>
              <a:rPr lang="tr-TR" dirty="0"/>
              <a:t> gereksinimler)</a:t>
            </a:r>
          </a:p>
          <a:p>
            <a:pPr lvl="1" algn="just">
              <a:lnSpc>
                <a:spcPct val="114000"/>
              </a:lnSpc>
              <a:spcAft>
                <a:spcPts val="800"/>
              </a:spcAft>
              <a:buFontTx/>
              <a:buChar char="-"/>
            </a:pPr>
            <a:r>
              <a:rPr lang="tr-TR" dirty="0" err="1"/>
              <a:t>Operasyonel</a:t>
            </a:r>
            <a:r>
              <a:rPr lang="tr-TR" dirty="0"/>
              <a:t> Uygulanabilirlik (Güvenlik etkileri , test edilebilirlik ,yarışma sahası uygunluğu </a:t>
            </a:r>
            <a:r>
              <a:rPr lang="tr-TR" dirty="0" err="1"/>
              <a:t>vb</a:t>
            </a:r>
            <a:r>
              <a:rPr lang="tr-TR" dirty="0"/>
              <a:t> gereksinimler)</a:t>
            </a:r>
          </a:p>
          <a:p>
            <a:pPr marL="457200" lvl="1" indent="0" algn="just">
              <a:lnSpc>
                <a:spcPct val="114000"/>
              </a:lnSpc>
              <a:spcAft>
                <a:spcPts val="800"/>
              </a:spcAft>
              <a:buNone/>
            </a:pPr>
            <a:r>
              <a:rPr lang="tr-TR" dirty="0"/>
              <a:t>-   Kaynak Analizi (Kütle etkisi , enerji etkisi ,maliyet etkisi vb.)</a:t>
            </a:r>
          </a:p>
          <a:p>
            <a:pPr lvl="1" algn="just">
              <a:lnSpc>
                <a:spcPct val="114000"/>
              </a:lnSpc>
              <a:spcAft>
                <a:spcPts val="800"/>
              </a:spcAft>
            </a:pPr>
            <a:endParaRPr lang="tr-TR" dirty="0"/>
          </a:p>
          <a:p>
            <a:pPr lvl="1" algn="just">
              <a:lnSpc>
                <a:spcPct val="114000"/>
              </a:lnSpc>
              <a:spcAft>
                <a:spcPts val="800"/>
              </a:spcAft>
            </a:pPr>
            <a:endParaRPr lang="tr-TR" dirty="0"/>
          </a:p>
          <a:p>
            <a:pPr marL="457200" lvl="1" indent="0" algn="just">
              <a:lnSpc>
                <a:spcPct val="114000"/>
              </a:lnSpc>
              <a:buNone/>
            </a:pPr>
            <a:endParaRPr lang="tr-TR" dirty="0">
              <a:highlight>
                <a:srgbClr val="FF0000"/>
              </a:highlight>
            </a:endParaRPr>
          </a:p>
          <a:p>
            <a:pPr lvl="1">
              <a:lnSpc>
                <a:spcPct val="114000"/>
              </a:lnSpc>
            </a:pPr>
            <a:endParaRPr lang="tr-TR" dirty="0"/>
          </a:p>
          <a:p>
            <a:pPr lvl="1">
              <a:lnSpc>
                <a:spcPct val="114000"/>
              </a:lnSpc>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7</a:t>
            </a:fld>
            <a:endParaRPr lang="tr-TR"/>
          </a:p>
        </p:txBody>
      </p:sp>
    </p:spTree>
    <p:extLst>
      <p:ext uri="{BB962C8B-B14F-4D97-AF65-F5344CB8AC3E}">
        <p14:creationId xmlns:p14="http://schemas.microsoft.com/office/powerpoint/2010/main" val="229406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878" y="365125"/>
            <a:ext cx="5383187" cy="304799"/>
          </a:xfrm>
        </p:spPr>
        <p:txBody>
          <a:bodyPr/>
          <a:lstStyle/>
          <a:p>
            <a:r>
              <a:rPr lang="tr-TR" dirty="0"/>
              <a:t>Görev Araştırması - 1 </a:t>
            </a:r>
            <a:br>
              <a:rPr lang="tr-TR" dirty="0"/>
            </a:br>
            <a:r>
              <a:rPr lang="tr-TR" dirty="0"/>
              <a:t>Stabil İniş Güdümlü Mekanik </a:t>
            </a:r>
            <a:r>
              <a:rPr lang="tr-TR" dirty="0" err="1"/>
              <a:t>Aktüatör</a:t>
            </a:r>
            <a:r>
              <a:rPr lang="tr-TR" dirty="0"/>
              <a:t> (SİGMA) (2/3)</a:t>
            </a:r>
          </a:p>
        </p:txBody>
      </p:sp>
      <p:sp>
        <p:nvSpPr>
          <p:cNvPr id="3" name="Content Placeholder 2"/>
          <p:cNvSpPr>
            <a:spLocks noGrp="1"/>
          </p:cNvSpPr>
          <p:nvPr>
            <p:ph idx="1"/>
          </p:nvPr>
        </p:nvSpPr>
        <p:spPr/>
        <p:txBody>
          <a:bodyPr>
            <a:normAutofit fontScale="92500" lnSpcReduction="20000"/>
          </a:bodyPr>
          <a:lstStyle/>
          <a:p>
            <a:pPr lvl="1" algn="just">
              <a:lnSpc>
                <a:spcPct val="114000"/>
              </a:lnSpc>
            </a:pPr>
            <a:endParaRPr lang="tr-TR" dirty="0"/>
          </a:p>
          <a:p>
            <a:pPr lvl="1" algn="just">
              <a:lnSpc>
                <a:spcPct val="114000"/>
              </a:lnSpc>
              <a:spcAft>
                <a:spcPts val="800"/>
              </a:spcAft>
            </a:pPr>
            <a:r>
              <a:rPr lang="tr-TR" b="1" dirty="0"/>
              <a:t>Uçuş Dinamiği Analizi</a:t>
            </a:r>
            <a:r>
              <a:rPr lang="tr-TR" dirty="0"/>
              <a:t>: Uçuş esnasında SİGMA sisteminin maruz kaldığı dinamik etkileri analiz edilmeli ve tasarıma olan etkilerini açıklanmalıdır.</a:t>
            </a:r>
          </a:p>
          <a:p>
            <a:pPr lvl="1" algn="just">
              <a:lnSpc>
                <a:spcPct val="114000"/>
              </a:lnSpc>
              <a:spcAft>
                <a:spcPts val="800"/>
              </a:spcAft>
            </a:pPr>
            <a:r>
              <a:rPr lang="tr-TR" dirty="0"/>
              <a:t>Dikey eksendeki </a:t>
            </a:r>
            <a:r>
              <a:rPr lang="tr-TR" dirty="0" err="1"/>
              <a:t>stabiliteyi</a:t>
            </a:r>
            <a:r>
              <a:rPr lang="tr-TR" dirty="0"/>
              <a:t> sağlamak amacıyla aktif iniş mekanizmasında kullandığı kontrol yaklaşımını (donanımsal, </a:t>
            </a:r>
            <a:r>
              <a:rPr lang="tr-TR" dirty="0" err="1"/>
              <a:t>yazılımsal</a:t>
            </a:r>
            <a:r>
              <a:rPr lang="tr-TR" dirty="0"/>
              <a:t> </a:t>
            </a:r>
            <a:r>
              <a:rPr lang="tr-TR" dirty="0" err="1"/>
              <a:t>vb</a:t>
            </a:r>
            <a:r>
              <a:rPr lang="tr-TR" dirty="0"/>
              <a:t>) alternatif en az iki yöntemle karşılaştırılmalıdır. </a:t>
            </a:r>
          </a:p>
          <a:p>
            <a:pPr lvl="1" algn="just">
              <a:lnSpc>
                <a:spcPct val="114000"/>
              </a:lnSpc>
              <a:spcAft>
                <a:spcPts val="800"/>
              </a:spcAft>
            </a:pPr>
            <a:r>
              <a:rPr lang="tr-TR" b="1" dirty="0"/>
              <a:t>Karar Verme Analizi: </a:t>
            </a:r>
            <a:r>
              <a:rPr lang="tr-TR" dirty="0"/>
              <a:t>SİGMA sistemi ile iniş kararını etkileyen </a:t>
            </a:r>
            <a:r>
              <a:rPr lang="tr-TR" dirty="0" err="1"/>
              <a:t>sensör</a:t>
            </a:r>
            <a:r>
              <a:rPr lang="tr-TR" dirty="0"/>
              <a:t> verileri ve algoritma güvenilirliği değerlendirilerek Karar Verme Analizi yapılmalıdır.</a:t>
            </a:r>
            <a:endParaRPr lang="tr-TR" dirty="0">
              <a:highlight>
                <a:srgbClr val="FF0000"/>
              </a:highlight>
            </a:endParaRPr>
          </a:p>
          <a:p>
            <a:pPr lvl="1">
              <a:lnSpc>
                <a:spcPct val="114000"/>
              </a:lnSpc>
            </a:pPr>
            <a:endParaRPr lang="tr-TR" dirty="0"/>
          </a:p>
          <a:p>
            <a:pPr lvl="1">
              <a:lnSpc>
                <a:spcPct val="114000"/>
              </a:lnSpc>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8</a:t>
            </a:fld>
            <a:endParaRPr lang="tr-TR"/>
          </a:p>
        </p:txBody>
      </p:sp>
    </p:spTree>
    <p:extLst>
      <p:ext uri="{BB962C8B-B14F-4D97-AF65-F5344CB8AC3E}">
        <p14:creationId xmlns:p14="http://schemas.microsoft.com/office/powerpoint/2010/main" val="2012440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878" y="365125"/>
            <a:ext cx="5383187" cy="304799"/>
          </a:xfrm>
        </p:spPr>
        <p:txBody>
          <a:bodyPr/>
          <a:lstStyle/>
          <a:p>
            <a:r>
              <a:rPr lang="tr-TR" dirty="0"/>
              <a:t>Görev Araştırması - 1 </a:t>
            </a:r>
            <a:br>
              <a:rPr lang="tr-TR" dirty="0"/>
            </a:br>
            <a:r>
              <a:rPr lang="tr-TR" dirty="0"/>
              <a:t>Stabil İniş Güdümlü Mekanik </a:t>
            </a:r>
            <a:r>
              <a:rPr lang="tr-TR" dirty="0" err="1"/>
              <a:t>Aktüatör</a:t>
            </a:r>
            <a:r>
              <a:rPr lang="tr-TR" dirty="0"/>
              <a:t> (SİGMA) (3/3)</a:t>
            </a:r>
          </a:p>
        </p:txBody>
      </p:sp>
      <p:sp>
        <p:nvSpPr>
          <p:cNvPr id="3" name="Content Placeholder 2"/>
          <p:cNvSpPr>
            <a:spLocks noGrp="1"/>
          </p:cNvSpPr>
          <p:nvPr>
            <p:ph idx="1"/>
          </p:nvPr>
        </p:nvSpPr>
        <p:spPr/>
        <p:txBody>
          <a:bodyPr>
            <a:normAutofit fontScale="92500" lnSpcReduction="20000"/>
          </a:bodyPr>
          <a:lstStyle/>
          <a:p>
            <a:pPr lvl="1" algn="just">
              <a:lnSpc>
                <a:spcPct val="114000"/>
              </a:lnSpc>
            </a:pPr>
            <a:endParaRPr lang="tr-TR" dirty="0"/>
          </a:p>
          <a:p>
            <a:pPr lvl="1" algn="just">
              <a:lnSpc>
                <a:spcPct val="114000"/>
              </a:lnSpc>
              <a:spcAft>
                <a:spcPts val="800"/>
              </a:spcAft>
            </a:pPr>
            <a:r>
              <a:rPr lang="tr-TR" b="1" dirty="0"/>
              <a:t>Risk Analizi</a:t>
            </a:r>
            <a:r>
              <a:rPr lang="tr-TR" dirty="0"/>
              <a:t>: "Geliştirilen aktif iniş sisteminde başarısızlığa neden olabilecek en kritik üç senaryoyu belirleyerek ve bunlara yönelik risk azaltma yöntemleri önerilmelidir.</a:t>
            </a:r>
          </a:p>
          <a:p>
            <a:pPr lvl="1" algn="just">
              <a:lnSpc>
                <a:spcPct val="114000"/>
              </a:lnSpc>
              <a:spcAft>
                <a:spcPts val="800"/>
              </a:spcAft>
            </a:pPr>
            <a:r>
              <a:rPr lang="tr-TR" dirty="0"/>
              <a:t>Takımın geliştirdiği iniş algoritması, iniş yüksekliğini %20 hatalı ölçen bir </a:t>
            </a:r>
            <a:r>
              <a:rPr lang="tr-TR" dirty="0" err="1"/>
              <a:t>sensör</a:t>
            </a:r>
            <a:r>
              <a:rPr lang="tr-TR" dirty="0"/>
              <a:t> ile çalıştırıldığında sistem davranışını değerlendirilmelidir.</a:t>
            </a:r>
          </a:p>
          <a:p>
            <a:pPr lvl="1" algn="just">
              <a:lnSpc>
                <a:spcPct val="114000"/>
              </a:lnSpc>
              <a:spcAft>
                <a:spcPts val="800"/>
              </a:spcAft>
            </a:pPr>
            <a:r>
              <a:rPr lang="tr-TR" dirty="0"/>
              <a:t>"İniş başarısını artırmak amacıyla mevcut sistem mimarisinde yapılabilecek bir iyileştirme önerisi geliştirilmeli ve teknik etkileri değerlendirilmelidir.</a:t>
            </a:r>
          </a:p>
          <a:p>
            <a:pPr marL="457200" lvl="1" indent="0">
              <a:lnSpc>
                <a:spcPct val="114000"/>
              </a:lnSpc>
              <a:buNone/>
            </a:pPr>
            <a:endParaRPr lang="tr-TR" dirty="0"/>
          </a:p>
          <a:p>
            <a:pPr lvl="1">
              <a:lnSpc>
                <a:spcPct val="114000"/>
              </a:lnSpc>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9</a:t>
            </a:fld>
            <a:endParaRPr lang="tr-TR"/>
          </a:p>
        </p:txBody>
      </p:sp>
    </p:spTree>
    <p:extLst>
      <p:ext uri="{BB962C8B-B14F-4D97-AF65-F5344CB8AC3E}">
        <p14:creationId xmlns:p14="http://schemas.microsoft.com/office/powerpoint/2010/main" val="270938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0920" y="365125"/>
            <a:ext cx="5341011" cy="304799"/>
          </a:xfrm>
        </p:spPr>
        <p:txBody>
          <a:bodyPr/>
          <a:lstStyle/>
          <a:p>
            <a:r>
              <a:rPr lang="tr-TR" dirty="0"/>
              <a:t>Görev Araştırması - 2</a:t>
            </a:r>
            <a:br>
              <a:rPr lang="tr-TR" dirty="0"/>
            </a:br>
            <a:r>
              <a:rPr lang="tr-TR" dirty="0"/>
              <a:t>Acil Paraşüt Açma Mekanizması (APAM)</a:t>
            </a:r>
          </a:p>
        </p:txBody>
      </p:sp>
      <p:sp>
        <p:nvSpPr>
          <p:cNvPr id="3" name="Content Placeholder 2"/>
          <p:cNvSpPr>
            <a:spLocks noGrp="1"/>
          </p:cNvSpPr>
          <p:nvPr>
            <p:ph idx="1"/>
          </p:nvPr>
        </p:nvSpPr>
        <p:spPr>
          <a:xfrm>
            <a:off x="530205" y="1371595"/>
            <a:ext cx="8083589" cy="4351338"/>
          </a:xfrm>
        </p:spPr>
        <p:txBody>
          <a:bodyPr>
            <a:normAutofit/>
          </a:bodyPr>
          <a:lstStyle/>
          <a:p>
            <a:pPr lvl="1" algn="just">
              <a:lnSpc>
                <a:spcPct val="94000"/>
              </a:lnSpc>
              <a:spcAft>
                <a:spcPts val="800"/>
              </a:spcAft>
            </a:pPr>
            <a:r>
              <a:rPr lang="tr-TR" sz="2200" b="1" dirty="0" err="1"/>
              <a:t>Uyarlanabilirlik</a:t>
            </a:r>
            <a:r>
              <a:rPr lang="tr-TR" sz="2200" b="1" dirty="0"/>
              <a:t> Analizi : </a:t>
            </a:r>
            <a:r>
              <a:rPr lang="tr-TR" sz="2200" dirty="0"/>
              <a:t>APAM konseptinin yerine, model uydu görev güvenliğini artıracak alternatif bir görev sonlandırma (Herhangi bir alt sistem/görev) veya acil durum (Herhangi bir durum/koşullar) yönetim konsepti öneriniz. Önerilen konseptin gerçek sistemlerdeki kullanım örneklerini inceleyiniz ve model uyduya </a:t>
            </a:r>
            <a:r>
              <a:rPr lang="tr-TR" sz="2200" dirty="0" err="1"/>
              <a:t>uyarlanabilirliğini</a:t>
            </a:r>
            <a:r>
              <a:rPr lang="tr-TR" sz="2200" dirty="0"/>
              <a:t> teknik gerekçelerle değerlendiriniz.</a:t>
            </a:r>
          </a:p>
          <a:p>
            <a:pPr lvl="1">
              <a:lnSpc>
                <a:spcPct val="114000"/>
              </a:lnSpc>
            </a:pPr>
            <a:endParaRPr lang="tr-TR" dirty="0"/>
          </a:p>
          <a:p>
            <a:pPr lvl="1">
              <a:lnSpc>
                <a:spcPct val="114000"/>
              </a:lnSpc>
            </a:pPr>
            <a:endParaRPr lang="tr-TR" dirty="0"/>
          </a:p>
          <a:p>
            <a:pPr lvl="1">
              <a:lnSpc>
                <a:spcPct val="114000"/>
              </a:lnSpc>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10</a:t>
            </a:fld>
            <a:endParaRPr lang="tr-TR"/>
          </a:p>
        </p:txBody>
      </p:sp>
    </p:spTree>
    <p:extLst>
      <p:ext uri="{BB962C8B-B14F-4D97-AF65-F5344CB8AC3E}">
        <p14:creationId xmlns:p14="http://schemas.microsoft.com/office/powerpoint/2010/main" val="404822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Yer Tutucusu 6">
            <a:extLst>
              <a:ext uri="{FF2B5EF4-FFF2-40B4-BE49-F238E27FC236}">
                <a16:creationId xmlns:a16="http://schemas.microsoft.com/office/drawing/2014/main" id="{6F948C37-8D94-B449-98E2-8554EFE9201D}"/>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1616" r="11616"/>
          <a:stretch>
            <a:fillRect/>
          </a:stretch>
        </p:blipFill>
        <p:spPr/>
      </p:pic>
      <p:sp>
        <p:nvSpPr>
          <p:cNvPr id="3" name="Başlık 2">
            <a:extLst>
              <a:ext uri="{FF2B5EF4-FFF2-40B4-BE49-F238E27FC236}">
                <a16:creationId xmlns:a16="http://schemas.microsoft.com/office/drawing/2014/main" id="{200B3D2B-613A-41BE-987D-E6A1324B456D}"/>
              </a:ext>
            </a:extLst>
          </p:cNvPr>
          <p:cNvSpPr>
            <a:spLocks noGrp="1"/>
          </p:cNvSpPr>
          <p:nvPr>
            <p:ph type="title"/>
          </p:nvPr>
        </p:nvSpPr>
        <p:spPr>
          <a:xfrm>
            <a:off x="-1276" y="2474420"/>
            <a:ext cx="4573276" cy="1468800"/>
          </a:xfrm>
        </p:spPr>
        <p:txBody>
          <a:bodyPr rtlCol="0"/>
          <a:lstStyle/>
          <a:p>
            <a:r>
              <a:rPr lang="tr-TR" sz="3200" spc="0" dirty="0">
                <a:solidFill>
                  <a:srgbClr val="0070C0"/>
                </a:solidFill>
                <a:latin typeface="Arial" panose="020B0604020202020204" pitchFamily="34" charset="0"/>
              </a:rPr>
              <a:t>Haberleşme ve Veri İşleme Alt Sistemi Gözden Geçirme</a:t>
            </a:r>
            <a:endParaRPr lang="tr-TR" sz="4800" dirty="0">
              <a:solidFill>
                <a:srgbClr val="0070C0"/>
              </a:solidFill>
            </a:endParaRPr>
          </a:p>
        </p:txBody>
      </p:sp>
      <p:sp>
        <p:nvSpPr>
          <p:cNvPr id="10" name="Metin Yer Tutucusu 9">
            <a:extLst>
              <a:ext uri="{FF2B5EF4-FFF2-40B4-BE49-F238E27FC236}">
                <a16:creationId xmlns:a16="http://schemas.microsoft.com/office/drawing/2014/main" id="{2972F17A-D965-40B9-8ABB-C634072DBCC0}"/>
              </a:ext>
            </a:extLst>
          </p:cNvPr>
          <p:cNvSpPr>
            <a:spLocks noGrp="1"/>
          </p:cNvSpPr>
          <p:nvPr>
            <p:ph type="body" sz="quarter" idx="13"/>
          </p:nvPr>
        </p:nvSpPr>
        <p:spPr>
          <a:xfrm>
            <a:off x="0" y="3940320"/>
            <a:ext cx="3676650" cy="825424"/>
          </a:xfrm>
        </p:spPr>
        <p:txBody>
          <a:bodyPr rtlCol="0"/>
          <a:lstStyle/>
          <a:p>
            <a:r>
              <a:rPr lang="en-US" dirty="0"/>
              <a:t>&lt;</a:t>
            </a:r>
            <a:r>
              <a:rPr lang="tr-TR" dirty="0"/>
              <a:t>Hazırlayan Kişinin İsmi</a:t>
            </a:r>
            <a:r>
              <a:rPr lang="en-US" dirty="0"/>
              <a:t>&gt;</a:t>
            </a:r>
            <a:endParaRPr lang="tr-TR" dirty="0"/>
          </a:p>
          <a:p>
            <a:pPr rtl="0"/>
            <a:endParaRPr lang="tr-TR" dirty="0"/>
          </a:p>
        </p:txBody>
      </p:sp>
      <p:sp>
        <p:nvSpPr>
          <p:cNvPr id="5" name="Slayt Numarası Yer Tutucusu 4">
            <a:extLst>
              <a:ext uri="{FF2B5EF4-FFF2-40B4-BE49-F238E27FC236}">
                <a16:creationId xmlns:a16="http://schemas.microsoft.com/office/drawing/2014/main" id="{F6964141-6F81-4947-A236-746D94ED3F6F}"/>
              </a:ext>
            </a:extLst>
          </p:cNvPr>
          <p:cNvSpPr>
            <a:spLocks noGrp="1"/>
          </p:cNvSpPr>
          <p:nvPr>
            <p:ph type="sldNum" sz="quarter" idx="12"/>
          </p:nvPr>
        </p:nvSpPr>
        <p:spPr/>
        <p:txBody>
          <a:bodyPr rtlCol="0"/>
          <a:lstStyle/>
          <a:p>
            <a:pPr rtl="0"/>
            <a:fld id="{19B51A1E-902D-48AF-9020-955120F399B6}" type="slidenum">
              <a:rPr lang="tr-TR" smtClean="0"/>
              <a:pPr rtl="0"/>
              <a:t>11</a:t>
            </a:fld>
            <a:endParaRPr lang="tr-TR" dirty="0"/>
          </a:p>
        </p:txBody>
      </p:sp>
    </p:spTree>
    <p:extLst>
      <p:ext uri="{BB962C8B-B14F-4D97-AF65-F5344CB8AC3E}">
        <p14:creationId xmlns:p14="http://schemas.microsoft.com/office/powerpoint/2010/main" val="2962506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3005" y="365126"/>
            <a:ext cx="5133016" cy="308642"/>
          </a:xfrm>
        </p:spPr>
        <p:txBody>
          <a:bodyPr/>
          <a:lstStyle/>
          <a:p>
            <a:r>
              <a:rPr lang="tr-TR" dirty="0"/>
              <a:t>Görev Yükü ve Yer İstasyonu Anteni Gözden Geçirme</a:t>
            </a:r>
          </a:p>
        </p:txBody>
      </p:sp>
      <p:sp>
        <p:nvSpPr>
          <p:cNvPr id="3" name="Content Placeholder 2"/>
          <p:cNvSpPr>
            <a:spLocks noGrp="1"/>
          </p:cNvSpPr>
          <p:nvPr>
            <p:ph idx="1"/>
          </p:nvPr>
        </p:nvSpPr>
        <p:spPr/>
        <p:txBody>
          <a:bodyPr>
            <a:normAutofit fontScale="92500"/>
          </a:bodyPr>
          <a:lstStyle/>
          <a:p>
            <a:pPr algn="just">
              <a:lnSpc>
                <a:spcPct val="114000"/>
              </a:lnSpc>
            </a:pPr>
            <a:r>
              <a:rPr lang="tr-TR" sz="2400" dirty="0"/>
              <a:t>Kullanılacak anten/</a:t>
            </a:r>
            <a:r>
              <a:rPr lang="tr-TR" sz="2400" dirty="0" err="1"/>
              <a:t>lerin</a:t>
            </a:r>
            <a:r>
              <a:rPr lang="tr-TR" sz="2400" dirty="0"/>
              <a:t> veri aktarım kapasiteleri, kapsama modelleri ve mesafelerinin; simülasyon, </a:t>
            </a:r>
            <a:r>
              <a:rPr lang="tr-TR" sz="2400" dirty="0" err="1"/>
              <a:t>datasheet</a:t>
            </a:r>
            <a:r>
              <a:rPr lang="tr-TR" sz="2400" dirty="0"/>
              <a:t> veya teorik hesaplama ile gerçek uygulama sonucu/yaklaşımı karşılaştırma yapılarak yorumlanmalıdır.</a:t>
            </a:r>
          </a:p>
          <a:p>
            <a:pPr algn="just">
              <a:lnSpc>
                <a:spcPct val="114000"/>
              </a:lnSpc>
            </a:pPr>
            <a:r>
              <a:rPr lang="tr-TR" sz="2400" dirty="0"/>
              <a:t>Haberleşme bağlantısını etkileyen çevresel ve </a:t>
            </a:r>
            <a:r>
              <a:rPr lang="tr-TR" sz="2400" dirty="0" err="1"/>
              <a:t>operasyonel</a:t>
            </a:r>
            <a:r>
              <a:rPr lang="tr-TR" sz="2400" dirty="0"/>
              <a:t> faktörler belirtilerek ,bu etkilerin uçuş öncesi/esnası/sonrası bağlantı performansı değerlendirilmelidir.</a:t>
            </a:r>
          </a:p>
          <a:p>
            <a:pPr algn="just">
              <a:lnSpc>
                <a:spcPct val="114000"/>
              </a:lnSpc>
            </a:pPr>
            <a:r>
              <a:rPr lang="tr-TR" sz="2400" dirty="0"/>
              <a:t>Haberleşme kaybına yol açabilecek durumları analiz edilerek ,kritik haberleşme kesintilerine karşı alınacak önlemleri açıklanmalıdır.</a:t>
            </a:r>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12</a:t>
            </a:fld>
            <a:endParaRPr lang="tr-TR"/>
          </a:p>
        </p:txBody>
      </p:sp>
    </p:spTree>
    <p:extLst>
      <p:ext uri="{BB962C8B-B14F-4D97-AF65-F5344CB8AC3E}">
        <p14:creationId xmlns:p14="http://schemas.microsoft.com/office/powerpoint/2010/main" val="3975134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3005" y="322595"/>
            <a:ext cx="5133016" cy="308642"/>
          </a:xfrm>
        </p:spPr>
        <p:txBody>
          <a:bodyPr/>
          <a:lstStyle/>
          <a:p>
            <a:r>
              <a:rPr lang="tr-TR" dirty="0"/>
              <a:t>Haberleşme Mimarisi Konsept Önerisi</a:t>
            </a:r>
          </a:p>
        </p:txBody>
      </p:sp>
      <p:sp>
        <p:nvSpPr>
          <p:cNvPr id="3" name="Content Placeholder 2"/>
          <p:cNvSpPr>
            <a:spLocks noGrp="1"/>
          </p:cNvSpPr>
          <p:nvPr>
            <p:ph idx="1"/>
          </p:nvPr>
        </p:nvSpPr>
        <p:spPr/>
        <p:txBody>
          <a:bodyPr>
            <a:normAutofit/>
          </a:bodyPr>
          <a:lstStyle/>
          <a:p>
            <a:pPr algn="just">
              <a:lnSpc>
                <a:spcPct val="114000"/>
              </a:lnSpc>
            </a:pPr>
            <a:r>
              <a:rPr lang="tr-TR" sz="2400" dirty="0"/>
              <a:t>Takımlar, mevcut görev haberleşme gereksinimlerinden farklı bir </a:t>
            </a:r>
            <a:r>
              <a:rPr lang="tr-TR" sz="2400" dirty="0" err="1"/>
              <a:t>operasyonel</a:t>
            </a:r>
            <a:r>
              <a:rPr lang="tr-TR" sz="2400" dirty="0"/>
              <a:t> senaryo belirleyerek, bu senaryonun haberleşme ihtiyaçlarını analiz etmeli ve mevcut sistem mimarisinin bu göreve </a:t>
            </a:r>
            <a:r>
              <a:rPr lang="tr-TR" sz="2400" dirty="0" err="1"/>
              <a:t>uyarlanabilirliğini</a:t>
            </a:r>
            <a:r>
              <a:rPr lang="tr-TR" sz="2400" dirty="0"/>
              <a:t> değerlendirmelidir. Analiz kapsamında performans gereksinimleri, veri hacmi, kapsama ihtiyacı ve </a:t>
            </a:r>
            <a:r>
              <a:rPr lang="tr-TR" sz="2400" dirty="0" err="1"/>
              <a:t>operasyonel</a:t>
            </a:r>
            <a:r>
              <a:rPr lang="tr-TR" sz="2400" dirty="0"/>
              <a:t> kısıtlar teknik gerekçelerle açıklanmalıdır.</a:t>
            </a:r>
            <a:br>
              <a:rPr lang="tr-TR" sz="2400" dirty="0"/>
            </a:br>
            <a:endParaRPr lang="tr-TR" sz="2400" dirty="0"/>
          </a:p>
          <a:p>
            <a:pPr algn="just">
              <a:lnSpc>
                <a:spcPct val="114000"/>
              </a:lnSpc>
            </a:pPr>
            <a:endParaRPr lang="tr-TR" sz="2400"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13</a:t>
            </a:fld>
            <a:endParaRPr lang="tr-TR"/>
          </a:p>
        </p:txBody>
      </p:sp>
    </p:spTree>
    <p:extLst>
      <p:ext uri="{BB962C8B-B14F-4D97-AF65-F5344CB8AC3E}">
        <p14:creationId xmlns:p14="http://schemas.microsoft.com/office/powerpoint/2010/main" val="3865897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Yer Tutucusu 7">
            <a:extLst>
              <a:ext uri="{FF2B5EF4-FFF2-40B4-BE49-F238E27FC236}">
                <a16:creationId xmlns:a16="http://schemas.microsoft.com/office/drawing/2014/main" id="{7C936A85-F4CE-3740-9DEB-9A47E453C7AE}"/>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l="11645" r="11645"/>
          <a:stretch>
            <a:fillRect/>
          </a:stretch>
        </p:blipFill>
        <p:spPr/>
      </p:pic>
      <p:sp>
        <p:nvSpPr>
          <p:cNvPr id="3" name="Başlık 2">
            <a:extLst>
              <a:ext uri="{FF2B5EF4-FFF2-40B4-BE49-F238E27FC236}">
                <a16:creationId xmlns:a16="http://schemas.microsoft.com/office/drawing/2014/main" id="{200B3D2B-613A-41BE-987D-E6A1324B456D}"/>
              </a:ext>
            </a:extLst>
          </p:cNvPr>
          <p:cNvSpPr>
            <a:spLocks noGrp="1"/>
          </p:cNvSpPr>
          <p:nvPr>
            <p:ph type="ctrTitle"/>
          </p:nvPr>
        </p:nvSpPr>
        <p:spPr>
          <a:xfrm>
            <a:off x="5085348" y="4550926"/>
            <a:ext cx="4058652" cy="1182757"/>
          </a:xfrm>
        </p:spPr>
        <p:txBody>
          <a:bodyPr vert="horz" lIns="180000" tIns="135000" rIns="252000" bIns="180000" rtlCol="0" anchor="ctr">
            <a:noAutofit/>
          </a:bodyPr>
          <a:lstStyle/>
          <a:p>
            <a:r>
              <a:rPr lang="tr-TR" sz="3000" dirty="0"/>
              <a:t>Süreç Gözden Geçirme</a:t>
            </a:r>
          </a:p>
        </p:txBody>
      </p:sp>
      <p:sp>
        <p:nvSpPr>
          <p:cNvPr id="14" name="Metin Yer Tutucusu 13">
            <a:extLst>
              <a:ext uri="{FF2B5EF4-FFF2-40B4-BE49-F238E27FC236}">
                <a16:creationId xmlns:a16="http://schemas.microsoft.com/office/drawing/2014/main" id="{F278402B-CA7D-4F5B-B3FA-ED74AB3CFB6C}"/>
              </a:ext>
            </a:extLst>
          </p:cNvPr>
          <p:cNvSpPr>
            <a:spLocks noGrp="1"/>
          </p:cNvSpPr>
          <p:nvPr>
            <p:ph type="body" sz="quarter" idx="13"/>
          </p:nvPr>
        </p:nvSpPr>
        <p:spPr>
          <a:xfrm>
            <a:off x="5724938" y="5733683"/>
            <a:ext cx="3419061" cy="637669"/>
          </a:xfrm>
        </p:spPr>
        <p:txBody>
          <a:bodyPr rtlCol="0"/>
          <a:lstStyle/>
          <a:p>
            <a:r>
              <a:rPr lang="en-US" dirty="0"/>
              <a:t>&lt;</a:t>
            </a:r>
            <a:r>
              <a:rPr lang="tr-TR" dirty="0"/>
              <a:t>Hazırlayan Kişinin İsmi</a:t>
            </a:r>
            <a:r>
              <a:rPr lang="en-US" dirty="0"/>
              <a:t>&gt;</a:t>
            </a:r>
            <a:endParaRPr lang="tr-TR" dirty="0"/>
          </a:p>
          <a:p>
            <a:pPr rtl="0"/>
            <a:endParaRPr lang="tr-TR" dirty="0"/>
          </a:p>
        </p:txBody>
      </p:sp>
      <p:sp>
        <p:nvSpPr>
          <p:cNvPr id="5" name="Slayt Numarası Yer Tutucusu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tr-TR" smtClean="0"/>
              <a:pPr rtl="0"/>
              <a:t>14</a:t>
            </a:fld>
            <a:endParaRPr lang="tr-TR" dirty="0"/>
          </a:p>
        </p:txBody>
      </p:sp>
    </p:spTree>
    <p:extLst>
      <p:ext uri="{BB962C8B-B14F-4D97-AF65-F5344CB8AC3E}">
        <p14:creationId xmlns:p14="http://schemas.microsoft.com/office/powerpoint/2010/main" val="2169015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z="2000" dirty="0"/>
              <a:t>Entegrasyon, Test ve Risk Değerlendirmesi</a:t>
            </a:r>
          </a:p>
        </p:txBody>
      </p:sp>
      <p:sp>
        <p:nvSpPr>
          <p:cNvPr id="3" name="Content Placeholder 2"/>
          <p:cNvSpPr>
            <a:spLocks noGrp="1"/>
          </p:cNvSpPr>
          <p:nvPr>
            <p:ph idx="1"/>
          </p:nvPr>
        </p:nvSpPr>
        <p:spPr>
          <a:xfrm>
            <a:off x="611232" y="1532288"/>
            <a:ext cx="7886700" cy="3307604"/>
          </a:xfrm>
        </p:spPr>
        <p:txBody>
          <a:bodyPr>
            <a:normAutofit fontScale="77500" lnSpcReduction="20000"/>
          </a:bodyPr>
          <a:lstStyle/>
          <a:p>
            <a:pPr algn="just">
              <a:lnSpc>
                <a:spcPct val="134000"/>
              </a:lnSpc>
            </a:pPr>
            <a:r>
              <a:rPr lang="tr-TR" sz="2600" dirty="0"/>
              <a:t>Entegrasyonu tamamlanan model uydunun test planı detaylı bir şekilde sunulmalıdır.</a:t>
            </a:r>
          </a:p>
          <a:p>
            <a:pPr algn="just">
              <a:lnSpc>
                <a:spcPct val="134000"/>
              </a:lnSpc>
            </a:pPr>
            <a:r>
              <a:rPr lang="tr-TR" sz="2600" dirty="0"/>
              <a:t>Yeterlilik İnceleme (QR) sürecinden önce </a:t>
            </a:r>
            <a:r>
              <a:rPr lang="tr-TR" sz="2600" dirty="0" err="1"/>
              <a:t>gerçeklenecek</a:t>
            </a:r>
            <a:r>
              <a:rPr lang="tr-TR" sz="2600" dirty="0"/>
              <a:t> sistem seviyesi testleri ayrıntılı bir şekilde belirtilmelidir. (Entegrasyonu tamamlanmış model uyduya uygulanacak sistem seviyesi testleri)</a:t>
            </a:r>
          </a:p>
          <a:p>
            <a:pPr algn="just">
              <a:lnSpc>
                <a:spcPct val="134000"/>
              </a:lnSpc>
            </a:pPr>
            <a:r>
              <a:rPr lang="tr-TR" sz="2600" dirty="0"/>
              <a:t>Entegrasyon ve test sürecindeki riskler ile risk önlemleri belirtilmelidir.</a:t>
            </a:r>
          </a:p>
          <a:p>
            <a:pPr algn="just">
              <a:lnSpc>
                <a:spcPct val="134000"/>
              </a:lnSpc>
            </a:pPr>
            <a:endParaRPr lang="tr-TR" dirty="0"/>
          </a:p>
          <a:p>
            <a:pPr marL="0" indent="0">
              <a:buNone/>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15</a:t>
            </a:fld>
            <a:endParaRPr lang="tr-TR"/>
          </a:p>
        </p:txBody>
      </p:sp>
    </p:spTree>
    <p:extLst>
      <p:ext uri="{BB962C8B-B14F-4D97-AF65-F5344CB8AC3E}">
        <p14:creationId xmlns:p14="http://schemas.microsoft.com/office/powerpoint/2010/main" val="89034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Yer Tutucusu 7">
            <a:extLst>
              <a:ext uri="{FF2B5EF4-FFF2-40B4-BE49-F238E27FC236}">
                <a16:creationId xmlns:a16="http://schemas.microsoft.com/office/drawing/2014/main" id="{379A20A3-BF99-3F48-8C30-9B31A9EADE95}"/>
              </a:ext>
            </a:extLst>
          </p:cNvPr>
          <p:cNvPicPr>
            <a:picLocks noGrp="1" noChangeAspect="1"/>
          </p:cNvPicPr>
          <p:nvPr>
            <p:ph type="pic" sz="quarter" idx="10"/>
          </p:nvPr>
        </p:nvPicPr>
        <p:blipFill rotWithShape="1">
          <a:blip r:embed="rId3" cstate="print">
            <a:extLst>
              <a:ext uri="{28A0092B-C50C-407E-A947-70E740481C1C}">
                <a14:useLocalDpi xmlns:a14="http://schemas.microsoft.com/office/drawing/2010/main" val="0"/>
              </a:ext>
            </a:extLst>
          </a:blip>
          <a:srcRect l="11645" t="7256" r="11645"/>
          <a:stretch/>
        </p:blipFill>
        <p:spPr>
          <a:xfrm>
            <a:off x="0" y="0"/>
            <a:ext cx="7602876" cy="6124445"/>
          </a:xfrm>
        </p:spPr>
      </p:pic>
      <p:sp>
        <p:nvSpPr>
          <p:cNvPr id="3" name="Başlık 2">
            <a:extLst>
              <a:ext uri="{FF2B5EF4-FFF2-40B4-BE49-F238E27FC236}">
                <a16:creationId xmlns:a16="http://schemas.microsoft.com/office/drawing/2014/main" id="{200B3D2B-613A-41BE-987D-E6A1324B456D}"/>
              </a:ext>
            </a:extLst>
          </p:cNvPr>
          <p:cNvSpPr>
            <a:spLocks noGrp="1"/>
          </p:cNvSpPr>
          <p:nvPr>
            <p:ph type="ctrTitle"/>
          </p:nvPr>
        </p:nvSpPr>
        <p:spPr>
          <a:xfrm>
            <a:off x="4676774" y="4304019"/>
            <a:ext cx="4467226" cy="1175819"/>
          </a:xfrm>
        </p:spPr>
        <p:txBody>
          <a:bodyPr vert="horz" lIns="180000" tIns="135000" rIns="252000" bIns="180000" rtlCol="0" anchor="ctr">
            <a:noAutofit/>
          </a:bodyPr>
          <a:lstStyle/>
          <a:p>
            <a:r>
              <a:rPr lang="tr-TR" dirty="0"/>
              <a:t>Sonuçlar</a:t>
            </a:r>
          </a:p>
        </p:txBody>
      </p:sp>
      <p:sp>
        <p:nvSpPr>
          <p:cNvPr id="14" name="Metin Yer Tutucusu 13">
            <a:extLst>
              <a:ext uri="{FF2B5EF4-FFF2-40B4-BE49-F238E27FC236}">
                <a16:creationId xmlns:a16="http://schemas.microsoft.com/office/drawing/2014/main" id="{F278402B-CA7D-4F5B-B3FA-ED74AB3CFB6C}"/>
              </a:ext>
            </a:extLst>
          </p:cNvPr>
          <p:cNvSpPr>
            <a:spLocks noGrp="1"/>
          </p:cNvSpPr>
          <p:nvPr>
            <p:ph type="body" sz="quarter" idx="13"/>
          </p:nvPr>
        </p:nvSpPr>
        <p:spPr>
          <a:xfrm>
            <a:off x="5267739" y="5486776"/>
            <a:ext cx="3876261" cy="637669"/>
          </a:xfrm>
        </p:spPr>
        <p:txBody>
          <a:bodyPr rtlCol="0"/>
          <a:lstStyle/>
          <a:p>
            <a:r>
              <a:rPr lang="en-US" dirty="0"/>
              <a:t>&lt;</a:t>
            </a:r>
            <a:r>
              <a:rPr lang="tr-TR" dirty="0"/>
              <a:t>Hazırlayan Kişinin İsmi</a:t>
            </a:r>
            <a:r>
              <a:rPr lang="en-US" dirty="0"/>
              <a:t>&gt;</a:t>
            </a:r>
            <a:endParaRPr lang="tr-TR" dirty="0"/>
          </a:p>
          <a:p>
            <a:pPr rtl="0"/>
            <a:endParaRPr lang="tr-TR" dirty="0"/>
          </a:p>
        </p:txBody>
      </p:sp>
      <p:sp>
        <p:nvSpPr>
          <p:cNvPr id="5" name="Slayt Numarası Yer Tutucusu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tr-TR" smtClean="0"/>
              <a:pPr rtl="0"/>
              <a:t>16</a:t>
            </a:fld>
            <a:endParaRPr lang="tr-TR" dirty="0"/>
          </a:p>
        </p:txBody>
      </p:sp>
    </p:spTree>
    <p:extLst>
      <p:ext uri="{BB962C8B-B14F-4D97-AF65-F5344CB8AC3E}">
        <p14:creationId xmlns:p14="http://schemas.microsoft.com/office/powerpoint/2010/main" val="518586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Sonuçlar	</a:t>
            </a:r>
          </a:p>
        </p:txBody>
      </p:sp>
      <p:sp>
        <p:nvSpPr>
          <p:cNvPr id="3" name="Content Placeholder 2"/>
          <p:cNvSpPr>
            <a:spLocks noGrp="1"/>
          </p:cNvSpPr>
          <p:nvPr>
            <p:ph idx="1"/>
          </p:nvPr>
        </p:nvSpPr>
        <p:spPr/>
        <p:txBody>
          <a:bodyPr>
            <a:normAutofit/>
          </a:bodyPr>
          <a:lstStyle/>
          <a:p>
            <a:pPr algn="just">
              <a:lnSpc>
                <a:spcPct val="114000"/>
              </a:lnSpc>
            </a:pPr>
            <a:r>
              <a:rPr lang="tr-TR" sz="2000" dirty="0"/>
              <a:t>Rapor özetini ve sonuçlarını içermelidir.</a:t>
            </a:r>
          </a:p>
          <a:p>
            <a:pPr marL="0" indent="0" algn="just">
              <a:lnSpc>
                <a:spcPct val="114000"/>
              </a:lnSpc>
              <a:buNone/>
            </a:pPr>
            <a:endParaRPr lang="tr-TR" sz="2000" dirty="0"/>
          </a:p>
          <a:p>
            <a:pPr marL="0" indent="0" algn="just">
              <a:lnSpc>
                <a:spcPct val="114000"/>
              </a:lnSpc>
              <a:buNone/>
            </a:pPr>
            <a:r>
              <a:rPr lang="tr-TR" sz="2000" b="1" dirty="0"/>
              <a:t>NOT: </a:t>
            </a:r>
            <a:r>
              <a:rPr lang="tr-TR" sz="2000" dirty="0"/>
              <a:t>Genel olarak;</a:t>
            </a:r>
          </a:p>
          <a:p>
            <a:pPr lvl="2" algn="just">
              <a:lnSpc>
                <a:spcPct val="114000"/>
              </a:lnSpc>
            </a:pPr>
            <a:r>
              <a:rPr lang="tr-TR" dirty="0"/>
              <a:t>Tamamlanan &amp; tamamlanmayan işler,</a:t>
            </a:r>
          </a:p>
          <a:p>
            <a:pPr lvl="2" algn="just">
              <a:lnSpc>
                <a:spcPct val="114000"/>
              </a:lnSpc>
            </a:pPr>
            <a:r>
              <a:rPr lang="tr-TR" dirty="0"/>
              <a:t>QR süreci öncesi yapılacak çalışmalar &amp; hazırlıklar ve entegrasyonu tamamlanmış model uydu için oluşturulacak test sistemleri / ortamları, </a:t>
            </a:r>
          </a:p>
          <a:p>
            <a:pPr marL="914400" lvl="2" indent="0" algn="just">
              <a:lnSpc>
                <a:spcPct val="114000"/>
              </a:lnSpc>
              <a:buNone/>
            </a:pPr>
            <a:r>
              <a:rPr lang="tr-TR" dirty="0"/>
              <a:t>Belirtilmelidir.</a:t>
            </a:r>
          </a:p>
          <a:p>
            <a:pPr marL="914400" lvl="2" indent="0" algn="just">
              <a:lnSpc>
                <a:spcPct val="114000"/>
              </a:lnSpc>
              <a:buNone/>
            </a:pPr>
            <a:endParaRPr lang="tr-TR" dirty="0"/>
          </a:p>
          <a:p>
            <a:pPr marL="914400" lvl="2" indent="0" algn="just">
              <a:lnSpc>
                <a:spcPct val="114000"/>
              </a:lnSpc>
              <a:buNone/>
            </a:pPr>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17</a:t>
            </a:fld>
            <a:endParaRPr lang="tr-TR"/>
          </a:p>
        </p:txBody>
      </p:sp>
    </p:spTree>
    <p:extLst>
      <p:ext uri="{BB962C8B-B14F-4D97-AF65-F5344CB8AC3E}">
        <p14:creationId xmlns:p14="http://schemas.microsoft.com/office/powerpoint/2010/main" val="1457116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Şablonun Kullanımı</a:t>
            </a:r>
          </a:p>
        </p:txBody>
      </p:sp>
      <p:sp>
        <p:nvSpPr>
          <p:cNvPr id="3" name="Content Placeholder 2"/>
          <p:cNvSpPr>
            <a:spLocks noGrp="1"/>
          </p:cNvSpPr>
          <p:nvPr>
            <p:ph idx="1"/>
          </p:nvPr>
        </p:nvSpPr>
        <p:spPr>
          <a:xfrm>
            <a:off x="736689" y="1322872"/>
            <a:ext cx="7670622" cy="1439512"/>
          </a:xfrm>
        </p:spPr>
        <p:txBody>
          <a:bodyPr>
            <a:normAutofit fontScale="32500" lnSpcReduction="20000"/>
          </a:bodyPr>
          <a:lstStyle/>
          <a:p>
            <a:pPr algn="just"/>
            <a:r>
              <a:rPr lang="tr-TR" sz="3700" dirty="0"/>
              <a:t>Bütün takımlar bu şablonu kullanmak zorundadır.</a:t>
            </a:r>
          </a:p>
          <a:p>
            <a:pPr algn="just"/>
            <a:r>
              <a:rPr lang="tr-TR" sz="3700" dirty="0"/>
              <a:t>Takım logoları;</a:t>
            </a:r>
          </a:p>
          <a:p>
            <a:pPr lvl="1" algn="just"/>
            <a:r>
              <a:rPr lang="tr-TR" sz="3700" dirty="0"/>
              <a:t>Takım logosu </a:t>
            </a:r>
            <a:r>
              <a:rPr lang="en-US" sz="3700" dirty="0"/>
              <a:t>“</a:t>
            </a:r>
            <a:r>
              <a:rPr lang="tr-TR" sz="3700" dirty="0"/>
              <a:t>görünüm(</a:t>
            </a:r>
            <a:r>
              <a:rPr lang="tr-TR" sz="3700" dirty="0" err="1"/>
              <a:t>view</a:t>
            </a:r>
            <a:r>
              <a:rPr lang="tr-TR" sz="3700" dirty="0"/>
              <a:t>)</a:t>
            </a:r>
            <a:r>
              <a:rPr lang="en-US" sz="3700" dirty="0"/>
              <a:t>-</a:t>
            </a:r>
            <a:r>
              <a:rPr lang="tr-TR" sz="3700" dirty="0"/>
              <a:t>asıl slayt (</a:t>
            </a:r>
            <a:r>
              <a:rPr lang="tr-TR" sz="3700" dirty="0" err="1"/>
              <a:t>slide</a:t>
            </a:r>
            <a:r>
              <a:rPr lang="tr-TR" sz="3700" dirty="0"/>
              <a:t> </a:t>
            </a:r>
            <a:r>
              <a:rPr lang="tr-TR" sz="3700" dirty="0" err="1"/>
              <a:t>master</a:t>
            </a:r>
            <a:r>
              <a:rPr lang="tr-TR" sz="3700" dirty="0"/>
              <a:t>)</a:t>
            </a:r>
            <a:r>
              <a:rPr lang="en-US" sz="3700" dirty="0"/>
              <a:t>- (</a:t>
            </a:r>
            <a:r>
              <a:rPr lang="en-US" sz="3700" dirty="0" err="1"/>
              <a:t>en</a:t>
            </a:r>
            <a:r>
              <a:rPr lang="en-US" sz="3700" dirty="0"/>
              <a:t> </a:t>
            </a:r>
            <a:r>
              <a:rPr lang="tr-TR" sz="3700" dirty="0"/>
              <a:t>üstteki </a:t>
            </a:r>
            <a:r>
              <a:rPr lang="tr-TR" sz="3700" dirty="0" err="1"/>
              <a:t>sablonun</a:t>
            </a:r>
            <a:r>
              <a:rPr lang="tr-TR" sz="3700" dirty="0"/>
              <a:t> sol üst köşesine logo eklenir</a:t>
            </a:r>
            <a:r>
              <a:rPr lang="en-US" sz="3700" dirty="0"/>
              <a:t>)</a:t>
            </a:r>
            <a:r>
              <a:rPr lang="tr-TR" sz="3700" dirty="0"/>
              <a:t> – close master view tıklanır</a:t>
            </a:r>
            <a:r>
              <a:rPr lang="en-US" sz="3700" dirty="0"/>
              <a:t>”</a:t>
            </a:r>
            <a:r>
              <a:rPr lang="tr-TR" sz="3700" dirty="0"/>
              <a:t>.</a:t>
            </a:r>
            <a:endParaRPr lang="en-US" sz="3700" dirty="0"/>
          </a:p>
          <a:p>
            <a:pPr algn="just"/>
            <a:r>
              <a:rPr lang="en-US" sz="3700" dirty="0"/>
              <a:t>Her </a:t>
            </a:r>
            <a:r>
              <a:rPr lang="en-US" sz="3700" dirty="0" err="1"/>
              <a:t>tak</a:t>
            </a:r>
            <a:r>
              <a:rPr lang="tr-TR" sz="3700" dirty="0"/>
              <a:t>ım kendi </a:t>
            </a:r>
            <a:r>
              <a:rPr lang="tr-TR" sz="3700" b="1" dirty="0"/>
              <a:t>takımının ismini ve numarasını </a:t>
            </a:r>
            <a:r>
              <a:rPr lang="tr-TR" sz="3700" dirty="0"/>
              <a:t>şablona eklemelidir.</a:t>
            </a:r>
          </a:p>
          <a:p>
            <a:pPr lvl="1" algn="just"/>
            <a:r>
              <a:rPr lang="tr-TR" sz="3700" dirty="0"/>
              <a:t>Görünüm(</a:t>
            </a:r>
            <a:r>
              <a:rPr lang="en-US" sz="3700" dirty="0"/>
              <a:t>view</a:t>
            </a:r>
            <a:r>
              <a:rPr lang="tr-TR" sz="3700" dirty="0"/>
              <a:t>)</a:t>
            </a:r>
            <a:r>
              <a:rPr lang="en-US" sz="3700" dirty="0"/>
              <a:t>-</a:t>
            </a:r>
            <a:r>
              <a:rPr lang="tr-TR" sz="3700" dirty="0"/>
              <a:t>asıl slayt(</a:t>
            </a:r>
            <a:r>
              <a:rPr lang="en-US" sz="3700" dirty="0"/>
              <a:t>slide master</a:t>
            </a:r>
            <a:r>
              <a:rPr lang="tr-TR" sz="3700" dirty="0"/>
              <a:t>)</a:t>
            </a:r>
            <a:r>
              <a:rPr lang="en-US" sz="3700" dirty="0"/>
              <a:t>- (</a:t>
            </a:r>
            <a:r>
              <a:rPr lang="en-US" sz="3700" dirty="0" err="1"/>
              <a:t>en</a:t>
            </a:r>
            <a:r>
              <a:rPr lang="en-US" sz="3700" dirty="0"/>
              <a:t> </a:t>
            </a:r>
            <a:r>
              <a:rPr lang="tr-TR" sz="3700" dirty="0"/>
              <a:t>üstteki sablonun ilgili kısmında gerekli düzenleme yapılır</a:t>
            </a:r>
            <a:r>
              <a:rPr lang="en-US" sz="3700" dirty="0"/>
              <a:t>)</a:t>
            </a:r>
            <a:r>
              <a:rPr lang="tr-TR" sz="3700" dirty="0"/>
              <a:t> – close master </a:t>
            </a:r>
            <a:r>
              <a:rPr lang="tr-TR" sz="3700" dirty="0" err="1"/>
              <a:t>view</a:t>
            </a:r>
            <a:r>
              <a:rPr lang="tr-TR" sz="3700" dirty="0"/>
              <a:t> tıklanır.</a:t>
            </a:r>
          </a:p>
          <a:p>
            <a:endParaRPr lang="en-US" dirty="0">
              <a:solidFill>
                <a:srgbClr val="FF0000"/>
              </a:solidFill>
            </a:endParaRPr>
          </a:p>
          <a:p>
            <a:pPr lvl="1"/>
            <a:endParaRPr lang="en-US" dirty="0">
              <a:solidFill>
                <a:srgbClr val="FF0000"/>
              </a:solidFill>
            </a:endParaRPr>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18</a:t>
            </a:fld>
            <a:endParaRPr lang="tr-TR"/>
          </a:p>
        </p:txBody>
      </p:sp>
      <p:pic>
        <p:nvPicPr>
          <p:cNvPr id="6" name="Resim 5"/>
          <p:cNvPicPr>
            <a:picLocks noChangeAspect="1"/>
          </p:cNvPicPr>
          <p:nvPr/>
        </p:nvPicPr>
        <p:blipFill rotWithShape="1">
          <a:blip r:embed="rId2"/>
          <a:srcRect b="837"/>
          <a:stretch/>
        </p:blipFill>
        <p:spPr>
          <a:xfrm>
            <a:off x="547029" y="2746254"/>
            <a:ext cx="3763692" cy="2275608"/>
          </a:xfrm>
          <a:prstGeom prst="rect">
            <a:avLst/>
          </a:prstGeom>
        </p:spPr>
      </p:pic>
      <p:pic>
        <p:nvPicPr>
          <p:cNvPr id="7" name="Resim 6"/>
          <p:cNvPicPr>
            <a:picLocks noChangeAspect="1"/>
          </p:cNvPicPr>
          <p:nvPr/>
        </p:nvPicPr>
        <p:blipFill rotWithShape="1">
          <a:blip r:embed="rId3"/>
          <a:srcRect t="-1" b="3152"/>
          <a:stretch/>
        </p:blipFill>
        <p:spPr>
          <a:xfrm>
            <a:off x="4546979" y="2740130"/>
            <a:ext cx="3860332" cy="2275610"/>
          </a:xfrm>
          <a:prstGeom prst="rect">
            <a:avLst/>
          </a:prstGeom>
        </p:spPr>
      </p:pic>
      <p:sp>
        <p:nvSpPr>
          <p:cNvPr id="8" name="Yukarı Ok Belirtme Çizgisi 7"/>
          <p:cNvSpPr/>
          <p:nvPr/>
        </p:nvSpPr>
        <p:spPr>
          <a:xfrm>
            <a:off x="2108199" y="3130551"/>
            <a:ext cx="403225" cy="311150"/>
          </a:xfrm>
          <a:prstGeom prst="up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Metin kutusu 8"/>
          <p:cNvSpPr txBox="1"/>
          <p:nvPr/>
        </p:nvSpPr>
        <p:spPr>
          <a:xfrm>
            <a:off x="2159000" y="3162300"/>
            <a:ext cx="269875" cy="369332"/>
          </a:xfrm>
          <a:prstGeom prst="rect">
            <a:avLst/>
          </a:prstGeom>
          <a:noFill/>
        </p:spPr>
        <p:txBody>
          <a:bodyPr wrap="square" rtlCol="0">
            <a:spAutoFit/>
          </a:bodyPr>
          <a:lstStyle/>
          <a:p>
            <a:r>
              <a:rPr lang="tr-TR" dirty="0">
                <a:solidFill>
                  <a:srgbClr val="FF0000"/>
                </a:solidFill>
              </a:rPr>
              <a:t>1</a:t>
            </a:r>
          </a:p>
        </p:txBody>
      </p:sp>
      <p:sp>
        <p:nvSpPr>
          <p:cNvPr id="10" name="Yukarı Ok Belirtme Çizgisi 9"/>
          <p:cNvSpPr/>
          <p:nvPr/>
        </p:nvSpPr>
        <p:spPr>
          <a:xfrm>
            <a:off x="1212849" y="3327401"/>
            <a:ext cx="403225" cy="311150"/>
          </a:xfrm>
          <a:prstGeom prst="up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a:off x="1263650" y="3359150"/>
            <a:ext cx="269875" cy="369332"/>
          </a:xfrm>
          <a:prstGeom prst="rect">
            <a:avLst/>
          </a:prstGeom>
          <a:noFill/>
        </p:spPr>
        <p:txBody>
          <a:bodyPr wrap="square" rtlCol="0">
            <a:spAutoFit/>
          </a:bodyPr>
          <a:lstStyle/>
          <a:p>
            <a:r>
              <a:rPr lang="tr-TR" dirty="0">
                <a:solidFill>
                  <a:srgbClr val="FF0000"/>
                </a:solidFill>
              </a:rPr>
              <a:t>2</a:t>
            </a:r>
          </a:p>
        </p:txBody>
      </p:sp>
      <p:sp>
        <p:nvSpPr>
          <p:cNvPr id="12" name="Yukarı Ok Belirtme Çizgisi 11"/>
          <p:cNvSpPr/>
          <p:nvPr/>
        </p:nvSpPr>
        <p:spPr>
          <a:xfrm rot="16200000">
            <a:off x="5206433" y="3376894"/>
            <a:ext cx="354012" cy="412185"/>
          </a:xfrm>
          <a:prstGeom prst="up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Metin kutusu 12"/>
          <p:cNvSpPr txBox="1"/>
          <p:nvPr/>
        </p:nvSpPr>
        <p:spPr>
          <a:xfrm>
            <a:off x="5293299" y="3398320"/>
            <a:ext cx="269875" cy="369332"/>
          </a:xfrm>
          <a:prstGeom prst="rect">
            <a:avLst/>
          </a:prstGeom>
          <a:noFill/>
        </p:spPr>
        <p:txBody>
          <a:bodyPr wrap="square" rtlCol="0">
            <a:spAutoFit/>
          </a:bodyPr>
          <a:lstStyle/>
          <a:p>
            <a:r>
              <a:rPr lang="tr-TR" dirty="0">
                <a:solidFill>
                  <a:srgbClr val="FF0000"/>
                </a:solidFill>
              </a:rPr>
              <a:t>3</a:t>
            </a:r>
          </a:p>
        </p:txBody>
      </p:sp>
      <p:sp>
        <p:nvSpPr>
          <p:cNvPr id="14" name="Yukarı Ok Belirtme Çizgisi 13"/>
          <p:cNvSpPr/>
          <p:nvPr/>
        </p:nvSpPr>
        <p:spPr>
          <a:xfrm>
            <a:off x="5705233" y="3572908"/>
            <a:ext cx="403225" cy="311150"/>
          </a:xfrm>
          <a:prstGeom prst="up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p:cNvSpPr txBox="1"/>
          <p:nvPr/>
        </p:nvSpPr>
        <p:spPr>
          <a:xfrm>
            <a:off x="5756034" y="3604657"/>
            <a:ext cx="269875" cy="369332"/>
          </a:xfrm>
          <a:prstGeom prst="rect">
            <a:avLst/>
          </a:prstGeom>
          <a:noFill/>
        </p:spPr>
        <p:txBody>
          <a:bodyPr wrap="square" rtlCol="0">
            <a:spAutoFit/>
          </a:bodyPr>
          <a:lstStyle/>
          <a:p>
            <a:r>
              <a:rPr lang="tr-TR" dirty="0">
                <a:solidFill>
                  <a:srgbClr val="FF0000"/>
                </a:solidFill>
              </a:rPr>
              <a:t>4</a:t>
            </a:r>
          </a:p>
        </p:txBody>
      </p:sp>
      <p:sp>
        <p:nvSpPr>
          <p:cNvPr id="22" name="Yukarı Ok Belirtme Çizgisi 21"/>
          <p:cNvSpPr/>
          <p:nvPr/>
        </p:nvSpPr>
        <p:spPr>
          <a:xfrm rot="10800000">
            <a:off x="7072069" y="4636294"/>
            <a:ext cx="403225" cy="396002"/>
          </a:xfrm>
          <a:prstGeom prst="up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p:cNvSpPr txBox="1"/>
          <p:nvPr/>
        </p:nvSpPr>
        <p:spPr>
          <a:xfrm>
            <a:off x="7138743" y="4585856"/>
            <a:ext cx="269875" cy="369332"/>
          </a:xfrm>
          <a:prstGeom prst="rect">
            <a:avLst/>
          </a:prstGeom>
          <a:noFill/>
        </p:spPr>
        <p:txBody>
          <a:bodyPr wrap="square" rtlCol="0">
            <a:spAutoFit/>
          </a:bodyPr>
          <a:lstStyle/>
          <a:p>
            <a:r>
              <a:rPr lang="tr-TR" dirty="0">
                <a:solidFill>
                  <a:srgbClr val="FF0000"/>
                </a:solidFill>
              </a:rPr>
              <a:t>5</a:t>
            </a:r>
          </a:p>
        </p:txBody>
      </p:sp>
      <p:sp>
        <p:nvSpPr>
          <p:cNvPr id="19" name="Metin kutusu 18">
            <a:extLst>
              <a:ext uri="{FF2B5EF4-FFF2-40B4-BE49-F238E27FC236}">
                <a16:creationId xmlns:a16="http://schemas.microsoft.com/office/drawing/2014/main" id="{80CF1F2A-4436-5740-BB4C-F8EF63861810}"/>
              </a:ext>
            </a:extLst>
          </p:cNvPr>
          <p:cNvSpPr txBox="1"/>
          <p:nvPr/>
        </p:nvSpPr>
        <p:spPr>
          <a:xfrm>
            <a:off x="499623" y="5166825"/>
            <a:ext cx="8094711" cy="1138773"/>
          </a:xfrm>
          <a:prstGeom prst="rect">
            <a:avLst/>
          </a:prstGeom>
          <a:noFill/>
        </p:spPr>
        <p:txBody>
          <a:bodyPr wrap="square">
            <a:spAutoFit/>
          </a:bodyPr>
          <a:lstStyle/>
          <a:p>
            <a:pPr algn="just"/>
            <a:r>
              <a:rPr lang="tr-TR" sz="2000" b="1" dirty="0">
                <a:solidFill>
                  <a:srgbClr val="FF0000"/>
                </a:solidFill>
              </a:rPr>
              <a:t>ÖNEMLİ: </a:t>
            </a:r>
            <a:r>
              <a:rPr lang="tr-TR" sz="2000" b="1" dirty="0">
                <a:solidFill>
                  <a:schemeClr val="accent1">
                    <a:lumMod val="75000"/>
                  </a:schemeClr>
                </a:solidFill>
              </a:rPr>
              <a:t>KRİTİK TASARIM GÖZDEN GEÇİRME RAPORU (CRITICAL DESIGN REVIEW) MAKSİMUM</a:t>
            </a:r>
            <a:r>
              <a:rPr lang="tr-TR" sz="2800" b="1" dirty="0">
                <a:solidFill>
                  <a:schemeClr val="accent1">
                    <a:lumMod val="75000"/>
                  </a:schemeClr>
                </a:solidFill>
              </a:rPr>
              <a:t> </a:t>
            </a:r>
            <a:r>
              <a:rPr lang="tr-TR" sz="2800" b="1" dirty="0">
                <a:solidFill>
                  <a:srgbClr val="FF0000"/>
                </a:solidFill>
              </a:rPr>
              <a:t>40</a:t>
            </a:r>
            <a:r>
              <a:rPr lang="tr-TR" sz="2800" b="1" dirty="0">
                <a:solidFill>
                  <a:schemeClr val="accent1">
                    <a:lumMod val="75000"/>
                  </a:schemeClr>
                </a:solidFill>
              </a:rPr>
              <a:t> </a:t>
            </a:r>
            <a:r>
              <a:rPr lang="tr-TR" sz="2000" b="1" dirty="0">
                <a:solidFill>
                  <a:schemeClr val="accent1">
                    <a:lumMod val="75000"/>
                  </a:schemeClr>
                </a:solidFill>
              </a:rPr>
              <a:t>SAYFA OLMALIDIR. SAYFA SAYISININ AŞILMASI DURUMUNDA PUAN KESİNTİSİ YAPILACAKTIR.</a:t>
            </a:r>
          </a:p>
        </p:txBody>
      </p:sp>
    </p:spTree>
    <p:extLst>
      <p:ext uri="{BB962C8B-B14F-4D97-AF65-F5344CB8AC3E}">
        <p14:creationId xmlns:p14="http://schemas.microsoft.com/office/powerpoint/2010/main" val="2379674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Ek Slayt Oluşturmak</a:t>
            </a:r>
          </a:p>
        </p:txBody>
      </p:sp>
      <p:sp>
        <p:nvSpPr>
          <p:cNvPr id="3" name="Content Placeholder 2"/>
          <p:cNvSpPr>
            <a:spLocks noGrp="1"/>
          </p:cNvSpPr>
          <p:nvPr>
            <p:ph idx="1"/>
          </p:nvPr>
        </p:nvSpPr>
        <p:spPr/>
        <p:txBody>
          <a:bodyPr>
            <a:normAutofit fontScale="92500" lnSpcReduction="10000"/>
          </a:bodyPr>
          <a:lstStyle/>
          <a:p>
            <a:pPr algn="just"/>
            <a:r>
              <a:rPr lang="tr-TR" dirty="0"/>
              <a:t>Slaytta belirtilenleri açıklamanız ve göstermeniz için ekstra slaytlar kullanabilirsiniz;</a:t>
            </a:r>
          </a:p>
          <a:p>
            <a:pPr lvl="1" algn="just"/>
            <a:r>
              <a:rPr lang="tr-TR" dirty="0"/>
              <a:t>Farklı bir başlıkla slayt oluşturulmayacaktır!</a:t>
            </a:r>
          </a:p>
          <a:p>
            <a:pPr lvl="1" algn="just"/>
            <a:r>
              <a:rPr lang="tr-TR" dirty="0"/>
              <a:t>Ek slayta yine aynı slayt başlığı, aşağıdaki örneğe göre oluşturulacaktır.</a:t>
            </a:r>
          </a:p>
          <a:p>
            <a:pPr lvl="2" algn="just"/>
            <a:r>
              <a:rPr lang="tr-TR" dirty="0"/>
              <a:t>Örnek olarak; </a:t>
            </a:r>
            <a:r>
              <a:rPr lang="en-US" dirty="0"/>
              <a:t>“</a:t>
            </a:r>
            <a:r>
              <a:rPr lang="tr-TR" dirty="0"/>
              <a:t>Model Uydunun Birleştirmesi ve Testlerine Genel Bakış</a:t>
            </a:r>
            <a:r>
              <a:rPr lang="en-US" dirty="0"/>
              <a:t>” </a:t>
            </a:r>
            <a:r>
              <a:rPr lang="en-US" dirty="0" err="1"/>
              <a:t>ba</a:t>
            </a:r>
            <a:r>
              <a:rPr lang="tr-TR" dirty="0"/>
              <a:t>şlığı 6 slayt ile açıklanmış olsun.</a:t>
            </a:r>
          </a:p>
          <a:p>
            <a:pPr lvl="2" algn="just"/>
            <a:r>
              <a:rPr lang="tr-TR" dirty="0"/>
              <a:t>Slayt başlıkları şu şekilde olacaktır;</a:t>
            </a:r>
          </a:p>
          <a:p>
            <a:pPr lvl="3" algn="just"/>
            <a:r>
              <a:rPr lang="tr-TR" dirty="0"/>
              <a:t>Model Uydunun Birleştirilmesi ve Testlerine Genel Bakış (1/6)</a:t>
            </a:r>
          </a:p>
          <a:p>
            <a:pPr lvl="3" algn="just"/>
            <a:r>
              <a:rPr lang="tr-TR" dirty="0"/>
              <a:t>Model Uydunun Birleştirilmesi ve Testlerine Genel Bakış (2/6)</a:t>
            </a:r>
          </a:p>
          <a:p>
            <a:pPr marL="1371600" lvl="3" indent="0" algn="just">
              <a:buNone/>
            </a:pPr>
            <a:r>
              <a:rPr lang="tr-TR" dirty="0"/>
              <a:t>				.</a:t>
            </a:r>
          </a:p>
          <a:p>
            <a:pPr marL="1371600" lvl="3" indent="0" algn="just">
              <a:buNone/>
            </a:pPr>
            <a:r>
              <a:rPr lang="tr-TR" dirty="0"/>
              <a:t>				.</a:t>
            </a:r>
          </a:p>
          <a:p>
            <a:pPr marL="1371600" lvl="3" indent="0" algn="just">
              <a:buNone/>
            </a:pPr>
            <a:r>
              <a:rPr lang="tr-TR" dirty="0"/>
              <a:t>				.</a:t>
            </a:r>
          </a:p>
          <a:p>
            <a:pPr lvl="3" algn="just"/>
            <a:r>
              <a:rPr lang="tr-TR" dirty="0"/>
              <a:t>Model Uydunun Birleştirilmesi ve Testlerine Genel Bakış (6/6)</a:t>
            </a:r>
          </a:p>
          <a:p>
            <a:pPr lvl="3"/>
            <a:endParaRPr lang="tr-TR" dirty="0"/>
          </a:p>
          <a:p>
            <a:pPr lvl="1"/>
            <a:endParaRPr lang="tr-TR" dirty="0"/>
          </a:p>
        </p:txBody>
      </p:sp>
      <p:sp>
        <p:nvSpPr>
          <p:cNvPr id="4" name="Date Placeholder 3"/>
          <p:cNvSpPr>
            <a:spLocks noGrp="1"/>
          </p:cNvSpPr>
          <p:nvPr>
            <p:ph type="dt" sz="half" idx="10"/>
          </p:nvPr>
        </p:nvSpPr>
        <p:spPr/>
        <p:txBody>
          <a:bodyPr/>
          <a:lstStyle/>
          <a:p>
            <a:r>
              <a:rPr lang="tr-TR" dirty="0"/>
              <a:t>Hazırlayan: </a:t>
            </a:r>
          </a:p>
        </p:txBody>
      </p:sp>
      <p:sp>
        <p:nvSpPr>
          <p:cNvPr id="5" name="Slide Number Placeholder 4"/>
          <p:cNvSpPr>
            <a:spLocks noGrp="1"/>
          </p:cNvSpPr>
          <p:nvPr>
            <p:ph type="sldNum" sz="quarter" idx="12"/>
          </p:nvPr>
        </p:nvSpPr>
        <p:spPr/>
        <p:txBody>
          <a:bodyPr/>
          <a:lstStyle/>
          <a:p>
            <a:fld id="{BA433DDD-27A3-4D57-BF79-3C63943A44E8}" type="slidenum">
              <a:rPr lang="tr-TR" smtClean="0"/>
              <a:pPr/>
              <a:t>19</a:t>
            </a:fld>
            <a:endParaRPr lang="tr-TR"/>
          </a:p>
        </p:txBody>
      </p:sp>
    </p:spTree>
    <p:extLst>
      <p:ext uri="{BB962C8B-B14F-4D97-AF65-F5344CB8AC3E}">
        <p14:creationId xmlns:p14="http://schemas.microsoft.com/office/powerpoint/2010/main" val="3469553606"/>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Özel Tasarı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Şablon" ma:contentTypeID="0x01010085757E98095E154BBD9DF6F56FFD1649" ma:contentTypeVersion="3" ma:contentTypeDescription="Yarışmada kullanılacak şablondur." ma:contentTypeScope="" ma:versionID="d02a1f82053eff2b2df4e72fdbcd1463">
  <xsd:schema xmlns:xsd="http://www.w3.org/2001/XMLSchema" xmlns:xs="http://www.w3.org/2001/XMLSchema" xmlns:p="http://schemas.microsoft.com/office/2006/metadata/properties" xmlns:ns2="http://schemas.microsoft.com/sharepoint/v3/fields" xmlns:ns3="95a7b65b-bc74-4330-89a5-e2dc755c283e" targetNamespace="http://schemas.microsoft.com/office/2006/metadata/properties" ma:root="true" ma:fieldsID="8bb19ac38008cb686368b63619a84321" ns2:_="" ns3:_="">
    <xsd:import namespace="http://schemas.microsoft.com/sharepoint/v3/fields"/>
    <xsd:import namespace="95a7b65b-bc74-4330-89a5-e2dc755c283e"/>
    <xsd:element name="properties">
      <xsd:complexType>
        <xsd:sequence>
          <xsd:element name="documentManagement">
            <xsd:complexType>
              <xsd:all>
                <xsd:element ref="ns2:_Status" minOccurs="0"/>
                <xsd:element ref="ns3:Takım_x0020_İsmi" minOccurs="0"/>
                <xsd:element ref="ns3:Üniversite"/>
                <xsd:element ref="ns3:Takım_x0020_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Durum" ma:default="Taslak" ma:format="Dropdown" ma:internalName="Durum">
      <xsd:simpleType>
        <xsd:restriction base="dms:Choice">
          <xsd:enumeration value="Taslak"/>
          <xsd:enumeration value="Gözden Geçirildi"/>
          <xsd:enumeration value="Onaylandı"/>
          <xsd:enumeration value="Reddedildi"/>
          <xsd:enumeration value="Yayımlandı"/>
          <xsd:enumeration value="Gönderildi"/>
          <xsd:enumeration value="Teslim Alındı"/>
          <xsd:enumeration value="Açık"/>
          <xsd:enumeration value="Bekleniyor"/>
          <xsd:enumeration value="Kapandı"/>
          <xsd:enumeration value="Süresi Doldu"/>
        </xsd:restriction>
      </xsd:simpleType>
    </xsd:element>
  </xsd:schema>
  <xsd:schema xmlns:xsd="http://www.w3.org/2001/XMLSchema" xmlns:xs="http://www.w3.org/2001/XMLSchema" xmlns:dms="http://schemas.microsoft.com/office/2006/documentManagement/types" xmlns:pc="http://schemas.microsoft.com/office/infopath/2007/PartnerControls" targetNamespace="95a7b65b-bc74-4330-89a5-e2dc755c283e" elementFormDefault="qualified">
    <xsd:import namespace="http://schemas.microsoft.com/office/2006/documentManagement/types"/>
    <xsd:import namespace="http://schemas.microsoft.com/office/infopath/2007/PartnerControls"/>
    <xsd:element name="Takım_x0020_İsmi" ma:index="9" nillable="true" ma:displayName="Takım İsmi" ma:description="Yarışmaya katılan takımın ismidir." ma:indexed="true" ma:internalName="Tak_x0131_m_x0020__x0130_smi">
      <xsd:simpleType>
        <xsd:restriction base="dms:Text">
          <xsd:maxLength value="255"/>
        </xsd:restriction>
      </xsd:simpleType>
    </xsd:element>
    <xsd:element name="Üniversite" ma:index="10" ma:displayName="Üniversite" ma:default="Üniversite seçiniz..." ma:format="Dropdown" ma:internalName="_x00dc_niversite">
      <xsd:simpleType>
        <xsd:union memberTypes="dms:Text">
          <xsd:simpleType>
            <xsd:restriction base="dms:Choice">
              <xsd:enumeration value="Üniversite seçiniz..."/>
              <xsd:enumeration value="19 Mayıs Üniversitesi"/>
              <xsd:enumeration value="Abdullah GÜL Üniversitesi"/>
              <xsd:enumeration value="Afyon Kocatepe Üniversitesi"/>
              <xsd:enumeration value="Akdeniz Üniversitesi"/>
              <xsd:enumeration value="Amasya Üniversitesi"/>
              <xsd:enumeration value="Ankara Üniversitesi"/>
              <xsd:enumeration value="Ankara Yıldırım Beyazıt Üniversitesi"/>
              <xsd:enumeration value="Atılım Üniversitesi"/>
              <xsd:enumeration value="Başkent Üniversitesi"/>
              <xsd:enumeration value="Bursa Teknik Üniversitesi"/>
              <xsd:enumeration value="Bülent Ecevit Üniversitesi"/>
              <xsd:enumeration value="Çanakkale 18 Mart Üniversitesi"/>
              <xsd:enumeration value="Ege Üniversitesi"/>
              <xsd:enumeration value="Erzurum Teknik Üniversitesi"/>
              <xsd:enumeration value="Fırat Üniversitesi"/>
              <xsd:enumeration value="Gaziantep Üniversitesi"/>
              <xsd:enumeration value="Gebze Teknik Üniversitesi"/>
              <xsd:enumeration value="Hacettepe Üniversitesi"/>
              <xsd:enumeration value="İstanbul Aydın Üniversitesi"/>
              <xsd:enumeration value="İstanbul Gedik Üniversitesi"/>
              <xsd:enumeration value="İstanbul Şehir Üniversitesi"/>
              <xsd:enumeration value="İstanbul Teknik Üniversitesi"/>
              <xsd:enumeration value="İstanbul Üniversitesi"/>
              <xsd:enumeration value="Kahramanmaraş Sütçü İmam Üniversitesi"/>
              <xsd:enumeration value="Karadeniz Teknik Üniversitesi"/>
              <xsd:enumeration value="Kırıkkale Üniversitesi"/>
              <xsd:enumeration value="Okan Üniversitesi"/>
              <xsd:enumeration value="Sakarya Üniversitesi"/>
              <xsd:enumeration value="Türk Hava Kurumu Üniversitesi"/>
              <xsd:enumeration value="Yıldız Teknik Üniversitesi"/>
            </xsd:restriction>
          </xsd:simpleType>
        </xsd:union>
      </xsd:simpleType>
    </xsd:element>
    <xsd:element name="Takım_x0020_No" ma:index="11" nillable="true" ma:displayName="Takım No" ma:decimals="0" ma:description="Takıma atanan 4 haneli benzersiz numaradır." ma:indexed="true" ma:internalName="Tak_x0131_m_x0020_No" ma:percentage="FALSE">
      <xsd:simpleType>
        <xsd:restriction base="dms:Number">
          <xsd:maxInclusive value="9999"/>
          <xsd:minInclusive value="1000"/>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Durum"/>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Üniversite xmlns="95a7b65b-bc74-4330-89a5-e2dc755c283e">Üniversite seçiniz...</Üniversite>
    <_Status xmlns="http://schemas.microsoft.com/sharepoint/v3/fields">Taslak</_Status>
    <Takım_x0020_İsmi xmlns="95a7b65b-bc74-4330-89a5-e2dc755c283e" xsi:nil="true"/>
    <Takım_x0020_No xmlns="95a7b65b-bc74-4330-89a5-e2dc755c283e" xsi:nil="true"/>
  </documentManagement>
</p:properties>
</file>

<file path=customXml/itemProps1.xml><?xml version="1.0" encoding="utf-8"?>
<ds:datastoreItem xmlns:ds="http://schemas.openxmlformats.org/officeDocument/2006/customXml" ds:itemID="{430C38D6-2FD3-4BBE-B661-06708E43180C}">
  <ds:schemaRefs>
    <ds:schemaRef ds:uri="http://schemas.microsoft.com/sharepoint/v3/contenttype/forms"/>
  </ds:schemaRefs>
</ds:datastoreItem>
</file>

<file path=customXml/itemProps2.xml><?xml version="1.0" encoding="utf-8"?>
<ds:datastoreItem xmlns:ds="http://schemas.openxmlformats.org/officeDocument/2006/customXml" ds:itemID="{E0A31E31-1D45-40F1-9CD6-DA9E4A5504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95a7b65b-bc74-4330-89a5-e2dc755c28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E800B7-3468-4047-859C-3B56DC29EE64}">
  <ds:schemaRefs>
    <ds:schemaRef ds:uri="http://schemas.microsoft.com/office/2006/documentManagement/types"/>
    <ds:schemaRef ds:uri="http://purl.org/dc/elements/1.1/"/>
    <ds:schemaRef ds:uri="http://schemas.microsoft.com/sharepoint/v3/fields"/>
    <ds:schemaRef ds:uri="http://schemas.microsoft.com/office/2006/metadata/properties"/>
    <ds:schemaRef ds:uri="http://schemas.microsoft.com/office/infopath/2007/PartnerControls"/>
    <ds:schemaRef ds:uri="95a7b65b-bc74-4330-89a5-e2dc755c283e"/>
    <ds:schemaRef ds:uri="http://purl.org/dc/dcmitype/"/>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8266</TotalTime>
  <Words>1050</Words>
  <Application>Microsoft Office PowerPoint</Application>
  <PresentationFormat>Ekran Gösterisi (4:3)</PresentationFormat>
  <Paragraphs>147</Paragraphs>
  <Slides>19</Slides>
  <Notes>6</Notes>
  <HiddenSlides>0</HiddenSlides>
  <MMClips>0</MMClips>
  <ScaleCrop>false</ScaleCrop>
  <HeadingPairs>
    <vt:vector size="6" baseType="variant">
      <vt:variant>
        <vt:lpstr>Kullanılan Yazı Tipleri</vt:lpstr>
      </vt:variant>
      <vt:variant>
        <vt:i4>4</vt:i4>
      </vt:variant>
      <vt:variant>
        <vt:lpstr>Tema</vt:lpstr>
      </vt:variant>
      <vt:variant>
        <vt:i4>2</vt:i4>
      </vt:variant>
      <vt:variant>
        <vt:lpstr>Slayt Başlıkları</vt:lpstr>
      </vt:variant>
      <vt:variant>
        <vt:i4>19</vt:i4>
      </vt:variant>
    </vt:vector>
  </HeadingPairs>
  <TitlesOfParts>
    <vt:vector size="25" baseType="lpstr">
      <vt:lpstr>Arial</vt:lpstr>
      <vt:lpstr>Calibri</vt:lpstr>
      <vt:lpstr>Calibri Light</vt:lpstr>
      <vt:lpstr>Times New Roman</vt:lpstr>
      <vt:lpstr>Office Theme</vt:lpstr>
      <vt:lpstr>Özel Tasarım</vt:lpstr>
      <vt:lpstr>PowerPoint Sunusu</vt:lpstr>
      <vt:lpstr>Tasarım Gözden Geçirme</vt:lpstr>
      <vt:lpstr>PDR’dan Sonra Yapılan Değişiklikler</vt:lpstr>
      <vt:lpstr>PowerPoint Sunusu</vt:lpstr>
      <vt:lpstr>Mekanik Alt Sistem Gözden Geçirme</vt:lpstr>
      <vt:lpstr>Görev Araştırmaları</vt:lpstr>
      <vt:lpstr>Görev Araştırması - 1  Stabil İniş Güdümlü Mekanik Aktüatör (SİGMA) (1/3)</vt:lpstr>
      <vt:lpstr>Görev Araştırması - 1  Stabil İniş Güdümlü Mekanik Aktüatör (SİGMA) (2/3)</vt:lpstr>
      <vt:lpstr>Görev Araştırması - 1  Stabil İniş Güdümlü Mekanik Aktüatör (SİGMA) (3/3)</vt:lpstr>
      <vt:lpstr>Görev Araştırması - 2 Acil Paraşüt Açma Mekanizması (APAM)</vt:lpstr>
      <vt:lpstr>Haberleşme ve Veri İşleme Alt Sistemi Gözden Geçirme</vt:lpstr>
      <vt:lpstr>Görev Yükü ve Yer İstasyonu Anteni Gözden Geçirme</vt:lpstr>
      <vt:lpstr>Haberleşme Mimarisi Konsept Önerisi</vt:lpstr>
      <vt:lpstr>Süreç Gözden Geçirme</vt:lpstr>
      <vt:lpstr>Entegrasyon, Test ve Risk Değerlendirmesi</vt:lpstr>
      <vt:lpstr>Sonuçlar</vt:lpstr>
      <vt:lpstr>Sonuçlar </vt:lpstr>
      <vt:lpstr>Şablonun Kullanımı</vt:lpstr>
      <vt:lpstr>Ek Slayt Oluşturmak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Ön Tasarım Gözden Geçirme Raporu</dc:title>
  <dc:creator>Eren Ömer KOÇULU</dc:creator>
  <cp:keywords>model uydu; tmuy</cp:keywords>
  <cp:lastModifiedBy>Ahmet Şamil Yücel</cp:lastModifiedBy>
  <cp:revision>813</cp:revision>
  <dcterms:created xsi:type="dcterms:W3CDTF">2016-03-11T08:34:40Z</dcterms:created>
  <dcterms:modified xsi:type="dcterms:W3CDTF">2026-06-22T10:09:25Z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0x01010085757E98095E154BBD9DF6F56FFD1649</vt:lpwstr>
  </property>
  <property fmtid="{D5CDD505-2E9C-101B-9397-08002B2CF9AE}" pid="3" name="TaxKeyword">
    <vt:lpwstr>2;#tmuy|107d8c62-4b10-4b57-8c67-8ee3ee79b332;#1;#model uydu|29f7fbd1-54fd-4873-a549-2eb9e5eb68f6</vt:lpwstr>
  </property>
</Properties>
</file>