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8" r:id="rId5"/>
  </p:sldMasterIdLst>
  <p:notesMasterIdLst>
    <p:notesMasterId r:id="rId41"/>
  </p:notesMasterIdLst>
  <p:handoutMasterIdLst>
    <p:handoutMasterId r:id="rId42"/>
  </p:handoutMasterIdLst>
  <p:sldIdLst>
    <p:sldId id="370" r:id="rId6"/>
    <p:sldId id="257" r:id="rId7"/>
    <p:sldId id="354" r:id="rId8"/>
    <p:sldId id="268" r:id="rId9"/>
    <p:sldId id="364" r:id="rId10"/>
    <p:sldId id="282" r:id="rId11"/>
    <p:sldId id="374" r:id="rId12"/>
    <p:sldId id="375" r:id="rId13"/>
    <p:sldId id="355" r:id="rId14"/>
    <p:sldId id="284" r:id="rId15"/>
    <p:sldId id="372" r:id="rId16"/>
    <p:sldId id="290" r:id="rId17"/>
    <p:sldId id="356" r:id="rId18"/>
    <p:sldId id="292" r:id="rId19"/>
    <p:sldId id="297" r:id="rId20"/>
    <p:sldId id="299" r:id="rId21"/>
    <p:sldId id="373" r:id="rId22"/>
    <p:sldId id="378" r:id="rId23"/>
    <p:sldId id="367" r:id="rId24"/>
    <p:sldId id="304" r:id="rId25"/>
    <p:sldId id="307" r:id="rId26"/>
    <p:sldId id="358" r:id="rId27"/>
    <p:sldId id="310" r:id="rId28"/>
    <p:sldId id="312" r:id="rId29"/>
    <p:sldId id="376" r:id="rId30"/>
    <p:sldId id="368" r:id="rId31"/>
    <p:sldId id="342" r:id="rId32"/>
    <p:sldId id="371" r:id="rId33"/>
    <p:sldId id="365" r:id="rId34"/>
    <p:sldId id="340" r:id="rId35"/>
    <p:sldId id="339" r:id="rId36"/>
    <p:sldId id="363" r:id="rId37"/>
    <p:sldId id="329" r:id="rId38"/>
    <p:sldId id="330" r:id="rId39"/>
    <p:sldId id="334" r:id="rId4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Şule Şahin" initials="ŞŞ" lastIdx="0" clrIdx="0">
    <p:extLst>
      <p:ext uri="{19B8F6BF-5375-455C-9EA6-DF929625EA0E}">
        <p15:presenceInfo xmlns:p15="http://schemas.microsoft.com/office/powerpoint/2012/main" userId="S-1-5-21-1567453505-1909566795-288842301-18144" providerId="AD"/>
      </p:ext>
    </p:extLst>
  </p:cmAuthor>
  <p:cmAuthor id="2" name="Seda Çalık" initials="SÇ" lastIdx="1" clrIdx="1">
    <p:extLst>
      <p:ext uri="{19B8F6BF-5375-455C-9EA6-DF929625EA0E}">
        <p15:presenceInfo xmlns:p15="http://schemas.microsoft.com/office/powerpoint/2012/main" userId="S-1-5-21-1567453505-1909566795-288842301-183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D8"/>
    <a:srgbClr val="448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69" autoAdjust="0"/>
    <p:restoredTop sz="94660"/>
  </p:normalViewPr>
  <p:slideViewPr>
    <p:cSldViewPr snapToGrid="0">
      <p:cViewPr>
        <p:scale>
          <a:sx n="112" d="100"/>
          <a:sy n="112" d="100"/>
        </p:scale>
        <p:origin x="-352" y="1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28428"/>
    </p:cViewPr>
  </p:sorter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1D02C-F902-4089-B3CD-5386B6413274}" type="datetimeFigureOut">
              <a:rPr lang="tr-TR" smtClean="0"/>
              <a:pPr/>
              <a:t>13.03.2026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CEA48-2031-49A8-B11B-F61382B82126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493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944DC-7797-4018-98B2-A3F91D4C3D05}" type="datetimeFigureOut">
              <a:rPr lang="tr-TR" smtClean="0"/>
              <a:pPr/>
              <a:t>13.03.2026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CEA3A-C9C4-45FD-B6F4-2B45A0EA7880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461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86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3824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5917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87484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171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8474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2572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29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7965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r-TR" smtClean="0"/>
              <a:t>32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903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9" y="1729228"/>
            <a:ext cx="7315200" cy="1745899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75611"/>
            <a:ext cx="6858000" cy="1512652"/>
          </a:xfrm>
        </p:spPr>
        <p:txBody>
          <a:bodyPr/>
          <a:lstStyle>
            <a:lvl1pPr marL="0" indent="0" algn="ct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5"/>
          </p:nvPr>
        </p:nvSpPr>
        <p:spPr>
          <a:xfrm>
            <a:off x="113484" y="6486228"/>
            <a:ext cx="2059032" cy="30421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</p:spTree>
    <p:extLst>
      <p:ext uri="{BB962C8B-B14F-4D97-AF65-F5344CB8AC3E}">
        <p14:creationId xmlns:p14="http://schemas.microsoft.com/office/powerpoint/2010/main" val="165925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005" y="365126"/>
            <a:ext cx="4857497" cy="304799"/>
          </a:xfrm>
        </p:spPr>
        <p:txBody>
          <a:bodyPr/>
          <a:lstStyle>
            <a:lvl1pPr>
              <a:defRPr sz="2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81854" y="6425314"/>
            <a:ext cx="694509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48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60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723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1733005" y="365126"/>
            <a:ext cx="4857497" cy="304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714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2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365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yırma Slaydı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sim Yer Tutucusu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08559" y="1"/>
            <a:ext cx="7335441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Buraya Ekleyin veya </a:t>
            </a:r>
            <a:br>
              <a:rPr lang="tr-TR" dirty="0"/>
            </a:br>
            <a:r>
              <a:rPr lang="tr-TR" dirty="0"/>
              <a:t>Sürükleyip Bırakın</a:t>
            </a:r>
          </a:p>
        </p:txBody>
      </p:sp>
      <p:sp>
        <p:nvSpPr>
          <p:cNvPr id="3" name="Başlık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75" y="2156226"/>
            <a:ext cx="44685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3600" b="1" spc="-225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tr-TR" dirty="0"/>
              <a:t>Bölüm ayırıcıyı düzenlemek için tıklayın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1"/>
            <a:ext cx="4467225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200025" indent="0" algn="r">
              <a:buNone/>
              <a:defRPr sz="1350">
                <a:solidFill>
                  <a:schemeClr val="bg1"/>
                </a:solidFill>
              </a:defRPr>
            </a:lvl2pPr>
            <a:lvl3pPr marL="407194" indent="0" algn="r">
              <a:buNone/>
              <a:defRPr sz="1350">
                <a:solidFill>
                  <a:schemeClr val="bg1"/>
                </a:solidFill>
              </a:defRPr>
            </a:lvl3pPr>
            <a:lvl4pPr marL="607219" indent="0" algn="r">
              <a:buNone/>
              <a:defRPr sz="1350">
                <a:solidFill>
                  <a:schemeClr val="bg1"/>
                </a:solidFill>
              </a:defRPr>
            </a:lvl4pPr>
            <a:lvl5pPr marL="807244" indent="0" algn="r">
              <a:buNone/>
              <a:defRPr sz="135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r-TR" dirty="0"/>
              <a:t>Asıl alt başlık stilini düzenlemek için tıklatın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7335078" y="6803351"/>
            <a:ext cx="1484923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7335078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8820000" y="6803351"/>
            <a:ext cx="324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796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yırıcı Slayt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sim Yer Tutucusu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7335441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tr-TR" dirty="0"/>
              <a:t>Fotoğrafınızı Buraya Ekleyin veya </a:t>
            </a:r>
            <a:br>
              <a:rPr lang="tr-TR" dirty="0"/>
            </a:br>
            <a:r>
              <a:rPr lang="tr-TR" dirty="0"/>
              <a:t>Sürükleyip Bırakın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6775" y="2204792"/>
            <a:ext cx="4467225" cy="1944000"/>
          </a:xfrm>
          <a:solidFill>
            <a:schemeClr val="bg1"/>
          </a:solidFill>
        </p:spPr>
        <p:txBody>
          <a:bodyPr vert="horz" lIns="180000" tIns="324000" rIns="252000" bIns="180000" rtlCol="0" anchor="t">
            <a:noAutofit/>
          </a:bodyPr>
          <a:lstStyle>
            <a:lvl1pPr algn="r">
              <a:defRPr lang="en-ZA" sz="3600" b="1" spc="-225" dirty="0"/>
            </a:lvl1pPr>
          </a:lstStyle>
          <a:p>
            <a:pPr lvl="0" algn="r" rtl="0"/>
            <a:r>
              <a:rPr lang="tr-TR" dirty="0"/>
              <a:t>Bölüm ayırıcıyı düzenlemek için tıklayın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6775" y="4148861"/>
            <a:ext cx="4467225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350">
                <a:solidFill>
                  <a:schemeClr val="bg1"/>
                </a:solidFill>
              </a:defRPr>
            </a:lvl1pPr>
            <a:lvl2pPr marL="200025" indent="0" algn="r">
              <a:buNone/>
              <a:defRPr sz="1350">
                <a:solidFill>
                  <a:schemeClr val="bg1"/>
                </a:solidFill>
              </a:defRPr>
            </a:lvl2pPr>
            <a:lvl3pPr marL="407194" indent="0" algn="r">
              <a:buNone/>
              <a:defRPr sz="1350">
                <a:solidFill>
                  <a:schemeClr val="bg1"/>
                </a:solidFill>
              </a:defRPr>
            </a:lvl3pPr>
            <a:lvl4pPr marL="607219" indent="0" algn="r">
              <a:buNone/>
              <a:defRPr sz="1350">
                <a:solidFill>
                  <a:schemeClr val="bg1"/>
                </a:solidFill>
              </a:defRPr>
            </a:lvl4pPr>
            <a:lvl5pPr marL="807244" indent="0" algn="r">
              <a:buNone/>
              <a:defRPr sz="135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r-TR" dirty="0"/>
              <a:t>Asıl alt başlık stilini düzenlemek için tıklatın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Alt bilgi ekleme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7335078" y="6803351"/>
            <a:ext cx="1484923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7335078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8820000" y="6803351"/>
            <a:ext cx="324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350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2856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B57A-85FF-0142-B423-95E0DCAA3807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F888D-2DC9-0C47-A5FF-E2B533514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734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1105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93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1482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89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8691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6317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2161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7679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997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366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106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8867" y="365126"/>
            <a:ext cx="4915744" cy="304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232" y="1532288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261" y="6426024"/>
            <a:ext cx="2235816" cy="364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0891" y="6425314"/>
            <a:ext cx="6945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AA2C35-F30A-4167-A3BF-343FE84AF40A}" type="slidenum">
              <a:rPr lang="tr-TR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7"/>
          <p:cNvSpPr txBox="1">
            <a:spLocks/>
          </p:cNvSpPr>
          <p:nvPr userDrawn="1"/>
        </p:nvSpPr>
        <p:spPr>
          <a:xfrm>
            <a:off x="228600" y="82270"/>
            <a:ext cx="1430267" cy="856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Takim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Logosu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ine 8"/>
          <p:cNvSpPr>
            <a:spLocks noChangeShapeType="1"/>
          </p:cNvSpPr>
          <p:nvPr userDrawn="1"/>
        </p:nvSpPr>
        <p:spPr bwMode="auto">
          <a:xfrm>
            <a:off x="228600" y="990600"/>
            <a:ext cx="868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7"/>
          <p:cNvSpPr>
            <a:spLocks noChangeShapeType="1"/>
          </p:cNvSpPr>
          <p:nvPr userDrawn="1"/>
        </p:nvSpPr>
        <p:spPr bwMode="auto">
          <a:xfrm>
            <a:off x="211182" y="6400800"/>
            <a:ext cx="868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ontent Placeholder 18"/>
          <p:cNvSpPr txBox="1">
            <a:spLocks/>
          </p:cNvSpPr>
          <p:nvPr userDrawn="1"/>
        </p:nvSpPr>
        <p:spPr>
          <a:xfrm>
            <a:off x="1949986" y="6486228"/>
            <a:ext cx="5548078" cy="304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11.T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ÜRKSAT Model Uydu Yarışması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20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PDR: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ı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İ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smi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Takım No: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####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92ED425F-0316-7C40-A1E9-7E7ED753DB7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53" y="300954"/>
            <a:ext cx="2108530" cy="383369"/>
          </a:xfrm>
          <a:prstGeom prst="rect">
            <a:avLst/>
          </a:prstGeom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3A0B1074-DE0F-3745-AB2D-E69F8555B511}"/>
              </a:ext>
            </a:extLst>
          </p:cNvPr>
          <p:cNvSpPr txBox="1"/>
          <p:nvPr userDrawn="1"/>
        </p:nvSpPr>
        <p:spPr>
          <a:xfrm>
            <a:off x="7141029" y="1251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E880426-344F-9B4F-BDEC-4B04E21A32A9}"/>
              </a:ext>
            </a:extLst>
          </p:cNvPr>
          <p:cNvSpPr txBox="1"/>
          <p:nvPr userDrawn="1"/>
        </p:nvSpPr>
        <p:spPr>
          <a:xfrm>
            <a:off x="3497580" y="8115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413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0" r:id="rId8"/>
    <p:sldLayoutId id="2147483681" r:id="rId9"/>
    <p:sldLayoutId id="2147483682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70C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9265-E89E-4864-B591-291AE8D07266}" type="datetimeFigureOut">
              <a:rPr lang="tr-TR" smtClean="0"/>
              <a:t>13.03.2026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85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A86B8E72-0801-3F4B-8155-ECC94E5CF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6" t="5291" r="3693" b="4382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45AB9F91-2D58-F94C-B78E-A5DD9A4D9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926" y="225845"/>
            <a:ext cx="2698474" cy="32204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FC903CE-CE47-E74E-B4DF-07A38B9F9DB6}"/>
              </a:ext>
            </a:extLst>
          </p:cNvPr>
          <p:cNvSpPr txBox="1"/>
          <p:nvPr/>
        </p:nvSpPr>
        <p:spPr>
          <a:xfrm>
            <a:off x="5886426" y="1495606"/>
            <a:ext cx="3028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tr-T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OKUL İSMİ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tr-T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07913C4-3ACC-1341-9A4B-40DDCBDD61F3}"/>
              </a:ext>
            </a:extLst>
          </p:cNvPr>
          <p:cNvSpPr txBox="1">
            <a:spLocks/>
          </p:cNvSpPr>
          <p:nvPr/>
        </p:nvSpPr>
        <p:spPr>
          <a:xfrm>
            <a:off x="0" y="1787994"/>
            <a:ext cx="4234070" cy="38464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11.TÜRKSAT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96D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Model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Uydu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Yar</a:t>
            </a:r>
            <a:r>
              <a:rPr kumimoji="0" lang="tr-TR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ışması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20</a:t>
            </a: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26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Ön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Tasarım Gözden Geçirme Raporu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tr-TR" sz="1800" b="0" dirty="0">
                <a:solidFill>
                  <a:sysClr val="window" lastClr="FFFFFF"/>
                </a:solidFill>
              </a:rPr>
              <a:t>Preliminary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Design Review (PDR)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 err="1">
                <a:solidFill>
                  <a:sysClr val="window" lastClr="FFFFFF"/>
                </a:solidFill>
              </a:rPr>
              <a:t>Kategori</a:t>
            </a:r>
            <a:r>
              <a:rPr lang="en-US" sz="1800" b="0" dirty="0">
                <a:solidFill>
                  <a:sysClr val="window" lastClr="FFFFFF"/>
                </a:solidFill>
              </a:rPr>
              <a:t>-SİGMA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tr-TR" sz="24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Versiyon </a:t>
            </a:r>
            <a:r>
              <a:rPr lang="tr-TR" sz="2400" i="1" dirty="0">
                <a:solidFill>
                  <a:sysClr val="window" lastClr="FFFFFF"/>
                </a:solidFill>
              </a:rPr>
              <a:t>4.0</a:t>
            </a:r>
            <a:endParaRPr kumimoji="0" lang="tr-TR" sz="24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24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D7734F1-2F06-DD4B-B719-04978EE49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4182" y="5790443"/>
            <a:ext cx="3630244" cy="102761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tr-T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Takım Numarası #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tr-T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ım</a:t>
            </a:r>
            <a:r>
              <a:rPr lang="tr-T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İsmi</a:t>
            </a:r>
          </a:p>
        </p:txBody>
      </p:sp>
    </p:spTree>
    <p:extLst>
      <p:ext uri="{BB962C8B-B14F-4D97-AF65-F5344CB8AC3E}">
        <p14:creationId xmlns:p14="http://schemas.microsoft.com/office/powerpoint/2010/main" val="164545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İçindekiler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endParaRPr lang="tr-TR" sz="2400" dirty="0"/>
          </a:p>
          <a:p>
            <a:pPr algn="just">
              <a:lnSpc>
                <a:spcPct val="114000"/>
              </a:lnSpc>
            </a:pPr>
            <a:r>
              <a:rPr lang="en-US" sz="2400" dirty="0"/>
              <a:t>Ana </a:t>
            </a:r>
            <a:r>
              <a:rPr lang="tr-TR" sz="2400" dirty="0"/>
              <a:t>başlıkları ve alt başlıkları içeren içindekiler bölümü hazırlanmalıdır.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Bu ana başlıkları hazırlayanlar belirtilmelidir.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Rapor PDF formatına dönüştürüldüğünde; her bir alt başlığa tıklandığı zaman, o başlığın bulunduğu sayfaya gidecek şekilde özel ayar yapılmalıdır. 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D13EBE6-1BE5-B340-BCD0-BB008C19207B}"/>
              </a:ext>
            </a:extLst>
          </p:cNvPr>
          <p:cNvSpPr txBox="1"/>
          <p:nvPr/>
        </p:nvSpPr>
        <p:spPr>
          <a:xfrm>
            <a:off x="7098030" y="6743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3051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Yer Tutucusu 6">
            <a:extLst>
              <a:ext uri="{FF2B5EF4-FFF2-40B4-BE49-F238E27FC236}">
                <a16:creationId xmlns:a16="http://schemas.microsoft.com/office/drawing/2014/main" id="{BB4E1FB7-3513-E947-98B2-C5C8681586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" r="357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501" y="4309607"/>
            <a:ext cx="7919499" cy="1192695"/>
          </a:xfrm>
        </p:spPr>
        <p:txBody>
          <a:bodyPr vert="horz" lIns="180000" tIns="135000" rIns="252000" bIns="180000" rtlCol="0" anchor="t">
            <a:noAutofit/>
          </a:bodyPr>
          <a:lstStyle/>
          <a:p>
            <a:r>
              <a:rPr lang="tr-TR" spc="0" dirty="0" err="1"/>
              <a:t>Sensör</a:t>
            </a:r>
            <a:r>
              <a:rPr lang="tr-TR" spc="0" dirty="0"/>
              <a:t> ve Elektronik </a:t>
            </a:r>
            <a:r>
              <a:rPr lang="tr-TR" spc="0" dirty="0" err="1"/>
              <a:t>Komponentlere</a:t>
            </a:r>
            <a:r>
              <a:rPr lang="tr-TR" spc="0" dirty="0"/>
              <a:t> Genel Bakış</a:t>
            </a:r>
            <a:endParaRPr lang="tr-TR" dirty="0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7390" y="5733683"/>
            <a:ext cx="4467225" cy="637669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377" y="262393"/>
            <a:ext cx="4857497" cy="518850"/>
          </a:xfrm>
        </p:spPr>
        <p:txBody>
          <a:bodyPr/>
          <a:lstStyle/>
          <a:p>
            <a:r>
              <a:rPr lang="tr-TR" dirty="0" err="1"/>
              <a:t>Sensörler</a:t>
            </a:r>
            <a:r>
              <a:rPr lang="tr-TR" dirty="0"/>
              <a:t> ve Alt</a:t>
            </a:r>
            <a:r>
              <a:rPr lang="en-US" dirty="0"/>
              <a:t> S</a:t>
            </a:r>
            <a:r>
              <a:rPr lang="tr-TR" dirty="0"/>
              <a:t>istemlere Genel Bakış</a:t>
            </a:r>
          </a:p>
        </p:txBody>
      </p:sp>
      <p:graphicFrame>
        <p:nvGraphicFramePr>
          <p:cNvPr id="6" name="Tablo 6">
            <a:extLst>
              <a:ext uri="{FF2B5EF4-FFF2-40B4-BE49-F238E27FC236}">
                <a16:creationId xmlns:a16="http://schemas.microsoft.com/office/drawing/2014/main" id="{8EBE5D14-D6DC-E147-859F-071398A54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021417"/>
              </p:ext>
            </p:extLst>
          </p:nvPr>
        </p:nvGraphicFramePr>
        <p:xfrm>
          <a:off x="989405" y="954833"/>
          <a:ext cx="7165190" cy="4862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319">
                  <a:extLst>
                    <a:ext uri="{9D8B030D-6E8A-4147-A177-3AD203B41FA5}">
                      <a16:colId xmlns:a16="http://schemas.microsoft.com/office/drawing/2014/main" val="1663214020"/>
                    </a:ext>
                  </a:extLst>
                </a:gridCol>
                <a:gridCol w="2613991">
                  <a:extLst>
                    <a:ext uri="{9D8B030D-6E8A-4147-A177-3AD203B41FA5}">
                      <a16:colId xmlns:a16="http://schemas.microsoft.com/office/drawing/2014/main" val="142518339"/>
                    </a:ext>
                  </a:extLst>
                </a:gridCol>
                <a:gridCol w="2725880">
                  <a:extLst>
                    <a:ext uri="{9D8B030D-6E8A-4147-A177-3AD203B41FA5}">
                      <a16:colId xmlns:a16="http://schemas.microsoft.com/office/drawing/2014/main" val="2092643535"/>
                    </a:ext>
                  </a:extLst>
                </a:gridCol>
              </a:tblGrid>
              <a:tr h="3050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GÖREV YÜKÜ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491025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SENSÖR TİPİ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MODEL-2 (MUADİL)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628841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940945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SICAKLIK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594688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BASINÇ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951939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AUTOGYRO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77071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VOLTAJ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852469"/>
                  </a:ext>
                </a:extLst>
              </a:tr>
              <a:tr h="2821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141159"/>
                  </a:ext>
                </a:extLst>
              </a:tr>
              <a:tr h="2839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SENSÖR X (Varsa)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7564"/>
                  </a:ext>
                </a:extLst>
              </a:tr>
              <a:tr h="2839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HABERLEŞME MODÜLLERİ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993355"/>
                  </a:ext>
                </a:extLst>
              </a:tr>
              <a:tr h="305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İŞLEMCİ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22058"/>
                  </a:ext>
                </a:extLst>
              </a:tr>
              <a:tr h="305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BATARYA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53713"/>
                  </a:ext>
                </a:extLst>
              </a:tr>
              <a:tr h="305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ANTEN GRUBU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38768"/>
                  </a:ext>
                </a:extLst>
              </a:tr>
              <a:tr h="3833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EYLEYİCİLER ( MEKANİK SÜRÜCÜLER VE MOTORLAR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561158"/>
                  </a:ext>
                </a:extLst>
              </a:tr>
              <a:tr h="305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 SİSTEM X (Varsa)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364292"/>
                  </a:ext>
                </a:extLst>
              </a:tr>
              <a:tr h="305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r-T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S2D IOT, ZIRH,.. Alt sistemleri (BONUS-1-2-3)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r-TR" sz="10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0201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750664-C3AA-DA4E-9A69-0FF0A61A98DC}"/>
              </a:ext>
            </a:extLst>
          </p:cNvPr>
          <p:cNvSpPr txBox="1">
            <a:spLocks/>
          </p:cNvSpPr>
          <p:nvPr/>
        </p:nvSpPr>
        <p:spPr>
          <a:xfrm>
            <a:off x="628650" y="5827637"/>
            <a:ext cx="7886700" cy="548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buNone/>
            </a:pPr>
            <a:r>
              <a:rPr lang="tr-TR" sz="1200" b="1" dirty="0"/>
              <a:t>NOT: </a:t>
            </a:r>
            <a:r>
              <a:rPr lang="tr-TR" sz="1200" dirty="0"/>
              <a:t>Taşıyıcı sütununda sadece ‘’….’’ olarak belirtilen </a:t>
            </a:r>
            <a:r>
              <a:rPr lang="tr-TR" sz="1200" dirty="0" err="1"/>
              <a:t>komponentler</a:t>
            </a:r>
            <a:r>
              <a:rPr lang="tr-TR" sz="1200" dirty="0"/>
              <a:t> doldurulmalıdır. Görev yükü sütununda belirtilen mevcut sensör ve alt sistemlerinin, haricinde sensörlerin veya alt sistemlerin bulunması durumunda ’’SENSÖR X’’ veya ‘’ALT SİSTEM X’’ doldurulmalıdır. Bonus Görev/Görevleri Gerçekleştirecek takımlar S2D IOT istasyonundaki alt sistemleri belirtmelidir.</a:t>
            </a:r>
          </a:p>
        </p:txBody>
      </p:sp>
    </p:spTree>
    <p:extLst>
      <p:ext uri="{BB962C8B-B14F-4D97-AF65-F5344CB8AC3E}">
        <p14:creationId xmlns:p14="http://schemas.microsoft.com/office/powerpoint/2010/main" val="166117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61BFD76-89DA-184C-8750-49DEB2FB9B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r="2275"/>
          <a:stretch>
            <a:fillRect/>
          </a:stretch>
        </p:blipFill>
        <p:spPr>
          <a:blipFill>
            <a:blip r:embed="rId4"/>
            <a:stretch>
              <a:fillRect/>
            </a:stretch>
          </a:blipFill>
          <a:ln>
            <a:noFill/>
          </a:ln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1890" y="4545254"/>
            <a:ext cx="5452110" cy="1175819"/>
          </a:xfrm>
        </p:spPr>
        <p:txBody>
          <a:bodyPr vert="horz" lIns="180000" tIns="135000" rIns="252000" bIns="180000" rtlCol="0" anchor="t">
            <a:noAutofit/>
          </a:bodyPr>
          <a:lstStyle/>
          <a:p>
            <a:r>
              <a:rPr lang="tr-TR" spc="0" dirty="0"/>
              <a:t>İniş Kontrol Sistemi Tasarımı</a:t>
            </a:r>
            <a:endParaRPr lang="tr-TR" dirty="0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6775" y="5721073"/>
            <a:ext cx="4467225" cy="637669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7767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İniş Hızı Hesaplamaları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14000"/>
              </a:lnSpc>
            </a:pPr>
            <a:r>
              <a:rPr lang="tr-TR" sz="2900" dirty="0"/>
              <a:t>Model </a:t>
            </a:r>
            <a:r>
              <a:rPr lang="tr-TR" sz="2900" dirty="0" err="1"/>
              <a:t>Uydu’nun</a:t>
            </a:r>
            <a:r>
              <a:rPr lang="tr-TR" sz="2900" dirty="0"/>
              <a:t> aşağıdaki durumları için iniş hızının sayısal hesaplamaları;</a:t>
            </a:r>
          </a:p>
          <a:p>
            <a:pPr marL="0" indent="0" algn="just">
              <a:lnSpc>
                <a:spcPct val="114000"/>
              </a:lnSpc>
              <a:buNone/>
            </a:pPr>
            <a:endParaRPr lang="tr-TR" sz="2900" dirty="0"/>
          </a:p>
          <a:p>
            <a:pPr lvl="1" algn="just">
              <a:lnSpc>
                <a:spcPct val="114000"/>
              </a:lnSpc>
            </a:pPr>
            <a:r>
              <a:rPr lang="tr-TR" sz="2900" dirty="0"/>
              <a:t>Model </a:t>
            </a:r>
            <a:r>
              <a:rPr lang="tr-TR" sz="2900" dirty="0" err="1"/>
              <a:t>Uydu’nun</a:t>
            </a:r>
            <a:r>
              <a:rPr lang="tr-TR" sz="2900" dirty="0"/>
              <a:t> (Taşıyıcı + Görev Yükü) ayrılmadan önceki hız hesaplamaları,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 err="1"/>
              <a:t>Taşıyıcı’nın</a:t>
            </a:r>
            <a:r>
              <a:rPr lang="tr-TR" sz="2900" dirty="0"/>
              <a:t>, Görev </a:t>
            </a:r>
            <a:r>
              <a:rPr lang="tr-TR" sz="2900" dirty="0" err="1"/>
              <a:t>Yükü’nden</a:t>
            </a:r>
            <a:r>
              <a:rPr lang="tr-TR" sz="2900" dirty="0"/>
              <a:t> ayrıldıktan sonraki hız hesaplamaları,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/>
              <a:t>Görev </a:t>
            </a:r>
            <a:r>
              <a:rPr lang="tr-TR" sz="2900" dirty="0" err="1"/>
              <a:t>Yükü’nün</a:t>
            </a:r>
            <a:r>
              <a:rPr lang="tr-TR" sz="2900" dirty="0"/>
              <a:t>, </a:t>
            </a:r>
            <a:r>
              <a:rPr lang="tr-TR" sz="2900" dirty="0" err="1"/>
              <a:t>Taşıyıcı’dan</a:t>
            </a:r>
            <a:r>
              <a:rPr lang="tr-TR" sz="2900" dirty="0"/>
              <a:t> ayrıldıktan sonraki hız hesaplamalarını içermelidir.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/>
              <a:t>Belirtilen iniş hızı </a:t>
            </a:r>
            <a:r>
              <a:rPr lang="tr-TR" sz="2900" dirty="0" err="1"/>
              <a:t>isterlerine</a:t>
            </a:r>
            <a:r>
              <a:rPr lang="tr-TR" sz="2900" dirty="0"/>
              <a:t> göre (Bonus-1 irtifa sabitleme öncesi, anı ve sonrası) sürüklenme göz ardı edilerek gerekli olan itki ve RPM hesapları yapılmalıdır. 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 err="1"/>
              <a:t>Sigma</a:t>
            </a:r>
            <a:r>
              <a:rPr lang="tr-TR" sz="2900" dirty="0"/>
              <a:t> görevinde ve askıda kalma sırasında oluşabilecek bozulma (salınım, dönme, yalpalama..</a:t>
            </a:r>
            <a:r>
              <a:rPr lang="tr-TR" sz="2900" dirty="0" err="1"/>
              <a:t>vb</a:t>
            </a:r>
            <a:r>
              <a:rPr lang="tr-TR" sz="2900" dirty="0"/>
              <a:t>) hareketlerinin nasıl azaltılacağı açıklanmalıdır.</a:t>
            </a:r>
          </a:p>
          <a:p>
            <a:pPr lvl="1" algn="just">
              <a:lnSpc>
                <a:spcPct val="114000"/>
              </a:lnSpc>
            </a:pPr>
            <a:endParaRPr lang="tr-TR" sz="2900" dirty="0"/>
          </a:p>
          <a:p>
            <a:pPr algn="just">
              <a:lnSpc>
                <a:spcPct val="114000"/>
              </a:lnSpc>
            </a:pPr>
            <a:r>
              <a:rPr lang="tr-TR" sz="2900" dirty="0"/>
              <a:t>Hesaplamalarda kullanılan varsayımların sebepleriyle birlikte belirtilmelidir.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3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BONUS-1: İrtifa Sabitleme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Askıda kalma anında farklı stabilizasyon çözümleri sunulmalıdır. Tercih edilen stabilizasyon çözümünün neden tercih edildiği ve stabilizasyonun nasıl sağlanacağı belirtilmelidir.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İrtifa sabitleme süresince toplam güç tüketiminin toplam pil kapasitesine oranı belirtilmelidir.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Model uydunun toplam kütlesi ile motorun sağlayabileceği maksimum itki arasındaki oran belirtilmeli ve sistemin askıda kalmayı nasıl sağlayacağı açıklanmalıdır.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434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Acil Paraşüt Açma Mekanizması (APAM)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tr-TR" dirty="0"/>
              <a:t>Motor arızası veya sensör hatası durumunda sistemin nasıl davranacağı belirtilmelidir.</a:t>
            </a:r>
          </a:p>
          <a:p>
            <a:pPr algn="just"/>
            <a:r>
              <a:rPr lang="tr-TR" dirty="0"/>
              <a:t>Acil Paraşüt Açma Mekanizmasının sistem mimarisini açıklamalıdır. İniş hızı paraşüt </a:t>
            </a:r>
            <a:r>
              <a:rPr lang="tr-TR" dirty="0" err="1"/>
              <a:t>ebatına</a:t>
            </a:r>
            <a:r>
              <a:rPr lang="tr-TR" dirty="0"/>
              <a:t> göre ayrıca hesaplanmalıdır. </a:t>
            </a:r>
          </a:p>
          <a:p>
            <a:pPr algn="just"/>
            <a:r>
              <a:rPr lang="tr-TR" dirty="0"/>
              <a:t>Bu mimari (sistem bileşenleri, paraşüt açma mekanizması, tetikleme yöntemi, elektronik kontrol yapısı.. vb.) blok diyagram ile gösterilmelidir.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95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Yer Tutucusu 6">
            <a:extLst>
              <a:ext uri="{FF2B5EF4-FFF2-40B4-BE49-F238E27FC236}">
                <a16:creationId xmlns:a16="http://schemas.microsoft.com/office/drawing/2014/main" id="{108DB3B9-1AF8-C244-A7AA-FF40C1E07E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2" r="16542"/>
          <a:stretch>
            <a:fillRect/>
          </a:stretch>
        </p:blipFill>
        <p:spPr/>
      </p:pic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9</a:t>
            </a:fld>
            <a:endParaRPr lang="tr-TR" dirty="0"/>
          </a:p>
        </p:txBody>
      </p:sp>
      <p:sp>
        <p:nvSpPr>
          <p:cNvPr id="10" name="Başlık 2">
            <a:extLst>
              <a:ext uri="{FF2B5EF4-FFF2-40B4-BE49-F238E27FC236}">
                <a16:creationId xmlns:a16="http://schemas.microsoft.com/office/drawing/2014/main" id="{0B7F0907-D289-C04F-B6DB-2850860A5611}"/>
              </a:ext>
            </a:extLst>
          </p:cNvPr>
          <p:cNvSpPr txBox="1">
            <a:spLocks/>
          </p:cNvSpPr>
          <p:nvPr/>
        </p:nvSpPr>
        <p:spPr>
          <a:xfrm>
            <a:off x="4929446" y="3686698"/>
            <a:ext cx="4214553" cy="1175819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35000" rIns="252000" bIns="18000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600" b="1" kern="1200" spc="-225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sym typeface="Arial"/>
              </a:rPr>
              <a:t>Mekanik</a:t>
            </a:r>
            <a:r>
              <a:rPr lang="en-US" dirty="0">
                <a:sym typeface="Arial"/>
              </a:rPr>
              <a:t> Alt </a:t>
            </a:r>
            <a:r>
              <a:rPr lang="en-US" dirty="0" err="1">
                <a:sym typeface="Arial"/>
              </a:rPr>
              <a:t>Sistem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Tasarımı</a:t>
            </a:r>
            <a:endParaRPr lang="tr-TR" dirty="0"/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07D9EFDA-D243-054C-BEE7-3AFB4ED27247}"/>
              </a:ext>
            </a:extLst>
          </p:cNvPr>
          <p:cNvSpPr txBox="1">
            <a:spLocks/>
          </p:cNvSpPr>
          <p:nvPr/>
        </p:nvSpPr>
        <p:spPr>
          <a:xfrm>
            <a:off x="5527964" y="4869455"/>
            <a:ext cx="3616036" cy="637669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180000" tIns="180000" rIns="252000" bIns="18000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000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7194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07219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07244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6474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Mekanik Alt Sisteme 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 algn="just">
              <a:lnSpc>
                <a:spcPct val="114000"/>
              </a:lnSpc>
            </a:pPr>
            <a:r>
              <a:rPr lang="tr-TR" sz="2400" dirty="0"/>
              <a:t>Taşıyıcı, Görev Yükü, ayrılma mekanizması tasarım çizimleri ve boyutları, 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Taşıyıcı ile Görev Yükü ’nün ayrılma mekanizmasının çalışma prensibi açıklanmalıdır.</a:t>
            </a:r>
            <a:endParaRPr lang="tr-TR" dirty="0"/>
          </a:p>
          <a:p>
            <a:pPr lvl="1" algn="just">
              <a:lnSpc>
                <a:spcPct val="114000"/>
              </a:lnSpc>
            </a:pPr>
            <a:r>
              <a:rPr lang="tr-TR" dirty="0"/>
              <a:t>Taşıyıcı ve Görev yükü mekanik </a:t>
            </a:r>
            <a:r>
              <a:rPr lang="tr-TR" dirty="0" err="1"/>
              <a:t>komponentlerin</a:t>
            </a:r>
            <a:r>
              <a:rPr lang="tr-TR" dirty="0"/>
              <a:t> sistemdeki görevleri ve yerleri belirtilmelidir.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Taşıyıcı paraşütünün bağlantısının taşıyıcı üzerine  ve </a:t>
            </a:r>
            <a:r>
              <a:rPr lang="tr-TR" dirty="0"/>
              <a:t>acil durum paraşütünün </a:t>
            </a:r>
            <a:r>
              <a:rPr lang="tr-TR" sz="2400" dirty="0"/>
              <a:t>görev yükü üzerine bağlantısının nasıl yapılacağı &amp; konumlandırılacağı belirtilmelidir.</a:t>
            </a:r>
          </a:p>
          <a:p>
            <a:pPr marL="457200" lvl="1" indent="0" algn="just">
              <a:lnSpc>
                <a:spcPct val="114000"/>
              </a:lnSpc>
              <a:buNone/>
            </a:pPr>
            <a:r>
              <a:rPr lang="tr-TR" sz="1800" b="1" dirty="0"/>
              <a:t>NOT: </a:t>
            </a:r>
            <a:r>
              <a:rPr lang="tr-TR" sz="1800" dirty="0"/>
              <a:t>Ayrılma ve Acil paraşüt açma mekanizmalarının farklı açılardan anlaşılır görseller kullanılarak gösterilmelidir.</a:t>
            </a:r>
          </a:p>
          <a:p>
            <a:pPr lvl="1" algn="just">
              <a:lnSpc>
                <a:spcPct val="114000"/>
              </a:lnSpc>
            </a:pPr>
            <a:endParaRPr lang="tr-TR" sz="2400" dirty="0">
              <a:highlight>
                <a:srgbClr val="00FF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lvl="1">
              <a:lnSpc>
                <a:spcPct val="114000"/>
              </a:lnSpc>
            </a:pPr>
            <a:endParaRPr lang="tr-TR" dirty="0"/>
          </a:p>
          <a:p>
            <a:pPr lvl="1">
              <a:lnSpc>
                <a:spcPct val="114000"/>
              </a:lnSpc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4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SİGMA &amp; APAM Mekanizmaları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mekanizmalarının tasarım çizimleri ve boyutları</a:t>
            </a:r>
            <a:r>
              <a:rPr lang="tr-TR" dirty="0"/>
              <a:t> belirtilmelidir.</a:t>
            </a:r>
            <a:endParaRPr lang="tr-TR" sz="2400" dirty="0"/>
          </a:p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mekanizmalarının, </a:t>
            </a:r>
            <a:r>
              <a:rPr lang="tr-TR" dirty="0"/>
              <a:t>mekanik olarak </a:t>
            </a:r>
            <a:r>
              <a:rPr lang="tr-TR" sz="2400" dirty="0"/>
              <a:t>çalışma prensibi açıklanmalıdır.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mekanizmalarında </a:t>
            </a:r>
            <a:r>
              <a:rPr lang="tr-TR" dirty="0"/>
              <a:t>kullanılacak materyaller belirtilmelidir.</a:t>
            </a:r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400" dirty="0">
              <a:highlight>
                <a:srgbClr val="00FF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lvl="1">
              <a:lnSpc>
                <a:spcPct val="114000"/>
              </a:lnSpc>
            </a:pPr>
            <a:endParaRPr lang="tr-TR" dirty="0"/>
          </a:p>
          <a:p>
            <a:pPr lvl="1">
              <a:lnSpc>
                <a:spcPct val="114000"/>
              </a:lnSpc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406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Kütle</a:t>
            </a:r>
            <a:r>
              <a:rPr lang="en-US" dirty="0"/>
              <a:t> </a:t>
            </a:r>
            <a:r>
              <a:rPr lang="en-US" dirty="0" err="1"/>
              <a:t>Bütçesi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</a:pPr>
            <a:r>
              <a:rPr lang="tr-TR" sz="2400" dirty="0"/>
              <a:t>Tablo(lar) aşağıdaki gereksinimleri sağlamalıdır;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Bütün </a:t>
            </a:r>
            <a:r>
              <a:rPr lang="tr-TR" dirty="0" err="1"/>
              <a:t>komponentlerin</a:t>
            </a:r>
            <a:r>
              <a:rPr lang="tr-TR" dirty="0"/>
              <a:t> ağırlıkları,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Bütün yapısal elemanların ağırlıkları,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Herbir elemanın ağırlığının tahmini mi yoksa datasheet’ inde yazan kesin ağırlığı mı olduğu,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Taşıyıcı ve Görev </a:t>
            </a:r>
            <a:r>
              <a:rPr lang="tr-TR" dirty="0" err="1"/>
              <a:t>Yükü’nün</a:t>
            </a:r>
            <a:r>
              <a:rPr lang="tr-TR" dirty="0"/>
              <a:t> ayrı ayrı ağırlıkları,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Taşıyıcı + Görev </a:t>
            </a:r>
            <a:r>
              <a:rPr lang="tr-TR" dirty="0" err="1"/>
              <a:t>Yükü’nün</a:t>
            </a:r>
            <a:r>
              <a:rPr lang="tr-TR" dirty="0"/>
              <a:t> toplam ağırlığı.</a:t>
            </a:r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613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Yer Tutucusu 6">
            <a:extLst>
              <a:ext uri="{FF2B5EF4-FFF2-40B4-BE49-F238E27FC236}">
                <a16:creationId xmlns:a16="http://schemas.microsoft.com/office/drawing/2014/main" id="{6F948C37-8D94-B449-98E2-8554EFE920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6" r="11616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6" y="2474420"/>
            <a:ext cx="4573276" cy="1468800"/>
          </a:xfrm>
        </p:spPr>
        <p:txBody>
          <a:bodyPr rtlCol="0"/>
          <a:lstStyle/>
          <a:p>
            <a:r>
              <a:rPr lang="tr-TR" sz="3200" spc="0" dirty="0">
                <a:solidFill>
                  <a:srgbClr val="0070C0"/>
                </a:solidFill>
                <a:latin typeface="Arial" panose="020B0604020202020204" pitchFamily="34" charset="0"/>
              </a:rPr>
              <a:t>Haberleşme ve Veri İşleme Alt Sistem Tasarımı</a:t>
            </a:r>
            <a:endParaRPr lang="tr-TR" sz="4800" dirty="0">
              <a:solidFill>
                <a:srgbClr val="0070C0"/>
              </a:solidFill>
            </a:endParaRPr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940320"/>
            <a:ext cx="3676650" cy="825424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6250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HAVİ 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</a:pPr>
            <a:r>
              <a:rPr lang="tr-TR" sz="2400" dirty="0" err="1"/>
              <a:t>Sensörlerin</a:t>
            </a:r>
            <a:r>
              <a:rPr lang="tr-TR" sz="2400" dirty="0"/>
              <a:t>, diğer e</a:t>
            </a:r>
            <a:r>
              <a:rPr lang="en-US" sz="2400" dirty="0"/>
              <a:t>l</a:t>
            </a:r>
            <a:r>
              <a:rPr lang="tr-TR" sz="2400" dirty="0" err="1"/>
              <a:t>ektronik</a:t>
            </a:r>
            <a:r>
              <a:rPr lang="tr-TR" sz="2400" dirty="0"/>
              <a:t> elemanların ve haberleşme modülünün hangi iletişim protokollerini kullandığı diyagram üzerinde belirtilmelidir.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577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Görev Yükü Anteninin Belirlenmesi ve Temini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Anten seçim kriterleri belirtilmelidir. (Karşılaştırmalı olarak tartışılmalı ve belirlenen anten sebebi ile açıklanmalıdır.)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Anten/</a:t>
            </a:r>
            <a:r>
              <a:rPr lang="tr-TR" sz="2400" dirty="0" err="1"/>
              <a:t>lerin</a:t>
            </a:r>
            <a:r>
              <a:rPr lang="tr-TR" sz="2400" dirty="0"/>
              <a:t> kapsama modelleri ve mesafeleri belirtilmelidir.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513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Telemetri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600" dirty="0"/>
              <a:t>Veri formatı nasıl biçimlendirilecektir?</a:t>
            </a:r>
          </a:p>
          <a:p>
            <a:pPr lvl="1" algn="just">
              <a:lnSpc>
                <a:spcPct val="114000"/>
              </a:lnSpc>
            </a:pPr>
            <a:r>
              <a:rPr lang="tr-TR" sz="2600" dirty="0"/>
              <a:t>Her bir verinin ayrı ayrı boyutu, veri formatı, açıklaması ve bir örneği tabloda belirtilmelidir.</a:t>
            </a:r>
          </a:p>
          <a:p>
            <a:pPr marL="0" lvl="1" indent="0" algn="just">
              <a:lnSpc>
                <a:spcPct val="114000"/>
              </a:lnSpc>
              <a:spcBef>
                <a:spcPts val="1000"/>
              </a:spcBef>
              <a:buNone/>
            </a:pPr>
            <a:r>
              <a:rPr lang="tr-TR" sz="2600" b="1" dirty="0"/>
              <a:t>NOT: </a:t>
            </a:r>
            <a:r>
              <a:rPr lang="tr-TR" sz="2600" dirty="0"/>
              <a:t>Yarışma kılavuzundaki telemetri formatı bölümünde belirlenen sıralamaya uyulması zorunludur. Yer istasyonunda kaydedilecek telemetri verileri </a:t>
            </a:r>
            <a:r>
              <a:rPr lang="tr-TR" sz="2600" dirty="0" err="1"/>
              <a:t>excel</a:t>
            </a:r>
            <a:r>
              <a:rPr lang="tr-TR" sz="2600" dirty="0"/>
              <a:t> formatında tablo şeklinde ve başlıklarıyla oluşturulmalıdır.</a:t>
            </a:r>
          </a:p>
          <a:p>
            <a:pPr marL="0" lvl="1" indent="0" algn="just">
              <a:lnSpc>
                <a:spcPct val="114000"/>
              </a:lnSpc>
              <a:spcBef>
                <a:spcPts val="1000"/>
              </a:spcBef>
              <a:buNone/>
            </a:pPr>
            <a:endParaRPr lang="tr-TR" sz="2600" dirty="0">
              <a:highlight>
                <a:srgbClr val="FF0000"/>
              </a:highlight>
            </a:endParaRPr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9618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978" y="236520"/>
            <a:ext cx="5445085" cy="602365"/>
          </a:xfrm>
        </p:spPr>
        <p:txBody>
          <a:bodyPr/>
          <a:lstStyle/>
          <a:p>
            <a:r>
              <a:rPr lang="tr-TR" dirty="0"/>
              <a:t>Bonus Görev 2: </a:t>
            </a:r>
            <a:r>
              <a:rPr lang="tr-TR" dirty="0" err="1"/>
              <a:t>IoT</a:t>
            </a:r>
            <a:r>
              <a:rPr lang="tr-TR" dirty="0"/>
              <a:t> S2D </a:t>
            </a:r>
            <a:r>
              <a:rPr lang="tr-TR" dirty="0" err="1"/>
              <a:t>Telekomut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D7D5F3B-E13C-134C-8FEB-125CCAC0ECFF}"/>
              </a:ext>
            </a:extLst>
          </p:cNvPr>
          <p:cNvSpPr/>
          <p:nvPr/>
        </p:nvSpPr>
        <p:spPr>
          <a:xfrm>
            <a:off x="341264" y="570917"/>
            <a:ext cx="8461471" cy="7663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endParaRPr lang="tr-TR" sz="2400" dirty="0">
              <a:highlight>
                <a:srgbClr val="FFFF00"/>
              </a:highlight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Süreç Akış diyagramı görsel olarak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S2D istasyonunda bulunan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modülünün veri akış diyagramı, kullanılacak modül/anten tipi ve çalışma frekansları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Anten seçim kriterleri belirtilmelidir. Anten/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lerin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kapsama modelleri ve mesafeleri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Cihaz üzerinden, LED sisteminin enerji döngüsünü başlatacak eyleyici &amp; sensör tipi ve seçilme sebebi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59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978" y="214780"/>
            <a:ext cx="5445085" cy="602365"/>
          </a:xfrm>
        </p:spPr>
        <p:txBody>
          <a:bodyPr/>
          <a:lstStyle/>
          <a:p>
            <a:r>
              <a:rPr lang="tr-TR" dirty="0"/>
              <a:t>Bonus Görev-3 :TÜRKSAT- Z.I.R.H.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tr-TR" sz="1400" dirty="0"/>
              <a:t>Zararlı </a:t>
            </a:r>
            <a:r>
              <a:rPr lang="tr-TR" sz="1400" dirty="0" err="1"/>
              <a:t>İnterferanslara</a:t>
            </a:r>
            <a:r>
              <a:rPr lang="tr-TR" sz="1400" dirty="0"/>
              <a:t> karşı Rezistanslı Haberleşme görevi ile uyduda elektronik harp dayanımı ve gürültüye karşı sistem ile haberleşme sürekliliğinin sağlanmasını amaçlamaktadır. Bu kapsamda;</a:t>
            </a:r>
          </a:p>
          <a:p>
            <a:pPr marL="457200" lvl="1" indent="0">
              <a:buNone/>
            </a:pPr>
            <a:endParaRPr lang="tr-TR" sz="1400" dirty="0"/>
          </a:p>
          <a:p>
            <a:pPr lvl="1" algn="just"/>
            <a:r>
              <a:rPr lang="tr-TR" sz="1400" dirty="0"/>
              <a:t>Takımlar, model uydu ile yer istasyonu arasındaki telemetri (TM) haberleşmesini etkileyebilecek olası bozulma (GNSS modülü dahil) ve interferans kaynaklarını değerlendirerek bu etkinin boyutunu analiz etmelidir. </a:t>
            </a:r>
          </a:p>
          <a:p>
            <a:pPr marL="457200" lvl="1" indent="0" algn="just">
              <a:buNone/>
            </a:pPr>
            <a:endParaRPr lang="tr-TR" sz="1400" dirty="0"/>
          </a:p>
          <a:p>
            <a:pPr lvl="1" algn="just"/>
            <a:r>
              <a:rPr lang="tr-TR" sz="1400" dirty="0"/>
              <a:t>Belirlenen ihtimal interferans senaryolarından en az bir tanesi değerlendirilmeli veya simüle edilmelidir. Senaryo değerlendirme sonucunda yer istasyonu ve uydu haberleşme sistemlerinde oluşabilecek bozucu etkilere karşı pasif (kafesleme, ekranlama vb.) ve/veya aktif (anti-</a:t>
            </a:r>
            <a:r>
              <a:rPr lang="tr-TR" sz="1400" dirty="0" err="1"/>
              <a:t>jamming</a:t>
            </a:r>
            <a:r>
              <a:rPr lang="tr-TR" sz="1400" dirty="0"/>
              <a:t>, filtreleme vb.) korumaya yönelik çözüm/çözümler sunmalıdır.</a:t>
            </a:r>
          </a:p>
          <a:p>
            <a:pPr lvl="1" algn="just"/>
            <a:endParaRPr lang="tr-TR" sz="1400" dirty="0"/>
          </a:p>
          <a:p>
            <a:pPr lvl="1" algn="just"/>
            <a:r>
              <a:rPr lang="tr-TR" sz="1400" dirty="0"/>
              <a:t>Koruma yönteminin uygulanması durumunda ve uygulanmaması durumunda sistem performansı karşılaştırılarak Z.I.R.H sistemi performans analizi değerlendirilmelidir. </a:t>
            </a:r>
          </a:p>
          <a:p>
            <a:pPr marL="457200" lvl="1" indent="0">
              <a:buNone/>
            </a:pPr>
            <a:endParaRPr lang="tr-TR" sz="1400" dirty="0"/>
          </a:p>
          <a:p>
            <a:pPr marL="457200" lvl="1" indent="0" algn="just">
              <a:buNone/>
            </a:pPr>
            <a:r>
              <a:rPr lang="tr-TR" sz="1400" dirty="0">
                <a:solidFill>
                  <a:srgbClr val="FF0000"/>
                </a:solidFill>
              </a:rPr>
              <a:t>NOT</a:t>
            </a:r>
            <a:r>
              <a:rPr lang="tr-TR" sz="1400" dirty="0"/>
              <a:t> : Takımlar, önermiş olduğu uygulamayı </a:t>
            </a:r>
            <a:r>
              <a:rPr lang="tr-TR" sz="1400" dirty="0">
                <a:solidFill>
                  <a:srgbClr val="FF0000"/>
                </a:solidFill>
              </a:rPr>
              <a:t>QR Etabında </a:t>
            </a:r>
            <a:r>
              <a:rPr lang="tr-TR" sz="1400" dirty="0"/>
              <a:t>gerçekleyecektir. BONUS görevinden/görevlerinden alınan puanlar FİNAL etabında yansıtılır.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D7D5F3B-E13C-134C-8FEB-125CCAC0ECFF}"/>
              </a:ext>
            </a:extLst>
          </p:cNvPr>
          <p:cNvSpPr/>
          <p:nvPr/>
        </p:nvSpPr>
        <p:spPr>
          <a:xfrm>
            <a:off x="341264" y="570917"/>
            <a:ext cx="846147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42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Yer Tutucusu 6">
            <a:extLst>
              <a:ext uri="{FF2B5EF4-FFF2-40B4-BE49-F238E27FC236}">
                <a16:creationId xmlns:a16="http://schemas.microsoft.com/office/drawing/2014/main" id="{E2642BBA-9885-274E-BF64-5E0F96B1FC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b="6579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6" y="2474420"/>
            <a:ext cx="4285041" cy="1468800"/>
          </a:xfrm>
        </p:spPr>
        <p:txBody>
          <a:bodyPr rtlCol="0"/>
          <a:lstStyle/>
          <a:p>
            <a:r>
              <a:rPr lang="tr-TR" dirty="0">
                <a:solidFill>
                  <a:srgbClr val="0070C0"/>
                </a:solidFill>
                <a:latin typeface="Arial" panose="020B0604020202020204" pitchFamily="34" charset="0"/>
              </a:rPr>
              <a:t>Elektrik Alt Sistem Tasarımı</a:t>
            </a:r>
            <a:endParaRPr lang="tr-TR" sz="4800" dirty="0">
              <a:solidFill>
                <a:srgbClr val="0070C0"/>
              </a:solidFill>
            </a:endParaRPr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940320"/>
            <a:ext cx="3359426" cy="825424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56780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Elektrik Blok Şeması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Güç bağlantıları detaylı bir şematikle gösterilmelidir: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Tüm ana bileşenler,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Bileşenlerin ihtiyacı olan gerilim değerleri.</a:t>
            </a:r>
          </a:p>
          <a:p>
            <a:pPr marL="0" indent="0" algn="just">
              <a:lnSpc>
                <a:spcPct val="114000"/>
              </a:lnSpc>
              <a:buNone/>
            </a:pPr>
            <a:r>
              <a:rPr lang="tr-TR" sz="2400" b="1" dirty="0"/>
              <a:t>NOT: </a:t>
            </a:r>
            <a:r>
              <a:rPr lang="tr-TR" sz="2400" dirty="0"/>
              <a:t>Tasarım; güç kontrol anahtarına kolay erişilebilir şekilde olmalıdır. Model uyduya uçuş öncesi güç verilecektir. Yarışmadan bir gün önce yapılacak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Flight Readiness Review</a:t>
            </a:r>
            <a:r>
              <a:rPr lang="tr-T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’da Model Uydu üzerinde kontrolü de yapılacaktır.</a:t>
            </a:r>
            <a:endParaRPr lang="tr-TR" sz="2400" dirty="0"/>
          </a:p>
          <a:p>
            <a:pPr marL="457200" lvl="1" indent="0">
              <a:lnSpc>
                <a:spcPct val="114000"/>
              </a:lnSpc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560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Güç </a:t>
            </a:r>
            <a:r>
              <a:rPr lang="en-US" dirty="0" err="1"/>
              <a:t>Bütçesi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7975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</a:pPr>
            <a:r>
              <a:rPr lang="tr-TR" sz="2200" dirty="0"/>
              <a:t>Güç plan tablosu:</a:t>
            </a:r>
          </a:p>
          <a:p>
            <a:pPr lvl="1" algn="just">
              <a:lnSpc>
                <a:spcPct val="114000"/>
              </a:lnSpc>
            </a:pPr>
            <a:r>
              <a:rPr lang="tr-TR" sz="2200" dirty="0"/>
              <a:t>Her bir bileşenin güç tüketimini,</a:t>
            </a:r>
          </a:p>
          <a:p>
            <a:pPr lvl="1" algn="just">
              <a:lnSpc>
                <a:spcPct val="114000"/>
              </a:lnSpc>
            </a:pPr>
            <a:r>
              <a:rPr lang="tr-TR" sz="2200" dirty="0"/>
              <a:t>Her bir bileşenin görev süresini,</a:t>
            </a:r>
          </a:p>
          <a:p>
            <a:pPr lvl="1" algn="just">
              <a:lnSpc>
                <a:spcPct val="114000"/>
              </a:lnSpc>
            </a:pPr>
            <a:r>
              <a:rPr lang="tr-TR" sz="2200" dirty="0"/>
              <a:t>Her bir satır tolerans değerini ve bilgilerin kaynağını, (Tahmini-</a:t>
            </a:r>
            <a:r>
              <a:rPr lang="tr-TR" sz="2200" dirty="0" err="1"/>
              <a:t>datasheet</a:t>
            </a:r>
            <a:r>
              <a:rPr lang="tr-TR" sz="2200" dirty="0"/>
              <a:t>-ölçüm)</a:t>
            </a:r>
          </a:p>
          <a:p>
            <a:pPr lvl="1" algn="just">
              <a:lnSpc>
                <a:spcPct val="114000"/>
              </a:lnSpc>
            </a:pPr>
            <a:r>
              <a:rPr lang="tr-TR" sz="2200" dirty="0"/>
              <a:t>Tüketilen toplam gücü,</a:t>
            </a:r>
          </a:p>
          <a:p>
            <a:pPr lvl="1" algn="just">
              <a:lnSpc>
                <a:spcPct val="114000"/>
              </a:lnSpc>
            </a:pPr>
            <a:r>
              <a:rPr lang="tr-TR" sz="2200" dirty="0"/>
              <a:t>Batarya(/lar) şarjedilebilirse nasıl şarj edilecegi şarj süresini içermelidir.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4668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DCB58192-570D-7440-B784-B0C06C21D1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1" r="14411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6" y="2474420"/>
            <a:ext cx="4801876" cy="1468800"/>
          </a:xfrm>
        </p:spPr>
        <p:txBody>
          <a:bodyPr rtlCol="0"/>
          <a:lstStyle/>
          <a:p>
            <a:r>
              <a:rPr lang="tr-TR" sz="3200" spc="0" dirty="0">
                <a:solidFill>
                  <a:srgbClr val="0070C0"/>
                </a:solidFill>
                <a:latin typeface="Arial" panose="020B0604020202020204" pitchFamily="34" charset="0"/>
              </a:rPr>
              <a:t>Uçuş Yazılımı Tasarımı</a:t>
            </a:r>
            <a:endParaRPr lang="tr-TR" sz="4800" dirty="0">
              <a:solidFill>
                <a:srgbClr val="0070C0"/>
              </a:solidFill>
            </a:endParaRPr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940320"/>
            <a:ext cx="3676650" cy="825424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45345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Uçuş Yazılımına 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</a:pPr>
            <a:r>
              <a:rPr lang="tr-TR" sz="2400" dirty="0"/>
              <a:t>Model Uydunun uçuş yazılımına genel bakış aşağıdakileri içermelidir: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Temel uçuş yazılımı mimarisinin diyagramı (alt sistemler ile olan ilişkisi), 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Uçuş yazılımının temelde yapacaklarını,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Hangi programlama dillerinin kullanılacağını,</a:t>
            </a:r>
          </a:p>
          <a:p>
            <a:pPr lvl="1" algn="just">
              <a:lnSpc>
                <a:spcPct val="114000"/>
              </a:lnSpc>
            </a:pPr>
            <a:r>
              <a:rPr lang="tr-TR" dirty="0"/>
              <a:t>Geliştirme ortamlarını.</a:t>
            </a:r>
          </a:p>
          <a:p>
            <a:pPr lvl="1"/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1308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Uçuş Yazılımı Durum Diyagramı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8" y="1371596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</a:pPr>
            <a:r>
              <a:rPr lang="tr-TR" sz="1800" dirty="0"/>
              <a:t>Uçuş yazılımı diyagramı, Model </a:t>
            </a:r>
            <a:r>
              <a:rPr lang="tr-TR" sz="1800" dirty="0" err="1"/>
              <a:t>Uydu’nun</a:t>
            </a:r>
            <a:r>
              <a:rPr lang="tr-TR" sz="1800" dirty="0"/>
              <a:t> uçuş sürecindeki durumlarını ve döngülerini içermelidir: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Haberleşme (komutlar, </a:t>
            </a:r>
            <a:r>
              <a:rPr lang="tr-TR" sz="1800" dirty="0" err="1"/>
              <a:t>telekomut</a:t>
            </a:r>
            <a:r>
              <a:rPr lang="tr-TR" sz="1800" dirty="0"/>
              <a:t>, telemetri verileri, </a:t>
            </a:r>
            <a:r>
              <a:rPr lang="tr-TR" sz="1800" dirty="0" err="1"/>
              <a:t>IoT</a:t>
            </a:r>
            <a:r>
              <a:rPr lang="tr-TR" sz="1800" dirty="0"/>
              <a:t> S2D veri transferi vb.),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Mekanizma aktivasyonları (ayrılma vb.)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 err="1"/>
              <a:t>Sigma</a:t>
            </a:r>
            <a:r>
              <a:rPr lang="tr-TR" sz="1800" dirty="0"/>
              <a:t> (bonus-1 ) için kullanılan kontrol yöntemi (PID kontrol, Açık çevrim kontrol , </a:t>
            </a:r>
            <a:r>
              <a:rPr lang="tr-TR" sz="1800" dirty="0" err="1"/>
              <a:t>Adaptif</a:t>
            </a:r>
            <a:r>
              <a:rPr lang="tr-TR" sz="1800" dirty="0"/>
              <a:t> kontrol…</a:t>
            </a:r>
            <a:r>
              <a:rPr lang="tr-TR" sz="1800" dirty="0" err="1"/>
              <a:t>vb</a:t>
            </a:r>
            <a:r>
              <a:rPr lang="tr-TR" sz="1800" dirty="0"/>
              <a:t>) , seçilen kontrol algoritmasının seçilme sebebi ve çalışma prensibi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Acil Paraşüt açma (16 m/s üzeri iniş hızının tespiti, Bu hızın 10 saniye boyunca devam ettiğinin doğrulanması, Motorların yeterli kaldırma sağlayamadığının nasıl tespit edileceği, karar döngüleri vb..) algoritması akış diyagramı</a:t>
            </a:r>
            <a:endParaRPr lang="tr-TR" sz="2200" dirty="0"/>
          </a:p>
          <a:p>
            <a:pPr lvl="1" algn="just">
              <a:lnSpc>
                <a:spcPct val="114000"/>
              </a:lnSpc>
            </a:pPr>
            <a:endParaRPr lang="tr-TR" sz="2200" dirty="0"/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5484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365126"/>
            <a:ext cx="5015702" cy="304799"/>
          </a:xfrm>
        </p:spPr>
        <p:txBody>
          <a:bodyPr/>
          <a:lstStyle/>
          <a:p>
            <a:r>
              <a:rPr lang="tr-TR" dirty="0"/>
              <a:t>Hatalı Tetikleme Analizi (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Trigger</a:t>
            </a:r>
            <a:r>
              <a:rPr lang="tr-TR" dirty="0"/>
              <a:t> Analysis)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8" y="1371596"/>
            <a:ext cx="788670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14000"/>
              </a:lnSpc>
            </a:pPr>
            <a:r>
              <a:rPr lang="tr-TR" sz="2000" dirty="0"/>
              <a:t>Acil Paraşüt açma mekanizmasında, paraşütün </a:t>
            </a:r>
            <a:r>
              <a:rPr lang="tr-TR" sz="2000" b="1" dirty="0"/>
              <a:t>yanlışlıkla açılma ihtimali</a:t>
            </a:r>
            <a:r>
              <a:rPr lang="tr-TR" sz="2000" dirty="0"/>
              <a:t> nasıl engelleneceği açıklanmalıdır. </a:t>
            </a:r>
          </a:p>
          <a:p>
            <a:pPr lvl="1" algn="just">
              <a:lnSpc>
                <a:spcPct val="114000"/>
              </a:lnSpc>
            </a:pPr>
            <a:endParaRPr lang="tr-TR" sz="2000" dirty="0"/>
          </a:p>
          <a:p>
            <a:pPr lvl="1" algn="just">
              <a:lnSpc>
                <a:spcPct val="114000"/>
              </a:lnSpc>
            </a:pPr>
            <a:r>
              <a:rPr lang="tr-TR" sz="2000" dirty="0"/>
              <a:t>Motor arızası, </a:t>
            </a:r>
            <a:r>
              <a:rPr lang="tr-TR" sz="2000" dirty="0" err="1"/>
              <a:t>sensör</a:t>
            </a:r>
            <a:r>
              <a:rPr lang="tr-TR" sz="2000" dirty="0"/>
              <a:t> hatası, iletişim kesilmesi, yanlış tetikleme durumlar için APAM algoritma davranışı açıklanmalıdır.</a:t>
            </a:r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9536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AD17E90F-FC90-4E48-B1FD-6DBF201695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7" r="23397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4920" y="4550926"/>
            <a:ext cx="5049080" cy="1175819"/>
          </a:xfrm>
        </p:spPr>
        <p:txBody>
          <a:bodyPr vert="horz" lIns="180000" tIns="135000" rIns="252000" bIns="180000" rtlCol="0" anchor="ctr">
            <a:noAutofit/>
          </a:bodyPr>
          <a:lstStyle/>
          <a:p>
            <a:r>
              <a:rPr lang="tr-TR" dirty="0"/>
              <a:t>Yer İstasyonu Tasarımı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6775" y="5733683"/>
            <a:ext cx="4467225" cy="637669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8497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 İstasyonu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Kullanıcı </a:t>
            </a:r>
            <a:r>
              <a:rPr lang="tr-TR" sz="2400" dirty="0" err="1"/>
              <a:t>arayüzünün</a:t>
            </a:r>
            <a:r>
              <a:rPr lang="tr-TR" sz="2400" dirty="0"/>
              <a:t> nasıl gözükeceğini gösteren prototip detaylı bir şekilde gösterilmelidir.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Hangi yazılım paketinin kullanılacağı belirtilmelidir.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0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Arayüz</a:t>
            </a:r>
            <a:r>
              <a:rPr lang="tr-TR" dirty="0"/>
              <a:t> Alarm Sistemi (ARAS)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 err="1"/>
              <a:t>Arayüz</a:t>
            </a:r>
            <a:r>
              <a:rPr lang="tr-TR" sz="2400" dirty="0"/>
              <a:t> Alarm Sisteminde belirtilen girdi verilerinin işlemcide nasıl bir döngü ile çıktı oluşturacağı irdelenmelidir. Sistem denetleme mekanizması değerlendirilmelidir.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Hangi yazılım paketinin kullanılacağı belirtilmelidir.</a:t>
            </a:r>
          </a:p>
          <a:p>
            <a:pPr algn="just">
              <a:lnSpc>
                <a:spcPct val="114000"/>
              </a:lnSpc>
            </a:pPr>
            <a:endParaRPr lang="tr-TR" sz="2400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8393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7C936A85-F4CE-3740-9DEB-9A47E453C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5" r="11645"/>
          <a:stretch>
            <a:fillRect/>
          </a:stretch>
        </p:blipFill>
        <p:spPr/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8408" y="4550926"/>
            <a:ext cx="3985591" cy="1182757"/>
          </a:xfrm>
        </p:spPr>
        <p:txBody>
          <a:bodyPr vert="horz" lIns="180000" tIns="135000" rIns="252000" bIns="180000" rtlCol="0" anchor="ctr">
            <a:noAutofit/>
          </a:bodyPr>
          <a:lstStyle/>
          <a:p>
            <a:r>
              <a:rPr lang="tr-TR" sz="3000" dirty="0"/>
              <a:t>Model Uydunun </a:t>
            </a:r>
            <a:r>
              <a:rPr lang="en-US" sz="3000" dirty="0" err="1"/>
              <a:t>Entegrasyon</a:t>
            </a:r>
            <a:r>
              <a:rPr lang="tr-TR" sz="3000" dirty="0"/>
              <a:t>u</a:t>
            </a:r>
            <a:r>
              <a:rPr lang="en-US" sz="3000" dirty="0"/>
              <a:t> </a:t>
            </a:r>
            <a:r>
              <a:rPr lang="tr-TR" sz="3000" dirty="0"/>
              <a:t>ve Testi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24938" y="5733683"/>
            <a:ext cx="3419061" cy="637669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29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9015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000" dirty="0"/>
              <a:t>Alt Sistem Seviyesi Test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232" y="1532288"/>
            <a:ext cx="7886700" cy="330760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4000"/>
              </a:lnSpc>
            </a:pPr>
            <a:r>
              <a:rPr lang="tr-TR" sz="2600" dirty="0"/>
              <a:t>Her bir alt sistem</a:t>
            </a:r>
            <a:r>
              <a:rPr lang="en-US" sz="2600" dirty="0"/>
              <a:t>e </a:t>
            </a:r>
            <a:r>
              <a:rPr lang="en-US" sz="2600" dirty="0" err="1"/>
              <a:t>uygulanacak</a:t>
            </a:r>
            <a:r>
              <a:rPr lang="en-US" sz="2600" dirty="0"/>
              <a:t> </a:t>
            </a:r>
            <a:r>
              <a:rPr lang="tr-TR" sz="2600" dirty="0"/>
              <a:t>test</a:t>
            </a:r>
            <a:r>
              <a:rPr lang="en-US" sz="2600" dirty="0" err="1"/>
              <a:t>lerin</a:t>
            </a:r>
            <a:r>
              <a:rPr lang="tr-TR" sz="2600" dirty="0"/>
              <a:t> planları belirtilmelidir:</a:t>
            </a:r>
            <a:endParaRPr lang="en-US" sz="2600" dirty="0"/>
          </a:p>
          <a:p>
            <a:pPr lvl="1" algn="just">
              <a:lnSpc>
                <a:spcPct val="134000"/>
              </a:lnSpc>
            </a:pPr>
            <a:r>
              <a:rPr lang="en-US" sz="2600" dirty="0"/>
              <a:t>Sensör alt </a:t>
            </a:r>
            <a:r>
              <a:rPr lang="en-US" sz="2600" dirty="0" err="1"/>
              <a:t>sistemine</a:t>
            </a:r>
            <a:r>
              <a:rPr lang="en-US" sz="2600" dirty="0"/>
              <a:t> </a:t>
            </a:r>
            <a:r>
              <a:rPr lang="tr-TR" sz="2600" dirty="0"/>
              <a:t>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HAVI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Güç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Uçuş yazılımı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Mekanik alt sisteminde 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İniş kontrol sistemlerinde 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400" b="1" dirty="0"/>
              <a:t>APAM sisteminde </a:t>
            </a:r>
            <a:r>
              <a:rPr lang="tr-TR" sz="2400" dirty="0"/>
              <a:t>adım adım uygulanacak test süreçlerini,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30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604157" y="5012870"/>
            <a:ext cx="7893775" cy="93072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742408" y="5112602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NOT: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Bu planlamayı en sona bırakmamanızı, çalışmalarınızın belirli aşamalarında bu konuyu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tekrar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tartışmanızı ve diyagramınızı geliştirmenizi/güncellemenizi öneririz.</a:t>
            </a:r>
          </a:p>
        </p:txBody>
      </p:sp>
    </p:spTree>
    <p:extLst>
      <p:ext uri="{BB962C8B-B14F-4D97-AF65-F5344CB8AC3E}">
        <p14:creationId xmlns:p14="http://schemas.microsoft.com/office/powerpoint/2010/main" val="89034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000" dirty="0"/>
              <a:t>Çevresel Testlerin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232" y="1532288"/>
            <a:ext cx="7886700" cy="3307604"/>
          </a:xfrm>
        </p:spPr>
        <p:txBody>
          <a:bodyPr>
            <a:normAutofit/>
          </a:bodyPr>
          <a:lstStyle/>
          <a:p>
            <a:pPr lvl="1" algn="just">
              <a:lnSpc>
                <a:spcPct val="114000"/>
              </a:lnSpc>
            </a:pPr>
            <a:r>
              <a:rPr lang="tr-TR" dirty="0"/>
              <a:t>Uçuşa hazır sistemin çevresel testlerinin planı belirtilmelidir: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Düşme Testi </a:t>
            </a:r>
            <a:r>
              <a:rPr lang="tr-TR" sz="2400" dirty="0"/>
              <a:t>test süreçleri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Isıl Test </a:t>
            </a:r>
            <a:r>
              <a:rPr lang="tr-TR" sz="2400" dirty="0"/>
              <a:t>test süreçleri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Titreşim Testi </a:t>
            </a:r>
            <a:r>
              <a:rPr lang="tr-TR" sz="2400" dirty="0"/>
              <a:t>test süreçleri</a:t>
            </a:r>
          </a:p>
          <a:p>
            <a:pPr marL="914400" lvl="2" indent="0" algn="just">
              <a:lnSpc>
                <a:spcPct val="114000"/>
              </a:lnSpc>
              <a:buNone/>
            </a:pPr>
            <a:endParaRPr lang="tr-TR" sz="2400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31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604157" y="5012870"/>
            <a:ext cx="7893775" cy="93072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742408" y="5185846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NOT: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Bu planlamayı en sona bırakmamanızı, çalışmalarınızın belirli aşamalarında bu konuyu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tekrar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tartışmanızı ve diyagramınızı geliştirmenizi/güncellemenizi öneririz.</a:t>
            </a:r>
          </a:p>
        </p:txBody>
      </p:sp>
    </p:spTree>
    <p:extLst>
      <p:ext uri="{BB962C8B-B14F-4D97-AF65-F5344CB8AC3E}">
        <p14:creationId xmlns:p14="http://schemas.microsoft.com/office/powerpoint/2010/main" val="247096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379A20A3-BF99-3F48-8C30-9B31A9EADE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5" t="7256" r="11645"/>
          <a:stretch/>
        </p:blipFill>
        <p:spPr>
          <a:xfrm>
            <a:off x="0" y="0"/>
            <a:ext cx="7602876" cy="6124445"/>
          </a:xfrm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6774" y="4304019"/>
            <a:ext cx="4467226" cy="1175819"/>
          </a:xfrm>
        </p:spPr>
        <p:txBody>
          <a:bodyPr vert="horz" lIns="180000" tIns="135000" rIns="252000" bIns="180000" rtlCol="0" anchor="ctr">
            <a:noAutofit/>
          </a:bodyPr>
          <a:lstStyle/>
          <a:p>
            <a:r>
              <a:rPr lang="tr-TR" dirty="0"/>
              <a:t>Sonuçlar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7739" y="5486776"/>
            <a:ext cx="3876261" cy="637669"/>
          </a:xfrm>
        </p:spPr>
        <p:txBody>
          <a:bodyPr rtlCol="0"/>
          <a:lstStyle/>
          <a:p>
            <a:r>
              <a:rPr lang="en-US" dirty="0"/>
              <a:t>&lt;</a:t>
            </a:r>
            <a:r>
              <a:rPr lang="tr-TR" dirty="0"/>
              <a:t>Hazırlayan Kişinin İsmi</a:t>
            </a:r>
            <a:r>
              <a:rPr lang="en-US" dirty="0"/>
              <a:t>&gt;</a:t>
            </a:r>
            <a:endParaRPr lang="tr-TR" dirty="0"/>
          </a:p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r-TR" smtClean="0"/>
              <a:pPr rtl="0"/>
              <a:t>32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14157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000" dirty="0"/>
              <a:t>Rapor özetini ve sonuçlarını içermelidir.</a:t>
            </a:r>
          </a:p>
          <a:p>
            <a:pPr marL="0" indent="0" algn="just">
              <a:lnSpc>
                <a:spcPct val="114000"/>
              </a:lnSpc>
              <a:buNone/>
            </a:pPr>
            <a:endParaRPr lang="tr-TR" sz="2000" dirty="0"/>
          </a:p>
          <a:p>
            <a:pPr marL="0" indent="0" algn="just">
              <a:lnSpc>
                <a:spcPct val="114000"/>
              </a:lnSpc>
              <a:buNone/>
            </a:pPr>
            <a:r>
              <a:rPr lang="tr-TR" sz="2000" b="1" dirty="0"/>
              <a:t>NOT: </a:t>
            </a:r>
            <a:r>
              <a:rPr lang="tr-TR" sz="2000" dirty="0"/>
              <a:t>Genel olarak aşağıdakileri içerir;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Tamamlanan işler,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Tamamlanmayan işler,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Plan ilerisinde mi gerisinde mi olunduğu.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116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Şablonun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89" y="1322872"/>
            <a:ext cx="7670622" cy="1439512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tr-TR" sz="3700" dirty="0"/>
              <a:t>Bütün takımlar bu şablonu kullanmak zorundadır.</a:t>
            </a:r>
          </a:p>
          <a:p>
            <a:pPr algn="just"/>
            <a:r>
              <a:rPr lang="tr-TR" sz="3700" dirty="0"/>
              <a:t>Takım logoları;</a:t>
            </a:r>
          </a:p>
          <a:p>
            <a:pPr lvl="1" algn="just"/>
            <a:r>
              <a:rPr lang="tr-TR" sz="3700" dirty="0"/>
              <a:t>Takım logosu </a:t>
            </a:r>
            <a:r>
              <a:rPr lang="en-US" sz="3700" dirty="0"/>
              <a:t>“</a:t>
            </a:r>
            <a:r>
              <a:rPr lang="tr-TR" sz="3700" dirty="0"/>
              <a:t>görünüm(</a:t>
            </a:r>
            <a:r>
              <a:rPr lang="tr-TR" sz="3700" dirty="0" err="1"/>
              <a:t>view</a:t>
            </a:r>
            <a:r>
              <a:rPr lang="tr-TR" sz="3700" dirty="0"/>
              <a:t>)</a:t>
            </a:r>
            <a:r>
              <a:rPr lang="en-US" sz="3700" dirty="0"/>
              <a:t>-</a:t>
            </a:r>
            <a:r>
              <a:rPr lang="tr-TR" sz="3700" dirty="0"/>
              <a:t>asıl slayt (</a:t>
            </a:r>
            <a:r>
              <a:rPr lang="tr-TR" sz="3700" dirty="0" err="1"/>
              <a:t>slide</a:t>
            </a:r>
            <a:r>
              <a:rPr lang="tr-TR" sz="3700" dirty="0"/>
              <a:t> </a:t>
            </a:r>
            <a:r>
              <a:rPr lang="tr-TR" sz="3700" dirty="0" err="1"/>
              <a:t>master</a:t>
            </a:r>
            <a:r>
              <a:rPr lang="tr-TR" sz="3700" dirty="0"/>
              <a:t>)</a:t>
            </a:r>
            <a:r>
              <a:rPr lang="en-US" sz="3700" dirty="0"/>
              <a:t>- (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tr-TR" sz="3700" dirty="0"/>
              <a:t>üstteki </a:t>
            </a:r>
            <a:r>
              <a:rPr lang="tr-TR" sz="3700" dirty="0" err="1"/>
              <a:t>sablonun</a:t>
            </a:r>
            <a:r>
              <a:rPr lang="tr-TR" sz="3700" dirty="0"/>
              <a:t> sol üst köşesine logo eklenir</a:t>
            </a:r>
            <a:r>
              <a:rPr lang="en-US" sz="3700" dirty="0"/>
              <a:t>)</a:t>
            </a:r>
            <a:r>
              <a:rPr lang="tr-TR" sz="3700" dirty="0"/>
              <a:t> – close master view tıklanır</a:t>
            </a:r>
            <a:r>
              <a:rPr lang="en-US" sz="3700" dirty="0"/>
              <a:t>”</a:t>
            </a:r>
            <a:r>
              <a:rPr lang="tr-TR" sz="3700" dirty="0"/>
              <a:t>.</a:t>
            </a:r>
            <a:endParaRPr lang="en-US" sz="3700" dirty="0"/>
          </a:p>
          <a:p>
            <a:pPr algn="just"/>
            <a:r>
              <a:rPr lang="en-US" sz="3700" dirty="0"/>
              <a:t>Her </a:t>
            </a:r>
            <a:r>
              <a:rPr lang="en-US" sz="3700" dirty="0" err="1"/>
              <a:t>tak</a:t>
            </a:r>
            <a:r>
              <a:rPr lang="tr-TR" sz="3700" dirty="0"/>
              <a:t>ım kendi </a:t>
            </a:r>
            <a:r>
              <a:rPr lang="tr-TR" sz="3700" b="1" dirty="0"/>
              <a:t>takımının ismini ve numarasını </a:t>
            </a:r>
            <a:r>
              <a:rPr lang="tr-TR" sz="3700" dirty="0"/>
              <a:t>şablona eklemelidir.</a:t>
            </a:r>
          </a:p>
          <a:p>
            <a:pPr lvl="1" algn="just"/>
            <a:r>
              <a:rPr lang="tr-TR" sz="3700" dirty="0"/>
              <a:t>Görünüm(</a:t>
            </a:r>
            <a:r>
              <a:rPr lang="en-US" sz="3700" dirty="0"/>
              <a:t>view</a:t>
            </a:r>
            <a:r>
              <a:rPr lang="tr-TR" sz="3700" dirty="0"/>
              <a:t>)</a:t>
            </a:r>
            <a:r>
              <a:rPr lang="en-US" sz="3700" dirty="0"/>
              <a:t>-</a:t>
            </a:r>
            <a:r>
              <a:rPr lang="tr-TR" sz="3700" dirty="0"/>
              <a:t>asıl slayt(</a:t>
            </a:r>
            <a:r>
              <a:rPr lang="en-US" sz="3700" dirty="0"/>
              <a:t>slide master</a:t>
            </a:r>
            <a:r>
              <a:rPr lang="tr-TR" sz="3700" dirty="0"/>
              <a:t>)</a:t>
            </a:r>
            <a:r>
              <a:rPr lang="en-US" sz="3700" dirty="0"/>
              <a:t>- (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tr-TR" sz="3700" dirty="0"/>
              <a:t>üstteki sablonun ilgili kısmında gerekli düzenleme yapılır</a:t>
            </a:r>
            <a:r>
              <a:rPr lang="en-US" sz="3700" dirty="0"/>
              <a:t>)</a:t>
            </a:r>
            <a:r>
              <a:rPr lang="tr-TR" sz="3700" dirty="0"/>
              <a:t> – close master </a:t>
            </a:r>
            <a:r>
              <a:rPr lang="tr-TR" sz="3700" dirty="0" err="1"/>
              <a:t>view</a:t>
            </a:r>
            <a:r>
              <a:rPr lang="tr-TR" sz="3700" dirty="0"/>
              <a:t> tıklanır.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34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2"/>
          <a:srcRect b="837"/>
          <a:stretch/>
        </p:blipFill>
        <p:spPr>
          <a:xfrm>
            <a:off x="547029" y="2746254"/>
            <a:ext cx="3763692" cy="227560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3"/>
          <a:srcRect t="-1" b="3152"/>
          <a:stretch/>
        </p:blipFill>
        <p:spPr>
          <a:xfrm>
            <a:off x="4546979" y="2740130"/>
            <a:ext cx="3860332" cy="2275610"/>
          </a:xfrm>
          <a:prstGeom prst="rect">
            <a:avLst/>
          </a:prstGeom>
        </p:spPr>
      </p:pic>
      <p:sp>
        <p:nvSpPr>
          <p:cNvPr id="8" name="Yukarı Ok Belirtme Çizgisi 7"/>
          <p:cNvSpPr/>
          <p:nvPr/>
        </p:nvSpPr>
        <p:spPr>
          <a:xfrm>
            <a:off x="2108199" y="3130551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/>
          <p:cNvSpPr txBox="1"/>
          <p:nvPr/>
        </p:nvSpPr>
        <p:spPr>
          <a:xfrm>
            <a:off x="2159000" y="316230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Yukarı Ok Belirtme Çizgisi 9"/>
          <p:cNvSpPr/>
          <p:nvPr/>
        </p:nvSpPr>
        <p:spPr>
          <a:xfrm>
            <a:off x="1212849" y="3327401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/>
          <p:cNvSpPr txBox="1"/>
          <p:nvPr/>
        </p:nvSpPr>
        <p:spPr>
          <a:xfrm>
            <a:off x="1263650" y="335915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Yukarı Ok Belirtme Çizgisi 11"/>
          <p:cNvSpPr/>
          <p:nvPr/>
        </p:nvSpPr>
        <p:spPr>
          <a:xfrm rot="16200000">
            <a:off x="5206433" y="3376894"/>
            <a:ext cx="354012" cy="412185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/>
          <p:cNvSpPr txBox="1"/>
          <p:nvPr/>
        </p:nvSpPr>
        <p:spPr>
          <a:xfrm>
            <a:off x="5293299" y="339832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Yukarı Ok Belirtme Çizgisi 13"/>
          <p:cNvSpPr/>
          <p:nvPr/>
        </p:nvSpPr>
        <p:spPr>
          <a:xfrm>
            <a:off x="5705233" y="3572908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Metin kutusu 14"/>
          <p:cNvSpPr txBox="1"/>
          <p:nvPr/>
        </p:nvSpPr>
        <p:spPr>
          <a:xfrm>
            <a:off x="5756034" y="3604657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Yukarı Ok Belirtme Çizgisi 21"/>
          <p:cNvSpPr/>
          <p:nvPr/>
        </p:nvSpPr>
        <p:spPr>
          <a:xfrm rot="10800000">
            <a:off x="7072069" y="4636294"/>
            <a:ext cx="403225" cy="396002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/>
          <p:cNvSpPr txBox="1"/>
          <p:nvPr/>
        </p:nvSpPr>
        <p:spPr>
          <a:xfrm>
            <a:off x="7138743" y="4585856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80CF1F2A-4436-5740-BB4C-F8EF63861810}"/>
              </a:ext>
            </a:extLst>
          </p:cNvPr>
          <p:cNvSpPr txBox="1"/>
          <p:nvPr/>
        </p:nvSpPr>
        <p:spPr>
          <a:xfrm>
            <a:off x="499623" y="5166825"/>
            <a:ext cx="8094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>
                <a:solidFill>
                  <a:srgbClr val="FF0000"/>
                </a:solidFill>
              </a:rPr>
              <a:t>ÖNEMLİ: </a:t>
            </a:r>
            <a:r>
              <a:rPr lang="tr-TR" sz="2000" b="1" dirty="0">
                <a:solidFill>
                  <a:schemeClr val="accent1">
                    <a:lumMod val="75000"/>
                  </a:schemeClr>
                </a:solidFill>
              </a:rPr>
              <a:t>ÖN TASARIM GÖZDEN GEÇİRME RAPORU (PRELIMINARY DESIGN REVIEW) MAKSİMUM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2800" b="1" dirty="0">
                <a:solidFill>
                  <a:srgbClr val="FF0000"/>
                </a:solidFill>
              </a:rPr>
              <a:t>120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2000" b="1" dirty="0">
                <a:solidFill>
                  <a:schemeClr val="accent1">
                    <a:lumMod val="75000"/>
                  </a:schemeClr>
                </a:solidFill>
              </a:rPr>
              <a:t>SAYFA OLMALIDIR.</a:t>
            </a:r>
          </a:p>
        </p:txBody>
      </p:sp>
    </p:spTree>
    <p:extLst>
      <p:ext uri="{BB962C8B-B14F-4D97-AF65-F5344CB8AC3E}">
        <p14:creationId xmlns:p14="http://schemas.microsoft.com/office/powerpoint/2010/main" val="2379674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 Slayt Oluşturmak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/>
              <a:t>Slaytta belirtilenleri açıklamanız ve göstermeniz için ekstra slaytlar kullanabilirsiniz;</a:t>
            </a:r>
          </a:p>
          <a:p>
            <a:pPr lvl="1" algn="just"/>
            <a:r>
              <a:rPr lang="tr-TR" dirty="0"/>
              <a:t>Farklı bir başlıkla slayt oluşturulmayacaktır!</a:t>
            </a:r>
          </a:p>
          <a:p>
            <a:pPr lvl="1" algn="just"/>
            <a:r>
              <a:rPr lang="tr-TR" dirty="0"/>
              <a:t>Ek slayta yine aynı slayt başlığı, aşağıdaki örneğe göre oluşturulacaktır.</a:t>
            </a:r>
          </a:p>
          <a:p>
            <a:pPr lvl="2" algn="just"/>
            <a:r>
              <a:rPr lang="tr-TR" dirty="0"/>
              <a:t>Örnek olarak; </a:t>
            </a:r>
            <a:r>
              <a:rPr lang="en-US" dirty="0"/>
              <a:t>“</a:t>
            </a:r>
            <a:r>
              <a:rPr lang="tr-TR" dirty="0"/>
              <a:t>Model Uydunun Birleştirmesi ve Testlerine Genel Bakış</a:t>
            </a:r>
            <a:r>
              <a:rPr lang="en-US" dirty="0"/>
              <a:t>” </a:t>
            </a:r>
            <a:r>
              <a:rPr lang="en-US" dirty="0" err="1"/>
              <a:t>ba</a:t>
            </a:r>
            <a:r>
              <a:rPr lang="tr-TR" dirty="0"/>
              <a:t>şlığı 6 slayt ile açıklanmış olsun.</a:t>
            </a:r>
          </a:p>
          <a:p>
            <a:pPr lvl="2" algn="just"/>
            <a:r>
              <a:rPr lang="tr-TR" dirty="0"/>
              <a:t>Slayt başlıkları şu şekilde olacaktır;</a:t>
            </a:r>
          </a:p>
          <a:p>
            <a:pPr lvl="3" algn="just"/>
            <a:r>
              <a:rPr lang="tr-TR" dirty="0"/>
              <a:t>Model Uydunun Birleştirilmesi ve Testlerine Genel Bakış (1/6)</a:t>
            </a:r>
          </a:p>
          <a:p>
            <a:pPr lvl="3" algn="just"/>
            <a:r>
              <a:rPr lang="tr-TR" dirty="0"/>
              <a:t>Model Uydunun Birleştirilmesi ve Testlerine Genel Bakış (2/6)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lvl="3" algn="just"/>
            <a:r>
              <a:rPr lang="tr-TR" dirty="0"/>
              <a:t>Model Uydunun Birleştirilmesi ve Testlerine Genel Bakış (6/6)</a:t>
            </a:r>
          </a:p>
          <a:p>
            <a:pPr lvl="3"/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55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Şablon" ma:contentTypeID="0x01010085757E98095E154BBD9DF6F56FFD1649" ma:contentTypeVersion="3" ma:contentTypeDescription="Yarışmada kullanılacak şablondur." ma:contentTypeScope="" ma:versionID="d02a1f82053eff2b2df4e72fdbcd1463">
  <xsd:schema xmlns:xsd="http://www.w3.org/2001/XMLSchema" xmlns:xs="http://www.w3.org/2001/XMLSchema" xmlns:p="http://schemas.microsoft.com/office/2006/metadata/properties" xmlns:ns2="http://schemas.microsoft.com/sharepoint/v3/fields" xmlns:ns3="95a7b65b-bc74-4330-89a5-e2dc755c283e" targetNamespace="http://schemas.microsoft.com/office/2006/metadata/properties" ma:root="true" ma:fieldsID="8bb19ac38008cb686368b63619a84321" ns2:_="" ns3:_="">
    <xsd:import namespace="http://schemas.microsoft.com/sharepoint/v3/fields"/>
    <xsd:import namespace="95a7b65b-bc74-4330-89a5-e2dc755c283e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3:Takım_x0020_İsmi" minOccurs="0"/>
                <xsd:element ref="ns3:Üniversite"/>
                <xsd:element ref="ns3:Takım_x0020_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Durum" ma:default="Taslak" ma:format="Dropdown" ma:internalName="Durum">
      <xsd:simpleType>
        <xsd:restriction base="dms:Choice">
          <xsd:enumeration value="Taslak"/>
          <xsd:enumeration value="Gözden Geçirildi"/>
          <xsd:enumeration value="Onaylandı"/>
          <xsd:enumeration value="Reddedildi"/>
          <xsd:enumeration value="Yayımlandı"/>
          <xsd:enumeration value="Gönderildi"/>
          <xsd:enumeration value="Teslim Alındı"/>
          <xsd:enumeration value="Açık"/>
          <xsd:enumeration value="Bekleniyor"/>
          <xsd:enumeration value="Kapandı"/>
          <xsd:enumeration value="Süresi Doldu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7b65b-bc74-4330-89a5-e2dc755c283e" elementFormDefault="qualified">
    <xsd:import namespace="http://schemas.microsoft.com/office/2006/documentManagement/types"/>
    <xsd:import namespace="http://schemas.microsoft.com/office/infopath/2007/PartnerControls"/>
    <xsd:element name="Takım_x0020_İsmi" ma:index="9" nillable="true" ma:displayName="Takım İsmi" ma:description="Yarışmaya katılan takımın ismidir." ma:indexed="true" ma:internalName="Tak_x0131_m_x0020__x0130_smi">
      <xsd:simpleType>
        <xsd:restriction base="dms:Text">
          <xsd:maxLength value="255"/>
        </xsd:restriction>
      </xsd:simpleType>
    </xsd:element>
    <xsd:element name="Üniversite" ma:index="10" ma:displayName="Üniversite" ma:default="Üniversite seçiniz..." ma:format="Dropdown" ma:internalName="_x00dc_niversite">
      <xsd:simpleType>
        <xsd:union memberTypes="dms:Text">
          <xsd:simpleType>
            <xsd:restriction base="dms:Choice">
              <xsd:enumeration value="Üniversite seçiniz..."/>
              <xsd:enumeration value="19 Mayıs Üniversitesi"/>
              <xsd:enumeration value="Abdullah GÜL Üniversitesi"/>
              <xsd:enumeration value="Afyon Kocatepe Üniversitesi"/>
              <xsd:enumeration value="Akdeniz Üniversitesi"/>
              <xsd:enumeration value="Amasya Üniversitesi"/>
              <xsd:enumeration value="Ankara Üniversitesi"/>
              <xsd:enumeration value="Ankara Yıldırım Beyazıt Üniversitesi"/>
              <xsd:enumeration value="Atılım Üniversitesi"/>
              <xsd:enumeration value="Başkent Üniversitesi"/>
              <xsd:enumeration value="Bursa Teknik Üniversitesi"/>
              <xsd:enumeration value="Bülent Ecevit Üniversitesi"/>
              <xsd:enumeration value="Çanakkale 18 Mart Üniversitesi"/>
              <xsd:enumeration value="Ege Üniversitesi"/>
              <xsd:enumeration value="Erzurum Teknik Üniversitesi"/>
              <xsd:enumeration value="Fırat Üniversitesi"/>
              <xsd:enumeration value="Gaziantep Üniversitesi"/>
              <xsd:enumeration value="Gebze Teknik Üniversitesi"/>
              <xsd:enumeration value="Hacettepe Üniversitesi"/>
              <xsd:enumeration value="İstanbul Aydın Üniversitesi"/>
              <xsd:enumeration value="İstanbul Gedik Üniversitesi"/>
              <xsd:enumeration value="İstanbul Şehir Üniversitesi"/>
              <xsd:enumeration value="İstanbul Teknik Üniversitesi"/>
              <xsd:enumeration value="İstanbul Üniversitesi"/>
              <xsd:enumeration value="Kahramanmaraş Sütçü İmam Üniversitesi"/>
              <xsd:enumeration value="Karadeniz Teknik Üniversitesi"/>
              <xsd:enumeration value="Kırıkkale Üniversitesi"/>
              <xsd:enumeration value="Okan Üniversitesi"/>
              <xsd:enumeration value="Sakarya Üniversitesi"/>
              <xsd:enumeration value="Türk Hava Kurumu Üniversitesi"/>
              <xsd:enumeration value="Yıldız Teknik Üniversitesi"/>
            </xsd:restriction>
          </xsd:simpleType>
        </xsd:union>
      </xsd:simpleType>
    </xsd:element>
    <xsd:element name="Takım_x0020_No" ma:index="11" nillable="true" ma:displayName="Takım No" ma:decimals="0" ma:description="Takıma atanan 4 haneli benzersiz numaradır." ma:indexed="true" ma:internalName="Tak_x0131_m_x0020_No" ma:percentage="FALSE">
      <xsd:simpleType>
        <xsd:restriction base="dms:Number">
          <xsd:maxInclusive value="9999"/>
          <xsd:minInclusive value="1000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Durum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Üniversite xmlns="95a7b65b-bc74-4330-89a5-e2dc755c283e">Üniversite seçiniz...</Üniversite>
    <_Status xmlns="http://schemas.microsoft.com/sharepoint/v3/fields">Taslak</_Status>
    <Takım_x0020_İsmi xmlns="95a7b65b-bc74-4330-89a5-e2dc755c283e" xsi:nil="true"/>
    <Takım_x0020_No xmlns="95a7b65b-bc74-4330-89a5-e2dc755c283e" xsi:nil="true"/>
  </documentManagement>
</p:properties>
</file>

<file path=customXml/itemProps1.xml><?xml version="1.0" encoding="utf-8"?>
<ds:datastoreItem xmlns:ds="http://schemas.openxmlformats.org/officeDocument/2006/customXml" ds:itemID="{E0A31E31-1D45-40F1-9CD6-DA9E4A5504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95a7b65b-bc74-4330-89a5-e2dc755c28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0C38D6-2FD3-4BBE-B661-06708E4318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800B7-3468-4047-859C-3B56DC29EE64}">
  <ds:schemaRefs>
    <ds:schemaRef ds:uri="http://schemas.microsoft.com/office/2006/documentManagement/types"/>
    <ds:schemaRef ds:uri="http://purl.org/dc/elements/1.1/"/>
    <ds:schemaRef ds:uri="http://schemas.microsoft.com/sharepoint/v3/fields"/>
    <ds:schemaRef ds:uri="http://schemas.microsoft.com/office/2006/metadata/properties"/>
    <ds:schemaRef ds:uri="http://schemas.microsoft.com/office/infopath/2007/PartnerControls"/>
    <ds:schemaRef ds:uri="95a7b65b-bc74-4330-89a5-e2dc755c283e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21961</TotalTime>
  <Words>1787</Words>
  <Application>Microsoft Macintosh PowerPoint</Application>
  <PresentationFormat>Ekran Gösterisi (4:3)</PresentationFormat>
  <Paragraphs>275</Paragraphs>
  <Slides>35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Office Theme</vt:lpstr>
      <vt:lpstr>Özel Tasarım</vt:lpstr>
      <vt:lpstr>PowerPoint Sunusu</vt:lpstr>
      <vt:lpstr>İçindekiler</vt:lpstr>
      <vt:lpstr>Sensör ve Elektronik Komponentlere Genel Bakış</vt:lpstr>
      <vt:lpstr>Sensörler ve Alt Sistemlere Genel Bakış</vt:lpstr>
      <vt:lpstr>İniş Kontrol Sistemi Tasarımı</vt:lpstr>
      <vt:lpstr>İniş Hızı Hesaplamaları</vt:lpstr>
      <vt:lpstr>BONUS-1: İrtifa Sabitleme </vt:lpstr>
      <vt:lpstr>Acil Paraşüt Açma Mekanizması (APAM)</vt:lpstr>
      <vt:lpstr>PowerPoint Sunusu</vt:lpstr>
      <vt:lpstr>Mekanik Alt Sisteme Genel Bakış</vt:lpstr>
      <vt:lpstr>SİGMA &amp; APAM Mekanizmaları</vt:lpstr>
      <vt:lpstr>Kütle Bütçesi</vt:lpstr>
      <vt:lpstr>Haberleşme ve Veri İşleme Alt Sistem Tasarımı</vt:lpstr>
      <vt:lpstr>HAVİ Genel Bakış</vt:lpstr>
      <vt:lpstr>Görev Yükü Anteninin Belirlenmesi ve Temini</vt:lpstr>
      <vt:lpstr>Telemetri Formatı</vt:lpstr>
      <vt:lpstr>Bonus Görev 2: IoT S2D Telekomut</vt:lpstr>
      <vt:lpstr>Bonus Görev-3 :TÜRKSAT- Z.I.R.H.</vt:lpstr>
      <vt:lpstr>Elektrik Alt Sistem Tasarımı</vt:lpstr>
      <vt:lpstr>Elektrik Blok Şeması</vt:lpstr>
      <vt:lpstr>Güç Bütçesi</vt:lpstr>
      <vt:lpstr>Uçuş Yazılımı Tasarımı</vt:lpstr>
      <vt:lpstr>Uçuş Yazılımına Genel Bakış</vt:lpstr>
      <vt:lpstr>Uçuş Yazılımı Durum Diyagramı</vt:lpstr>
      <vt:lpstr>Hatalı Tetikleme Analizi (False Trigger Analysis) </vt:lpstr>
      <vt:lpstr>Yer İstasyonu Tasarımı</vt:lpstr>
      <vt:lpstr>Yer İstasyonu Yazılımı</vt:lpstr>
      <vt:lpstr>Arayüz Alarm Sistemi (ARAS)</vt:lpstr>
      <vt:lpstr>Model Uydunun Entegrasyonu ve Testi</vt:lpstr>
      <vt:lpstr>Alt Sistem Seviyesi Test Planı</vt:lpstr>
      <vt:lpstr>Çevresel Testlerin Planı</vt:lpstr>
      <vt:lpstr>Sonuçlar</vt:lpstr>
      <vt:lpstr>Sonuçlar </vt:lpstr>
      <vt:lpstr>Şablonun Kullanımı</vt:lpstr>
      <vt:lpstr>Ek Slayt Oluşturmak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Ön Tasarım Gözden Geçirme Raporu</dc:title>
  <dc:creator>Eren Ömer KOÇULU</dc:creator>
  <cp:keywords>model uydu; tmuy</cp:keywords>
  <cp:lastModifiedBy>M.Bükre ATMACA</cp:lastModifiedBy>
  <cp:revision>754</cp:revision>
  <dcterms:created xsi:type="dcterms:W3CDTF">2016-03-11T08:34:40Z</dcterms:created>
  <dcterms:modified xsi:type="dcterms:W3CDTF">2026-03-13T13:02:47Z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0x01010085757E98095E154BBD9DF6F56FFD1649</vt:lpwstr>
  </property>
  <property fmtid="{D5CDD505-2E9C-101B-9397-08002B2CF9AE}" pid="3" name="TaxKeyword">
    <vt:lpwstr>2;#tmuy|107d8c62-4b10-4b57-8c67-8ee3ee79b332;#1;#model uydu|29f7fbd1-54fd-4873-a549-2eb9e5eb68f6</vt:lpwstr>
  </property>
</Properties>
</file>